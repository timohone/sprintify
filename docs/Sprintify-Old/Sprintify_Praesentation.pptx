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95" r:id="rId45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78" r:id="rId36"/>
    <p:sldId id="279" r:id="rId37"/>
    <p:sldId id="280" r:id="rId38"/>
    <p:sldId id="28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2EFF"/>
    <a:srgbClr val="10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B6C96-EE24-2C4D-A85B-8CC9970E2065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6EB27-7CB5-824B-A67E-DBB012E8C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8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Konkretes</a:t>
            </a:r>
            <a:r>
              <a:rPr dirty="0"/>
              <a:t> </a:t>
            </a:r>
            <a:r>
              <a:rPr dirty="0" err="1"/>
              <a:t>Beispiel</a:t>
            </a:r>
            <a:r>
              <a:rPr dirty="0"/>
              <a:t>: In </a:t>
            </a:r>
            <a:r>
              <a:rPr dirty="0" err="1"/>
              <a:t>einem</a:t>
            </a:r>
            <a:r>
              <a:rPr dirty="0"/>
              <a:t> Sprint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40 SP </a:t>
            </a:r>
            <a:r>
              <a:rPr dirty="0" err="1"/>
              <a:t>geplant</a:t>
            </a:r>
            <a:r>
              <a:rPr dirty="0"/>
              <a:t>, </a:t>
            </a:r>
            <a:r>
              <a:rPr dirty="0" err="1"/>
              <a:t>zwei</a:t>
            </a:r>
            <a:r>
              <a:rPr dirty="0"/>
              <a:t> Leute </a:t>
            </a:r>
            <a:r>
              <a:rPr dirty="0" err="1"/>
              <a:t>waren</a:t>
            </a:r>
            <a:r>
              <a:rPr dirty="0"/>
              <a:t>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Urlaub. Am Ende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22 SP </a:t>
            </a:r>
            <a:r>
              <a:rPr dirty="0" err="1"/>
              <a:t>geschafft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Erklären, warum Scrum als Einzelperson trotzdem Sinn ergibt: feste Iterationen erzwingen regelmässige Standortbestimmung.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 schwierigste Teil war nicht die API, sondern die unterschiedlichen Konfigurationen bei verschiedenen Kunden.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Wenn zwei Leute im Urlaub sind, sinkt die Kapazität. Die Empfehlung passt die SP automatisch nach unten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Jira-Integration hat mehr Sprints gebraucht als geplant. Die SP-Empfehlung kam als Anforderung erst spät dazu.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AB3E-37FB-0859-EA63-6DD92543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9A4FD-A159-292C-8AD2-DE1C22304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492A5-E3BE-A7C0-52EF-3D88CF62E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A140F-45EA-9BAD-D16F-E2152597C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3255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BD16D-83CC-D0BA-7EF6-13E0567F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14BF8-7FEA-2877-40A3-C934A8F79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26BB9-AF56-2A48-78EE-465DB8D95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EC24A-347D-5C44-C74B-243BC97E7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83381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67967-498A-7CF7-38ED-CFAF68817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F3403-72D5-7412-2C4D-C0A6F47BD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04044-E787-AADA-D8EF-E684D4355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19EF0-B3E5-86FA-87FA-F57FF17FA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57116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98DEA-FD8F-49A7-0CB2-AB30FB10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70AD8-A3A1-AE5F-9D0A-1281CE89D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23B7D-3FB4-E4BA-BBAF-26C05BE99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28F82-A26A-F260-3121-9DB7B42E1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0862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1504-9F0C-E75C-35C7-0643FC51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5F819-2903-5B74-0983-8C01A7CF7C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05D6D-75F9-E138-B19C-21714EEC6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0E79A-FFC7-326B-F90D-BC1FAF4CB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1835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9F53-C316-CE9E-DB5C-82AAE39B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90286-7D57-E0A5-0E58-9E798E684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3A113-A2EE-11EA-2EE7-0D8FCD5BE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A2E1B-C83A-BCFD-09F6-544180836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50426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BE266-5007-DA6C-ADA8-22FDD956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301A9-2B90-8991-87F8-933DB8C8A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78AB9-2563-0778-ED22-1497E9CB5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612DA-A2FC-C6AF-242B-D3618832C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75421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A40D7-2B10-00B8-BE60-461A14BA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46D34-A7EF-606D-CB27-45194E80B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70AF0-842F-8B4E-199E-CD8710B23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C6D1B-3D13-9E9D-45C3-8A8583ABF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61525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53DF9-E46C-77C0-7A4B-89C9D046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D600A-DD33-9388-339D-D2AFAEDA9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6B9B9-0B00-E9B1-019B-471CBD29B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ACCC-9A65-0D03-D730-F6BCF8E00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40934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1F71E-A3C8-A6E6-3AFD-0E521D88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816EF-26B4-EC20-F323-2E977CFB9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B1368-57C5-C740-EB81-939A20F45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36857-3028-100C-699A-C31FC884B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4788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5A85-50E7-BC0C-1FAC-5D520AC7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56820-D3F0-644B-C3BB-F178E3F0E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09D3D-EA78-9846-9655-F7E98CF0C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ECA6F-04C3-9E2B-50F7-62EFEF63C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75609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7EA25-0CEB-A367-545A-E1938E20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F7D10-E20D-B069-E915-7420B6725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62C31-4407-0E95-2043-B25BABBDF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vorbereiten und vorher durchspielen. Screenshots als Backup falls Jira/Azure nicht erreichbar.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2AAD0-E4C7-2BE4-6C49-7E49BAA99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80230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B7889D-365F-4755-68D8-797BCC574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68702"/>
            <a:ext cx="12192000" cy="11195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A90C4-7271-E007-F716-675FB31A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F5115D-C245-31E5-39D9-C72C7CC1E29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8BA17-6CF1-0521-E13D-DD94D3C782BD}"/>
              </a:ext>
            </a:extLst>
          </p:cNvPr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Sprintify</a:t>
            </a:r>
          </a:p>
          <a:p>
            <a:pPr algn="ctr">
              <a:spcBef>
                <a:spcPts val="2000"/>
              </a:spcBef>
              <a:defRPr sz="2400">
                <a:solidFill>
                  <a:srgbClr val="94A3B8"/>
                </a:solidFill>
              </a:defRPr>
            </a:pPr>
            <a:r>
              <a:t>Entwicklung eines Capacity-Planning-Tools mit Jira-Integration</a:t>
            </a:r>
            <a:br/>
            <a:br/>
            <a:r>
              <a:t>Timo Haldi | HF ICT 2023 F | Coach: Ardin Ibraimi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E1302-F009-3029-77CC-035CBF82F910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26DA5F-8593-18F7-942D-D6C483081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7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rPr dirty="0"/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1" y="1371600"/>
            <a:ext cx="813692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1. Vorstellung und Kontext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2. Problemstellung und Auftrag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3. Vorgehen und Projektplanung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4. KI als Co-Engineer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5. Architektur und Technologieentscheidungen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6. Ergebnisse: Die Module im Detail</a:t>
            </a:r>
            <a:r>
              <a:rPr dirty="0" err="1"/>
              <a:t/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7. Sprints und Entwicklungsprozess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8. Live-Demo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9. Kritische Würdigung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10. Persönliche Reflexion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11. Fazit und Empfehlung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D3267E-0050-CE3A-8329-203BA19DF3ED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B08D814-4837-0020-7E16-B7BB9E26E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Vorstellung und 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64295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 err="1">
                <a:solidFill>
                  <a:srgbClr val="3B2EFF"/>
                </a:solidFill>
              </a:rPr>
              <a:t>Wer</a:t>
            </a:r>
            <a:r>
              <a:rPr dirty="0">
                <a:solidFill>
                  <a:srgbClr val="3B2EFF"/>
                </a:solidFill>
              </a:rPr>
              <a:t> bin ich?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/>
              <a:t>Cloud Engineer </a:t>
            </a:r>
            <a:r>
              <a:rPr dirty="0" err="1"/>
              <a:t>bei</a:t>
            </a:r>
            <a:r>
              <a:rPr dirty="0"/>
              <a:t> der </a:t>
            </a:r>
            <a:r>
              <a:rPr dirty="0" err="1"/>
              <a:t>Netcloud</a:t>
            </a:r>
            <a:r>
              <a:rPr dirty="0"/>
              <a:t> AG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 err="1"/>
              <a:t>Abteilung</a:t>
            </a:r>
            <a:r>
              <a:rPr dirty="0"/>
              <a:t> Public Cloud Solutions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 err="1"/>
              <a:t>Tagesgeschäft</a:t>
            </a:r>
            <a:r>
              <a:rPr dirty="0"/>
              <a:t>: Azure-</a:t>
            </a:r>
            <a:r>
              <a:rPr dirty="0" err="1"/>
              <a:t>Kundenprojekte</a:t>
            </a:r>
            <a:endParaRPr dirty="0"/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/>
              <a:t>Team </a:t>
            </a:r>
            <a:r>
              <a:rPr dirty="0" err="1"/>
              <a:t>arbeitet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Scrum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rPr dirty="0" err="1"/>
              <a:t>Zweiwöchige</a:t>
            </a:r>
            <a:r>
              <a:rPr dirty="0"/>
              <a:t>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357553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Was </a:t>
            </a:r>
            <a:r>
              <a:rPr dirty="0" err="1">
                <a:solidFill>
                  <a:srgbClr val="3B2EFF"/>
                </a:solidFill>
              </a:rPr>
              <a:t>macht</a:t>
            </a:r>
            <a:r>
              <a:rPr dirty="0">
                <a:solidFill>
                  <a:srgbClr val="3B2EFF"/>
                </a:solidFill>
              </a:rPr>
              <a:t> die </a:t>
            </a:r>
            <a:r>
              <a:rPr dirty="0" err="1">
                <a:solidFill>
                  <a:srgbClr val="3B2EFF"/>
                </a:solidFill>
              </a:rPr>
              <a:t>Netcloud</a:t>
            </a:r>
            <a:r>
              <a:rPr dirty="0">
                <a:solidFill>
                  <a:srgbClr val="3B2EFF"/>
                </a:solidFill>
              </a:rPr>
              <a:t> AG?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Schweizer IT-Dienstleister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Fokus auf Cloud-Infrastruktur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Kunden aus verschiedenen Branchen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Unterschiedliche Jira-Setups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160B72-785C-39D9-308F-414E1C4AC791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E1A6A-5296-6E2D-0884-4A4160F14A32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0F87AB5-0649-73C1-C420-37E4A44F4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rPr dirty="0" err="1"/>
              <a:t>Problemstellung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Sprint-</a:t>
            </a:r>
            <a:r>
              <a:rPr dirty="0" err="1"/>
              <a:t>Planung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 </a:t>
            </a:r>
            <a:r>
              <a:rPr dirty="0" err="1"/>
              <a:t>Sprintify</a:t>
            </a:r>
            <a:r>
              <a:rPr dirty="0"/>
              <a:t>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Kapazitätsplanung</a:t>
            </a:r>
            <a:r>
              <a:rPr dirty="0"/>
              <a:t> via Excel-</a:t>
            </a:r>
            <a:r>
              <a:rPr dirty="0" err="1"/>
              <a:t>Tabellen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Verstreut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SharePoint-Ordner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Kein </a:t>
            </a:r>
            <a:r>
              <a:rPr dirty="0" err="1"/>
              <a:t>zentraler</a:t>
            </a:r>
            <a:r>
              <a:rPr dirty="0"/>
              <a:t> Ort für </a:t>
            </a:r>
            <a:r>
              <a:rPr dirty="0" err="1"/>
              <a:t>historische</a:t>
            </a:r>
            <a:r>
              <a:rPr dirty="0"/>
              <a:t> Velocity-</a:t>
            </a:r>
            <a:r>
              <a:rPr dirty="0" err="1"/>
              <a:t>Daten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Abwesenheiten</a:t>
            </a:r>
            <a:r>
              <a:rPr dirty="0"/>
              <a:t> </a:t>
            </a:r>
            <a:r>
              <a:rPr dirty="0" err="1"/>
              <a:t>fliessen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informell</a:t>
            </a:r>
            <a:r>
              <a:rPr dirty="0"/>
              <a:t> in die </a:t>
            </a:r>
            <a:r>
              <a:rPr dirty="0" err="1"/>
              <a:t>Planung</a:t>
            </a:r>
            <a:r>
              <a:rPr dirty="0"/>
              <a:t> </a:t>
            </a:r>
            <a:r>
              <a:rPr dirty="0" err="1"/>
              <a:t>ein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Die Frage "Wie </a:t>
            </a:r>
            <a:r>
              <a:rPr dirty="0" err="1"/>
              <a:t>viele</a:t>
            </a:r>
            <a:r>
              <a:rPr dirty="0"/>
              <a:t> Story Points </a:t>
            </a:r>
            <a:r>
              <a:rPr dirty="0" err="1"/>
              <a:t>schaffen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?" </a:t>
            </a:r>
            <a:r>
              <a:rPr dirty="0" err="1"/>
              <a:t>konnte</a:t>
            </a:r>
            <a:r>
              <a:rPr dirty="0"/>
              <a:t> </a:t>
            </a:r>
            <a:r>
              <a:rPr dirty="0" err="1"/>
              <a:t>niemand</a:t>
            </a:r>
            <a:r>
              <a:rPr dirty="0"/>
              <a:t> </a:t>
            </a:r>
            <a:r>
              <a:rPr dirty="0" err="1"/>
              <a:t>datenbasiert</a:t>
            </a:r>
            <a:r>
              <a:rPr dirty="0"/>
              <a:t> </a:t>
            </a:r>
            <a:r>
              <a:rPr dirty="0" err="1"/>
              <a:t>beantworten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Konsequenzen</a:t>
            </a:r>
            <a:r>
              <a:rPr dirty="0"/>
              <a:t>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</a:t>
            </a:r>
            <a:r>
              <a:rPr dirty="0" err="1"/>
              <a:t>Regelmässig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viel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wenig</a:t>
            </a:r>
            <a:r>
              <a:rPr dirty="0"/>
              <a:t> </a:t>
            </a:r>
            <a:r>
              <a:rPr dirty="0" err="1"/>
              <a:t>eingeplant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Sprint-</a:t>
            </a:r>
            <a:r>
              <a:rPr dirty="0" err="1"/>
              <a:t>Ziele</a:t>
            </a:r>
            <a:r>
              <a:rPr dirty="0"/>
              <a:t> </a:t>
            </a:r>
            <a:r>
              <a:rPr dirty="0" err="1"/>
              <a:t>verfehlt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Mehr </a:t>
            </a:r>
            <a:r>
              <a:rPr dirty="0" err="1"/>
              <a:t>Abstimmungsaufwand</a:t>
            </a:r>
            <a:r>
              <a:rPr dirty="0"/>
              <a:t>, </a:t>
            </a:r>
            <a:r>
              <a:rPr dirty="0" err="1"/>
              <a:t>weniger</a:t>
            </a:r>
            <a:r>
              <a:rPr dirty="0"/>
              <a:t> </a:t>
            </a:r>
            <a:r>
              <a:rPr dirty="0" err="1"/>
              <a:t>Planungssicherheit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CF2D2-1619-E517-5450-BB226FCAC47C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5FB04-3346-89E1-7B18-5D546720D937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DD4D0-900A-BE37-DD38-632ED0722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Auftrag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Was </a:t>
            </a:r>
            <a:r>
              <a:rPr dirty="0" err="1"/>
              <a:t>sollte</a:t>
            </a:r>
            <a:r>
              <a:rPr dirty="0"/>
              <a:t> </a:t>
            </a:r>
            <a:r>
              <a:rPr dirty="0" err="1"/>
              <a:t>Sprintify</a:t>
            </a:r>
            <a:r>
              <a:rPr dirty="0"/>
              <a:t> </a:t>
            </a:r>
            <a:r>
              <a:rPr dirty="0" err="1"/>
              <a:t>leisten</a:t>
            </a:r>
            <a:r>
              <a:rPr dirty="0"/>
              <a:t>?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1. Sprints, User Stories und </a:t>
            </a:r>
            <a:r>
              <a:rPr dirty="0" err="1"/>
              <a:t>Teammitglieder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Jira </a:t>
            </a:r>
            <a:r>
              <a:rPr dirty="0" err="1"/>
              <a:t>übernehmen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2. </a:t>
            </a:r>
            <a:r>
              <a:rPr dirty="0" err="1"/>
              <a:t>Kapazitätsplanung</a:t>
            </a:r>
            <a:r>
              <a:rPr dirty="0"/>
              <a:t> pro Person und Sprint (</a:t>
            </a:r>
            <a:r>
              <a:rPr dirty="0" err="1"/>
              <a:t>wochenweise</a:t>
            </a:r>
            <a:r>
              <a:rPr dirty="0"/>
              <a:t>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3. Sprint Analytics: Burndown, Velocity, Scope-Changes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4. SP-</a:t>
            </a:r>
            <a:r>
              <a:rPr dirty="0" err="1"/>
              <a:t>Empfehlung</a:t>
            </a:r>
            <a:r>
              <a:rPr dirty="0"/>
              <a:t> </a:t>
            </a:r>
            <a:r>
              <a:rPr dirty="0" err="1"/>
              <a:t>basierend</a:t>
            </a:r>
            <a:r>
              <a:rPr dirty="0"/>
              <a:t> auf </a:t>
            </a:r>
            <a:r>
              <a:rPr dirty="0" err="1"/>
              <a:t>Kapazität</a:t>
            </a:r>
            <a:r>
              <a:rPr dirty="0"/>
              <a:t> und Velocity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5. </a:t>
            </a:r>
            <a:r>
              <a:rPr dirty="0" err="1"/>
              <a:t>Rollenbasierte</a:t>
            </a:r>
            <a:r>
              <a:rPr dirty="0"/>
              <a:t> </a:t>
            </a:r>
            <a:r>
              <a:rPr dirty="0" err="1"/>
              <a:t>Zugriffskontrolle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Rahmenbedingungen</a:t>
            </a:r>
            <a:r>
              <a:rPr dirty="0"/>
              <a:t>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Deployment auf Azure App Service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Ein-Mann-Projekt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8 </a:t>
            </a:r>
            <a:r>
              <a:rPr dirty="0" err="1"/>
              <a:t>Monate</a:t>
            </a:r>
            <a:r>
              <a:rPr dirty="0"/>
              <a:t> </a:t>
            </a:r>
            <a:r>
              <a:rPr dirty="0" err="1"/>
              <a:t>Projektlaufzeit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4C9CFC-B7AF-045C-6004-FE2F3D34C0C8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17BB3-17EB-CE8F-8D41-867F806B20DD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7E4E46E-E4EE-CA2A-30B4-860252151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Marktanalyse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Tempo Timesheets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+ </a:t>
            </a:r>
            <a:r>
              <a:rPr dirty="0" err="1"/>
              <a:t>Zeiterfassung</a:t>
            </a:r>
            <a:r>
              <a:rPr dirty="0"/>
              <a:t>, Jira-Plugin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- Keine </a:t>
            </a:r>
            <a:r>
              <a:rPr dirty="0" err="1"/>
              <a:t>wochenbasierte</a:t>
            </a:r>
            <a:r>
              <a:rPr dirty="0"/>
              <a:t> </a:t>
            </a:r>
            <a:r>
              <a:rPr dirty="0" err="1"/>
              <a:t>Kapazitätsplanung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/>
              <a:t>Jira Advanced Roadmaps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+ Portfolio-</a:t>
            </a:r>
            <a:r>
              <a:rPr dirty="0" err="1"/>
              <a:t>Planung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- </a:t>
            </a:r>
            <a:r>
              <a:rPr dirty="0" err="1"/>
              <a:t>Teuer</a:t>
            </a:r>
            <a:r>
              <a:rPr dirty="0"/>
              <a:t>, </a:t>
            </a:r>
            <a:r>
              <a:rPr dirty="0" err="1"/>
              <a:t>komplex</a:t>
            </a:r>
            <a:r>
              <a:rPr dirty="0"/>
              <a:t>, </a:t>
            </a:r>
            <a:r>
              <a:rPr dirty="0" err="1"/>
              <a:t>keine</a:t>
            </a:r>
            <a:r>
              <a:rPr dirty="0"/>
              <a:t> Team-</a:t>
            </a:r>
            <a:r>
              <a:rPr dirty="0" err="1"/>
              <a:t>Kapazitätsansicht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Forecast.app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+ </a:t>
            </a:r>
            <a:r>
              <a:rPr dirty="0" err="1"/>
              <a:t>Projektplanung</a:t>
            </a:r>
            <a:endParaRPr dirty="0"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rPr dirty="0"/>
              <a:t>  - Keine </a:t>
            </a:r>
            <a:r>
              <a:rPr dirty="0" err="1"/>
              <a:t>direkte</a:t>
            </a:r>
            <a:r>
              <a:rPr dirty="0"/>
              <a:t> Jira-Sync, </a:t>
            </a:r>
            <a:r>
              <a:rPr dirty="0" err="1"/>
              <a:t>keine</a:t>
            </a:r>
            <a:r>
              <a:rPr dirty="0"/>
              <a:t> SP-</a:t>
            </a:r>
            <a:r>
              <a:rPr dirty="0" err="1"/>
              <a:t>Empfehlung</a:t>
            </a: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rPr dirty="0" err="1"/>
              <a:t>Keines</a:t>
            </a:r>
            <a:r>
              <a:rPr dirty="0"/>
              <a:t> </a:t>
            </a:r>
            <a:r>
              <a:rPr dirty="0" err="1"/>
              <a:t>verbindet</a:t>
            </a:r>
            <a:r>
              <a:rPr dirty="0"/>
              <a:t> </a:t>
            </a:r>
            <a:r>
              <a:rPr dirty="0" err="1"/>
              <a:t>Kapazitätsplanung</a:t>
            </a:r>
            <a:r>
              <a:rPr dirty="0"/>
              <a:t> + Jira-Sync + Sprint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A5171-1D1B-0972-A588-823BD81FE36A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F7C5F7-253D-FEDF-B736-E71ECF850018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357D678-07E9-00DF-E5E5-7FF5E5A37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Methodik: Iteratives Vorgehen (angelehnt an Scrum)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Zweiwöchige Iterationen mit definierten Zielen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Regelmässige Besprechung mit dem Auftraggeber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Vier Projektphasen: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Phase 1 (Monat 1-2): Analyse &amp; Konzeption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Phase 2 (Monat 2-4): Backend-Entwicklung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Phase 3 (Monat 4-6): Frontend-Entwicklung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Phase 4 (Monat 6-8): Integration &amp; Deployment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533DE-1E3A-7B0A-93FC-C674590C1B60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DB9BEB-A703-D865-A5DA-AAFA61C48A22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DF8846-0566-CB0A-959A-1E039B82D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KI als Co-Engineer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Methodische Wahl: KI-gestützte Entwicklung mit Claude Code (Anthropic)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Cloud-Engineer-Hintergrund erlaubt fachliche Prüfung der Vorschläge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Einsatz für Boilerplate, UI-Komponenten, Dokumentations-Entwürfe, Sparring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Mein Arbeitszyklus: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1. Anforderung präzise formulieren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2. Architektur und Kontext bereitstellen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3. KI generiert Vorschlag — Eigenleistung: Schritte 1, 2, 4, 5, 6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4. Code-Review Zeile für Zeile, manuell anpassen, gegen echte Daten validieren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533DE-1E3A-7B0A-93FC-C674590C1B60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DB9BEB-A703-D865-A5DA-AAFA61C48A22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DF8846-0566-CB0A-959A-1E039B82D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99" y="3429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 err="1"/>
              <a:t>Architektur</a:t>
            </a:r>
            <a:endParaRPr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D7570C-B3A7-B69B-2965-32524B7CE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Architekturübersicht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Frontend: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React 19, TypeScript, Vite, Tailwind CSS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Backend: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Node.js, Express.js, Sequelize ORM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10 Route-Module, Middleware-Stack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Datenbank: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PostgreSQL (Managed auf Azure)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Externe Systeme: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Jira Cloud (REST API v2, Agile API v1.0)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Microsoft Entra ID (MSAL)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7C153-1786-82B4-6C36-A7178FBC44B3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3B8DB-851B-672D-7D45-39E40C522EB2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74DD9D-DEBD-F5E8-08C6-0B9EFDB95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Datenmodell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7 Modelle: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Project → Sprint → UserStory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Project → ProjectUser ↔ User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Sprint → CapacityPlan ↔ User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Sprint → Retrospective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Wichtige Beziehungen: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ProjectUser: Many-to-Many mit Rollen (admin, member, viewer)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CapacityPlan: Pro User und Sprint, wochenweise Kapazitätsdaten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9752D-420B-0221-2CEF-2EA656C72BAA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DA55E5-8FC9-A598-8B17-621CC73A994D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ADE6838-CD9D-E8D9-AF86-184747162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Sicherheit und Zugriffskontrolle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23067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 err="1">
                <a:solidFill>
                  <a:srgbClr val="3B2EFF"/>
                </a:solidFill>
              </a:rPr>
              <a:t>Authentifizierung</a:t>
            </a:r>
            <a:endParaRPr dirty="0">
              <a:solidFill>
                <a:srgbClr val="3B2E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Microsoft Entra ID mit MSAL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OAuth 2.0 Authorization Code Flow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Fallback: lokale JWT-Authentifizierung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Tokens in HTTP-only Cookies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178330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 err="1">
                <a:solidFill>
                  <a:srgbClr val="3B2EFF"/>
                </a:solidFill>
              </a:rPr>
              <a:t>Autorisierung</a:t>
            </a:r>
            <a:endParaRPr dirty="0">
              <a:solidFill>
                <a:srgbClr val="3B2E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Global: Admin, Member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Pro Projekt: Admin, Member, Viewer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Sicherheits-Baseline: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• Helmet (HTTP-Security-Headers)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• CORS mit konfigurierbarem Origin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• Geplant: CSRF, Rate Limiting, Sanitisierung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64AA51-D370-0427-802E-FA65421B6507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22761E-609A-2FCA-0BFC-1737CEF9B1F4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699E7D-FCF0-1241-6BF8-03E39C039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097E3-A316-CFDC-1CBC-62D4A8CAEFF8}"/>
              </a:ext>
            </a:extLst>
          </p:cNvPr>
          <p:cNvSpPr txBox="1"/>
          <p:nvPr/>
        </p:nvSpPr>
        <p:spPr>
          <a:xfrm>
            <a:off x="3851037" y="3429000"/>
            <a:ext cx="448962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de-CH" dirty="0"/>
              <a:t>Jira-</a:t>
            </a:r>
            <a:r>
              <a:rPr lang="de-CH" dirty="0" err="1"/>
              <a:t>Integration</a:t>
            </a:r>
            <a:endParaRPr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79A674-AD08-08CD-DD6A-5B1D64E4E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Jira-Integration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Die grösste technische Herausforderung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Zwei APIs: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REST API v2: Issues (User Stories)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Agile API v1.0: Boards und Sprints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Synchronisation in drei Schritten: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1. Boards und Sprints abrufen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2. Issues pro Sprint synchronisieren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3. Jira-Benutzer mit lokalen Benutzern verknüpfen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Besonderheiten: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Konfigurierbares Story-Point-Feld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Status-Mapping auf einheitliches Schema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Automatische Sync alle 15 Minuten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Fallstrick: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Sprints chronologisch aufsteigend synchronisieren — sonst landen Stories im falschen Sprint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90490-B980-23F0-4CC1-7641E1A3FD87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953DC4-CC7E-1277-28D2-60C3A239242B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A3CB33B-4CE0-774C-90F8-CE7E45953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72C57-9BDF-D871-8E64-32254FA6A234}"/>
              </a:ext>
            </a:extLst>
          </p:cNvPr>
          <p:cNvSpPr txBox="1"/>
          <p:nvPr/>
        </p:nvSpPr>
        <p:spPr>
          <a:xfrm>
            <a:off x="3790891" y="3429000"/>
            <a:ext cx="460991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de-CH" dirty="0"/>
              <a:t>Module im Detail</a:t>
            </a:r>
            <a:endParaRPr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1B8A12-A29E-DA32-519D-0508C3F29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Modul: Capacity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Funktionen: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Wochenweise Aufschlüsselung pro Teammitglied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4 Kategorien: Holiday, Customer, Internal, Other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Aggregierte Ansicht: Gesamtkapazität, Durchschnitt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Inline-Editing direkt in der Tabelle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SP-Empfehlung (neu):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Formel: empfohlene SP = Avg Velocity × Kapazitätsfaktor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Kapazitätsfaktor = aktuelle / historische Durchschnittskapazität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Berücksichtigt die letzten 6 abgeschlossenen Sprints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1C92D7-6414-693D-079C-674A05840012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355D9-7508-B714-B3C8-2919F1D56644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4BDA0E-0F3F-28BA-86AB-4CFBC5AE8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Modul: Sprint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Vier Ansichten: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Overview: Kennzahlen + Burndown-Chart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→ Sind wir auf Kurs?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Compare: Velocity vs. vorheriger Sprint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→ Werden wir besser oder schlechter?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Changes: Scope-Änderungen während des Sprints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→ Warum haben wir das Ziel verfehlt?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Team Performance: Velocity pro Person (Balkendiagramm)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→ Ist die Arbeit gleichmässig verteilt?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65F643-B925-9BF1-7A80-F91491205EFB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A88DC-4A81-164B-DF40-81CCB7F79156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EA0F27-AB09-5BB5-C032-B414A695E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Modul: Sprint History &amp;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78677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Sprint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Velocity über alle Sprints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Darstellung als Balkendiagramm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Grundlage für Schätzungen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116711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Verbleibende Backlog-Punkte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Geschätzte Anzahl Sprints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  • Best Case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  • Average Case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  • Worst Case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Geschätztes Fertigstellungsdatum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6EE175-8AF9-F9F2-27FD-3AC1CEDBB272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202AF2-D42C-D904-46F8-A8BDB68A2B20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D514F4-769D-844A-EADA-CECEE8B21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532BE-4C85-9E3D-437A-8E8D45583039}"/>
              </a:ext>
            </a:extLst>
          </p:cNvPr>
          <p:cNvSpPr txBox="1"/>
          <p:nvPr/>
        </p:nvSpPr>
        <p:spPr>
          <a:xfrm>
            <a:off x="3379626" y="3429000"/>
            <a:ext cx="543244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de-CH" dirty="0" err="1"/>
              <a:t>Entwicklungsprozess</a:t>
            </a:r>
            <a:endParaRPr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2F7EAD2-182C-0080-1CA6-FFAF1D9B2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Sprints und Phasen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Phase 1 - Analyse (Sprint 1-3):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Anforderungen, Marktanalyse, Architekturentscheid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Phase 2 - Backend (Sprint 4-8):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Datenmodell, API, Jira-Integration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Phase 3 - Frontend (Sprint 9-13):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Dashboard, Kapazitätsplanung, Analytics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Phase 4 - Deployment (Sprint 14-16):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Azure, Tests, Performance, SP-Empfehlung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BFB87-3BB9-5A9C-3618-B34A631EAD94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BA314C-8D2F-C797-E86E-DCD6CDE362E1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24C67E8-9EA0-9FB4-6211-6A37A4FED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Deployment und Betrieb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Azure App Service: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Kein eigener Server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Zentrale Updates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Automatische Skalierung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Komponenten: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Backend als App Service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Frontend als pre-built Static Files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PostgreSQL als Managed Database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Konfiguration: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Umgebungsvariablen über Azure App Settings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Datenbankmigrationen via Sequelize CLI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6BF9C-CD6C-E2D3-3C78-8EBCC3AFA129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710F9-7610-A639-A2DE-94B0B47C425D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A5FB690-1787-802D-47F7-F9CE5BA0C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33C15-1B26-5A68-B20D-401E2D2309EB}"/>
              </a:ext>
            </a:extLst>
          </p:cNvPr>
          <p:cNvSpPr txBox="1"/>
          <p:nvPr/>
        </p:nvSpPr>
        <p:spPr>
          <a:xfrm>
            <a:off x="5239685" y="3429000"/>
            <a:ext cx="171232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de-CH" dirty="0"/>
              <a:t>Demo</a:t>
            </a:r>
            <a:endParaRPr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40513D-ABEB-B671-1057-412130971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6444" y="2841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E2C4-0B4A-B8FD-F162-550B3A37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B04121-B98F-68D9-487A-38D68A04AD1C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DD5F11A2-2B76-7D80-4F23-4E08DFD55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1120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99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7A51-A1B6-B105-7CB6-985806D37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688C45-B9FF-A6DE-3943-99FA2A561146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A52F33-2420-1F90-417D-EFB1C233C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1695" cy="1122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83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0B6F-A0F1-1E51-1606-1233F47F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EC9263-5D90-ED53-D2EC-506430F176C2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B16738B-D79C-3112-2272-DFC2F11E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4" cy="947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62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56DF6-0792-290E-D703-4E624DA6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D758AA-460A-4C6D-353C-D228DAB61943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ECD11D2-88FE-939E-44B1-F0CABA57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324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23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4EAE7-5337-1778-9414-FFCA2FD6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E42B9C-CAD3-D0DE-FE42-4D98438662ED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F7339F-7BFA-90B6-BC14-3BE03046C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4" cy="926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17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0B5F2-E8E8-B14E-5598-B4837307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2B12E2-C35D-D107-D693-6B0EA492FA2D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2036DE-E17F-8103-E250-AEB69926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946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50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82D56-BE45-E80A-2A52-2BCC9276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682D2A-5E65-708F-71C3-111C9095D53B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5F7173-914A-BA37-A53D-A36260B00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931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37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F5544-9903-EBD1-2805-090F97F65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E19579-301A-B754-9C95-F9C3EE10771B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DA0776-6462-5DCA-F054-F2C39151C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4" cy="83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22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596A-9A8D-A022-CADA-834FAF34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97CFEF-F94D-04F8-33A6-6CD41C87EDA9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D7CB04-11CC-0A25-037E-E1B519B6C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6151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2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4BCF-5F75-80D7-6E93-E87CB24D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2E8543-3089-A2DD-8C06-51791F78B0B8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45B4C6-FB74-6382-E3F3-BED72E3F5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3841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899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A941D-586A-D3AA-95CF-A1F89AEC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F41B1D-F532-2DBD-6D39-E8167C43C23F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306980-52D0-BD1A-F0F2-C3B21CD88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9472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4454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326A0-725D-DCB8-C533-82D9A786D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648465-DD18-683F-5E39-F64ED0FDC5D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0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FA1B32-4634-29E9-91AE-914765893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946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930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Kritische Würdigung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54223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Was gut </a:t>
            </a:r>
            <a:r>
              <a:rPr dirty="0" err="1">
                <a:solidFill>
                  <a:srgbClr val="3B2EFF"/>
                </a:solidFill>
              </a:rPr>
              <a:t>gelaufen</a:t>
            </a:r>
            <a:r>
              <a:rPr dirty="0">
                <a:solidFill>
                  <a:srgbClr val="3B2EFF"/>
                </a:solidFill>
              </a:rPr>
              <a:t> </a:t>
            </a:r>
            <a:r>
              <a:rPr dirty="0" err="1">
                <a:solidFill>
                  <a:srgbClr val="3B2EFF"/>
                </a:solidFill>
              </a:rPr>
              <a:t>ist</a:t>
            </a:r>
            <a:endParaRPr dirty="0">
              <a:solidFill>
                <a:srgbClr val="3B2E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Iteratives Vorgehen hat sich bewährt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Anforderungen haben sich geändert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App läuft mit Produktivdaten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SP-Empfehlung ist einzigartig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375346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A04FF"/>
                </a:solidFill>
              </a:defRPr>
            </a:pPr>
            <a:r>
              <a:rPr dirty="0">
                <a:solidFill>
                  <a:srgbClr val="3B2EFF"/>
                </a:solidFill>
              </a:rPr>
              <a:t>Was ich </a:t>
            </a:r>
            <a:r>
              <a:rPr dirty="0" err="1">
                <a:solidFill>
                  <a:srgbClr val="3B2EFF"/>
                </a:solidFill>
              </a:rPr>
              <a:t>anders</a:t>
            </a:r>
            <a:r>
              <a:rPr dirty="0">
                <a:solidFill>
                  <a:srgbClr val="3B2EFF"/>
                </a:solidFill>
              </a:rPr>
              <a:t> </a:t>
            </a:r>
            <a:r>
              <a:rPr dirty="0" err="1">
                <a:solidFill>
                  <a:srgbClr val="3B2EFF"/>
                </a:solidFill>
              </a:rPr>
              <a:t>machen</a:t>
            </a:r>
            <a:r>
              <a:rPr dirty="0">
                <a:solidFill>
                  <a:srgbClr val="3B2EFF"/>
                </a:solidFill>
              </a:rPr>
              <a:t> </a:t>
            </a:r>
            <a:r>
              <a:rPr dirty="0" err="1">
                <a:solidFill>
                  <a:srgbClr val="3B2EFF"/>
                </a:solidFill>
              </a:rPr>
              <a:t>würde</a:t>
            </a:r>
            <a:endParaRPr dirty="0">
              <a:solidFill>
                <a:srgbClr val="3B2E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Jira-Integration: Spike zu Beginn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Vielfalt der Konfigurationen unterschätzt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Automatisierte Tests nur punktuell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Single-Tenant Architektur limitiert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12377-B477-BE92-0EA5-2C9DF53E4C46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12C37A-C067-778A-E076-4B5B6AD87391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E7D8C9-492F-B91B-4E04-05DB79FF5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Persönliche Reflexion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Was ich gelernt habe: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Die grösste Herausforderung steckt in externen Systemen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Allein arbeiten: schnelle Entscheidungen, aber keine Reviews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Ohne Iterationen hätte ich die Änderungen nicht geschafft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Vorher Frontend/Infra - jetzt auch Backend-Erfahrung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Was ich mitnehme: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Integrationen immer mit einem Spike starten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Automatisierte Tests von Anfang an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Auch als Solo-Entwickler Code-Reviews simulieren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KI als Co-Engineer gezielt einsetzen — aber jeden Vorschlag kritisch prüfen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640E2F-3352-DEE4-E4A5-833087E41BB3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73E88-B762-609C-9198-BA55D4F4E21E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A0C66-3960-E1AE-E1A3-F27A4FC3F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Empfehlung und 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Empfehlung: Sprintify produktiv einsetzen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Nächste Schritte: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1. Jira-Anbindung über Service-Account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2. Einführungsschulung für das Team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3. Feedback sammeln in den ersten drei Sprints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4. Automatisierte Tests ausbauen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5. Mittelfristig: Mobile Ansicht für Stand-ups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34155"/>
                </a:solidFill>
              </a:defRPr>
            </a:pPr>
            <a:r>
              <a:t>Ohne Sprintify: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Sprint-Planung bleibt auf Excel angewiesen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  Schätzungen basieren auf Bauchgefühl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BA769-D6A5-4105-6D0E-D3285036BF8B}"/>
              </a:ext>
            </a:extLst>
          </p:cNvPr>
          <p:cNvSpPr/>
          <p:nvPr/>
        </p:nvSpPr>
        <p:spPr>
          <a:xfrm>
            <a:off x="1" y="1"/>
            <a:ext cx="12192000" cy="345988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C21B2-902A-8754-4D44-3402E9278D88}"/>
              </a:ext>
            </a:extLst>
          </p:cNvPr>
          <p:cNvSpPr/>
          <p:nvPr/>
        </p:nvSpPr>
        <p:spPr>
          <a:xfrm>
            <a:off x="11145795" y="6301946"/>
            <a:ext cx="1046051" cy="556054"/>
          </a:xfrm>
          <a:prstGeom prst="rect">
            <a:avLst/>
          </a:prstGeom>
          <a:solidFill>
            <a:srgbClr val="10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020C431-662A-1F6E-F6B6-5CDC55557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3401" y="6438385"/>
            <a:ext cx="490837" cy="2831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/>
              <a:t>Sprintify</a:t>
            </a:r>
            <a:endParaRPr dirty="0"/>
          </a:p>
          <a:p>
            <a:pPr algn="ctr">
              <a:spcBef>
                <a:spcPts val="2000"/>
              </a:spcBef>
              <a:defRPr sz="2400">
                <a:solidFill>
                  <a:srgbClr val="94A3B8"/>
                </a:solidFill>
              </a:defRPr>
            </a:pPr>
            <a:r>
              <a:rPr dirty="0" err="1"/>
              <a:t>Gibt</a:t>
            </a:r>
            <a:r>
              <a:rPr dirty="0"/>
              <a:t> dem Team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datenbasierte</a:t>
            </a:r>
            <a:r>
              <a:rPr dirty="0"/>
              <a:t> </a:t>
            </a:r>
            <a:r>
              <a:rPr dirty="0" err="1"/>
              <a:t>Antwort</a:t>
            </a:r>
            <a:r>
              <a:rPr dirty="0"/>
              <a:t> auf die Frage:</a:t>
            </a:r>
            <a:br>
              <a:rPr dirty="0"/>
            </a:br>
            <a:r>
              <a:rPr dirty="0"/>
              <a:t>"Wie </a:t>
            </a:r>
            <a:r>
              <a:rPr dirty="0" err="1"/>
              <a:t>viele</a:t>
            </a:r>
            <a:r>
              <a:rPr dirty="0"/>
              <a:t> Story Points </a:t>
            </a:r>
            <a:r>
              <a:rPr dirty="0" err="1"/>
              <a:t>schaffen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nächsten</a:t>
            </a:r>
            <a:r>
              <a:rPr dirty="0"/>
              <a:t> Sprint?"</a:t>
            </a:r>
            <a:br>
              <a:rPr dirty="0"/>
            </a:br>
            <a:br>
              <a:rPr dirty="0"/>
            </a:br>
            <a:r>
              <a:rPr dirty="0" err="1"/>
              <a:t>Fragen</a:t>
            </a:r>
            <a:r>
              <a:rPr dirty="0"/>
              <a:t>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C77DB0-DA23-9FB8-D223-A91F12937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6445" y="1698229"/>
            <a:ext cx="1018804" cy="587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1358</Words>
  <Application>Microsoft Macintosh PowerPoint</Application>
  <PresentationFormat>Widescreen</PresentationFormat>
  <Paragraphs>251</Paragraphs>
  <Slides>38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 Haldi</cp:lastModifiedBy>
  <cp:revision>3</cp:revision>
  <dcterms:created xsi:type="dcterms:W3CDTF">2013-01-27T09:14:16Z</dcterms:created>
  <dcterms:modified xsi:type="dcterms:W3CDTF">2026-01-28T14:04:32Z</dcterms:modified>
  <cp:category/>
</cp:coreProperties>
</file>