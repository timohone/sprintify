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8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78" r:id="rId36"/>
    <p:sldId id="279" r:id="rId37"/>
    <p:sldId id="280" r:id="rId38"/>
    <p:sldId id="281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2EFF"/>
    <a:srgbClr val="10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87"/>
    <p:restoredTop sz="94677"/>
  </p:normalViewPr>
  <p:slideViewPr>
    <p:cSldViewPr snapToGrid="0" snapToObjects="1">
      <p:cViewPr varScale="1">
        <p:scale>
          <a:sx n="210" d="100"/>
          <a:sy n="210" d="100"/>
        </p:scale>
        <p:origin x="447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BB6C96-EE24-2C4D-A85B-8CC9970E2065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26EB27-7CB5-824B-A67E-DBB012E8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085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Konkretes</a:t>
            </a:r>
            <a:r>
              <a:rPr dirty="0"/>
              <a:t> </a:t>
            </a:r>
            <a:r>
              <a:rPr dirty="0" err="1"/>
              <a:t>Beispiel</a:t>
            </a:r>
            <a:r>
              <a:rPr dirty="0"/>
              <a:t>: In </a:t>
            </a:r>
            <a:r>
              <a:rPr dirty="0" err="1"/>
              <a:t>einem</a:t>
            </a:r>
            <a:r>
              <a:rPr dirty="0"/>
              <a:t> Sprint </a:t>
            </a:r>
            <a:r>
              <a:rPr dirty="0" err="1"/>
              <a:t>haben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40 SP </a:t>
            </a:r>
            <a:r>
              <a:rPr dirty="0" err="1"/>
              <a:t>geplant</a:t>
            </a:r>
            <a:r>
              <a:rPr dirty="0"/>
              <a:t>, </a:t>
            </a:r>
            <a:r>
              <a:rPr dirty="0" err="1"/>
              <a:t>zwei</a:t>
            </a:r>
            <a:r>
              <a:rPr dirty="0"/>
              <a:t> Leute </a:t>
            </a:r>
            <a:r>
              <a:rPr dirty="0" err="1"/>
              <a:t>waren</a:t>
            </a:r>
            <a:r>
              <a:rPr dirty="0"/>
              <a:t> </a:t>
            </a:r>
            <a:r>
              <a:rPr dirty="0" err="1"/>
              <a:t>aber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Urlaub. Am Ende </a:t>
            </a:r>
            <a:r>
              <a:rPr dirty="0" err="1"/>
              <a:t>haben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22 SP </a:t>
            </a:r>
            <a:r>
              <a:rPr dirty="0" err="1"/>
              <a:t>geschafft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Erklären, warum Scrum als Einzelperson trotzdem Sinn ergibt: feste Iterationen erzwingen regelmässige Standortbestimmung.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Der schwierigste Teil war nicht die API, sondern die unterschiedlichen Konfigurationen bei verschiedenen Kunden.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Wenn zwei Leute im Urlaub sind, sinkt die Kapazität. Die Empfehlung passt die SP automatisch nach unten 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Jira-Integration hat mehr Sprints gebraucht als geplant. Die SP-Empfehlung kam als Anforderung erst spät dazu.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4AB3E-37FB-0859-EA63-6DD925436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19A4FD-A159-292C-8AD2-DE1C223044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2492A5-E3BE-A7C0-52EF-3D88CF62E6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vorbereiten und vorher durchspielen. Screenshots als Backup falls Jira/Azure nicht erreichbar.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A140F-45EA-9BAD-D16F-E2152597CF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03255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BD16D-83CC-D0BA-7EF6-13E0567FB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914BF8-7FEA-2877-40A3-C934A8F795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E26BB9-AF56-2A48-78EE-465DB8D95A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vorbereiten und vorher durchspielen. Screenshots als Backup falls Jira/Azure nicht erreichbar.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EC24A-347D-5C44-C74B-243BC97E7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83381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67967-498A-7CF7-38ED-CFAF68817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9F3403-72D5-7412-2C4D-C0A6F47BD6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B04044-E787-AADA-D8EF-E684D43555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vorbereiten und vorher durchspielen. Screenshots als Backup falls Jira/Azure nicht erreichbar.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19EF0-B3E5-86FA-87FA-F57FF17FAD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57116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98DEA-FD8F-49A7-0CB2-AB30FB10B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E70AD8-A3A1-AE5F-9D0A-1281CE89D0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C23B7D-3FB4-E4BA-BBAF-26C05BE990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vorbereiten und vorher durchspielen. Screenshots als Backup falls Jira/Azure nicht erreichbar.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28F82-A26A-F260-3121-9DB7B42E1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408620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E1504-9F0C-E75C-35C7-0643FC51E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D5F819-2903-5B74-0983-8C01A7CF7C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F05D6D-75F9-E138-B19C-21714EEC66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vorbereiten und vorher durchspielen. Screenshots als Backup falls Jira/Azure nicht erreichbar.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0E79A-FFC7-326B-F90D-BC1FAF4CB1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418352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E9F53-C316-CE9E-DB5C-82AAE39B8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D90286-7D57-E0A5-0E58-9E798E6843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33A113-A2EE-11EA-2EE7-0D8FCD5BE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vorbereiten und vorher durchspielen. Screenshots als Backup falls Jira/Azure nicht erreichbar.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A2E1B-C83A-BCFD-09F6-544180836E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504261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BE266-5007-DA6C-ADA8-22FDD9560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D301A9-2B90-8991-87F8-933DB8C8A0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278AB9-2563-0778-ED22-1497E9CB5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vorbereiten und vorher durchspielen. Screenshots als Backup falls Jira/Azure nicht erreichbar.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612DA-A2FC-C6AF-242B-D3618832C4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754214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A40D7-2B10-00B8-BE60-461A14BA5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D46D34-A7EF-606D-CB27-45194E80BD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B70AF0-842F-8B4E-199E-CD8710B238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vorbereiten und vorher durchspielen. Screenshots als Backup falls Jira/Azure nicht erreichbar.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C6D1B-3D13-9E9D-45C3-8A8583ABF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615256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53DF9-E46C-77C0-7A4B-89C9D046E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8D600A-DD33-9388-339D-D2AFAEDA9C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B6B9B9-0B00-E9B1-019B-471CBD29B2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vorbereiten und vorher durchspielen. Screenshots als Backup falls Jira/Azure nicht erreichbar.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BACCC-9A65-0D03-D730-F6BCF8E00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409349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1F71E-A3C8-A6E6-3AFD-0E521D88B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5816EF-26B4-EC20-F323-2E977CFB95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1B1368-57C5-C740-EB81-939A20F454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vorbereiten und vorher durchspielen. Screenshots als Backup falls Jira/Azure nicht erreichbar.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36857-3028-100C-699A-C31FC884B6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47887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E5A85-50E7-BC0C-1FAC-5D520AC7E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F56820-D3F0-644B-C3BB-F178E3F0EB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09D3D-EA78-9846-9655-F7E98CF0C2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vorbereiten und vorher durchspielen. Screenshots als Backup falls Jira/Azure nicht erreichbar.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ECA6F-04C3-9E2B-50F7-62EFEF63C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756096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7EA25-0CEB-A367-545A-E1938E207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6F7D10-E20D-B069-E915-7420B67259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662C31-4407-0E95-2043-B25BABBDF9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vorbereiten und vorher durchspielen. Screenshots als Backup falls Jira/Azure nicht erreichbar.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2AAD0-E4C7-2BE4-6C49-7E49BAA995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8023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B7889D-365F-4755-68D8-797BCC574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168702"/>
            <a:ext cx="12192000" cy="111954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A90C4-7271-E007-F716-675FB31AF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F5115D-C245-31E5-39D9-C72C7CC1E29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A8BA17-6CF1-0521-E13D-DD94D3C782BD}"/>
              </a:ext>
            </a:extLst>
          </p:cNvPr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Sprintify</a:t>
            </a:r>
          </a:p>
          <a:p>
            <a:pPr algn="ctr">
              <a:spcBef>
                <a:spcPts val="2000"/>
              </a:spcBef>
              <a:defRPr sz="2400">
                <a:solidFill>
                  <a:srgbClr val="94A3B8"/>
                </a:solidFill>
              </a:defRPr>
            </a:pPr>
            <a:r>
              <a:t>Entwicklung eines Capacity-Planning-Tools mit Jira-Integration</a:t>
            </a:r>
            <a:br/>
            <a:br/>
            <a:r>
              <a:t>Timo Haldi | HF ICT 2023 F | Coach: Ardin Ibraimi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9E1302-F009-3029-77CC-035CBF82F910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826DA5F-8593-18F7-942D-D6C4830818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373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rPr dirty="0"/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1" y="1371600"/>
            <a:ext cx="8136924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1. </a:t>
            </a:r>
            <a:r>
              <a:rPr dirty="0" err="1"/>
              <a:t>Vorstellung</a:t>
            </a:r>
            <a:r>
              <a:rPr dirty="0"/>
              <a:t> und </a:t>
            </a:r>
            <a:r>
              <a:rPr dirty="0" err="1"/>
              <a:t>Kontext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2. </a:t>
            </a:r>
            <a:r>
              <a:rPr dirty="0" err="1"/>
              <a:t>Problemstellung</a:t>
            </a:r>
            <a:r>
              <a:rPr dirty="0"/>
              <a:t> und </a:t>
            </a:r>
            <a:r>
              <a:rPr dirty="0" err="1"/>
              <a:t>Auftrag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3. </a:t>
            </a:r>
            <a:r>
              <a:rPr dirty="0" err="1"/>
              <a:t>Vorgehen</a:t>
            </a:r>
            <a:r>
              <a:rPr dirty="0"/>
              <a:t> und </a:t>
            </a:r>
            <a:r>
              <a:rPr dirty="0" err="1"/>
              <a:t>Projektplanung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4. </a:t>
            </a:r>
            <a:r>
              <a:rPr dirty="0" err="1"/>
              <a:t>Architektur</a:t>
            </a:r>
            <a:r>
              <a:rPr dirty="0"/>
              <a:t> und </a:t>
            </a:r>
            <a:r>
              <a:rPr dirty="0" err="1"/>
              <a:t>Technologieentscheidungen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5. </a:t>
            </a:r>
            <a:r>
              <a:rPr dirty="0" err="1"/>
              <a:t>Ergebnisse</a:t>
            </a:r>
            <a:r>
              <a:rPr dirty="0"/>
              <a:t>: Die Module </a:t>
            </a:r>
            <a:r>
              <a:rPr dirty="0" err="1"/>
              <a:t>im</a:t>
            </a:r>
            <a:r>
              <a:rPr dirty="0"/>
              <a:t> Detail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6. Sprints und </a:t>
            </a:r>
            <a:r>
              <a:rPr dirty="0" err="1"/>
              <a:t>Entwicklungsprozess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7. Demo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8. </a:t>
            </a:r>
            <a:r>
              <a:rPr dirty="0" err="1"/>
              <a:t>Kritische</a:t>
            </a:r>
            <a:r>
              <a:rPr dirty="0"/>
              <a:t> </a:t>
            </a:r>
            <a:r>
              <a:rPr dirty="0" err="1"/>
              <a:t>Würdigung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9. </a:t>
            </a:r>
            <a:r>
              <a:rPr dirty="0" err="1"/>
              <a:t>Persönliche</a:t>
            </a:r>
            <a:r>
              <a:rPr dirty="0"/>
              <a:t> </a:t>
            </a:r>
            <a:r>
              <a:rPr dirty="0" err="1"/>
              <a:t>Reflexion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10. </a:t>
            </a:r>
            <a:r>
              <a:rPr dirty="0" err="1"/>
              <a:t>Fazit</a:t>
            </a:r>
            <a:r>
              <a:rPr dirty="0"/>
              <a:t> und </a:t>
            </a:r>
            <a:r>
              <a:rPr dirty="0" err="1"/>
              <a:t>Empfehlung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D3267E-0050-CE3A-8329-203BA19DF3ED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B08D814-4837-0020-7E16-B7BB9E26E9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Vorstellung und Kontext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64295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A04FF"/>
                </a:solidFill>
              </a:defRPr>
            </a:pPr>
            <a:r>
              <a:rPr dirty="0" err="1">
                <a:solidFill>
                  <a:srgbClr val="3B2EFF"/>
                </a:solidFill>
              </a:rPr>
              <a:t>Wer</a:t>
            </a:r>
            <a:r>
              <a:rPr dirty="0">
                <a:solidFill>
                  <a:srgbClr val="3B2EFF"/>
                </a:solidFill>
              </a:rPr>
              <a:t> bin ich?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rPr dirty="0"/>
              <a:t>Cloud Engineer </a:t>
            </a:r>
            <a:r>
              <a:rPr dirty="0" err="1"/>
              <a:t>bei</a:t>
            </a:r>
            <a:r>
              <a:rPr dirty="0"/>
              <a:t> der </a:t>
            </a:r>
            <a:r>
              <a:rPr dirty="0" err="1"/>
              <a:t>Netcloud</a:t>
            </a:r>
            <a:r>
              <a:rPr dirty="0"/>
              <a:t> AG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rPr dirty="0" err="1"/>
              <a:t>Abteilung</a:t>
            </a:r>
            <a:r>
              <a:rPr dirty="0"/>
              <a:t> Public Cloud Solutions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rPr dirty="0" err="1"/>
              <a:t>Tagesgeschäft</a:t>
            </a:r>
            <a:r>
              <a:rPr dirty="0"/>
              <a:t>: Azure-</a:t>
            </a:r>
            <a:r>
              <a:rPr dirty="0" err="1"/>
              <a:t>Kundenprojekte</a:t>
            </a:r>
            <a:endParaRPr dirty="0"/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rPr dirty="0"/>
              <a:t>Team </a:t>
            </a:r>
            <a:r>
              <a:rPr dirty="0" err="1"/>
              <a:t>arbeitet</a:t>
            </a:r>
            <a:r>
              <a:rPr dirty="0"/>
              <a:t> </a:t>
            </a:r>
            <a:r>
              <a:rPr dirty="0" err="1"/>
              <a:t>nach</a:t>
            </a:r>
            <a:r>
              <a:rPr dirty="0"/>
              <a:t> Scrum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rPr dirty="0" err="1"/>
              <a:t>Zweiwöchige</a:t>
            </a:r>
            <a:r>
              <a:rPr dirty="0"/>
              <a:t> Sprints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3575531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A04FF"/>
                </a:solidFill>
              </a:defRPr>
            </a:pPr>
            <a:r>
              <a:rPr dirty="0">
                <a:solidFill>
                  <a:srgbClr val="3B2EFF"/>
                </a:solidFill>
              </a:rPr>
              <a:t>Was </a:t>
            </a:r>
            <a:r>
              <a:rPr dirty="0" err="1">
                <a:solidFill>
                  <a:srgbClr val="3B2EFF"/>
                </a:solidFill>
              </a:rPr>
              <a:t>macht</a:t>
            </a:r>
            <a:r>
              <a:rPr dirty="0">
                <a:solidFill>
                  <a:srgbClr val="3B2EFF"/>
                </a:solidFill>
              </a:rPr>
              <a:t> die </a:t>
            </a:r>
            <a:r>
              <a:rPr dirty="0" err="1">
                <a:solidFill>
                  <a:srgbClr val="3B2EFF"/>
                </a:solidFill>
              </a:rPr>
              <a:t>Netcloud</a:t>
            </a:r>
            <a:r>
              <a:rPr dirty="0">
                <a:solidFill>
                  <a:srgbClr val="3B2EFF"/>
                </a:solidFill>
              </a:rPr>
              <a:t> AG?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Schweizer IT-Dienstleister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Fokus auf Cloud-Infrastruktur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Kunden aus verschiedenen Branchen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Unterschiedliche Jira-Setups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160B72-785C-39D9-308F-414E1C4AC791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CE1A6A-5296-6E2D-0884-4A4160F14A32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0F87AB5-0649-73C1-C420-37E4A44F41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rPr dirty="0" err="1"/>
              <a:t>Problemstellung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Sprint-</a:t>
            </a:r>
            <a:r>
              <a:rPr dirty="0" err="1"/>
              <a:t>Planung</a:t>
            </a:r>
            <a:r>
              <a:rPr dirty="0"/>
              <a:t> </a:t>
            </a:r>
            <a:r>
              <a:rPr dirty="0" err="1"/>
              <a:t>vor</a:t>
            </a:r>
            <a:r>
              <a:rPr dirty="0"/>
              <a:t> </a:t>
            </a:r>
            <a:r>
              <a:rPr dirty="0" err="1"/>
              <a:t>Sprintify</a:t>
            </a:r>
            <a:r>
              <a:rPr dirty="0"/>
              <a:t>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</a:t>
            </a:r>
            <a:r>
              <a:rPr dirty="0" err="1"/>
              <a:t>Kapazitätsplanung</a:t>
            </a:r>
            <a:r>
              <a:rPr dirty="0"/>
              <a:t> via Excel-</a:t>
            </a:r>
            <a:r>
              <a:rPr dirty="0" err="1"/>
              <a:t>Tabellen</a:t>
            </a:r>
            <a:endParaRPr dirty="0"/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</a:t>
            </a:r>
            <a:r>
              <a:rPr dirty="0" err="1"/>
              <a:t>Verstreut</a:t>
            </a:r>
            <a:r>
              <a:rPr dirty="0"/>
              <a:t> </a:t>
            </a:r>
            <a:r>
              <a:rPr dirty="0" err="1"/>
              <a:t>über</a:t>
            </a:r>
            <a:r>
              <a:rPr dirty="0"/>
              <a:t> SharePoint-Ordner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Kein </a:t>
            </a:r>
            <a:r>
              <a:rPr dirty="0" err="1"/>
              <a:t>zentraler</a:t>
            </a:r>
            <a:r>
              <a:rPr dirty="0"/>
              <a:t> Ort für </a:t>
            </a:r>
            <a:r>
              <a:rPr dirty="0" err="1"/>
              <a:t>historische</a:t>
            </a:r>
            <a:r>
              <a:rPr dirty="0"/>
              <a:t> Velocity-</a:t>
            </a:r>
            <a:r>
              <a:rPr dirty="0" err="1"/>
              <a:t>Daten</a:t>
            </a:r>
            <a:endParaRPr dirty="0"/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</a:t>
            </a:r>
            <a:r>
              <a:rPr dirty="0" err="1"/>
              <a:t>Abwesenheiten</a:t>
            </a:r>
            <a:r>
              <a:rPr dirty="0"/>
              <a:t> </a:t>
            </a:r>
            <a:r>
              <a:rPr dirty="0" err="1"/>
              <a:t>fliessen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 </a:t>
            </a:r>
            <a:r>
              <a:rPr dirty="0" err="1"/>
              <a:t>informell</a:t>
            </a:r>
            <a:r>
              <a:rPr dirty="0"/>
              <a:t> in die </a:t>
            </a:r>
            <a:r>
              <a:rPr dirty="0" err="1"/>
              <a:t>Planung</a:t>
            </a:r>
            <a:r>
              <a:rPr dirty="0"/>
              <a:t> </a:t>
            </a:r>
            <a:r>
              <a:rPr dirty="0" err="1"/>
              <a:t>ein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Die Frage "Wie </a:t>
            </a:r>
            <a:r>
              <a:rPr dirty="0" err="1"/>
              <a:t>viele</a:t>
            </a:r>
            <a:r>
              <a:rPr dirty="0"/>
              <a:t> Story Points </a:t>
            </a:r>
            <a:r>
              <a:rPr dirty="0" err="1"/>
              <a:t>schaffen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?" </a:t>
            </a:r>
            <a:r>
              <a:rPr dirty="0" err="1"/>
              <a:t>konnte</a:t>
            </a:r>
            <a:r>
              <a:rPr dirty="0"/>
              <a:t> </a:t>
            </a:r>
            <a:r>
              <a:rPr dirty="0" err="1"/>
              <a:t>niemand</a:t>
            </a:r>
            <a:r>
              <a:rPr dirty="0"/>
              <a:t> </a:t>
            </a:r>
            <a:r>
              <a:rPr dirty="0" err="1"/>
              <a:t>datenbasiert</a:t>
            </a:r>
            <a:r>
              <a:rPr dirty="0"/>
              <a:t> </a:t>
            </a:r>
            <a:r>
              <a:rPr dirty="0" err="1"/>
              <a:t>beantworten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 err="1"/>
              <a:t>Konsequenzen</a:t>
            </a:r>
            <a:r>
              <a:rPr dirty="0"/>
              <a:t>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</a:t>
            </a:r>
            <a:r>
              <a:rPr dirty="0" err="1"/>
              <a:t>Regelmässig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viel</a:t>
            </a:r>
            <a:r>
              <a:rPr dirty="0"/>
              <a:t>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wenig</a:t>
            </a:r>
            <a:r>
              <a:rPr dirty="0"/>
              <a:t> </a:t>
            </a:r>
            <a:r>
              <a:rPr dirty="0" err="1"/>
              <a:t>eingeplant</a:t>
            </a:r>
            <a:endParaRPr dirty="0"/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Sprint-</a:t>
            </a:r>
            <a:r>
              <a:rPr dirty="0" err="1"/>
              <a:t>Ziele</a:t>
            </a:r>
            <a:r>
              <a:rPr dirty="0"/>
              <a:t> </a:t>
            </a:r>
            <a:r>
              <a:rPr dirty="0" err="1"/>
              <a:t>verfehlt</a:t>
            </a:r>
            <a:endParaRPr dirty="0"/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Mehr </a:t>
            </a:r>
            <a:r>
              <a:rPr dirty="0" err="1"/>
              <a:t>Abstimmungsaufwand</a:t>
            </a:r>
            <a:r>
              <a:rPr dirty="0"/>
              <a:t>, </a:t>
            </a:r>
            <a:r>
              <a:rPr dirty="0" err="1"/>
              <a:t>weniger</a:t>
            </a:r>
            <a:r>
              <a:rPr dirty="0"/>
              <a:t> </a:t>
            </a:r>
            <a:r>
              <a:rPr dirty="0" err="1"/>
              <a:t>Planungssicherheit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ECF2D2-1619-E517-5450-BB226FCAC47C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5FB04-3346-89E1-7B18-5D546720D937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5FDD4D0-900A-BE37-DD38-632ED0722E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Auftrag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Was </a:t>
            </a:r>
            <a:r>
              <a:rPr dirty="0" err="1"/>
              <a:t>sollte</a:t>
            </a:r>
            <a:r>
              <a:rPr dirty="0"/>
              <a:t> </a:t>
            </a:r>
            <a:r>
              <a:rPr dirty="0" err="1"/>
              <a:t>Sprintify</a:t>
            </a:r>
            <a:r>
              <a:rPr dirty="0"/>
              <a:t> </a:t>
            </a:r>
            <a:r>
              <a:rPr dirty="0" err="1"/>
              <a:t>leisten</a:t>
            </a:r>
            <a:r>
              <a:rPr dirty="0"/>
              <a:t>?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1. Sprints, User Stories und </a:t>
            </a:r>
            <a:r>
              <a:rPr dirty="0" err="1"/>
              <a:t>Teammitglieder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 Jira </a:t>
            </a:r>
            <a:r>
              <a:rPr dirty="0" err="1"/>
              <a:t>übernehmen</a:t>
            </a:r>
            <a:endParaRPr dirty="0"/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2. </a:t>
            </a:r>
            <a:r>
              <a:rPr dirty="0" err="1"/>
              <a:t>Kapazitätsplanung</a:t>
            </a:r>
            <a:r>
              <a:rPr dirty="0"/>
              <a:t> pro Person und Sprint (</a:t>
            </a:r>
            <a:r>
              <a:rPr dirty="0" err="1"/>
              <a:t>wochenweise</a:t>
            </a:r>
            <a:r>
              <a:rPr dirty="0"/>
              <a:t>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3. Sprint Analytics: Burndown, Velocity, Scope-Changes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4. SP-</a:t>
            </a:r>
            <a:r>
              <a:rPr dirty="0" err="1"/>
              <a:t>Empfehlung</a:t>
            </a:r>
            <a:r>
              <a:rPr dirty="0"/>
              <a:t> </a:t>
            </a:r>
            <a:r>
              <a:rPr dirty="0" err="1"/>
              <a:t>basierend</a:t>
            </a:r>
            <a:r>
              <a:rPr dirty="0"/>
              <a:t> auf </a:t>
            </a:r>
            <a:r>
              <a:rPr dirty="0" err="1"/>
              <a:t>Kapazität</a:t>
            </a:r>
            <a:r>
              <a:rPr dirty="0"/>
              <a:t> und Velocity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5. </a:t>
            </a:r>
            <a:r>
              <a:rPr dirty="0" err="1"/>
              <a:t>Rollenbasierte</a:t>
            </a:r>
            <a:r>
              <a:rPr dirty="0"/>
              <a:t> </a:t>
            </a:r>
            <a:r>
              <a:rPr dirty="0" err="1"/>
              <a:t>Zugriffskontrolle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 err="1"/>
              <a:t>Rahmenbedingungen</a:t>
            </a:r>
            <a:r>
              <a:rPr dirty="0"/>
              <a:t>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Deployment auf Azure App Service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Ein-Mann-Projekt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</a:t>
            </a:r>
            <a:r>
              <a:rPr lang="de-CH" dirty="0"/>
              <a:t>8</a:t>
            </a:r>
            <a:r>
              <a:rPr dirty="0"/>
              <a:t> </a:t>
            </a:r>
            <a:r>
              <a:rPr dirty="0" err="1"/>
              <a:t>Monate</a:t>
            </a:r>
            <a:r>
              <a:rPr dirty="0"/>
              <a:t> </a:t>
            </a:r>
            <a:r>
              <a:rPr dirty="0" err="1"/>
              <a:t>Projektlaufzeit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4C9CFC-B7AF-045C-6004-FE2F3D34C0C8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717BB3-17EB-CE8F-8D41-867F806B20DD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7E4E46E-E4EE-CA2A-30B4-8602521514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Marktanalyse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Tempo Timesheets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+ </a:t>
            </a:r>
            <a:r>
              <a:rPr dirty="0" err="1"/>
              <a:t>Zeiterfassung</a:t>
            </a:r>
            <a:r>
              <a:rPr dirty="0"/>
              <a:t>, Jira-Plugin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- Keine </a:t>
            </a:r>
            <a:r>
              <a:rPr dirty="0" err="1"/>
              <a:t>wochenbasierte</a:t>
            </a:r>
            <a:r>
              <a:rPr dirty="0"/>
              <a:t> </a:t>
            </a:r>
            <a:r>
              <a:rPr dirty="0" err="1"/>
              <a:t>Kapazitätsplanung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Jira Advanced Roadmaps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+ Portfolio-</a:t>
            </a:r>
            <a:r>
              <a:rPr dirty="0" err="1"/>
              <a:t>Planung</a:t>
            </a:r>
            <a:endParaRPr dirty="0"/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- </a:t>
            </a:r>
            <a:r>
              <a:rPr dirty="0" err="1"/>
              <a:t>Teuer</a:t>
            </a:r>
            <a:r>
              <a:rPr dirty="0"/>
              <a:t>, </a:t>
            </a:r>
            <a:r>
              <a:rPr dirty="0" err="1"/>
              <a:t>komplex</a:t>
            </a:r>
            <a:r>
              <a:rPr dirty="0"/>
              <a:t>, </a:t>
            </a:r>
            <a:r>
              <a:rPr dirty="0" err="1"/>
              <a:t>keine</a:t>
            </a:r>
            <a:r>
              <a:rPr dirty="0"/>
              <a:t> Team-</a:t>
            </a:r>
            <a:r>
              <a:rPr dirty="0" err="1"/>
              <a:t>Kapazitätsansicht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 err="1"/>
              <a:t>Forecast.app</a:t>
            </a:r>
            <a:endParaRPr dirty="0"/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+ </a:t>
            </a:r>
            <a:r>
              <a:rPr dirty="0" err="1"/>
              <a:t>Projektplanung</a:t>
            </a:r>
            <a:endParaRPr dirty="0"/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- Keine </a:t>
            </a:r>
            <a:r>
              <a:rPr dirty="0" err="1"/>
              <a:t>direkte</a:t>
            </a:r>
            <a:r>
              <a:rPr dirty="0"/>
              <a:t> Jira-Sync, </a:t>
            </a:r>
            <a:r>
              <a:rPr dirty="0" err="1"/>
              <a:t>keine</a:t>
            </a:r>
            <a:r>
              <a:rPr dirty="0"/>
              <a:t> SP-</a:t>
            </a:r>
            <a:r>
              <a:rPr dirty="0" err="1"/>
              <a:t>Empfehlung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 err="1"/>
              <a:t>Keines</a:t>
            </a:r>
            <a:r>
              <a:rPr dirty="0"/>
              <a:t> </a:t>
            </a:r>
            <a:r>
              <a:rPr dirty="0" err="1"/>
              <a:t>verbindet</a:t>
            </a:r>
            <a:r>
              <a:rPr dirty="0"/>
              <a:t> </a:t>
            </a:r>
            <a:r>
              <a:rPr dirty="0" err="1"/>
              <a:t>Kapazitätsplanung</a:t>
            </a:r>
            <a:r>
              <a:rPr dirty="0"/>
              <a:t> + Jira-Sync + Sprint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6A5171-1D1B-0972-A588-823BD81FE36A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F7C5F7-253D-FEDF-B736-E71ECF850018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357D678-07E9-00DF-E5E5-7FF5E5A37B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Vorgehen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Methodik: Iteratives Vorgehen (angelehnt an Scrum)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Zweiwöchige Iterationen mit definierten Zielen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Regelmässige Besprechung mit dem Auftraggeber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Vier Projektphasen: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Phase 1 (Monat 1-2): Analyse &amp; Konzeption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Phase 2 (Monat 3-5): Backend-Entwicklung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Phase 3 (Monat 5-8): Frontend-Entwicklung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Phase 4 (Monat 9-11): Integration &amp; Deployment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5533DE-1E3A-7B0A-93FC-C674590C1B60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DB9BEB-A703-D865-A5DA-AAFA61C48A22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2DF8846-0566-CB0A-959A-1E039B82DC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199" y="3429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 err="1"/>
              <a:t>Architektur</a:t>
            </a:r>
            <a:endParaRPr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AD7570C-B3A7-B69B-2965-32524B7CEE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6444" y="2841229"/>
            <a:ext cx="1018804" cy="5877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Architekturübersicht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Frontend: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React 19, TypeScript, Vite, Tailwind CSS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Backend: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Node.js, Express.js, Sequelize ORM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10 Route-Module, Middleware-Stack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Datenbank: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PostgreSQL (Managed auf Azure)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Externe Systeme: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Jira Cloud (REST API v2, Agile API v1.0)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Microsoft Entra ID (MSAL)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C7C153-1786-82B4-6C36-A7178FBC44B3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93B8DB-851B-672D-7D45-39E40C522EB2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874DD9D-DEBD-F5E8-08C6-0B9EFDB95C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Datenmodell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7 Modelle: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Project → Sprint → UserStory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Project → ProjectUser ↔ User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Sprint → CapacityPlan ↔ User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Sprint → Retrospective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Wichtige Beziehungen: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ProjectUser: Many-to-Many mit Rollen (admin, member, viewer)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CapacityPlan: Pro User und Sprint, wochenweise Kapazitätsdaten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39752D-420B-0221-2CEF-2EA656C72BAA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DA55E5-8FC9-A598-8B17-621CC73A994D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ADE6838-CD9D-E8D9-AF86-1847471623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Sicherheit und Zugriffskontrolle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223067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A04FF"/>
                </a:solidFill>
              </a:defRPr>
            </a:pPr>
            <a:r>
              <a:rPr dirty="0" err="1">
                <a:solidFill>
                  <a:srgbClr val="3B2EFF"/>
                </a:solidFill>
              </a:rPr>
              <a:t>Authentifizierung</a:t>
            </a:r>
            <a:endParaRPr dirty="0">
              <a:solidFill>
                <a:srgbClr val="3B2E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Microsoft Entra ID mit MSAL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OAuth 2.0 Authorization Code Flow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Fallback: lokale JWT-Authentifizierung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Tokens in HTTP-only Cookies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178330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A04FF"/>
                </a:solidFill>
              </a:defRPr>
            </a:pPr>
            <a:r>
              <a:rPr dirty="0" err="1">
                <a:solidFill>
                  <a:srgbClr val="3B2EFF"/>
                </a:solidFill>
              </a:rPr>
              <a:t>Autorisierung</a:t>
            </a:r>
            <a:endParaRPr dirty="0">
              <a:solidFill>
                <a:srgbClr val="3B2E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Global: Admin, Member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Pro Projekt: Admin, Member, Viewer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Sicherheits-Middleware: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• CSRF-Schutz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• Rate Limiting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• Input-Sanitisierung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64AA51-D370-0427-802E-FA65421B6507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22761E-609A-2FCA-0BFC-1737CEF9B1F4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5699E7D-FCF0-1241-6BF8-03E39C0390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8097E3-A316-CFDC-1CBC-62D4A8CAEFF8}"/>
              </a:ext>
            </a:extLst>
          </p:cNvPr>
          <p:cNvSpPr txBox="1"/>
          <p:nvPr/>
        </p:nvSpPr>
        <p:spPr>
          <a:xfrm>
            <a:off x="3851037" y="3429000"/>
            <a:ext cx="448962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lang="de-CH" dirty="0"/>
              <a:t>JIRA-</a:t>
            </a:r>
            <a:r>
              <a:rPr lang="de-CH" dirty="0" err="1"/>
              <a:t>Intergration</a:t>
            </a:r>
            <a:endParaRPr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479A674-AD08-08CD-DD6A-5B1D64E4EC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6444" y="2841229"/>
            <a:ext cx="1018804" cy="5877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Jira-Integration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353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Die </a:t>
            </a:r>
            <a:r>
              <a:rPr dirty="0" err="1"/>
              <a:t>grösste</a:t>
            </a:r>
            <a:r>
              <a:rPr dirty="0"/>
              <a:t> </a:t>
            </a:r>
            <a:r>
              <a:rPr dirty="0" err="1"/>
              <a:t>technische</a:t>
            </a:r>
            <a:r>
              <a:rPr dirty="0"/>
              <a:t> </a:t>
            </a:r>
            <a:r>
              <a:rPr dirty="0" err="1"/>
              <a:t>Herausforderung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Zwei APIs: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REST API v2: Issues (User Stories)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Agile API v1.0: Boards und Sprints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 err="1"/>
              <a:t>Synchronisation</a:t>
            </a:r>
            <a:r>
              <a:rPr dirty="0"/>
              <a:t> in </a:t>
            </a:r>
            <a:r>
              <a:rPr dirty="0" err="1"/>
              <a:t>drei</a:t>
            </a:r>
            <a:r>
              <a:rPr dirty="0"/>
              <a:t> </a:t>
            </a:r>
            <a:r>
              <a:rPr dirty="0" err="1"/>
              <a:t>Schritten</a:t>
            </a:r>
            <a:r>
              <a:rPr dirty="0"/>
              <a:t>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1. Boards und Sprints </a:t>
            </a:r>
            <a:r>
              <a:rPr dirty="0" err="1"/>
              <a:t>abrufen</a:t>
            </a:r>
            <a:endParaRPr dirty="0"/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2. Issues pro Sprint </a:t>
            </a:r>
            <a:r>
              <a:rPr dirty="0" err="1"/>
              <a:t>synchronisieren</a:t>
            </a:r>
            <a:endParaRPr dirty="0"/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3. Jira-</a:t>
            </a:r>
            <a:r>
              <a:rPr dirty="0" err="1"/>
              <a:t>Benutzer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lokalen</a:t>
            </a:r>
            <a:r>
              <a:rPr dirty="0"/>
              <a:t> </a:t>
            </a:r>
            <a:r>
              <a:rPr dirty="0" err="1"/>
              <a:t>Benutzern</a:t>
            </a:r>
            <a:r>
              <a:rPr dirty="0"/>
              <a:t> </a:t>
            </a:r>
            <a:r>
              <a:rPr dirty="0" err="1"/>
              <a:t>verknüpfen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 err="1"/>
              <a:t>Besonderheiten</a:t>
            </a:r>
            <a:r>
              <a:rPr dirty="0"/>
              <a:t>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</a:t>
            </a:r>
            <a:r>
              <a:rPr dirty="0" err="1"/>
              <a:t>Konfigurierbares</a:t>
            </a:r>
            <a:r>
              <a:rPr dirty="0"/>
              <a:t> Story-Point-Feld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Status-Mapping auf </a:t>
            </a:r>
            <a:r>
              <a:rPr dirty="0" err="1"/>
              <a:t>einheitliches</a:t>
            </a:r>
            <a:r>
              <a:rPr dirty="0"/>
              <a:t> Schema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</a:t>
            </a:r>
            <a:r>
              <a:rPr dirty="0" err="1"/>
              <a:t>Automatische</a:t>
            </a:r>
            <a:r>
              <a:rPr dirty="0"/>
              <a:t> Sync alle 15 Minuten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C90490-B980-23F0-4CC1-7641E1A3FD87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953DC4-CC7E-1277-28D2-60C3A239242B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A3CB33B-4CE0-774C-90F8-CE7E459532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072C57-9BDF-D871-8E64-32254FA6A234}"/>
              </a:ext>
            </a:extLst>
          </p:cNvPr>
          <p:cNvSpPr txBox="1"/>
          <p:nvPr/>
        </p:nvSpPr>
        <p:spPr>
          <a:xfrm>
            <a:off x="3790891" y="3429000"/>
            <a:ext cx="460991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lang="de-CH" dirty="0"/>
              <a:t>Module im Detail</a:t>
            </a:r>
            <a:endParaRPr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C1B8A12-A29E-DA32-519D-0508C3F29E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6444" y="2841229"/>
            <a:ext cx="1018804" cy="5877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Modul: Capacity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Funktionen: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Wochenweise Aufschlüsselung pro Teammitglied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4 Kategorien: Holiday, Customer, Internal, Other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Aggregierte Ansicht: Gesamtkapazität, Durchschnitt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Inline-Editing direkt in der Tabelle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SP-Empfehlung (neu):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Formel: empfohlene SP = Avg Velocity × Kapazitätsfaktor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Kapazitätsfaktor = aktuelle / historische Durchschnittskapazität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Berücksichtigt die letzten 6 abgeschlossenen Sprints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1C92D7-6414-693D-079C-674A05840012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2355D9-7508-B714-B3C8-2919F1D56644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14BDA0E-0F3F-28BA-86AB-4CFBC5AE8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Modul: Sprint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Vier Ansichten: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Overview: Kennzahlen + Burndown-Chart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→ Sind wir auf Kurs?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Compare: Velocity vs. vorheriger Sprint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→ Werden wir besser oder schlechter?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Changes: Scope-Änderungen während des Sprints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→ Warum haben wir das Ziel verfehlt?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Team Performance: Velocity pro Person (Balkendiagramm)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→ Ist die Arbeit gleichmässig verteilt?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65F643-B925-9BF1-7A80-F91491205EFB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4A88DC-4A81-164B-DF40-81CCB7F79156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DEA0F27-AB09-5BB5-C032-B414A695EF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Modul: Sprint History &amp;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786771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A04FF"/>
                </a:solidFill>
              </a:defRPr>
            </a:pPr>
            <a:r>
              <a:rPr dirty="0">
                <a:solidFill>
                  <a:srgbClr val="3B2EFF"/>
                </a:solidFill>
              </a:rPr>
              <a:t>Sprint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Velocity über alle Sprints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Darstellung als Balkendiagramm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Grundlage für Schätzungen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116711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A04FF"/>
                </a:solidFill>
              </a:defRPr>
            </a:pPr>
            <a:r>
              <a:rPr dirty="0">
                <a:solidFill>
                  <a:srgbClr val="3B2EFF"/>
                </a:solidFill>
              </a:rPr>
              <a:t>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Verbleibende Backlog-Punkte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Geschätzte Anzahl Sprints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  • Best Case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  • Average Case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  • Worst Case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Geschätztes Fertigstellungsdatum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6EE175-8AF9-F9F2-27FD-3AC1CEDBB272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202AF2-D42C-D904-46F8-A8BDB68A2B20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BD514F4-769D-844A-EADA-CECEE8B216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A532BE-4C85-9E3D-437A-8E8D45583039}"/>
              </a:ext>
            </a:extLst>
          </p:cNvPr>
          <p:cNvSpPr txBox="1"/>
          <p:nvPr/>
        </p:nvSpPr>
        <p:spPr>
          <a:xfrm>
            <a:off x="3379626" y="3429000"/>
            <a:ext cx="543244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lang="de-CH" dirty="0" err="1"/>
              <a:t>Entwicklugnsprozess</a:t>
            </a:r>
            <a:endParaRPr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2F7EAD2-182C-0080-1CA6-FFAF1D9B2C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6444" y="2841229"/>
            <a:ext cx="1018804" cy="58777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Sprints und Phasen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Phase 1 - Analyse (Sprint 1-4):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Anforderungen, Marktanalyse, Architekturentscheid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Phase 2 - Backend (Sprint 5-10):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Datenmodell, API, Jira-Integration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Phase 3 - Frontend (Sprint 11-18):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Dashboard, Kapazitätsplanung, Analytics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Phase 4 - Deployment (Sprint 19-24):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Azure, Tests, Performance, SP-Empfehlung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3BFB87-3BB9-5A9C-3618-B34A631EAD94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BA314C-8D2F-C797-E86E-DCD6CDE362E1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24C67E8-9EA0-9FB4-6211-6A37A4FEDF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Deployment und Betrieb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Azure App Service: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Kein eigener Server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Zentrale Updates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Automatische Skalierung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Komponenten: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Backend als App Service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Frontend als pre-built Static Files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PostgreSQL als Managed Database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Konfiguration: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Umgebungsvariablen über Azure App Settings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Datenbankmigrationen via Sequelize CLI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26BF9C-CD6C-E2D3-3C78-8EBCC3AFA129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0710F9-7610-A639-A2DE-94B0B47C425D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A5FB690-1787-802D-47F7-F9CE5BA0CC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33C15-1B26-5A68-B20D-401E2D2309EB}"/>
              </a:ext>
            </a:extLst>
          </p:cNvPr>
          <p:cNvSpPr txBox="1"/>
          <p:nvPr/>
        </p:nvSpPr>
        <p:spPr>
          <a:xfrm>
            <a:off x="5239685" y="3429000"/>
            <a:ext cx="171232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lang="de-CH" dirty="0"/>
              <a:t>Demo</a:t>
            </a:r>
            <a:endParaRPr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140513D-ABEB-B671-1057-4121309716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6444" y="2841229"/>
            <a:ext cx="1018804" cy="58777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8E2C4-0B4A-B8FD-F162-550B3A379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B04121-B98F-68D9-487A-38D68A04AD1C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A0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 screenshot of a dashboard&#10;&#10;AI-generated content may be incorrect.">
            <a:extLst>
              <a:ext uri="{FF2B5EF4-FFF2-40B4-BE49-F238E27FC236}">
                <a16:creationId xmlns:a16="http://schemas.microsoft.com/office/drawing/2014/main" id="{DD5F11A2-2B76-7D80-4F23-4E08DFD55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1695" cy="1120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799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27A51-A1B6-B105-7CB6-985806D37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688C45-B9FF-A6DE-3943-99FA2A561146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A0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A52F33-2420-1F90-417D-EFB1C233C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1695" cy="1122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9837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20B6F-A0F1-1E51-1606-1233F47F7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EC9263-5D90-ED53-D2EC-506430F176C2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A0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EB16738B-D79C-3112-2272-DFC2F11E1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4" cy="947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3626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56DF6-0792-290E-D703-4E624DA67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D758AA-460A-4C6D-353C-D228DAB61943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A0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 screenshot of a web page&#10;&#10;AI-generated content may be incorrect.">
            <a:extLst>
              <a:ext uri="{FF2B5EF4-FFF2-40B4-BE49-F238E27FC236}">
                <a16:creationId xmlns:a16="http://schemas.microsoft.com/office/drawing/2014/main" id="{CECD11D2-88FE-939E-44B1-F0CABA57A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324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6232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4EAE7-5337-1778-9414-FFCA2FD68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E42B9C-CAD3-D0DE-FE42-4D98438662ED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A0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F7339F-7BFA-90B6-BC14-3BE03046C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4" cy="926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4176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0B5F2-E8E8-B14E-5598-B4837307F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2B12E2-C35D-D107-D693-6B0EA492FA2D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A0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2036DE-E17F-8103-E250-AEB699261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1695" cy="9466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1504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82D56-BE45-E80A-2A52-2BCC92766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682D2A-5E65-708F-71C3-111C9095D53B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A0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5F7173-914A-BA37-A53D-A36260B00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1695" cy="931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5379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F5544-9903-EBD1-2805-090F97F65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E19579-301A-B754-9C95-F9C3EE10771B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A0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DA0776-6462-5DCA-F054-F2C39151C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4" cy="832143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B5855C2-2DFD-395C-0044-37A00C942859}"/>
              </a:ext>
            </a:extLst>
          </p:cNvPr>
          <p:cNvSpPr/>
          <p:nvPr/>
        </p:nvSpPr>
        <p:spPr>
          <a:xfrm>
            <a:off x="2817628" y="5135526"/>
            <a:ext cx="1169581" cy="3296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5228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D596A-9A8D-A022-CADA-834FAF34A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97CFEF-F94D-04F8-33A6-6CD41C87EDA9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A0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D7CB04-11CC-0A25-037E-E1B519B6C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61511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721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24BCF-5F75-80D7-6E93-E87CB24D5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2E8543-3089-A2DD-8C06-51791F78B0B8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A0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45B4C6-FB74-6382-E3F3-BED72E3F5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4384171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09544C2-3B02-D78B-6979-C31775FAC006}"/>
              </a:ext>
            </a:extLst>
          </p:cNvPr>
          <p:cNvSpPr/>
          <p:nvPr/>
        </p:nvSpPr>
        <p:spPr>
          <a:xfrm>
            <a:off x="3476848" y="1648047"/>
            <a:ext cx="425302" cy="3296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9074F9-AC09-2038-9664-276E086D0ADB}"/>
              </a:ext>
            </a:extLst>
          </p:cNvPr>
          <p:cNvSpPr/>
          <p:nvPr/>
        </p:nvSpPr>
        <p:spPr>
          <a:xfrm>
            <a:off x="4019107" y="1648046"/>
            <a:ext cx="627320" cy="3296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82BEE8-E7E8-BF0A-30A0-E36902C16CBB}"/>
              </a:ext>
            </a:extLst>
          </p:cNvPr>
          <p:cNvSpPr/>
          <p:nvPr/>
        </p:nvSpPr>
        <p:spPr>
          <a:xfrm>
            <a:off x="3788735" y="2202002"/>
            <a:ext cx="627320" cy="3296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88B4B5-CD1A-3858-1CE3-395899964CE7}"/>
              </a:ext>
            </a:extLst>
          </p:cNvPr>
          <p:cNvSpPr/>
          <p:nvPr/>
        </p:nvSpPr>
        <p:spPr>
          <a:xfrm>
            <a:off x="3747978" y="2755957"/>
            <a:ext cx="627320" cy="3296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F831F5-C895-A50F-0110-19AEC72B2D61}"/>
              </a:ext>
            </a:extLst>
          </p:cNvPr>
          <p:cNvSpPr/>
          <p:nvPr/>
        </p:nvSpPr>
        <p:spPr>
          <a:xfrm>
            <a:off x="4029740" y="3206776"/>
            <a:ext cx="627320" cy="3296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C9250E-F5BD-4E52-F1E4-FCABAE422E8D}"/>
              </a:ext>
            </a:extLst>
          </p:cNvPr>
          <p:cNvSpPr/>
          <p:nvPr/>
        </p:nvSpPr>
        <p:spPr>
          <a:xfrm>
            <a:off x="4102395" y="3807514"/>
            <a:ext cx="627320" cy="3296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F9D910-CCA6-74D7-3B4B-76E20FE2947B}"/>
              </a:ext>
            </a:extLst>
          </p:cNvPr>
          <p:cNvSpPr/>
          <p:nvPr/>
        </p:nvSpPr>
        <p:spPr>
          <a:xfrm>
            <a:off x="3990753" y="4263656"/>
            <a:ext cx="627320" cy="3296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6B6DBA-961E-3A8B-2686-E59FAA7AB284}"/>
              </a:ext>
            </a:extLst>
          </p:cNvPr>
          <p:cNvSpPr/>
          <p:nvPr/>
        </p:nvSpPr>
        <p:spPr>
          <a:xfrm>
            <a:off x="3934049" y="4875026"/>
            <a:ext cx="627320" cy="3296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449A82-7F5B-EA3D-55E1-D145A530D507}"/>
              </a:ext>
            </a:extLst>
          </p:cNvPr>
          <p:cNvSpPr/>
          <p:nvPr/>
        </p:nvSpPr>
        <p:spPr>
          <a:xfrm>
            <a:off x="3934049" y="5866513"/>
            <a:ext cx="627320" cy="3296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674EE9-575B-0E70-1C8D-05932897E236}"/>
              </a:ext>
            </a:extLst>
          </p:cNvPr>
          <p:cNvSpPr/>
          <p:nvPr/>
        </p:nvSpPr>
        <p:spPr>
          <a:xfrm>
            <a:off x="3476848" y="2181001"/>
            <a:ext cx="271130" cy="3296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B60372-46CD-1678-3CC5-F48CA957A931}"/>
              </a:ext>
            </a:extLst>
          </p:cNvPr>
          <p:cNvSpPr/>
          <p:nvPr/>
        </p:nvSpPr>
        <p:spPr>
          <a:xfrm>
            <a:off x="3476848" y="2707581"/>
            <a:ext cx="159487" cy="3296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8FA8EF-487F-302D-4632-C2E29BDF6D85}"/>
              </a:ext>
            </a:extLst>
          </p:cNvPr>
          <p:cNvSpPr/>
          <p:nvPr/>
        </p:nvSpPr>
        <p:spPr>
          <a:xfrm>
            <a:off x="3476848" y="3242755"/>
            <a:ext cx="425302" cy="3296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A28F34-1DFB-5C9F-39E3-94C0A2FB00BC}"/>
              </a:ext>
            </a:extLst>
          </p:cNvPr>
          <p:cNvSpPr/>
          <p:nvPr/>
        </p:nvSpPr>
        <p:spPr>
          <a:xfrm>
            <a:off x="3466214" y="3767115"/>
            <a:ext cx="513907" cy="3296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B1819D-8172-948B-24D6-1627778EA2CB}"/>
              </a:ext>
            </a:extLst>
          </p:cNvPr>
          <p:cNvSpPr/>
          <p:nvPr/>
        </p:nvSpPr>
        <p:spPr>
          <a:xfrm>
            <a:off x="3508747" y="4301399"/>
            <a:ext cx="393403" cy="3296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0ACB45-3DB1-A1D1-EA17-9083B2C78E64}"/>
              </a:ext>
            </a:extLst>
          </p:cNvPr>
          <p:cNvSpPr/>
          <p:nvPr/>
        </p:nvSpPr>
        <p:spPr>
          <a:xfrm>
            <a:off x="3476847" y="4823995"/>
            <a:ext cx="311888" cy="3296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AD6828-3E11-E091-2ED8-6DE442D83E03}"/>
              </a:ext>
            </a:extLst>
          </p:cNvPr>
          <p:cNvSpPr/>
          <p:nvPr/>
        </p:nvSpPr>
        <p:spPr>
          <a:xfrm>
            <a:off x="3460899" y="5851630"/>
            <a:ext cx="393402" cy="3296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4D25BA-1B3C-A39E-4213-A303451F383A}"/>
              </a:ext>
            </a:extLst>
          </p:cNvPr>
          <p:cNvSpPr/>
          <p:nvPr/>
        </p:nvSpPr>
        <p:spPr>
          <a:xfrm>
            <a:off x="5989675" y="1669310"/>
            <a:ext cx="549347" cy="3296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86331F-DD3A-67E3-BA58-5672E71AEE41}"/>
              </a:ext>
            </a:extLst>
          </p:cNvPr>
          <p:cNvSpPr/>
          <p:nvPr/>
        </p:nvSpPr>
        <p:spPr>
          <a:xfrm>
            <a:off x="5989674" y="2181001"/>
            <a:ext cx="549347" cy="3296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12CA224-E46E-943C-FC6F-B321CD82DAA1}"/>
              </a:ext>
            </a:extLst>
          </p:cNvPr>
          <p:cNvSpPr/>
          <p:nvPr/>
        </p:nvSpPr>
        <p:spPr>
          <a:xfrm>
            <a:off x="5989673" y="2707581"/>
            <a:ext cx="1049080" cy="3296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842A4D-61B9-6D5F-330D-F44149105263}"/>
              </a:ext>
            </a:extLst>
          </p:cNvPr>
          <p:cNvSpPr/>
          <p:nvPr/>
        </p:nvSpPr>
        <p:spPr>
          <a:xfrm>
            <a:off x="6014481" y="3234161"/>
            <a:ext cx="524540" cy="3296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D5AD7C-F1F6-CD56-353C-67727918594A}"/>
              </a:ext>
            </a:extLst>
          </p:cNvPr>
          <p:cNvSpPr/>
          <p:nvPr/>
        </p:nvSpPr>
        <p:spPr>
          <a:xfrm>
            <a:off x="5968405" y="3767117"/>
            <a:ext cx="127595" cy="3296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0BC91E-CA63-BBF8-B872-57C9A00374DC}"/>
              </a:ext>
            </a:extLst>
          </p:cNvPr>
          <p:cNvSpPr/>
          <p:nvPr/>
        </p:nvSpPr>
        <p:spPr>
          <a:xfrm>
            <a:off x="5989673" y="4293697"/>
            <a:ext cx="283536" cy="3296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7440A7A-7D4C-463C-2F73-AFD0ED5D5280}"/>
              </a:ext>
            </a:extLst>
          </p:cNvPr>
          <p:cNvSpPr/>
          <p:nvPr/>
        </p:nvSpPr>
        <p:spPr>
          <a:xfrm>
            <a:off x="6014482" y="4826653"/>
            <a:ext cx="386318" cy="3296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4986C2-2A38-5D57-0FE7-FC96658B3168}"/>
              </a:ext>
            </a:extLst>
          </p:cNvPr>
          <p:cNvSpPr/>
          <p:nvPr/>
        </p:nvSpPr>
        <p:spPr>
          <a:xfrm>
            <a:off x="5989673" y="5890974"/>
            <a:ext cx="549348" cy="3296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9899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A941D-586A-D3AA-95CF-A1F89AECF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F41B1D-F532-2DBD-6D39-E8167C43C23F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A0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306980-52D0-BD1A-F0F2-C3B21CD88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94727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4454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326A0-725D-DCB8-C533-82D9A786D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648465-DD18-683F-5E39-F64ED0FDC5D1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A0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FA1B32-4634-29E9-91AE-914765893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1695" cy="946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9930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Kritische Würdigung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254223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A04FF"/>
                </a:solidFill>
              </a:defRPr>
            </a:pPr>
            <a:r>
              <a:rPr dirty="0">
                <a:solidFill>
                  <a:srgbClr val="3B2EFF"/>
                </a:solidFill>
              </a:rPr>
              <a:t>Was gut </a:t>
            </a:r>
            <a:r>
              <a:rPr dirty="0" err="1">
                <a:solidFill>
                  <a:srgbClr val="3B2EFF"/>
                </a:solidFill>
              </a:rPr>
              <a:t>gelaufen</a:t>
            </a:r>
            <a:r>
              <a:rPr dirty="0">
                <a:solidFill>
                  <a:srgbClr val="3B2EFF"/>
                </a:solidFill>
              </a:rPr>
              <a:t> </a:t>
            </a:r>
            <a:r>
              <a:rPr dirty="0" err="1">
                <a:solidFill>
                  <a:srgbClr val="3B2EFF"/>
                </a:solidFill>
              </a:rPr>
              <a:t>ist</a:t>
            </a:r>
            <a:endParaRPr dirty="0">
              <a:solidFill>
                <a:srgbClr val="3B2E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Iteratives Vorgehen hat sich bewährt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Anforderungen haben sich geändert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App läuft mit Produktivdaten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SP-Empfehlung ist einzigartig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375346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A04FF"/>
                </a:solidFill>
              </a:defRPr>
            </a:pPr>
            <a:r>
              <a:rPr dirty="0">
                <a:solidFill>
                  <a:srgbClr val="3B2EFF"/>
                </a:solidFill>
              </a:rPr>
              <a:t>Was ich </a:t>
            </a:r>
            <a:r>
              <a:rPr dirty="0" err="1">
                <a:solidFill>
                  <a:srgbClr val="3B2EFF"/>
                </a:solidFill>
              </a:rPr>
              <a:t>anders</a:t>
            </a:r>
            <a:r>
              <a:rPr dirty="0">
                <a:solidFill>
                  <a:srgbClr val="3B2EFF"/>
                </a:solidFill>
              </a:rPr>
              <a:t> </a:t>
            </a:r>
            <a:r>
              <a:rPr dirty="0" err="1">
                <a:solidFill>
                  <a:srgbClr val="3B2EFF"/>
                </a:solidFill>
              </a:rPr>
              <a:t>machen</a:t>
            </a:r>
            <a:r>
              <a:rPr dirty="0">
                <a:solidFill>
                  <a:srgbClr val="3B2EFF"/>
                </a:solidFill>
              </a:rPr>
              <a:t> </a:t>
            </a:r>
            <a:r>
              <a:rPr dirty="0" err="1">
                <a:solidFill>
                  <a:srgbClr val="3B2EFF"/>
                </a:solidFill>
              </a:rPr>
              <a:t>würde</a:t>
            </a:r>
            <a:endParaRPr dirty="0">
              <a:solidFill>
                <a:srgbClr val="3B2E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Jira-Integration: Spike zu Beginn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Vielfalt der Konfigurationen unterschätzt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Automatisierte Tests nur punktuell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Single-Tenant Architektur limitiert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812377-B477-BE92-0EA5-2C9DF53E4C46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12C37A-C067-778A-E076-4B5B6AD87391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3E7D8C9-492F-B91B-4E04-05DB79FF5D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Persönliche Reflexion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Was ich gelernt habe: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Die grösste Herausforderung steckt in externen Systemen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Allein arbeiten: schnelle Entscheidungen, aber keine Reviews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Ohne Iterationen hätte ich die Änderungen nicht geschafft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Vorher Frontend/Infra - jetzt auch Backend-Erfahrung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Was ich mitnehme: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Integrationen immer mit einem Spike starten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Automatisierte Tests von Anfang an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Auch als Solo-Entwickler Code-Reviews simulieren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640E2F-3352-DEE4-E4A5-833087E41BB3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A73E88-B762-609C-9198-BA55D4F4E21E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A0C66-3960-E1AE-E1A3-F27A4FC3FD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Empfehlung und nächste Schritte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Empfehlung: Sprintify produktiv einsetzen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Nächste Schritte: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1. Jira-Anbindung über Service-Account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2. Einführungsschulung für das Team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3. Feedback sammeln in den ersten drei Sprints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4. Automatisierte Tests ausbauen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5. Mittelfristig: Mobile Ansicht für Stand-ups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Ohne Sprintify: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Sprint-Planung bleibt auf Excel angewiesen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Schätzungen basieren auf Bauchgefühl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1BA769-D6A5-4105-6D0E-D3285036BF8B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3C21B2-902A-8754-4D44-3402E9278D88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020C431-662A-1F6E-F6B6-5CDC555572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 err="1"/>
              <a:t>Sprintify</a:t>
            </a:r>
            <a:endParaRPr dirty="0"/>
          </a:p>
          <a:p>
            <a:pPr algn="ctr">
              <a:spcBef>
                <a:spcPts val="2000"/>
              </a:spcBef>
              <a:defRPr sz="2400">
                <a:solidFill>
                  <a:srgbClr val="94A3B8"/>
                </a:solidFill>
              </a:defRPr>
            </a:pPr>
            <a:r>
              <a:rPr dirty="0" err="1"/>
              <a:t>Gibt</a:t>
            </a:r>
            <a:r>
              <a:rPr dirty="0"/>
              <a:t> dem Team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datenbasierte</a:t>
            </a:r>
            <a:r>
              <a:rPr dirty="0"/>
              <a:t> </a:t>
            </a:r>
            <a:r>
              <a:rPr dirty="0" err="1"/>
              <a:t>Antwort</a:t>
            </a:r>
            <a:r>
              <a:rPr dirty="0"/>
              <a:t> auf die Frage:</a:t>
            </a:r>
            <a:br>
              <a:rPr dirty="0"/>
            </a:br>
            <a:r>
              <a:rPr dirty="0"/>
              <a:t>"Wie </a:t>
            </a:r>
            <a:r>
              <a:rPr dirty="0" err="1"/>
              <a:t>viele</a:t>
            </a:r>
            <a:r>
              <a:rPr dirty="0"/>
              <a:t> Story Points </a:t>
            </a:r>
            <a:r>
              <a:rPr dirty="0" err="1"/>
              <a:t>schaffen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</a:t>
            </a:r>
            <a:r>
              <a:rPr dirty="0" err="1"/>
              <a:t>nächsten</a:t>
            </a:r>
            <a:r>
              <a:rPr dirty="0"/>
              <a:t> Sprint?"</a:t>
            </a:r>
            <a:br>
              <a:rPr dirty="0"/>
            </a:br>
            <a:br>
              <a:rPr dirty="0"/>
            </a:br>
            <a:r>
              <a:rPr dirty="0" err="1"/>
              <a:t>Fragen</a:t>
            </a:r>
            <a:r>
              <a:rPr dirty="0"/>
              <a:t>?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C77DB0-DA23-9FB8-D223-A91F129370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6445" y="1698229"/>
            <a:ext cx="1018804" cy="5877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1358</Words>
  <Application>Microsoft Macintosh PowerPoint</Application>
  <PresentationFormat>Widescreen</PresentationFormat>
  <Paragraphs>251</Paragraphs>
  <Slides>38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Timo Haldi</cp:lastModifiedBy>
  <cp:revision>5</cp:revision>
  <dcterms:created xsi:type="dcterms:W3CDTF">2013-01-27T09:14:16Z</dcterms:created>
  <dcterms:modified xsi:type="dcterms:W3CDTF">2026-07-01T10:40:35Z</dcterms:modified>
  <cp:category/>
</cp:coreProperties>
</file>