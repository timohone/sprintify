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315" r:id="rId7"/>
    <p:sldId id="319" r:id="rId8"/>
    <p:sldId id="317" r:id="rId9"/>
    <p:sldId id="318" r:id="rId10"/>
    <p:sldId id="323" r:id="rId11"/>
    <p:sldId id="324" r:id="rId12"/>
    <p:sldId id="303" r:id="rId13"/>
    <p:sldId id="326" r:id="rId14"/>
    <p:sldId id="327" r:id="rId15"/>
    <p:sldId id="320" r:id="rId16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rotea Böhm" initials="DB" lastIdx="3" clrIdx="0">
    <p:extLst>
      <p:ext uri="{19B8F6BF-5375-455C-9EA6-DF929625EA0E}">
        <p15:presenceInfo xmlns:p15="http://schemas.microsoft.com/office/powerpoint/2012/main" userId="S::dorotea.boehm@siw.swiss::7801c4e6-7c1c-49ef-ac6c-f61a3d331c0d" providerId="AD"/>
      </p:ext>
    </p:extLst>
  </p:cmAuthor>
  <p:cmAuthor id="2" name="Rolf Böhm" initials="RB" lastIdx="1" clrIdx="1">
    <p:extLst>
      <p:ext uri="{19B8F6BF-5375-455C-9EA6-DF929625EA0E}">
        <p15:presenceInfo xmlns:p15="http://schemas.microsoft.com/office/powerpoint/2012/main" userId="Rolf Böh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96F"/>
    <a:srgbClr val="A5A5A5"/>
    <a:srgbClr val="1A5EAB"/>
    <a:srgbClr val="DFDDDD"/>
    <a:srgbClr val="EFEDED"/>
    <a:srgbClr val="E9E7E7"/>
    <a:srgbClr val="00F290"/>
    <a:srgbClr val="007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147" y="53"/>
      </p:cViewPr>
      <p:guideLst>
        <p:guide orient="horz" pos="1434"/>
        <p:guide pos="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6335778307393611E-2"/>
          <c:y val="5.1067809272265619E-2"/>
          <c:w val="0.73939807524059498"/>
          <c:h val="0.89786443825441042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70B2-4082-806E-187E34DCE8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70B2-4082-806E-187E34DCE82D}"/>
              </c:ext>
            </c:extLst>
          </c:dPt>
          <c:dPt>
            <c:idx val="2"/>
            <c:bubble3D val="0"/>
            <c:spPr>
              <a:solidFill>
                <a:srgbClr val="00B96F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70B2-4082-806E-187E34DCE82D}"/>
              </c:ext>
            </c:extLst>
          </c:dPt>
          <c:dLbls>
            <c:dLbl>
              <c:idx val="0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0B2-4082-806E-187E34DCE82D}"/>
                </c:ext>
              </c:extLst>
            </c:dLbl>
            <c:dLbl>
              <c:idx val="1"/>
              <c:layout>
                <c:manualLayout>
                  <c:x val="-8.1094537828383439E-2"/>
                  <c:y val="-0.26923239157731188"/>
                </c:manualLayout>
              </c:layout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B2-4082-806E-187E34DCE82D}"/>
                </c:ext>
              </c:extLst>
            </c:dLbl>
            <c:dLbl>
              <c:idx val="2"/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3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0B2-4082-806E-187E34DCE82D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Tabelle1!$C$4:$C$6</c:f>
              <c:strCache>
                <c:ptCount val="3"/>
                <c:pt idx="0">
                  <c:v>Fachgespräch</c:v>
                </c:pt>
                <c:pt idx="1">
                  <c:v>Abstract</c:v>
                </c:pt>
                <c:pt idx="2">
                  <c:v>Fachgespräch</c:v>
                </c:pt>
              </c:strCache>
            </c:strRef>
          </c:cat>
          <c:val>
            <c:numRef>
              <c:f>Tabelle1!$D$4:$D$6</c:f>
              <c:numCache>
                <c:formatCode>General</c:formatCode>
                <c:ptCount val="3"/>
                <c:pt idx="0">
                  <c:v>0.4</c:v>
                </c:pt>
                <c:pt idx="1">
                  <c:v>0.1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B2-4082-806E-187E34DCE82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0.82345</cdr:x>
      <cdr:y>0.54245</cdr:y>
    </cdr:from>
    <cdr:to>
      <cdr:x>1</cdr:x>
      <cdr:y>0.77561</cdr:y>
    </cdr:to>
    <cdr:sp macro="" textlink="">
      <cdr:nvSpPr>
        <cdr:cNvPr id="2" name="Textfeld 1">
          <a:extLst xmlns:a="http://schemas.openxmlformats.org/drawingml/2006/main">
            <a:ext uri="{FF2B5EF4-FFF2-40B4-BE49-F238E27FC236}">
              <a16:creationId xmlns:a16="http://schemas.microsoft.com/office/drawing/2014/main" id="{CF0D5FE4-1DE3-435D-B5F5-08205D3DF3FB}"/>
            </a:ext>
          </a:extLst>
        </cdr:cNvPr>
        <cdr:cNvSpPr txBox="1"/>
      </cdr:nvSpPr>
      <cdr:spPr>
        <a:xfrm xmlns:a="http://schemas.openxmlformats.org/drawingml/2006/main">
          <a:off x="7829275" y="2713492"/>
          <a:ext cx="1678665" cy="116632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e-CH" sz="2000" dirty="0"/>
            <a:t>Fachgespräch </a:t>
          </a:r>
        </a:p>
        <a:p xmlns:a="http://schemas.openxmlformats.org/drawingml/2006/main">
          <a:r>
            <a:rPr lang="de-CH" sz="2000" dirty="0"/>
            <a:t>Abstract </a:t>
          </a:r>
        </a:p>
        <a:p xmlns:a="http://schemas.openxmlformats.org/drawingml/2006/main">
          <a:r>
            <a:rPr lang="de-CH" sz="2000" dirty="0"/>
            <a:t>Präsentation</a:t>
          </a:r>
        </a:p>
      </cdr:txBody>
    </cdr:sp>
  </cdr:relSizeAnchor>
  <cdr:relSizeAnchor xmlns:cdr="http://schemas.openxmlformats.org/drawingml/2006/chartDrawing">
    <cdr:from>
      <cdr:x>0.80106</cdr:x>
      <cdr:y>0.56109</cdr:y>
    </cdr:from>
    <cdr:to>
      <cdr:x>0.82167</cdr:x>
      <cdr:y>0.60213</cdr:y>
    </cdr:to>
    <cdr:sp macro="" textlink="">
      <cdr:nvSpPr>
        <cdr:cNvPr id="3" name="Rechteck 2">
          <a:extLst xmlns:a="http://schemas.openxmlformats.org/drawingml/2006/main">
            <a:ext uri="{FF2B5EF4-FFF2-40B4-BE49-F238E27FC236}">
              <a16:creationId xmlns:a16="http://schemas.microsoft.com/office/drawing/2014/main" id="{BABD2ECC-D2A8-4422-848C-E1ECD714AF64}"/>
            </a:ext>
          </a:extLst>
        </cdr:cNvPr>
        <cdr:cNvSpPr/>
      </cdr:nvSpPr>
      <cdr:spPr>
        <a:xfrm xmlns:a="http://schemas.openxmlformats.org/drawingml/2006/main">
          <a:off x="7616449" y="2806721"/>
          <a:ext cx="195942" cy="205274"/>
        </a:xfrm>
        <a:prstGeom xmlns:a="http://schemas.openxmlformats.org/drawingml/2006/main" prst="rect">
          <a:avLst/>
        </a:prstGeom>
        <a:solidFill xmlns:a="http://schemas.openxmlformats.org/drawingml/2006/main">
          <a:srgbClr val="0070C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de-DE"/>
        </a:p>
      </cdr:txBody>
    </cdr:sp>
  </cdr:relSizeAnchor>
  <cdr:relSizeAnchor xmlns:cdr="http://schemas.openxmlformats.org/drawingml/2006/chartDrawing">
    <cdr:from>
      <cdr:x>0.80106</cdr:x>
      <cdr:y>0.62594</cdr:y>
    </cdr:from>
    <cdr:to>
      <cdr:x>0.82167</cdr:x>
      <cdr:y>0.66698</cdr:y>
    </cdr:to>
    <cdr:sp macro="" textlink="">
      <cdr:nvSpPr>
        <cdr:cNvPr id="4" name="Rechteck 3">
          <a:extLst xmlns:a="http://schemas.openxmlformats.org/drawingml/2006/main">
            <a:ext uri="{FF2B5EF4-FFF2-40B4-BE49-F238E27FC236}">
              <a16:creationId xmlns:a16="http://schemas.microsoft.com/office/drawing/2014/main" id="{7EE479D1-61E4-4305-933C-54B37FEFD6DA}"/>
            </a:ext>
          </a:extLst>
        </cdr:cNvPr>
        <cdr:cNvSpPr/>
      </cdr:nvSpPr>
      <cdr:spPr>
        <a:xfrm xmlns:a="http://schemas.openxmlformats.org/drawingml/2006/main">
          <a:off x="7616449" y="3131127"/>
          <a:ext cx="195942" cy="205274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de-DE"/>
        </a:p>
      </cdr:txBody>
    </cdr:sp>
  </cdr:relSizeAnchor>
  <cdr:relSizeAnchor xmlns:cdr="http://schemas.openxmlformats.org/drawingml/2006/chartDrawing">
    <cdr:from>
      <cdr:x>0.80106</cdr:x>
      <cdr:y>0.69178</cdr:y>
    </cdr:from>
    <cdr:to>
      <cdr:x>0.82167</cdr:x>
      <cdr:y>0.73282</cdr:y>
    </cdr:to>
    <cdr:sp macro="" textlink="">
      <cdr:nvSpPr>
        <cdr:cNvPr id="5" name="Rechteck 4">
          <a:extLst xmlns:a="http://schemas.openxmlformats.org/drawingml/2006/main">
            <a:ext uri="{FF2B5EF4-FFF2-40B4-BE49-F238E27FC236}">
              <a16:creationId xmlns:a16="http://schemas.microsoft.com/office/drawing/2014/main" id="{7EE479D1-61E4-4305-933C-54B37FEFD6DA}"/>
            </a:ext>
          </a:extLst>
        </cdr:cNvPr>
        <cdr:cNvSpPr/>
      </cdr:nvSpPr>
      <cdr:spPr>
        <a:xfrm xmlns:a="http://schemas.openxmlformats.org/drawingml/2006/main">
          <a:off x="7616449" y="3460476"/>
          <a:ext cx="195942" cy="205274"/>
        </a:xfrm>
        <a:prstGeom xmlns:a="http://schemas.openxmlformats.org/drawingml/2006/main" prst="rect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de-DE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3376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203" y="0"/>
            <a:ext cx="3079202" cy="513376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r">
              <a:defRPr sz="1200"/>
            </a:lvl1pPr>
          </a:lstStyle>
          <a:p>
            <a:fld id="{C27CBB07-6B3B-455F-A3E1-B0EC6984990C}" type="datetimeFigureOut">
              <a:rPr lang="de-CH" smtClean="0"/>
              <a:t>20.01.2026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88" tIns="47544" rIns="95088" bIns="4754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075" y="4924791"/>
            <a:ext cx="5683914" cy="4031319"/>
          </a:xfrm>
          <a:prstGeom prst="rect">
            <a:avLst/>
          </a:prstGeom>
        </p:spPr>
        <p:txBody>
          <a:bodyPr vert="horz" lIns="95088" tIns="47544" rIns="95088" bIns="4754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237"/>
            <a:ext cx="3079202" cy="513376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203" y="9721237"/>
            <a:ext cx="3079202" cy="513376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r">
              <a:defRPr sz="1200"/>
            </a:lvl1pPr>
          </a:lstStyle>
          <a:p>
            <a:fld id="{672DB75E-D8E2-43F8-8ADA-CFDCAD597B9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281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B75E-D8E2-43F8-8ADA-CFDCAD597B9B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279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B75E-D8E2-43F8-8ADA-CFDCAD597B9B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35318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DB75E-D8E2-43F8-8ADA-CFDCAD597B9B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873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4"/>
          <p:cNvSpPr/>
          <p:nvPr userDrawn="1"/>
        </p:nvSpPr>
        <p:spPr bwMode="auto">
          <a:xfrm>
            <a:off x="0" y="0"/>
            <a:ext cx="12192000" cy="900000"/>
          </a:xfrm>
          <a:prstGeom prst="rect">
            <a:avLst/>
          </a:prstGeom>
          <a:solidFill>
            <a:srgbClr val="00B9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6376" y="304728"/>
            <a:ext cx="11547130" cy="589812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375" y="1050932"/>
            <a:ext cx="11547130" cy="51195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723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80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4911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994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2286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2286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8C4F4CE-3B5C-4611-AA64-FE58FACD6D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8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119A4B1-9A24-4463-B637-6105CF1DF0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0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F7416F6-1932-422B-99E1-BCA03695B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6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32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400"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B4DF240-4E55-4A5A-9DF7-04E86B367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6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64DE612-7CBE-4020-B94E-DD9DC7C5CB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8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208"/>
          </a:xfrm>
        </p:spPr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515533"/>
            <a:ext cx="10515600" cy="4411134"/>
          </a:xfrm>
        </p:spPr>
        <p:txBody>
          <a:bodyPr/>
          <a:lstStyle>
            <a:lvl1pPr marL="457200" indent="-4572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800100" indent="-3429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2pPr>
            <a:lvl3pPr marL="1257300" indent="-34290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3pPr>
            <a:lvl4pPr marL="1657350" indent="-28575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4pPr>
            <a:lvl5pPr marL="2114550" indent="-285750">
              <a:buClr>
                <a:srgbClr val="00B050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D0C1DB-5C40-4BD9-9FBB-AE9BB306CD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62" y="6194681"/>
            <a:ext cx="1106083" cy="34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1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502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§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0.svg"/><Relationship Id="rId5" Type="http://schemas.openxmlformats.org/officeDocument/2006/relationships/image" Target="../media/image25.sv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33227787@N05/31221456902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pability.cz/kanban/" TargetMode="External"/><Relationship Id="rId5" Type="http://schemas.openxmlformats.org/officeDocument/2006/relationships/image" Target="../media/image31.jpeg"/><Relationship Id="rId4" Type="http://schemas.openxmlformats.org/officeDocument/2006/relationships/hyperlink" Target="https://creativecommons.org/licenses/by/3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er.gitlab.io/OS/OS00-Motiv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8CAAA-2971-4E84-B7D1-DCA4F78E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5132306"/>
            <a:ext cx="10584000" cy="589812"/>
          </a:xfrm>
        </p:spPr>
        <p:txBody>
          <a:bodyPr>
            <a:normAutofit/>
          </a:bodyPr>
          <a:lstStyle/>
          <a:p>
            <a:r>
              <a:rPr lang="de-CH" sz="3600" b="1"/>
              <a:t>Fachkürzel - Fach ausgeschrieben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0F3D0A9-6CAA-438A-AAC3-D590FF7D3AC2}"/>
              </a:ext>
            </a:extLst>
          </p:cNvPr>
          <p:cNvSpPr/>
          <p:nvPr/>
        </p:nvSpPr>
        <p:spPr>
          <a:xfrm>
            <a:off x="-2" y="0"/>
            <a:ext cx="946800" cy="6858000"/>
          </a:xfrm>
          <a:prstGeom prst="rect">
            <a:avLst/>
          </a:prstGeom>
          <a:solidFill>
            <a:srgbClr val="1A5E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3600" b="1" dirty="0">
                <a:latin typeface="+mj-lt"/>
              </a:rPr>
              <a:t>Diplomarbeit</a:t>
            </a:r>
            <a:endParaRPr lang="de-CH" sz="3600" b="1" dirty="0">
              <a:latin typeface="+mj-lt"/>
            </a:endParaRPr>
          </a:p>
        </p:txBody>
      </p:sp>
      <p:pic>
        <p:nvPicPr>
          <p:cNvPr id="13" name="Picture 2" descr="Lernen, Bildung, Bücher, Buch, Bibliothek, Laptop">
            <a:extLst>
              <a:ext uri="{FF2B5EF4-FFF2-40B4-BE49-F238E27FC236}">
                <a16:creationId xmlns:a16="http://schemas.microsoft.com/office/drawing/2014/main" id="{EDB97E2A-EAFC-4C05-A9E8-8D633891C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049" y="1815960"/>
            <a:ext cx="5685453" cy="37490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A5A5A5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5B27B77-9346-4F17-85B9-C76CA10E3A72}"/>
              </a:ext>
            </a:extLst>
          </p:cNvPr>
          <p:cNvCxnSpPr>
            <a:cxnSpLocks/>
          </p:cNvCxnSpPr>
          <p:nvPr/>
        </p:nvCxnSpPr>
        <p:spPr>
          <a:xfrm flipH="1">
            <a:off x="942000" y="920064"/>
            <a:ext cx="11250000" cy="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02E449B-9A48-482D-AEEE-E73896E1A402}"/>
              </a:ext>
            </a:extLst>
          </p:cNvPr>
          <p:cNvCxnSpPr>
            <a:cxnSpLocks/>
          </p:cNvCxnSpPr>
          <p:nvPr/>
        </p:nvCxnSpPr>
        <p:spPr>
          <a:xfrm flipV="1">
            <a:off x="16601" y="0"/>
            <a:ext cx="0" cy="686520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02B8D765-6CFF-4551-B091-13F2626B7A80}"/>
              </a:ext>
            </a:extLst>
          </p:cNvPr>
          <p:cNvSpPr txBox="1"/>
          <p:nvPr/>
        </p:nvSpPr>
        <p:spPr>
          <a:xfrm>
            <a:off x="1249715" y="124662"/>
            <a:ext cx="1048194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3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Kick-off – Diplomarbeit</a:t>
            </a:r>
            <a:endParaRPr lang="de-CH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2AB8E98-FE52-4FD5-B055-C5E5A01D09E4}"/>
              </a:ext>
            </a:extLst>
          </p:cNvPr>
          <p:cNvGrpSpPr/>
          <p:nvPr/>
        </p:nvGrpSpPr>
        <p:grpSpPr>
          <a:xfrm>
            <a:off x="1453101" y="1734174"/>
            <a:ext cx="4024956" cy="4024956"/>
            <a:chOff x="5900049" y="2060165"/>
            <a:chExt cx="4024956" cy="4024956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89F4C921-D825-489B-B005-1327C192B5CD}"/>
                </a:ext>
              </a:extLst>
            </p:cNvPr>
            <p:cNvGrpSpPr/>
            <p:nvPr/>
          </p:nvGrpSpPr>
          <p:grpSpPr>
            <a:xfrm>
              <a:off x="5900049" y="2060165"/>
              <a:ext cx="4024956" cy="4024956"/>
              <a:chOff x="5900049" y="2060165"/>
              <a:chExt cx="4024956" cy="4024956"/>
            </a:xfrm>
          </p:grpSpPr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A000696F-EFE0-4909-8CAC-942F5E3967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0049" y="2060165"/>
                <a:ext cx="4024956" cy="4024956"/>
              </a:xfrm>
              <a:prstGeom prst="rect">
                <a:avLst/>
              </a:prstGeom>
            </p:spPr>
          </p:pic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57FA6A04-ACCC-4560-9A22-7EDFD6243ED4}"/>
                  </a:ext>
                </a:extLst>
              </p:cNvPr>
              <p:cNvSpPr/>
              <p:nvPr/>
            </p:nvSpPr>
            <p:spPr>
              <a:xfrm>
                <a:off x="7227142" y="3313470"/>
                <a:ext cx="1351106" cy="145952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28" name="Grafik 27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53D86191-68B4-45CB-89C6-7C40E724B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1738" y="3755234"/>
              <a:ext cx="1341602" cy="57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35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 descr="Fabrik">
            <a:extLst>
              <a:ext uri="{FF2B5EF4-FFF2-40B4-BE49-F238E27FC236}">
                <a16:creationId xmlns:a16="http://schemas.microsoft.com/office/drawing/2014/main" id="{30091B8A-933C-4F2E-B747-718846A8E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995" y="4629560"/>
            <a:ext cx="2196132" cy="2196132"/>
          </a:xfr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7" name="Grafik 6" descr="Klassenzimmer">
            <a:extLst>
              <a:ext uri="{FF2B5EF4-FFF2-40B4-BE49-F238E27FC236}">
                <a16:creationId xmlns:a16="http://schemas.microsoft.com/office/drawing/2014/main" id="{0025833B-BC15-4FF7-B31A-62815D35A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5610" y="1403222"/>
            <a:ext cx="1456896" cy="1456896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9" name="Grafik 8" descr="Kopf mit Zahnrädern">
            <a:extLst>
              <a:ext uri="{FF2B5EF4-FFF2-40B4-BE49-F238E27FC236}">
                <a16:creationId xmlns:a16="http://schemas.microsoft.com/office/drawing/2014/main" id="{074F2725-BF74-463B-A9F1-FE3BAD1F5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870" y="2979332"/>
            <a:ext cx="1757289" cy="1757289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11" name="Grafik 10" descr="Bücher">
            <a:extLst>
              <a:ext uri="{FF2B5EF4-FFF2-40B4-BE49-F238E27FC236}">
                <a16:creationId xmlns:a16="http://schemas.microsoft.com/office/drawing/2014/main" id="{EF7A87B1-C550-4EA8-8B25-6E7BF75182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9617" y="1494294"/>
            <a:ext cx="1407197" cy="1407197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13" name="Grafik 12" descr="Geschlossenes Buch">
            <a:extLst>
              <a:ext uri="{FF2B5EF4-FFF2-40B4-BE49-F238E27FC236}">
                <a16:creationId xmlns:a16="http://schemas.microsoft.com/office/drawing/2014/main" id="{A4E75DC7-7092-4536-8548-A9C714DC58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8035" y="2614940"/>
            <a:ext cx="2342671" cy="2342671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Pfeil: gestreift nach rechts 13">
            <a:extLst>
              <a:ext uri="{FF2B5EF4-FFF2-40B4-BE49-F238E27FC236}">
                <a16:creationId xmlns:a16="http://schemas.microsoft.com/office/drawing/2014/main" id="{45A100F4-A40D-4F9B-948A-5FB10AAA2C06}"/>
              </a:ext>
            </a:extLst>
          </p:cNvPr>
          <p:cNvSpPr/>
          <p:nvPr/>
        </p:nvSpPr>
        <p:spPr>
          <a:xfrm>
            <a:off x="7682159" y="3317987"/>
            <a:ext cx="2031526" cy="1046587"/>
          </a:xfrm>
          <a:prstGeom prst="stripedRightArrow">
            <a:avLst/>
          </a:prstGeom>
          <a:solidFill>
            <a:srgbClr val="00B050"/>
          </a:solidFill>
          <a:ln w="14585" cap="flat">
            <a:noFill/>
            <a:prstDash val="solid"/>
            <a:miter/>
          </a:ln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Pfeil: nach oben gebogen 14">
            <a:extLst>
              <a:ext uri="{FF2B5EF4-FFF2-40B4-BE49-F238E27FC236}">
                <a16:creationId xmlns:a16="http://schemas.microsoft.com/office/drawing/2014/main" id="{4FF6A6F3-831B-43B5-A853-00FF7DB23196}"/>
              </a:ext>
            </a:extLst>
          </p:cNvPr>
          <p:cNvSpPr/>
          <p:nvPr/>
        </p:nvSpPr>
        <p:spPr>
          <a:xfrm rot="5400000">
            <a:off x="3637220" y="1783982"/>
            <a:ext cx="1094903" cy="3699151"/>
          </a:xfrm>
          <a:prstGeom prst="bentUpArrow">
            <a:avLst/>
          </a:prstGeom>
          <a:solidFill>
            <a:srgbClr val="00B050"/>
          </a:solidFill>
          <a:ln w="14585" cap="flat">
            <a:noFill/>
            <a:prstDash val="solid"/>
            <a:miter/>
          </a:ln>
          <a:effectLst>
            <a:outerShdw blurRad="50800" dist="127000" dir="30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Pfeil: nach oben gebogen 15">
            <a:extLst>
              <a:ext uri="{FF2B5EF4-FFF2-40B4-BE49-F238E27FC236}">
                <a16:creationId xmlns:a16="http://schemas.microsoft.com/office/drawing/2014/main" id="{A7D59080-43B2-4678-8021-D84FD1134B36}"/>
              </a:ext>
            </a:extLst>
          </p:cNvPr>
          <p:cNvSpPr/>
          <p:nvPr/>
        </p:nvSpPr>
        <p:spPr>
          <a:xfrm rot="16200000" flipV="1">
            <a:off x="3373061" y="2075435"/>
            <a:ext cx="1100343" cy="4222028"/>
          </a:xfrm>
          <a:prstGeom prst="bentUpArrow">
            <a:avLst/>
          </a:prstGeom>
          <a:solidFill>
            <a:srgbClr val="00B050"/>
          </a:solidFill>
          <a:ln w="14585" cap="flat">
            <a:noFill/>
            <a:prstDash val="solid"/>
            <a:miter/>
          </a:ln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Pfeil: nach oben gebogen 16">
            <a:extLst>
              <a:ext uri="{FF2B5EF4-FFF2-40B4-BE49-F238E27FC236}">
                <a16:creationId xmlns:a16="http://schemas.microsoft.com/office/drawing/2014/main" id="{AC2C0ABA-33DA-4829-B47E-C1F38ECAAEC5}"/>
              </a:ext>
            </a:extLst>
          </p:cNvPr>
          <p:cNvSpPr/>
          <p:nvPr/>
        </p:nvSpPr>
        <p:spPr>
          <a:xfrm rot="5400000">
            <a:off x="4515865" y="2669062"/>
            <a:ext cx="1094903" cy="1941861"/>
          </a:xfrm>
          <a:prstGeom prst="bentUpArrow">
            <a:avLst/>
          </a:prstGeom>
          <a:solidFill>
            <a:srgbClr val="00B050"/>
          </a:solidFill>
          <a:ln w="14585" cap="flat">
            <a:noFill/>
            <a:prstDash val="solid"/>
            <a:miter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Pfeil: nach oben gebogen 19">
            <a:extLst>
              <a:ext uri="{FF2B5EF4-FFF2-40B4-BE49-F238E27FC236}">
                <a16:creationId xmlns:a16="http://schemas.microsoft.com/office/drawing/2014/main" id="{CE70473D-E2E8-48CD-A624-BCB39E1B35CE}"/>
              </a:ext>
            </a:extLst>
          </p:cNvPr>
          <p:cNvSpPr/>
          <p:nvPr/>
        </p:nvSpPr>
        <p:spPr>
          <a:xfrm rot="5400000" flipV="1">
            <a:off x="6936179" y="2100550"/>
            <a:ext cx="1147728" cy="7024497"/>
          </a:xfrm>
          <a:prstGeom prst="bentUpArrow">
            <a:avLst/>
          </a:prstGeom>
          <a:solidFill>
            <a:srgbClr val="00B050"/>
          </a:solidFill>
          <a:ln w="14585" cap="flat">
            <a:noFill/>
            <a:prstDash val="solid"/>
            <a:miter/>
          </a:ln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63B60F1-44D2-42A5-85B3-60A60D62A01B}"/>
              </a:ext>
            </a:extLst>
          </p:cNvPr>
          <p:cNvSpPr txBox="1"/>
          <p:nvPr/>
        </p:nvSpPr>
        <p:spPr>
          <a:xfrm>
            <a:off x="7254189" y="5843705"/>
            <a:ext cx="85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  <a:latin typeface="+mj-lt"/>
              </a:rPr>
              <a:t>Nutzen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A7DE714-587B-474A-95E6-6741DDA1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A91A37B-A69C-4AA9-B3CA-4A3F7A3C346C}"/>
              </a:ext>
            </a:extLst>
          </p:cNvPr>
          <p:cNvSpPr txBox="1">
            <a:spLocks/>
          </p:cNvSpPr>
          <p:nvPr/>
        </p:nvSpPr>
        <p:spPr>
          <a:xfrm>
            <a:off x="1323508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 dirty="0">
                <a:solidFill>
                  <a:schemeClr val="bg1"/>
                </a:solidFill>
              </a:rPr>
              <a:t>Diplomarbeit</a:t>
            </a:r>
            <a:endParaRPr lang="de-CH" sz="3500" b="1" dirty="0">
              <a:solidFill>
                <a:schemeClr val="bg1"/>
              </a:solidFill>
            </a:endParaRP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98002EB7-80AE-4371-8CF9-40315E349041}"/>
              </a:ext>
            </a:extLst>
          </p:cNvPr>
          <p:cNvSpPr txBox="1">
            <a:spLocks/>
          </p:cNvSpPr>
          <p:nvPr/>
        </p:nvSpPr>
        <p:spPr>
          <a:xfrm rot="5400000">
            <a:off x="-2213972" y="2954046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92BBDB5-897E-4DF9-A0FD-26D225E52F8B}"/>
              </a:ext>
            </a:extLst>
          </p:cNvPr>
          <p:cNvCxnSpPr/>
          <p:nvPr/>
        </p:nvCxnSpPr>
        <p:spPr>
          <a:xfrm>
            <a:off x="397921" y="363775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83EFCE4-6A8D-454E-AF7C-EACB68335E83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90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23508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Diplomarbeiten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13972" y="2954046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97921" y="363775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0812786-9BF8-475A-87A5-9603DBF86874}"/>
              </a:ext>
            </a:extLst>
          </p:cNvPr>
          <p:cNvGrpSpPr/>
          <p:nvPr/>
        </p:nvGrpSpPr>
        <p:grpSpPr>
          <a:xfrm>
            <a:off x="2405158" y="1493814"/>
            <a:ext cx="8486076" cy="4680208"/>
            <a:chOff x="550600" y="1585034"/>
            <a:chExt cx="7931306" cy="4516084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ACFAE8A3-5B82-40E7-A761-3086AC8AA1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24"/>
            <a:stretch/>
          </p:blipFill>
          <p:spPr>
            <a:xfrm>
              <a:off x="3497237" y="4398318"/>
              <a:ext cx="2221531" cy="17028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19000" dist="5000" dir="5400000" sy="-100000" algn="bl" rotWithShape="0"/>
            </a:effectLst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96D6038C-EFAB-49E4-914A-13BA8A4D62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96" r="5553"/>
            <a:stretch/>
          </p:blipFill>
          <p:spPr>
            <a:xfrm>
              <a:off x="6084168" y="1702999"/>
              <a:ext cx="2094630" cy="170182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19000" dist="5000" dir="5400000" sy="-100000" algn="bl" rotWithShape="0"/>
            </a:effectLst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9C0BDB98-BEE2-4BE2-B690-1BC870219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7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00" y="1703077"/>
              <a:ext cx="2551192" cy="17028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19000" dist="5000" dir="5400000" sy="-100000" algn="bl" rotWithShape="0"/>
            </a:effectLst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F6F8A70-A340-423F-930C-EDAF04EC377A}"/>
                </a:ext>
              </a:extLst>
            </p:cNvPr>
            <p:cNvSpPr txBox="1"/>
            <p:nvPr/>
          </p:nvSpPr>
          <p:spPr>
            <a:xfrm>
              <a:off x="1097324" y="3806355"/>
              <a:ext cx="1344574" cy="801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200" b="1">
                  <a:solidFill>
                    <a:srgbClr val="F08700"/>
                  </a:solidFill>
                  <a:latin typeface="+mn-lt"/>
                  <a:cs typeface="Segoe UI Light" panose="020B0502040204020203" pitchFamily="34" charset="0"/>
                </a:rPr>
                <a:t>AUFTRAG</a:t>
              </a:r>
            </a:p>
            <a:p>
              <a:pPr marL="179388" indent="-179388">
                <a:buSzPct val="80000"/>
                <a:buFont typeface="Webdings" panose="05030102010509060703" pitchFamily="18" charset="2"/>
                <a:buChar char="ë"/>
              </a:pPr>
              <a:r>
                <a:rPr lang="de-CH" sz="1200">
                  <a:solidFill>
                    <a:srgbClr val="F08700"/>
                  </a:solidFill>
                  <a:latin typeface="+mn-lt"/>
                  <a:cs typeface="Segoe UI Light" panose="020B0502040204020203" pitchFamily="34" charset="0"/>
                </a:rPr>
                <a:t>Analyse</a:t>
              </a:r>
            </a:p>
            <a:p>
              <a:pPr marL="179388" indent="-179388">
                <a:buSzPct val="80000"/>
                <a:buFont typeface="Webdings" panose="05030102010509060703" pitchFamily="18" charset="2"/>
                <a:buChar char="ë"/>
              </a:pPr>
              <a:r>
                <a:rPr lang="de-CH" sz="1200">
                  <a:solidFill>
                    <a:srgbClr val="F08700"/>
                  </a:solidFill>
                  <a:latin typeface="+mn-lt"/>
                  <a:cs typeface="Segoe UI Light" panose="020B0502040204020203" pitchFamily="34" charset="0"/>
                </a:rPr>
                <a:t>Konzept</a:t>
              </a:r>
            </a:p>
            <a:p>
              <a:pPr marL="179388" indent="-179388">
                <a:buSzPct val="80000"/>
                <a:buFont typeface="Webdings" panose="05030102010509060703" pitchFamily="18" charset="2"/>
                <a:buChar char="ë"/>
              </a:pPr>
              <a:r>
                <a:rPr lang="de-CH" sz="1200">
                  <a:solidFill>
                    <a:srgbClr val="F08700"/>
                  </a:solidFill>
                  <a:cs typeface="Segoe UI Light" panose="020B0502040204020203" pitchFamily="34" charset="0"/>
                </a:rPr>
                <a:t>etc.</a:t>
              </a:r>
              <a:endParaRPr lang="de-CH" sz="1200">
                <a:solidFill>
                  <a:srgbClr val="F08700"/>
                </a:solidFill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A44BEC5-3B33-4446-B7D9-68F6B95D8D50}"/>
                </a:ext>
              </a:extLst>
            </p:cNvPr>
            <p:cNvSpPr txBox="1"/>
            <p:nvPr/>
          </p:nvSpPr>
          <p:spPr>
            <a:xfrm>
              <a:off x="3783755" y="2048094"/>
              <a:ext cx="2583402" cy="30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400">
                  <a:solidFill>
                    <a:srgbClr val="F08700"/>
                  </a:solidFill>
                  <a:latin typeface="+mn-lt"/>
                  <a:cs typeface="Segoe UI Light" panose="020B0502040204020203" pitchFamily="34" charset="0"/>
                </a:rPr>
                <a:t>Anfrage Arbeitgeber</a:t>
              </a:r>
            </a:p>
          </p:txBody>
        </p: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6A94DB51-05FF-427A-9F7B-9411C4B67306}"/>
                </a:ext>
              </a:extLst>
            </p:cNvPr>
            <p:cNvCxnSpPr>
              <a:cxnSpLocks/>
            </p:cNvCxnSpPr>
            <p:nvPr/>
          </p:nvCxnSpPr>
          <p:spPr>
            <a:xfrm>
              <a:off x="3678495" y="2313474"/>
              <a:ext cx="1980000" cy="1084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7BF04DB5-56C1-4268-AA3C-7BB771F9FEBE}"/>
                </a:ext>
              </a:extLst>
            </p:cNvPr>
            <p:cNvSpPr txBox="1"/>
            <p:nvPr/>
          </p:nvSpPr>
          <p:spPr>
            <a:xfrm rot="16200000">
              <a:off x="7495856" y="2232530"/>
              <a:ext cx="16335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Segoe UI Light" panose="020B0502040204020203" pitchFamily="34" charset="0"/>
                </a:rPr>
                <a:t>ARBEITGEBER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4CCF389C-87FC-4E8B-AF6F-45425F59DADB}"/>
                </a:ext>
              </a:extLst>
            </p:cNvPr>
            <p:cNvSpPr txBox="1"/>
            <p:nvPr/>
          </p:nvSpPr>
          <p:spPr>
            <a:xfrm rot="16200000">
              <a:off x="5032729" y="5032971"/>
              <a:ext cx="16335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Segoe UI Light" panose="020B0502040204020203" pitchFamily="34" charset="0"/>
                </a:rPr>
                <a:t>STUDIENLEITER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0910165-D782-45E5-9235-D6036126724B}"/>
                </a:ext>
              </a:extLst>
            </p:cNvPr>
            <p:cNvSpPr txBox="1"/>
            <p:nvPr/>
          </p:nvSpPr>
          <p:spPr>
            <a:xfrm>
              <a:off x="2195020" y="4231585"/>
              <a:ext cx="12774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400">
                  <a:solidFill>
                    <a:srgbClr val="003399"/>
                  </a:solidFill>
                  <a:latin typeface="+mn-lt"/>
                  <a:cs typeface="Segoe UI Light" panose="020B0502040204020203" pitchFamily="34" charset="0"/>
                </a:rPr>
                <a:t>Coaching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B65943-C35E-49FD-8802-960C4877B73C}"/>
                </a:ext>
              </a:extLst>
            </p:cNvPr>
            <p:cNvSpPr txBox="1"/>
            <p:nvPr/>
          </p:nvSpPr>
          <p:spPr>
            <a:xfrm>
              <a:off x="3783755" y="2675666"/>
              <a:ext cx="1846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400">
                  <a:solidFill>
                    <a:srgbClr val="339966"/>
                  </a:solidFill>
                  <a:latin typeface="+mn-lt"/>
                  <a:cs typeface="Segoe UI Light" panose="020B0502040204020203" pitchFamily="34" charset="0"/>
                </a:rPr>
                <a:t>Erhalt Auftrag</a:t>
              </a:r>
            </a:p>
          </p:txBody>
        </p: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2E1C7949-E95E-49C6-96F6-453A9DBB84E5}"/>
                </a:ext>
              </a:extLst>
            </p:cNvPr>
            <p:cNvCxnSpPr>
              <a:cxnSpLocks/>
            </p:cNvCxnSpPr>
            <p:nvPr/>
          </p:nvCxnSpPr>
          <p:spPr>
            <a:xfrm>
              <a:off x="3332312" y="2963498"/>
              <a:ext cx="1980000" cy="10969"/>
            </a:xfrm>
            <a:prstGeom prst="straightConnector1">
              <a:avLst/>
            </a:prstGeom>
            <a:ln w="25400">
              <a:solidFill>
                <a:srgbClr val="339966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FC3CE2DF-917C-4B92-A196-E5459CEC6CC6}"/>
                </a:ext>
              </a:extLst>
            </p:cNvPr>
            <p:cNvCxnSpPr/>
            <p:nvPr/>
          </p:nvCxnSpPr>
          <p:spPr>
            <a:xfrm>
              <a:off x="4989403" y="3174231"/>
              <a:ext cx="0" cy="1080000"/>
            </a:xfrm>
            <a:prstGeom prst="straightConnector1">
              <a:avLst/>
            </a:prstGeom>
            <a:ln w="2540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BAC1E999-E666-486D-9997-F1BDEA78B925}"/>
                </a:ext>
              </a:extLst>
            </p:cNvPr>
            <p:cNvSpPr txBox="1"/>
            <p:nvPr/>
          </p:nvSpPr>
          <p:spPr>
            <a:xfrm rot="16200000">
              <a:off x="4491880" y="3502794"/>
              <a:ext cx="13058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400">
                  <a:solidFill>
                    <a:srgbClr val="000099"/>
                  </a:solidFill>
                  <a:latin typeface="+mn-lt"/>
                  <a:cs typeface="Segoe UI Light" panose="020B0502040204020203" pitchFamily="34" charset="0"/>
                </a:rPr>
                <a:t>Genehmigung</a:t>
              </a:r>
            </a:p>
          </p:txBody>
        </p:sp>
        <p:sp>
          <p:nvSpPr>
            <p:cNvPr id="34" name="Kreis: nicht ausgefüllt 33">
              <a:extLst>
                <a:ext uri="{FF2B5EF4-FFF2-40B4-BE49-F238E27FC236}">
                  <a16:creationId xmlns:a16="http://schemas.microsoft.com/office/drawing/2014/main" id="{3F573AE8-351D-4C9B-AC7B-964140D3849E}"/>
                </a:ext>
              </a:extLst>
            </p:cNvPr>
            <p:cNvSpPr/>
            <p:nvPr/>
          </p:nvSpPr>
          <p:spPr>
            <a:xfrm>
              <a:off x="3330336" y="2125575"/>
              <a:ext cx="288000" cy="288000"/>
            </a:xfrm>
            <a:prstGeom prst="donu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120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35" name="Kreis: nicht ausgefüllt 34">
              <a:extLst>
                <a:ext uri="{FF2B5EF4-FFF2-40B4-BE49-F238E27FC236}">
                  <a16:creationId xmlns:a16="http://schemas.microsoft.com/office/drawing/2014/main" id="{32548513-5605-441F-AA57-7EFDA9E6DA95}"/>
                </a:ext>
              </a:extLst>
            </p:cNvPr>
            <p:cNvSpPr/>
            <p:nvPr/>
          </p:nvSpPr>
          <p:spPr>
            <a:xfrm>
              <a:off x="3027188" y="4571319"/>
              <a:ext cx="288000" cy="288000"/>
            </a:xfrm>
            <a:prstGeom prst="donut">
              <a:avLst/>
            </a:prstGeom>
            <a:solidFill>
              <a:srgbClr val="003399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1200">
                  <a:solidFill>
                    <a:srgbClr val="003399"/>
                  </a:solidFill>
                </a:rPr>
                <a:t>3</a:t>
              </a:r>
            </a:p>
          </p:txBody>
        </p:sp>
        <p:sp>
          <p:nvSpPr>
            <p:cNvPr id="36" name="Kreis: nicht ausgefüllt 35">
              <a:extLst>
                <a:ext uri="{FF2B5EF4-FFF2-40B4-BE49-F238E27FC236}">
                  <a16:creationId xmlns:a16="http://schemas.microsoft.com/office/drawing/2014/main" id="{F5CE604B-74D0-47ED-9562-C9411CF565C1}"/>
                </a:ext>
              </a:extLst>
            </p:cNvPr>
            <p:cNvSpPr>
              <a:spLocks/>
            </p:cNvSpPr>
            <p:nvPr/>
          </p:nvSpPr>
          <p:spPr>
            <a:xfrm>
              <a:off x="5389520" y="2800069"/>
              <a:ext cx="288000" cy="288000"/>
            </a:xfrm>
            <a:prstGeom prst="donut">
              <a:avLst/>
            </a:prstGeom>
            <a:solidFill>
              <a:srgbClr val="339966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1200">
                  <a:solidFill>
                    <a:srgbClr val="339966"/>
                  </a:solidFill>
                </a:rPr>
                <a:t>2</a:t>
              </a:r>
            </a:p>
          </p:txBody>
        </p:sp>
        <p:cxnSp>
          <p:nvCxnSpPr>
            <p:cNvPr id="37" name="Verbinder: gewinkelt 36">
              <a:extLst>
                <a:ext uri="{FF2B5EF4-FFF2-40B4-BE49-F238E27FC236}">
                  <a16:creationId xmlns:a16="http://schemas.microsoft.com/office/drawing/2014/main" id="{E6FA4DE4-9E58-4B1A-9211-1114CEB9C42A}"/>
                </a:ext>
              </a:extLst>
            </p:cNvPr>
            <p:cNvCxnSpPr/>
            <p:nvPr/>
          </p:nvCxnSpPr>
          <p:spPr>
            <a:xfrm rot="16200000" flipV="1">
              <a:off x="1991251" y="3819831"/>
              <a:ext cx="1440160" cy="1419613"/>
            </a:xfrm>
            <a:prstGeom prst="bentConnector3">
              <a:avLst>
                <a:gd name="adj1" fmla="val 51075"/>
              </a:avLst>
            </a:prstGeom>
            <a:ln w="25400">
              <a:solidFill>
                <a:srgbClr val="0000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05266113-65C1-4504-B82D-9D96A7466930}"/>
                </a:ext>
              </a:extLst>
            </p:cNvPr>
            <p:cNvSpPr txBox="1"/>
            <p:nvPr/>
          </p:nvSpPr>
          <p:spPr>
            <a:xfrm>
              <a:off x="1730166" y="3375677"/>
              <a:ext cx="10183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Segoe UI Light" panose="020B0502040204020203" pitchFamily="34" charset="0"/>
                </a:rPr>
                <a:t>STUDENT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741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Setting Diplomarbeit / berufliche Realität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pic>
        <p:nvPicPr>
          <p:cNvPr id="48" name="Grafik 47">
            <a:extLst>
              <a:ext uri="{FF2B5EF4-FFF2-40B4-BE49-F238E27FC236}">
                <a16:creationId xmlns:a16="http://schemas.microsoft.com/office/drawing/2014/main" id="{A878AC3E-B920-46D5-8EB9-18622EFB90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1" r="701"/>
          <a:stretch/>
        </p:blipFill>
        <p:spPr>
          <a:xfrm>
            <a:off x="1608306" y="1508127"/>
            <a:ext cx="5616102" cy="36576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C4843053-5D23-4FB6-A3FF-347F08DE4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33" y="3264189"/>
            <a:ext cx="6241225" cy="319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03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Setting Diplomprüfung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AD489E2-F69B-4942-9DC1-5C96B4F30056}"/>
              </a:ext>
            </a:extLst>
          </p:cNvPr>
          <p:cNvSpPr txBox="1"/>
          <p:nvPr/>
        </p:nvSpPr>
        <p:spPr>
          <a:xfrm>
            <a:off x="1573226" y="1423846"/>
            <a:ext cx="3917007" cy="1290588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35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sz="1000"/>
          </a:p>
          <a:p>
            <a:r>
              <a:rPr lang="de-CH" sz="3200"/>
              <a:t>Praxisarbeit</a:t>
            </a:r>
          </a:p>
          <a:p>
            <a:endParaRPr lang="de-CH" sz="10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A3292E3-57F6-4515-AE59-15D540AF69A7}"/>
              </a:ext>
            </a:extLst>
          </p:cNvPr>
          <p:cNvSpPr txBox="1"/>
          <p:nvPr/>
        </p:nvSpPr>
        <p:spPr>
          <a:xfrm>
            <a:off x="1543730" y="3534915"/>
            <a:ext cx="3917007" cy="1290588"/>
          </a:xfrm>
          <a:prstGeom prst="rect">
            <a:avLst/>
          </a:prstGeom>
          <a:solidFill>
            <a:srgbClr val="1A5EAB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268288">
              <a:lnSpc>
                <a:spcPct val="90000"/>
              </a:lnSpc>
              <a:spcBef>
                <a:spcPct val="0"/>
              </a:spcBef>
              <a:buNone/>
              <a:defRPr sz="35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sz="1000"/>
          </a:p>
          <a:p>
            <a:pPr marL="0" algn="ctr"/>
            <a:r>
              <a:rPr lang="de-CH" sz="3200"/>
              <a:t>Präsentation</a:t>
            </a:r>
          </a:p>
          <a:p>
            <a:endParaRPr lang="de-CH" sz="10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1C409F-6FB7-4561-A63F-79EEDAC060F8}"/>
              </a:ext>
            </a:extLst>
          </p:cNvPr>
          <p:cNvSpPr txBox="1"/>
          <p:nvPr/>
        </p:nvSpPr>
        <p:spPr>
          <a:xfrm>
            <a:off x="1543731" y="5172530"/>
            <a:ext cx="3917006" cy="1290589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/>
          </a:p>
          <a:p>
            <a:r>
              <a:rPr lang="de-CH" sz="2800"/>
              <a:t>Fach-/Expertengespräch</a:t>
            </a:r>
          </a:p>
          <a:p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94C1B6-D681-4F0C-8E37-51B4A767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54" y="1418960"/>
            <a:ext cx="3101698" cy="1295475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0DDAE18-4DD4-48F2-A8DF-9594EEA26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717" y="3524616"/>
            <a:ext cx="3096691" cy="1290588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FA8E37A-B71F-444D-8977-48339CF391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54" r="1376"/>
          <a:stretch/>
        </p:blipFill>
        <p:spPr>
          <a:xfrm>
            <a:off x="5906710" y="5172530"/>
            <a:ext cx="3101698" cy="1295476"/>
          </a:xfrm>
          <a:prstGeom prst="rect">
            <a:avLst/>
          </a:prstGeom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</p:pic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25937091-9350-45C2-990A-F0AD83E61294}"/>
              </a:ext>
            </a:extLst>
          </p:cNvPr>
          <p:cNvSpPr/>
          <p:nvPr/>
        </p:nvSpPr>
        <p:spPr>
          <a:xfrm>
            <a:off x="9478574" y="1418960"/>
            <a:ext cx="2006604" cy="1295475"/>
          </a:xfrm>
          <a:prstGeom prst="wedgeRectCallout">
            <a:avLst>
              <a:gd name="adj1" fmla="val -58323"/>
              <a:gd name="adj2" fmla="val -15593"/>
            </a:avLst>
          </a:prstGeom>
          <a:solidFill>
            <a:schemeClr val="bg1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>
                <a:solidFill>
                  <a:schemeClr val="tx1"/>
                </a:solidFill>
                <a:latin typeface="+mj-lt"/>
              </a:rPr>
              <a:t>max. 10 Textseiten</a:t>
            </a:r>
          </a:p>
        </p:txBody>
      </p:sp>
      <p:sp>
        <p:nvSpPr>
          <p:cNvPr id="43" name="Sprechblase: rechteckig 42">
            <a:extLst>
              <a:ext uri="{FF2B5EF4-FFF2-40B4-BE49-F238E27FC236}">
                <a16:creationId xmlns:a16="http://schemas.microsoft.com/office/drawing/2014/main" id="{6EC2EBC6-1344-4D26-8B73-0D6304FBCA7E}"/>
              </a:ext>
            </a:extLst>
          </p:cNvPr>
          <p:cNvSpPr/>
          <p:nvPr/>
        </p:nvSpPr>
        <p:spPr>
          <a:xfrm>
            <a:off x="9459214" y="3519729"/>
            <a:ext cx="2006604" cy="1295475"/>
          </a:xfrm>
          <a:prstGeom prst="wedgeRectCallout">
            <a:avLst>
              <a:gd name="adj1" fmla="val -58323"/>
              <a:gd name="adj2" fmla="val -15593"/>
            </a:avLst>
          </a:prstGeom>
          <a:solidFill>
            <a:schemeClr val="bg1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>
                <a:solidFill>
                  <a:schemeClr val="tx1"/>
                </a:solidFill>
                <a:latin typeface="+mj-lt"/>
              </a:rPr>
              <a:t>45 – 60 Minuten</a:t>
            </a:r>
          </a:p>
          <a:p>
            <a:pPr algn="ctr"/>
            <a:r>
              <a:rPr lang="de-CH">
                <a:solidFill>
                  <a:schemeClr val="tx1"/>
                </a:solidFill>
                <a:latin typeface="+mj-lt"/>
              </a:rPr>
              <a:t>alle Hilfsmittel erlaubt</a:t>
            </a:r>
          </a:p>
        </p:txBody>
      </p:sp>
      <p:sp>
        <p:nvSpPr>
          <p:cNvPr id="45" name="Sprechblase: rechteckig 44">
            <a:extLst>
              <a:ext uri="{FF2B5EF4-FFF2-40B4-BE49-F238E27FC236}">
                <a16:creationId xmlns:a16="http://schemas.microsoft.com/office/drawing/2014/main" id="{36A311D6-9D02-486A-AFAF-27CF19A365C6}"/>
              </a:ext>
            </a:extLst>
          </p:cNvPr>
          <p:cNvSpPr/>
          <p:nvPr/>
        </p:nvSpPr>
        <p:spPr>
          <a:xfrm>
            <a:off x="9459214" y="5240276"/>
            <a:ext cx="2006604" cy="1295475"/>
          </a:xfrm>
          <a:prstGeom prst="wedgeRectCallout">
            <a:avLst>
              <a:gd name="adj1" fmla="val -58323"/>
              <a:gd name="adj2" fmla="val -15593"/>
            </a:avLst>
          </a:prstGeom>
          <a:solidFill>
            <a:schemeClr val="bg1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+mj-lt"/>
              </a:rPr>
              <a:t>4 Aufgaben</a:t>
            </a:r>
          </a:p>
          <a:p>
            <a:pPr algn="ctr"/>
            <a:r>
              <a:rPr lang="de-CH">
                <a:solidFill>
                  <a:schemeClr val="tx1"/>
                </a:solidFill>
                <a:latin typeface="+mj-lt"/>
              </a:rPr>
              <a:t>3.5h Vorbereitung</a:t>
            </a:r>
            <a:br>
              <a:rPr lang="de-CH">
                <a:solidFill>
                  <a:schemeClr val="tx1"/>
                </a:solidFill>
                <a:latin typeface="+mj-lt"/>
              </a:rPr>
            </a:br>
            <a:r>
              <a:rPr lang="de-CH">
                <a:solidFill>
                  <a:schemeClr val="tx1"/>
                </a:solidFill>
                <a:latin typeface="+mj-lt"/>
              </a:rPr>
              <a:t>Präsentation</a:t>
            </a:r>
            <a:br>
              <a:rPr lang="de-CH">
                <a:solidFill>
                  <a:schemeClr val="tx1"/>
                </a:solidFill>
                <a:latin typeface="+mj-lt"/>
              </a:rPr>
            </a:br>
            <a:r>
              <a:rPr lang="de-CH">
                <a:solidFill>
                  <a:schemeClr val="tx1"/>
                </a:solidFill>
                <a:latin typeface="+mj-lt"/>
              </a:rPr>
              <a:t>Rückfragen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E2B2DBE-B235-4007-9305-D4B570AEA524}"/>
              </a:ext>
            </a:extLst>
          </p:cNvPr>
          <p:cNvSpPr/>
          <p:nvPr/>
        </p:nvSpPr>
        <p:spPr>
          <a:xfrm>
            <a:off x="1475049" y="2920181"/>
            <a:ext cx="10183510" cy="375893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5B6A0FA-0B54-4208-8A4E-14A62B0C45F0}"/>
              </a:ext>
            </a:extLst>
          </p:cNvPr>
          <p:cNvSpPr txBox="1"/>
          <p:nvPr/>
        </p:nvSpPr>
        <p:spPr>
          <a:xfrm>
            <a:off x="4426728" y="2885201"/>
            <a:ext cx="3317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>
                <a:latin typeface="+mj-lt"/>
              </a:rPr>
              <a:t>mündliche Prüfung</a:t>
            </a:r>
          </a:p>
        </p:txBody>
      </p:sp>
    </p:spTree>
    <p:extLst>
      <p:ext uri="{BB962C8B-B14F-4D97-AF65-F5344CB8AC3E}">
        <p14:creationId xmlns:p14="http://schemas.microsoft.com/office/powerpoint/2010/main" val="426463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2" grpId="0" animBg="1"/>
      <p:bldP spid="43" grpId="0" animBg="1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Diplomarbeiten Termine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graphicFrame>
        <p:nvGraphicFramePr>
          <p:cNvPr id="2" name="Tabelle 2">
            <a:extLst>
              <a:ext uri="{FF2B5EF4-FFF2-40B4-BE49-F238E27FC236}">
                <a16:creationId xmlns:a16="http://schemas.microsoft.com/office/drawing/2014/main" id="{C5D86A69-B2A7-4233-B1CE-A7648B897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31603"/>
              </p:ext>
            </p:extLst>
          </p:nvPr>
        </p:nvGraphicFramePr>
        <p:xfrm>
          <a:off x="1575670" y="1623428"/>
          <a:ext cx="9912159" cy="421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053">
                  <a:extLst>
                    <a:ext uri="{9D8B030D-6E8A-4147-A177-3AD203B41FA5}">
                      <a16:colId xmlns:a16="http://schemas.microsoft.com/office/drawing/2014/main" val="4136575548"/>
                    </a:ext>
                  </a:extLst>
                </a:gridCol>
                <a:gridCol w="3304053">
                  <a:extLst>
                    <a:ext uri="{9D8B030D-6E8A-4147-A177-3AD203B41FA5}">
                      <a16:colId xmlns:a16="http://schemas.microsoft.com/office/drawing/2014/main" val="4290387625"/>
                    </a:ext>
                  </a:extLst>
                </a:gridCol>
                <a:gridCol w="3304053">
                  <a:extLst>
                    <a:ext uri="{9D8B030D-6E8A-4147-A177-3AD203B41FA5}">
                      <a16:colId xmlns:a16="http://schemas.microsoft.com/office/drawing/2014/main" val="373277829"/>
                    </a:ext>
                  </a:extLst>
                </a:gridCol>
              </a:tblGrid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Was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Wann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46441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Einreichen Antrag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Studierende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ab sofort bis </a:t>
                      </a:r>
                      <a:r>
                        <a:rPr lang="de-CH" sz="1800" b="1" kern="1200" dirty="0">
                          <a:solidFill>
                            <a:srgbClr val="00B96F"/>
                          </a:solidFill>
                          <a:latin typeface="+mn-lt"/>
                          <a:ea typeface="+mn-ea"/>
                          <a:cs typeface="+mn-cs"/>
                        </a:rPr>
                        <a:t>30.10.2025</a:t>
                      </a:r>
                      <a:endParaRPr lang="de-CH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44439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Erstellen Arbeit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Studierende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ab sofort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041773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Coaching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Studierende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Nach Vereinbarung mit Coach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77174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Abgabe 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Studierende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b="1" dirty="0">
                          <a:solidFill>
                            <a:srgbClr val="00B96F"/>
                          </a:solidFill>
                          <a:latin typeface="+mj-lt"/>
                        </a:rPr>
                        <a:t>25. April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094743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Erstellen Präsentation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Studierende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ab sofort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436745"/>
                  </a:ext>
                </a:extLst>
              </a:tr>
              <a:tr h="633835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mündliche Diplomprüfung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Studierende/Experten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b="1" dirty="0">
                          <a:solidFill>
                            <a:srgbClr val="00B96F"/>
                          </a:solidFill>
                          <a:latin typeface="+mj-lt"/>
                        </a:rPr>
                        <a:t>03. - 10. Juli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427585"/>
                  </a:ext>
                </a:extLst>
              </a:tr>
              <a:tr h="511166"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Diplomfeier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>
                          <a:latin typeface="+mj-lt"/>
                        </a:rPr>
                        <a:t>alle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>
                          <a:latin typeface="+mj-lt"/>
                        </a:rPr>
                        <a:t>Noch offen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05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95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5A82BDA3-EABB-407C-BFD8-231581B4203C}"/>
              </a:ext>
            </a:extLst>
          </p:cNvPr>
          <p:cNvSpPr txBox="1">
            <a:spLocks/>
          </p:cNvSpPr>
          <p:nvPr/>
        </p:nvSpPr>
        <p:spPr>
          <a:xfrm>
            <a:off x="1308062" y="388375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000" b="1">
                <a:solidFill>
                  <a:schemeClr val="bg1"/>
                </a:solidFill>
              </a:rPr>
              <a:t>Promotionsordnung</a:t>
            </a:r>
            <a:endParaRPr lang="de-CH" sz="3000" b="1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ECCC17A-778C-4653-8B72-D0A515510282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849ABAF-515D-4FD5-8F69-BF796B7B9B54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22F0CE8-9B1E-4FC1-ACD8-CE454C7E1BEA}"/>
              </a:ext>
            </a:extLst>
          </p:cNvPr>
          <p:cNvCxnSpPr>
            <a:cxnSpLocks/>
          </p:cNvCxnSpPr>
          <p:nvPr/>
        </p:nvCxnSpPr>
        <p:spPr>
          <a:xfrm flipH="1">
            <a:off x="1299830" y="395440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9365F51-F006-46E0-9B23-1C8A04014560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3" name="Grafik 22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26CF64E0-F441-450F-86DF-452A9F2A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6324575F-B69C-4FC7-9887-C910854FF0A6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cxnSp>
        <p:nvCxnSpPr>
          <p:cNvPr id="93" name="Verbinder: gewinkelt 92">
            <a:extLst>
              <a:ext uri="{FF2B5EF4-FFF2-40B4-BE49-F238E27FC236}">
                <a16:creationId xmlns:a16="http://schemas.microsoft.com/office/drawing/2014/main" id="{23C024A4-D9B8-4FB5-8DE4-902769352120}"/>
              </a:ext>
            </a:extLst>
          </p:cNvPr>
          <p:cNvCxnSpPr/>
          <p:nvPr/>
        </p:nvCxnSpPr>
        <p:spPr>
          <a:xfrm flipV="1">
            <a:off x="1403502" y="4332290"/>
            <a:ext cx="4710820" cy="1131053"/>
          </a:xfrm>
          <a:prstGeom prst="bentConnector3">
            <a:avLst/>
          </a:prstGeom>
          <a:ln w="76200">
            <a:solidFill>
              <a:srgbClr val="0070C0"/>
            </a:solidFill>
          </a:ln>
          <a:effectLst>
            <a:outerShdw blurRad="50800" dist="63500" dir="3000000" algn="l" rotWithShape="0">
              <a:schemeClr val="tx1">
                <a:lumMod val="50000"/>
                <a:lumOff val="50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16D2810B-15F6-4693-A904-29339D4E17EA}"/>
              </a:ext>
            </a:extLst>
          </p:cNvPr>
          <p:cNvSpPr txBox="1"/>
          <p:nvPr/>
        </p:nvSpPr>
        <p:spPr>
          <a:xfrm>
            <a:off x="1332772" y="5522335"/>
            <a:ext cx="235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>
                <a:solidFill>
                  <a:srgbClr val="00B050"/>
                </a:solidFill>
                <a:latin typeface="+mj-lt"/>
              </a:rPr>
              <a:t>1. Sem.  │  2. Sem.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A626F037-BEFB-4BA7-AD38-0EAA429A2BB3}"/>
              </a:ext>
            </a:extLst>
          </p:cNvPr>
          <p:cNvSpPr txBox="1"/>
          <p:nvPr/>
        </p:nvSpPr>
        <p:spPr>
          <a:xfrm>
            <a:off x="1332772" y="3852677"/>
            <a:ext cx="1181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b="1">
                <a:solidFill>
                  <a:srgbClr val="00B050"/>
                </a:solidFill>
                <a:latin typeface="+mj-lt"/>
              </a:rPr>
              <a:t>Promotion</a:t>
            </a:r>
          </a:p>
          <a:p>
            <a:pPr algn="ctr"/>
            <a:r>
              <a:rPr lang="de-CH" b="1">
                <a:solidFill>
                  <a:srgbClr val="00B050"/>
                </a:solidFill>
                <a:latin typeface="+mj-lt"/>
              </a:rPr>
              <a:t>Ø &gt;= 4.0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84AE102-25ED-4D66-B308-3CE3CCFF6742}"/>
              </a:ext>
            </a:extLst>
          </p:cNvPr>
          <p:cNvGrpSpPr/>
          <p:nvPr/>
        </p:nvGrpSpPr>
        <p:grpSpPr>
          <a:xfrm>
            <a:off x="1557410" y="1530550"/>
            <a:ext cx="10189915" cy="5054511"/>
            <a:chOff x="1557410" y="1530550"/>
            <a:chExt cx="10189915" cy="5054511"/>
          </a:xfrm>
        </p:grpSpPr>
        <p:cxnSp>
          <p:nvCxnSpPr>
            <p:cNvPr id="94" name="Verbinder: gewinkelt 93">
              <a:extLst>
                <a:ext uri="{FF2B5EF4-FFF2-40B4-BE49-F238E27FC236}">
                  <a16:creationId xmlns:a16="http://schemas.microsoft.com/office/drawing/2014/main" id="{9A955AE3-E9A0-4AEF-BA75-186AA9E8BE04}"/>
                </a:ext>
              </a:extLst>
            </p:cNvPr>
            <p:cNvCxnSpPr/>
            <p:nvPr/>
          </p:nvCxnSpPr>
          <p:spPr>
            <a:xfrm flipV="1">
              <a:off x="3758912" y="3201237"/>
              <a:ext cx="4710820" cy="1131053"/>
            </a:xfrm>
            <a:prstGeom prst="bentConnector3">
              <a:avLst/>
            </a:prstGeom>
            <a:ln w="76200">
              <a:solidFill>
                <a:srgbClr val="0070C0"/>
              </a:solidFill>
            </a:ln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841CD70A-EEF6-4082-B383-0F35D731E760}"/>
                </a:ext>
              </a:extLst>
            </p:cNvPr>
            <p:cNvSpPr txBox="1"/>
            <p:nvPr/>
          </p:nvSpPr>
          <p:spPr>
            <a:xfrm>
              <a:off x="1557410" y="4941514"/>
              <a:ext cx="191028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2400" b="1">
                  <a:solidFill>
                    <a:srgbClr val="00B050"/>
                  </a:solidFill>
                  <a:latin typeface="+mj-lt"/>
                </a:rPr>
                <a:t>1. Studienjahr</a:t>
              </a: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3C1F84CE-A61D-4E79-9BA5-D46E89687C4E}"/>
                </a:ext>
              </a:extLst>
            </p:cNvPr>
            <p:cNvSpPr txBox="1"/>
            <p:nvPr/>
          </p:nvSpPr>
          <p:spPr>
            <a:xfrm>
              <a:off x="3947337" y="3738857"/>
              <a:ext cx="191028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2400" b="1" dirty="0">
                  <a:solidFill>
                    <a:srgbClr val="00B050"/>
                  </a:solidFill>
                  <a:latin typeface="+mj-lt"/>
                </a:rPr>
                <a:t>2. Studienjahr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7E2E8095-C390-46C5-873E-5446B174D8C3}"/>
                </a:ext>
              </a:extLst>
            </p:cNvPr>
            <p:cNvSpPr txBox="1"/>
            <p:nvPr/>
          </p:nvSpPr>
          <p:spPr>
            <a:xfrm>
              <a:off x="6292405" y="2679631"/>
              <a:ext cx="191028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2400" b="1">
                  <a:solidFill>
                    <a:srgbClr val="00B050"/>
                  </a:solidFill>
                  <a:latin typeface="+mj-lt"/>
                </a:rPr>
                <a:t>3. Studienjahr</a:t>
              </a:r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33FAAE5E-01EC-416D-AAEA-385C9934B622}"/>
                </a:ext>
              </a:extLst>
            </p:cNvPr>
            <p:cNvSpPr/>
            <p:nvPr/>
          </p:nvSpPr>
          <p:spPr>
            <a:xfrm>
              <a:off x="9453625" y="1530550"/>
              <a:ext cx="2293700" cy="1702292"/>
            </a:xfrm>
            <a:prstGeom prst="ellipse">
              <a:avLst/>
            </a:prstGeom>
            <a:noFill/>
            <a:ln w="76200">
              <a:solidFill>
                <a:srgbClr val="0070C0"/>
              </a:solidFill>
            </a:ln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B2F8A52B-6A96-46BB-B5E7-24FB415FEC04}"/>
                </a:ext>
              </a:extLst>
            </p:cNvPr>
            <p:cNvSpPr txBox="1"/>
            <p:nvPr/>
          </p:nvSpPr>
          <p:spPr>
            <a:xfrm>
              <a:off x="3722698" y="4420219"/>
              <a:ext cx="2359559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b="1">
                  <a:solidFill>
                    <a:srgbClr val="00B050"/>
                  </a:solidFill>
                  <a:latin typeface="+mj-lt"/>
                </a:rPr>
                <a:t>3. Sem.  </a:t>
              </a:r>
              <a:r>
                <a:rPr lang="de-CH" b="1">
                  <a:solidFill>
                    <a:srgbClr val="00B050"/>
                  </a:solidFill>
                </a:rPr>
                <a:t>│</a:t>
              </a:r>
              <a:r>
                <a:rPr lang="de-CH" b="1">
                  <a:solidFill>
                    <a:srgbClr val="00B050"/>
                  </a:solidFill>
                  <a:latin typeface="+mj-lt"/>
                </a:rPr>
                <a:t>  4. Sem.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278DFDC3-D4DC-4294-A35B-E8F93BB0917B}"/>
                </a:ext>
              </a:extLst>
            </p:cNvPr>
            <p:cNvSpPr txBox="1"/>
            <p:nvPr/>
          </p:nvSpPr>
          <p:spPr>
            <a:xfrm>
              <a:off x="6149405" y="3277111"/>
              <a:ext cx="2359559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b="1">
                  <a:solidFill>
                    <a:srgbClr val="00B050"/>
                  </a:solidFill>
                  <a:latin typeface="+mj-lt"/>
                </a:rPr>
                <a:t>5. Sem. </a:t>
              </a:r>
              <a:r>
                <a:rPr lang="de-CH" b="1">
                  <a:solidFill>
                    <a:srgbClr val="00B050"/>
                  </a:solidFill>
                </a:rPr>
                <a:t>│</a:t>
              </a:r>
              <a:r>
                <a:rPr lang="de-CH" b="1">
                  <a:solidFill>
                    <a:srgbClr val="00B050"/>
                  </a:solidFill>
                  <a:latin typeface="+mj-lt"/>
                </a:rPr>
                <a:t> 6. Sem.</a:t>
              </a:r>
            </a:p>
          </p:txBody>
        </p:sp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442D7DBF-E51D-4A8E-B4A1-87F843C4918B}"/>
                </a:ext>
              </a:extLst>
            </p:cNvPr>
            <p:cNvSpPr txBox="1"/>
            <p:nvPr/>
          </p:nvSpPr>
          <p:spPr>
            <a:xfrm>
              <a:off x="9558682" y="1879217"/>
              <a:ext cx="2073999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2400" b="1">
                  <a:solidFill>
                    <a:srgbClr val="00B050"/>
                  </a:solidFill>
                  <a:latin typeface="+mj-lt"/>
                </a:rPr>
                <a:t>Diplomprüfung</a:t>
              </a:r>
            </a:p>
          </p:txBody>
        </p:sp>
        <p:pic>
          <p:nvPicPr>
            <p:cNvPr id="103" name="Grafik 102" descr="Dokument">
              <a:extLst>
                <a:ext uri="{FF2B5EF4-FFF2-40B4-BE49-F238E27FC236}">
                  <a16:creationId xmlns:a16="http://schemas.microsoft.com/office/drawing/2014/main" id="{B4A1C699-14E1-4CFA-9016-9B7DD5E07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04224" y="5862511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04" name="Grafik 103" descr="Dokument">
              <a:extLst>
                <a:ext uri="{FF2B5EF4-FFF2-40B4-BE49-F238E27FC236}">
                  <a16:creationId xmlns:a16="http://schemas.microsoft.com/office/drawing/2014/main" id="{806A8C4D-AFE1-4E3F-8E19-61A0B0498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70182" y="5865687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05" name="Grafik 104" descr="Dokument">
              <a:extLst>
                <a:ext uri="{FF2B5EF4-FFF2-40B4-BE49-F238E27FC236}">
                  <a16:creationId xmlns:a16="http://schemas.microsoft.com/office/drawing/2014/main" id="{42F1D4A3-FFAC-4743-9901-DD5BDCEC1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3665" y="3596153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06" name="Grafik 105" descr="Dokument">
              <a:extLst>
                <a:ext uri="{FF2B5EF4-FFF2-40B4-BE49-F238E27FC236}">
                  <a16:creationId xmlns:a16="http://schemas.microsoft.com/office/drawing/2014/main" id="{5C3C1BD3-89A4-4168-A541-F85349103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7954" y="4766760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07" name="Grafik 106" descr="Dokument">
              <a:extLst>
                <a:ext uri="{FF2B5EF4-FFF2-40B4-BE49-F238E27FC236}">
                  <a16:creationId xmlns:a16="http://schemas.microsoft.com/office/drawing/2014/main" id="{4D18A285-F256-4BF0-872E-9E5FC81E2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02477" y="4766760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08" name="Grafik 107" descr="Dokument">
              <a:extLst>
                <a:ext uri="{FF2B5EF4-FFF2-40B4-BE49-F238E27FC236}">
                  <a16:creationId xmlns:a16="http://schemas.microsoft.com/office/drawing/2014/main" id="{FBFD43A2-BCF1-4653-B5C6-58A56C4D4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9399" y="3656881"/>
              <a:ext cx="719374" cy="719374"/>
            </a:xfrm>
            <a:prstGeom prst="rect">
              <a:avLst/>
            </a:prstGeom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sp>
          <p:nvSpPr>
            <p:cNvPr id="115" name="Pfeil: gebogen 114">
              <a:extLst>
                <a:ext uri="{FF2B5EF4-FFF2-40B4-BE49-F238E27FC236}">
                  <a16:creationId xmlns:a16="http://schemas.microsoft.com/office/drawing/2014/main" id="{20C235B8-F7E5-4CDE-9085-84965BC68F67}"/>
                </a:ext>
              </a:extLst>
            </p:cNvPr>
            <p:cNvSpPr/>
            <p:nvPr/>
          </p:nvSpPr>
          <p:spPr>
            <a:xfrm>
              <a:off x="2572688" y="3646961"/>
              <a:ext cx="1117945" cy="1095470"/>
            </a:xfrm>
            <a:prstGeom prst="bentArrow">
              <a:avLst/>
            </a:prstGeom>
            <a:solidFill>
              <a:srgbClr val="1A5EAB"/>
            </a:solidFill>
            <a:ln>
              <a:solidFill>
                <a:srgbClr val="0070C0"/>
              </a:solidFill>
            </a:ln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39700" prst="cross"/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0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6" name="Pfeil: gebogen 115">
              <a:extLst>
                <a:ext uri="{FF2B5EF4-FFF2-40B4-BE49-F238E27FC236}">
                  <a16:creationId xmlns:a16="http://schemas.microsoft.com/office/drawing/2014/main" id="{4CE38362-1CD8-4672-A983-BDD0C9031A75}"/>
                </a:ext>
              </a:extLst>
            </p:cNvPr>
            <p:cNvSpPr/>
            <p:nvPr/>
          </p:nvSpPr>
          <p:spPr>
            <a:xfrm>
              <a:off x="4907414" y="2569232"/>
              <a:ext cx="1117945" cy="1095470"/>
            </a:xfrm>
            <a:prstGeom prst="bentArrow">
              <a:avLst/>
            </a:prstGeom>
            <a:solidFill>
              <a:srgbClr val="1A5EAB"/>
            </a:solidFill>
            <a:ln>
              <a:solidFill>
                <a:srgbClr val="0070C0"/>
              </a:solidFill>
            </a:ln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7" name="Pfeil: gebogen 116">
              <a:extLst>
                <a:ext uri="{FF2B5EF4-FFF2-40B4-BE49-F238E27FC236}">
                  <a16:creationId xmlns:a16="http://schemas.microsoft.com/office/drawing/2014/main" id="{49678CCA-774E-412F-BFDC-4BF7DF471CDC}"/>
                </a:ext>
              </a:extLst>
            </p:cNvPr>
            <p:cNvSpPr/>
            <p:nvPr/>
          </p:nvSpPr>
          <p:spPr>
            <a:xfrm>
              <a:off x="8226798" y="1833961"/>
              <a:ext cx="1117945" cy="1095470"/>
            </a:xfrm>
            <a:prstGeom prst="bentArrow">
              <a:avLst/>
            </a:prstGeom>
            <a:solidFill>
              <a:srgbClr val="1A5EAB"/>
            </a:solidFill>
            <a:ln>
              <a:solidFill>
                <a:srgbClr val="0070C0"/>
              </a:solidFill>
            </a:ln>
            <a:effectLst>
              <a:outerShdw blurRad="50800" dist="63500" dir="3000000" algn="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9" name="Textfeld 118">
              <a:extLst>
                <a:ext uri="{FF2B5EF4-FFF2-40B4-BE49-F238E27FC236}">
                  <a16:creationId xmlns:a16="http://schemas.microsoft.com/office/drawing/2014/main" id="{2B53342B-107F-4CD3-95A3-95359D4E7191}"/>
                </a:ext>
              </a:extLst>
            </p:cNvPr>
            <p:cNvSpPr txBox="1"/>
            <p:nvPr/>
          </p:nvSpPr>
          <p:spPr>
            <a:xfrm>
              <a:off x="3671752" y="2823587"/>
              <a:ext cx="1181221" cy="64633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de-CH" b="1" dirty="0">
                  <a:solidFill>
                    <a:srgbClr val="00B050"/>
                  </a:solidFill>
                  <a:latin typeface="+mj-lt"/>
                </a:rPr>
                <a:t>Promotion</a:t>
              </a:r>
            </a:p>
            <a:p>
              <a:pPr algn="ctr"/>
              <a:r>
                <a:rPr lang="de-CH" b="1" dirty="0">
                  <a:solidFill>
                    <a:srgbClr val="00B050"/>
                  </a:solidFill>
                  <a:latin typeface="+mj-lt"/>
                </a:rPr>
                <a:t>Ø &gt;= 4.0</a:t>
              </a:r>
            </a:p>
          </p:txBody>
        </p:sp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9445220-EA24-4F1F-9318-7D410D7C6A67}"/>
                </a:ext>
              </a:extLst>
            </p:cNvPr>
            <p:cNvSpPr txBox="1"/>
            <p:nvPr/>
          </p:nvSpPr>
          <p:spPr>
            <a:xfrm>
              <a:off x="7042093" y="1913765"/>
              <a:ext cx="1181221" cy="64633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de-CH" b="1">
                  <a:solidFill>
                    <a:srgbClr val="00B050"/>
                  </a:solidFill>
                  <a:latin typeface="+mj-lt"/>
                </a:rPr>
                <a:t>Promotion</a:t>
              </a:r>
            </a:p>
            <a:p>
              <a:pPr algn="ctr"/>
              <a:r>
                <a:rPr lang="de-CH" b="1">
                  <a:solidFill>
                    <a:srgbClr val="00B050"/>
                  </a:solidFill>
                  <a:latin typeface="+mj-lt"/>
                </a:rPr>
                <a:t>Ø &gt;= 4.0</a:t>
              </a:r>
            </a:p>
          </p:txBody>
        </p:sp>
        <p:pic>
          <p:nvPicPr>
            <p:cNvPr id="121" name="Grafik 120" descr="Bücher">
              <a:extLst>
                <a:ext uri="{FF2B5EF4-FFF2-40B4-BE49-F238E27FC236}">
                  <a16:creationId xmlns:a16="http://schemas.microsoft.com/office/drawing/2014/main" id="{FB0DFCC5-5F22-400B-8B58-14FF34CB1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08461" y="2355480"/>
              <a:ext cx="461665" cy="46166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22" name="Grafik 121" descr="Lehrer">
              <a:extLst>
                <a:ext uri="{FF2B5EF4-FFF2-40B4-BE49-F238E27FC236}">
                  <a16:creationId xmlns:a16="http://schemas.microsoft.com/office/drawing/2014/main" id="{37E4F80D-2DBC-4FDE-8F74-7037175DF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38632" y="2303047"/>
              <a:ext cx="514098" cy="51409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  <p:pic>
          <p:nvPicPr>
            <p:cNvPr id="123" name="Grafik 122" descr="Besprechung">
              <a:extLst>
                <a:ext uri="{FF2B5EF4-FFF2-40B4-BE49-F238E27FC236}">
                  <a16:creationId xmlns:a16="http://schemas.microsoft.com/office/drawing/2014/main" id="{0123619D-7743-4DA6-966D-AF5F12EB7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018387" y="2272764"/>
              <a:ext cx="514097" cy="514097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39700" prst="cross"/>
            </a:sp3d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EC56F341-D7F9-ECB6-AEFF-12A932F9933B}"/>
              </a:ext>
            </a:extLst>
          </p:cNvPr>
          <p:cNvSpPr txBox="1"/>
          <p:nvPr/>
        </p:nvSpPr>
        <p:spPr>
          <a:xfrm>
            <a:off x="9465677" y="5658555"/>
            <a:ext cx="2167004" cy="92333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none" rtlCol="0">
            <a:spAutoFit/>
          </a:bodyPr>
          <a:lstStyle/>
          <a:p>
            <a:pPr algn="r"/>
            <a:r>
              <a:rPr lang="de-CH" b="1" dirty="0">
                <a:solidFill>
                  <a:srgbClr val="00B050"/>
                </a:solidFill>
                <a:latin typeface="+mj-lt"/>
              </a:rPr>
              <a:t>Für das Diplom:</a:t>
            </a:r>
            <a:br>
              <a:rPr lang="de-CH" b="1" dirty="0">
                <a:solidFill>
                  <a:srgbClr val="00B050"/>
                </a:solidFill>
                <a:latin typeface="+mj-lt"/>
              </a:rPr>
            </a:br>
            <a:r>
              <a:rPr lang="de-CH" b="1" dirty="0">
                <a:solidFill>
                  <a:srgbClr val="00B050"/>
                </a:solidFill>
                <a:latin typeface="+mj-lt"/>
              </a:rPr>
              <a:t>- Cambridge-Zertifikat</a:t>
            </a:r>
          </a:p>
          <a:p>
            <a:pPr algn="r"/>
            <a:r>
              <a:rPr lang="de-CH" b="1" dirty="0">
                <a:solidFill>
                  <a:srgbClr val="00B050"/>
                </a:solidFill>
                <a:latin typeface="+mj-lt"/>
              </a:rPr>
              <a:t>- alle RE bezahlt</a:t>
            </a:r>
          </a:p>
        </p:txBody>
      </p:sp>
    </p:spTree>
    <p:extLst>
      <p:ext uri="{BB962C8B-B14F-4D97-AF65-F5344CB8AC3E}">
        <p14:creationId xmlns:p14="http://schemas.microsoft.com/office/powerpoint/2010/main" val="31662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5A82BDA3-EABB-407C-BFD8-231581B4203C}"/>
              </a:ext>
            </a:extLst>
          </p:cNvPr>
          <p:cNvSpPr txBox="1">
            <a:spLocks/>
          </p:cNvSpPr>
          <p:nvPr/>
        </p:nvSpPr>
        <p:spPr>
          <a:xfrm>
            <a:off x="1308062" y="388375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000" b="1">
                <a:solidFill>
                  <a:schemeClr val="bg1"/>
                </a:solidFill>
              </a:rPr>
              <a:t>Promotion für Diplom</a:t>
            </a:r>
            <a:endParaRPr lang="de-CH" sz="3000" b="1">
              <a:solidFill>
                <a:schemeClr val="bg1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ECCC17A-778C-4653-8B72-D0A515510282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849ABAF-515D-4FD5-8F69-BF796B7B9B54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22F0CE8-9B1E-4FC1-ACD8-CE454C7E1BEA}"/>
              </a:ext>
            </a:extLst>
          </p:cNvPr>
          <p:cNvCxnSpPr>
            <a:cxnSpLocks/>
          </p:cNvCxnSpPr>
          <p:nvPr/>
        </p:nvCxnSpPr>
        <p:spPr>
          <a:xfrm flipH="1">
            <a:off x="1299830" y="395440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9365F51-F006-46E0-9B23-1C8A04014560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3" name="Grafik 22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26CF64E0-F441-450F-86DF-452A9F2A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6324575F-B69C-4FC7-9887-C910854FF0A6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graphicFrame>
        <p:nvGraphicFramePr>
          <p:cNvPr id="38" name="Diagramm 37">
            <a:extLst>
              <a:ext uri="{FF2B5EF4-FFF2-40B4-BE49-F238E27FC236}">
                <a16:creationId xmlns:a16="http://schemas.microsoft.com/office/drawing/2014/main" id="{E0D915CB-E9BA-4A09-9AF8-3F0A72006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8093951"/>
              </p:ext>
            </p:extLst>
          </p:nvPr>
        </p:nvGraphicFramePr>
        <p:xfrm>
          <a:off x="1933433" y="1460309"/>
          <a:ext cx="9507940" cy="500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57F7131F-8CEF-473F-94C0-9531FA68E8E6}"/>
              </a:ext>
            </a:extLst>
          </p:cNvPr>
          <p:cNvSpPr txBox="1"/>
          <p:nvPr/>
        </p:nvSpPr>
        <p:spPr>
          <a:xfrm>
            <a:off x="9554547" y="5984197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000" b="1" dirty="0">
                <a:sym typeface="Wingdings" panose="05000000000000000000" pitchFamily="2" charset="2"/>
              </a:rPr>
              <a:t> j</a:t>
            </a:r>
            <a:r>
              <a:rPr lang="de-CH" sz="2000" b="1" dirty="0"/>
              <a:t>e mind. 4.0</a:t>
            </a:r>
          </a:p>
        </p:txBody>
      </p:sp>
    </p:spTree>
    <p:extLst>
      <p:ext uri="{BB962C8B-B14F-4D97-AF65-F5344CB8AC3E}">
        <p14:creationId xmlns:p14="http://schemas.microsoft.com/office/powerpoint/2010/main" val="201021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Terminübersicht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88424AFD-C780-4A19-9391-E89BAAC0F0BD}"/>
              </a:ext>
            </a:extLst>
          </p:cNvPr>
          <p:cNvSpPr/>
          <p:nvPr/>
        </p:nvSpPr>
        <p:spPr>
          <a:xfrm>
            <a:off x="1644239" y="3420959"/>
            <a:ext cx="9750403" cy="1322948"/>
          </a:xfrm>
          <a:prstGeom prst="rect">
            <a:avLst/>
          </a:prstGeom>
          <a:solidFill>
            <a:srgbClr val="1A5EAB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Semesterprüfung 6:    30. Mai 2026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5C47FF0-7DDE-4998-8A02-459C72C5D8EE}"/>
              </a:ext>
            </a:extLst>
          </p:cNvPr>
          <p:cNvSpPr/>
          <p:nvPr/>
        </p:nvSpPr>
        <p:spPr>
          <a:xfrm>
            <a:off x="1644240" y="1679740"/>
            <a:ext cx="9750403" cy="1322948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35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Diplomarbeit Abgabe: 25</a:t>
            </a:r>
            <a:r>
              <a:rPr lang="de-CH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April 2026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0DD9A68-BE1B-45CA-B6C0-039865E83DA1}"/>
              </a:ext>
            </a:extLst>
          </p:cNvPr>
          <p:cNvSpPr/>
          <p:nvPr/>
        </p:nvSpPr>
        <p:spPr>
          <a:xfrm>
            <a:off x="1644238" y="5178260"/>
            <a:ext cx="9750403" cy="1322948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mündliche Diplomprüfung: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</a:rPr>
              <a:t>03. – 10. Juli 2026</a:t>
            </a:r>
          </a:p>
        </p:txBody>
      </p:sp>
    </p:spTree>
    <p:extLst>
      <p:ext uri="{BB962C8B-B14F-4D97-AF65-F5344CB8AC3E}">
        <p14:creationId xmlns:p14="http://schemas.microsoft.com/office/powerpoint/2010/main" val="1143662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Selbstmanagement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>
                <a:solidFill>
                  <a:schemeClr val="bg1"/>
                </a:solidFill>
                <a:latin typeface="+mj-lt"/>
              </a:rPr>
              <a:t>Diverses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D3F378B9-95C8-950A-2650-B29BA2AEA368}"/>
              </a:ext>
            </a:extLst>
          </p:cNvPr>
          <p:cNvSpPr/>
          <p:nvPr/>
        </p:nvSpPr>
        <p:spPr>
          <a:xfrm>
            <a:off x="5216429" y="1525221"/>
            <a:ext cx="2706696" cy="4821469"/>
          </a:xfrm>
          <a:prstGeom prst="rect">
            <a:avLst/>
          </a:prstGeom>
          <a:solidFill>
            <a:srgbClr val="1A5EAB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Diplom: </a:t>
            </a:r>
          </a:p>
          <a:p>
            <a:pPr marL="268288" algn="ctr">
              <a:lnSpc>
                <a:spcPct val="90000"/>
              </a:lnSpc>
              <a:spcBef>
                <a:spcPct val="0"/>
              </a:spcBef>
            </a:pPr>
            <a:endParaRPr lang="de-CH" sz="2800" b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Projektarbeit</a:t>
            </a:r>
          </a:p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Abstract</a:t>
            </a:r>
          </a:p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Vorbereitung </a:t>
            </a:r>
            <a:r>
              <a:rPr lang="de-CH" sz="2800" b="1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mündl</a:t>
            </a:r>
            <a:r>
              <a:rPr lang="de-CH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. Prüfung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73576EB-3EFC-AA5A-8382-19838C3D28EC}"/>
              </a:ext>
            </a:extLst>
          </p:cNvPr>
          <p:cNvSpPr/>
          <p:nvPr/>
        </p:nvSpPr>
        <p:spPr>
          <a:xfrm>
            <a:off x="1644239" y="1525223"/>
            <a:ext cx="2953853" cy="2208972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Semester 5: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endParaRPr lang="de-CH" sz="28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Fächer- und SEM 5 - Prüfungen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CD3BFC4-43AE-85EF-FC78-5A7AADEBD2F9}"/>
              </a:ext>
            </a:extLst>
          </p:cNvPr>
          <p:cNvSpPr/>
          <p:nvPr/>
        </p:nvSpPr>
        <p:spPr>
          <a:xfrm>
            <a:off x="1644239" y="4101542"/>
            <a:ext cx="2953853" cy="2208972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Semester 6: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endParaRPr lang="de-CH" sz="28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Fächer - und SEM 6 - Prüfungen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A274A4-8B41-CA59-4ECB-D1D5C56BF643}"/>
              </a:ext>
            </a:extLst>
          </p:cNvPr>
          <p:cNvSpPr txBox="1"/>
          <p:nvPr/>
        </p:nvSpPr>
        <p:spPr>
          <a:xfrm>
            <a:off x="3503469" y="7008000"/>
            <a:ext cx="54850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/>
              <a:t>"</a:t>
            </a:r>
            <a:r>
              <a:rPr lang="de-CH" sz="900">
                <a:hlinkClick r:id="rId3" tooltip="https://www.flickr.com/photos/33227787@N05/31221456902"/>
              </a:rPr>
              <a:t>Dieses Foto</a:t>
            </a:r>
            <a:r>
              <a:rPr lang="de-CH" sz="900"/>
              <a:t>" von Unbekannter Autor ist lizenziert gemäß </a:t>
            </a:r>
            <a:r>
              <a:rPr lang="de-CH" sz="900">
                <a:hlinkClick r:id="rId4" tooltip="https://creativecommons.org/licenses/by/3.0/"/>
              </a:rPr>
              <a:t>CC BY</a:t>
            </a:r>
            <a:endParaRPr lang="de-CH" sz="900"/>
          </a:p>
        </p:txBody>
      </p:sp>
      <p:pic>
        <p:nvPicPr>
          <p:cNvPr id="16" name="Grafik 15" descr="Ein Bild, das Text, Visitenkarte enthält.&#10;&#10;Automatisch generierte Beschreibung">
            <a:extLst>
              <a:ext uri="{FF2B5EF4-FFF2-40B4-BE49-F238E27FC236}">
                <a16:creationId xmlns:a16="http://schemas.microsoft.com/office/drawing/2014/main" id="{3D2F263C-2FB7-629B-F3A4-376A7F346C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1714278">
            <a:off x="7471610" y="1318665"/>
            <a:ext cx="4230916" cy="2020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297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 dirty="0">
                <a:solidFill>
                  <a:schemeClr val="bg1"/>
                </a:solidFill>
              </a:rPr>
              <a:t>Nutzen des Coachings</a:t>
            </a:r>
            <a:endParaRPr lang="de-CH" sz="3500" b="1" dirty="0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 dirty="0">
                <a:solidFill>
                  <a:schemeClr val="bg1"/>
                </a:solidFill>
                <a:latin typeface="+mj-lt"/>
              </a:rPr>
              <a:t>Diplomarbeit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88424AFD-C780-4A19-9391-E89BAAC0F0BD}"/>
              </a:ext>
            </a:extLst>
          </p:cNvPr>
          <p:cNvSpPr/>
          <p:nvPr/>
        </p:nvSpPr>
        <p:spPr>
          <a:xfrm>
            <a:off x="1644237" y="2824039"/>
            <a:ext cx="9750403" cy="842515"/>
          </a:xfrm>
          <a:prstGeom prst="rect">
            <a:avLst/>
          </a:prstGeom>
          <a:solidFill>
            <a:srgbClr val="1A5EAB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Kapitalfehler werden vermieden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5C47FF0-7DDE-4998-8A02-459C72C5D8EE}"/>
              </a:ext>
            </a:extLst>
          </p:cNvPr>
          <p:cNvSpPr/>
          <p:nvPr/>
        </p:nvSpPr>
        <p:spPr>
          <a:xfrm>
            <a:off x="1644240" y="1679740"/>
            <a:ext cx="9750403" cy="826433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35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Hilft, damit Ihr Eure Fragen beantworten </a:t>
            </a:r>
            <a:r>
              <a:rPr lang="de-CH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könnt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0DD9A68-BE1B-45CA-B6C0-039865E83DA1}"/>
              </a:ext>
            </a:extLst>
          </p:cNvPr>
          <p:cNvSpPr/>
          <p:nvPr/>
        </p:nvSpPr>
        <p:spPr>
          <a:xfrm>
            <a:off x="1644236" y="3984420"/>
            <a:ext cx="9750403" cy="826433"/>
          </a:xfrm>
          <a:prstGeom prst="rect">
            <a:avLst/>
          </a:prstGeom>
          <a:solidFill>
            <a:srgbClr val="00B96F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CH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Wenn Ihr steckenbleibt, hilft er weiter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EE8552D-061D-AE3C-56D1-C84946AF5E21}"/>
              </a:ext>
            </a:extLst>
          </p:cNvPr>
          <p:cNvSpPr/>
          <p:nvPr/>
        </p:nvSpPr>
        <p:spPr>
          <a:xfrm>
            <a:off x="1644235" y="5178259"/>
            <a:ext cx="9750403" cy="842515"/>
          </a:xfrm>
          <a:prstGeom prst="rect">
            <a:avLst/>
          </a:prstGeom>
          <a:solidFill>
            <a:srgbClr val="1A5EAB"/>
          </a:solidFill>
          <a:effectLst>
            <a:outerShdw blurRad="50800" dist="127000" dir="30000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marL="268288" algn="ctr">
              <a:lnSpc>
                <a:spcPct val="90000"/>
              </a:lnSpc>
              <a:spcBef>
                <a:spcPct val="0"/>
              </a:spcBef>
            </a:pPr>
            <a:r>
              <a:rPr lang="de-CH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Bewertet nicht, aber hinterfragt</a:t>
            </a:r>
          </a:p>
        </p:txBody>
      </p:sp>
    </p:spTree>
    <p:extLst>
      <p:ext uri="{BB962C8B-B14F-4D97-AF65-F5344CB8AC3E}">
        <p14:creationId xmlns:p14="http://schemas.microsoft.com/office/powerpoint/2010/main" val="267210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55998A45-6201-4C83-A6E1-074BD878E99D}"/>
              </a:ext>
            </a:extLst>
          </p:cNvPr>
          <p:cNvSpPr txBox="1">
            <a:spLocks/>
          </p:cNvSpPr>
          <p:nvPr/>
        </p:nvSpPr>
        <p:spPr>
          <a:xfrm>
            <a:off x="1311804" y="365126"/>
            <a:ext cx="10183510" cy="947208"/>
          </a:xfrm>
          <a:prstGeom prst="rect">
            <a:avLst/>
          </a:prstGeom>
          <a:solidFill>
            <a:srgbClr val="1A5EAB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8288"/>
            <a:r>
              <a:rPr lang="de-DE" sz="3500" b="1">
                <a:solidFill>
                  <a:schemeClr val="bg1"/>
                </a:solidFill>
              </a:rPr>
              <a:t>Fragen / Hinweise</a:t>
            </a:r>
            <a:endParaRPr lang="de-CH" sz="3500" b="1">
              <a:solidFill>
                <a:schemeClr val="bg1"/>
              </a:solidFill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4846E8D9-54EF-4A78-97C2-D5AE2E6AB1C7}"/>
              </a:ext>
            </a:extLst>
          </p:cNvPr>
          <p:cNvSpPr txBox="1">
            <a:spLocks/>
          </p:cNvSpPr>
          <p:nvPr/>
        </p:nvSpPr>
        <p:spPr>
          <a:xfrm rot="5400000">
            <a:off x="-2225675" y="2955398"/>
            <a:ext cx="6127749" cy="947208"/>
          </a:xfrm>
          <a:prstGeom prst="rect">
            <a:avLst/>
          </a:prstGeom>
          <a:solidFill>
            <a:srgbClr val="00B96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CH" sz="3500">
                <a:solidFill>
                  <a:schemeClr val="bg1"/>
                </a:solidFill>
                <a:latin typeface="+mj-lt"/>
              </a:rPr>
              <a:t>Diverses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3B933B-AA04-442C-BB61-C24E27A34CBD}"/>
              </a:ext>
            </a:extLst>
          </p:cNvPr>
          <p:cNvCxnSpPr>
            <a:cxnSpLocks/>
          </p:cNvCxnSpPr>
          <p:nvPr/>
        </p:nvCxnSpPr>
        <p:spPr>
          <a:xfrm flipH="1">
            <a:off x="1299830" y="397547"/>
            <a:ext cx="10188000" cy="0"/>
          </a:xfrm>
          <a:prstGeom prst="line">
            <a:avLst/>
          </a:prstGeom>
          <a:ln w="63500">
            <a:solidFill>
              <a:srgbClr val="00B9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C1A951-A8F3-4A4F-AB3E-02026258226F}"/>
              </a:ext>
            </a:extLst>
          </p:cNvPr>
          <p:cNvCxnSpPr/>
          <p:nvPr/>
        </p:nvCxnSpPr>
        <p:spPr>
          <a:xfrm>
            <a:off x="385563" y="365126"/>
            <a:ext cx="0" cy="6120000"/>
          </a:xfrm>
          <a:prstGeom prst="line">
            <a:avLst/>
          </a:prstGeom>
          <a:ln w="63500">
            <a:solidFill>
              <a:srgbClr val="1A5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31B0E9C-7E9C-4211-9126-B90F409D57E4}"/>
              </a:ext>
            </a:extLst>
          </p:cNvPr>
          <p:cNvGrpSpPr/>
          <p:nvPr/>
        </p:nvGrpSpPr>
        <p:grpSpPr>
          <a:xfrm>
            <a:off x="321856" y="6216486"/>
            <a:ext cx="995362" cy="369332"/>
            <a:chOff x="317941" y="6215781"/>
            <a:chExt cx="995362" cy="369332"/>
          </a:xfrm>
        </p:grpSpPr>
        <p:pic>
          <p:nvPicPr>
            <p:cNvPr id="24" name="Grafik 23" descr="Ein Bild, das Zeichnung enthält.&#10;&#10;Automatisch generierte Beschreibung">
              <a:extLst>
                <a:ext uri="{FF2B5EF4-FFF2-40B4-BE49-F238E27FC236}">
                  <a16:creationId xmlns:a16="http://schemas.microsoft.com/office/drawing/2014/main" id="{718B9E9F-A4A6-4B23-BCB5-C37EF34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03" y="6275602"/>
              <a:ext cx="691200" cy="216000"/>
            </a:xfrm>
            <a:prstGeom prst="rect">
              <a:avLst/>
            </a:prstGeom>
          </p:spPr>
        </p:pic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CC947AD-32B2-4D7A-98C0-9539BA0DEBF8}"/>
                </a:ext>
              </a:extLst>
            </p:cNvPr>
            <p:cNvSpPr/>
            <p:nvPr/>
          </p:nvSpPr>
          <p:spPr>
            <a:xfrm>
              <a:off x="317941" y="6215781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CH">
                  <a:solidFill>
                    <a:srgbClr val="1A5EAB"/>
                  </a:solidFill>
                </a:rPr>
                <a:t>©</a:t>
              </a:r>
            </a:p>
          </p:txBody>
        </p:sp>
      </p:grpSp>
      <p:pic>
        <p:nvPicPr>
          <p:cNvPr id="3" name="Grafik 2" descr="Ein Bild, das Trockner, Frau, haltend enthält.&#10;&#10;Automatisch generierte Beschreibung">
            <a:extLst>
              <a:ext uri="{FF2B5EF4-FFF2-40B4-BE49-F238E27FC236}">
                <a16:creationId xmlns:a16="http://schemas.microsoft.com/office/drawing/2014/main" id="{F445B9A2-6214-4C0C-8325-CE00CAECE6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759641" y="1344754"/>
            <a:ext cx="5282287" cy="528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1B7C4167-B467-4B53-8756-ADE920662AEA}" vid="{F2889E94-8289-4930-9608-BDE2EC83CD1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6918b7-9c01-4cff-a0c0-0f443454267f" xsi:nil="true"/>
    <lcf76f155ced4ddcb4097134ff3c332f xmlns="e4fcd0eb-fbaf-424c-a7fe-ddda89d8be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008AAD6589A84DBDC495B1F787EB9A" ma:contentTypeVersion="13" ma:contentTypeDescription="Ein neues Dokument erstellen." ma:contentTypeScope="" ma:versionID="7aca3e2fdb1e1976a31bf4d1502a1523">
  <xsd:schema xmlns:xsd="http://www.w3.org/2001/XMLSchema" xmlns:xs="http://www.w3.org/2001/XMLSchema" xmlns:p="http://schemas.microsoft.com/office/2006/metadata/properties" xmlns:ns2="e4fcd0eb-fbaf-424c-a7fe-ddda89d8bedc" xmlns:ns3="986918b7-9c01-4cff-a0c0-0f443454267f" targetNamespace="http://schemas.microsoft.com/office/2006/metadata/properties" ma:root="true" ma:fieldsID="ed299ce13509443661aee04059bd71ea" ns2:_="" ns3:_="">
    <xsd:import namespace="e4fcd0eb-fbaf-424c-a7fe-ddda89d8bedc"/>
    <xsd:import namespace="986918b7-9c01-4cff-a0c0-0f44345426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cd0eb-fbaf-424c-a7fe-ddda89d8be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94353f44-d8b6-4395-ad38-d833b6cf6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918b7-9c01-4cff-a0c0-0f443454267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572f20e-14f5-444b-bd92-031eccf8c8df}" ma:internalName="TaxCatchAll" ma:showField="CatchAllData" ma:web="986918b7-9c01-4cff-a0c0-0f44345426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06114E-5342-4E32-BFED-FE75528B6EA4}">
  <ds:schemaRefs>
    <ds:schemaRef ds:uri="http://purl.org/dc/terms/"/>
    <ds:schemaRef ds:uri="http://schemas.microsoft.com/office/2006/metadata/properties"/>
    <ds:schemaRef ds:uri="http://purl.org/dc/elements/1.1/"/>
    <ds:schemaRef ds:uri="de36c714-6c13-4f14-b1bf-3ae7f4de6f7c"/>
    <ds:schemaRef ds:uri="acdeab17-90d6-4afc-85a1-e9e0a724df5a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86918b7-9c01-4cff-a0c0-0f443454267f"/>
    <ds:schemaRef ds:uri="e4fcd0eb-fbaf-424c-a7fe-ddda89d8bedc"/>
  </ds:schemaRefs>
</ds:datastoreItem>
</file>

<file path=customXml/itemProps2.xml><?xml version="1.0" encoding="utf-8"?>
<ds:datastoreItem xmlns:ds="http://schemas.openxmlformats.org/officeDocument/2006/customXml" ds:itemID="{EC2287D1-F495-476B-8FB3-69BD6792CD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E61CC7-AA4A-456C-8456-BD5A1321AC8F}"/>
</file>

<file path=docProps/app.xml><?xml version="1.0" encoding="utf-8"?>
<Properties xmlns="http://schemas.openxmlformats.org/officeDocument/2006/extended-properties" xmlns:vt="http://schemas.openxmlformats.org/officeDocument/2006/docPropsVTypes">
  <Template>Vorlage PP Lernvideo_20180427</Template>
  <TotalTime>0</TotalTime>
  <Words>305</Words>
  <Application>Microsoft Office PowerPoint</Application>
  <PresentationFormat>Widescreen</PresentationFormat>
  <Paragraphs>131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</vt:lpstr>
      <vt:lpstr>Fachkürzel - Fach ausgeschrieben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Engineering</dc:title>
  <dc:creator>Renato Cadisch</dc:creator>
  <cp:lastModifiedBy>Peter Binetsch</cp:lastModifiedBy>
  <cp:revision>7</cp:revision>
  <cp:lastPrinted>2024-01-16T06:58:54Z</cp:lastPrinted>
  <dcterms:created xsi:type="dcterms:W3CDTF">2018-05-30T12:10:31Z</dcterms:created>
  <dcterms:modified xsi:type="dcterms:W3CDTF">2026-01-20T09:41:44Z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0x010100F7008AAD6589A84DBDC495B1F787EB9A</vt:lpwstr>
  </property>
  <property fmtid="{D5CDD505-2E9C-101B-9397-08002B2CF9AE}" pid="3" name="AuthorIds_UIVersion_1024">
    <vt:lpwstr>6</vt:lpwstr>
  </property>
  <property fmtid="{D5CDD505-2E9C-101B-9397-08002B2CF9AE}" pid="4" name="MediaServiceImageTags">
    <vt:lpwstr/>
  </property>
</Properties>
</file>