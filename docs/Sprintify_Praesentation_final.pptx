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82" r:id="rId3"/>
    <p:sldId id="257" r:id="rId4"/>
    <p:sldId id="258" r:id="rId5"/>
    <p:sldId id="259" r:id="rId6"/>
    <p:sldId id="260" r:id="rId7"/>
    <p:sldId id="261" r:id="rId8"/>
    <p:sldId id="262" r:id="rId9"/>
    <p:sldId id="295"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78" r:id="rId37"/>
    <p:sldId id="279" r:id="rId38"/>
    <p:sldId id="296" r:id="rId39"/>
    <p:sldId id="280" r:id="rId40"/>
    <p:sldId id="281"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2EFF"/>
    <a:srgbClr val="10172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98"/>
    <p:restoredTop sz="77258"/>
  </p:normalViewPr>
  <p:slideViewPr>
    <p:cSldViewPr snapToGrid="0" snapToObjects="1">
      <p:cViewPr varScale="1">
        <p:scale>
          <a:sx n="162" d="100"/>
          <a:sy n="162" d="100"/>
        </p:scale>
        <p:origin x="208" y="3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BB6C96-EE24-2C4D-A85B-8CC9970E2065}" type="datetimeFigureOut">
              <a:rPr lang="en-US" smtClean="0"/>
              <a:t>7/3/26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26EB27-7CB5-824B-A67E-DBB012E8C582}" type="slidenum">
              <a:rPr lang="en-US" smtClean="0"/>
              <a:t>‹#›</a:t>
            </a:fld>
            <a:endParaRPr lang="en-US"/>
          </a:p>
        </p:txBody>
      </p:sp>
    </p:spTree>
    <p:extLst>
      <p:ext uri="{BB962C8B-B14F-4D97-AF65-F5344CB8AC3E}">
        <p14:creationId xmlns:p14="http://schemas.microsoft.com/office/powerpoint/2010/main" val="2514085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CH" dirty="0"/>
              <a:t>Hallo </a:t>
            </a:r>
            <a:r>
              <a:rPr lang="de-CH" dirty="0" err="1"/>
              <a:t>mitenand</a:t>
            </a:r>
            <a:r>
              <a:rPr dirty="0"/>
              <a:t>.</a:t>
            </a:r>
            <a:endParaRPr lang="en-US" dirty="0"/>
          </a:p>
          <a:p>
            <a:r>
              <a:rPr dirty="0"/>
              <a:t>Timo Haldi</a:t>
            </a:r>
            <a:endParaRPr lang="en-US" dirty="0"/>
          </a:p>
          <a:p>
            <a:r>
              <a:rPr dirty="0"/>
              <a:t>Cloud Engineer </a:t>
            </a:r>
            <a:r>
              <a:rPr dirty="0" err="1"/>
              <a:t>Netcloud</a:t>
            </a:r>
            <a:r>
              <a:rPr dirty="0"/>
              <a:t> AG</a:t>
            </a:r>
            <a:endParaRPr lang="de-CH" dirty="0"/>
          </a:p>
          <a:p>
            <a:r>
              <a:rPr dirty="0" err="1"/>
              <a:t>freue</a:t>
            </a:r>
            <a:r>
              <a:rPr dirty="0"/>
              <a:t> </a:t>
            </a:r>
            <a:r>
              <a:rPr dirty="0" err="1"/>
              <a:t>mich</a:t>
            </a:r>
            <a:r>
              <a:rPr dirty="0"/>
              <a:t>, Ihnen </a:t>
            </a:r>
            <a:r>
              <a:rPr dirty="0" err="1"/>
              <a:t>heute</a:t>
            </a:r>
            <a:r>
              <a:rPr dirty="0"/>
              <a:t> </a:t>
            </a:r>
            <a:r>
              <a:rPr dirty="0" err="1"/>
              <a:t>meine</a:t>
            </a:r>
            <a:r>
              <a:rPr dirty="0"/>
              <a:t> </a:t>
            </a:r>
            <a:r>
              <a:rPr dirty="0" err="1"/>
              <a:t>Diplomarbeit</a:t>
            </a:r>
            <a:r>
              <a:rPr dirty="0"/>
              <a:t> </a:t>
            </a:r>
            <a:r>
              <a:rPr dirty="0" err="1"/>
              <a:t>vorzustellen</a:t>
            </a:r>
            <a:r>
              <a:rPr dirty="0"/>
              <a:t>. </a:t>
            </a:r>
            <a:endParaRPr lang="de-CH" dirty="0"/>
          </a:p>
          <a:p>
            <a:endParaRPr lang="en-US" dirty="0"/>
          </a:p>
          <a:p>
            <a:r>
              <a:rPr dirty="0" err="1"/>
              <a:t>Sprintify</a:t>
            </a:r>
            <a:r>
              <a:rPr lang="de-CH" dirty="0"/>
              <a:t>, </a:t>
            </a:r>
            <a:r>
              <a:rPr dirty="0" err="1"/>
              <a:t>ein</a:t>
            </a:r>
            <a:r>
              <a:rPr dirty="0"/>
              <a:t> Web-Tool für die Sprint-</a:t>
            </a:r>
            <a:r>
              <a:rPr dirty="0" err="1"/>
              <a:t>Kapazitätsplanung</a:t>
            </a:r>
            <a:r>
              <a:rPr dirty="0"/>
              <a:t>, </a:t>
            </a:r>
            <a:r>
              <a:rPr dirty="0" err="1"/>
              <a:t>im</a:t>
            </a:r>
            <a:r>
              <a:rPr dirty="0"/>
              <a:t> Rahmen </a:t>
            </a:r>
            <a:r>
              <a:rPr dirty="0" err="1"/>
              <a:t>dieser</a:t>
            </a:r>
            <a:r>
              <a:rPr dirty="0"/>
              <a:t> Arbeit für </a:t>
            </a:r>
            <a:r>
              <a:rPr dirty="0" err="1"/>
              <a:t>meine</a:t>
            </a:r>
            <a:r>
              <a:rPr dirty="0"/>
              <a:t> </a:t>
            </a:r>
            <a:r>
              <a:rPr dirty="0" err="1"/>
              <a:t>Abteilung</a:t>
            </a:r>
            <a:r>
              <a:rPr dirty="0"/>
              <a:t> </a:t>
            </a:r>
            <a:r>
              <a:rPr dirty="0" err="1"/>
              <a:t>entwickelt</a:t>
            </a:r>
            <a:r>
              <a:rPr dirty="0"/>
              <a:t> </a:t>
            </a:r>
            <a:r>
              <a:rPr dirty="0" err="1"/>
              <a:t>habe</a:t>
            </a:r>
            <a:r>
              <a:rPr dirty="0"/>
              <a:t>. </a:t>
            </a:r>
            <a:endParaRPr lang="de-CH" dirty="0"/>
          </a:p>
          <a:p>
            <a:endParaRPr lang="en-US" dirty="0"/>
          </a:p>
          <a:p>
            <a:r>
              <a:rPr dirty="0"/>
              <a:t>Ich </a:t>
            </a:r>
            <a:r>
              <a:rPr dirty="0" err="1"/>
              <a:t>werde</a:t>
            </a:r>
            <a:r>
              <a:rPr dirty="0"/>
              <a:t> Ihnen in den </a:t>
            </a:r>
            <a:r>
              <a:rPr dirty="0" err="1"/>
              <a:t>nächsten</a:t>
            </a:r>
            <a:r>
              <a:rPr dirty="0"/>
              <a:t> Minuten </a:t>
            </a:r>
            <a:r>
              <a:rPr dirty="0" err="1"/>
              <a:t>zeigen</a:t>
            </a:r>
            <a:r>
              <a:rPr dirty="0"/>
              <a:t>, </a:t>
            </a:r>
            <a:endParaRPr lang="de-CH" dirty="0"/>
          </a:p>
          <a:p>
            <a:r>
              <a:rPr dirty="0"/>
              <a:t>welches Problem </a:t>
            </a:r>
            <a:endParaRPr lang="de-CH" dirty="0"/>
          </a:p>
          <a:p>
            <a:r>
              <a:rPr dirty="0" err="1"/>
              <a:t>vorgegangen</a:t>
            </a:r>
            <a:r>
              <a:rPr dirty="0"/>
              <a:t> bin, </a:t>
            </a:r>
            <a:endParaRPr lang="de-CH" dirty="0"/>
          </a:p>
          <a:p>
            <a:r>
              <a:rPr dirty="0"/>
              <a:t>was am Ende </a:t>
            </a:r>
            <a:r>
              <a:rPr dirty="0" err="1"/>
              <a:t>herausgekommen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Der </a:t>
            </a:r>
            <a:r>
              <a:rPr dirty="0" err="1"/>
              <a:t>vollständige</a:t>
            </a:r>
            <a:r>
              <a:rPr dirty="0"/>
              <a:t> Titel </a:t>
            </a:r>
            <a:endParaRPr lang="de-CH" dirty="0"/>
          </a:p>
          <a:p>
            <a:r>
              <a:rPr dirty="0" err="1"/>
              <a:t>Sprintify</a:t>
            </a:r>
            <a:r>
              <a:rPr dirty="0"/>
              <a:t> – </a:t>
            </a:r>
            <a:r>
              <a:rPr dirty="0" err="1"/>
              <a:t>Entwicklung</a:t>
            </a:r>
            <a:r>
              <a:rPr dirty="0"/>
              <a:t> </a:t>
            </a:r>
            <a:r>
              <a:rPr dirty="0" err="1"/>
              <a:t>eines</a:t>
            </a:r>
            <a:r>
              <a:rPr dirty="0"/>
              <a:t> Capacity-Planning-Tools </a:t>
            </a:r>
            <a:r>
              <a:rPr dirty="0" err="1"/>
              <a:t>mit</a:t>
            </a:r>
            <a:r>
              <a:rPr dirty="0"/>
              <a:t> Jira-Integration». </a:t>
            </a:r>
            <a:endParaRPr lang="de-CH" dirty="0"/>
          </a:p>
          <a:p>
            <a:r>
              <a:rPr dirty="0"/>
              <a:t>auf den </a:t>
            </a:r>
            <a:r>
              <a:rPr dirty="0" err="1"/>
              <a:t>Punkt</a:t>
            </a:r>
            <a:r>
              <a:rPr dirty="0"/>
              <a:t> </a:t>
            </a:r>
            <a:r>
              <a:rPr dirty="0" err="1"/>
              <a:t>bringen</a:t>
            </a:r>
            <a:r>
              <a:rPr dirty="0"/>
              <a:t>, </a:t>
            </a:r>
            <a:r>
              <a:rPr lang="de-CH" dirty="0"/>
              <a:t>roter </a:t>
            </a:r>
            <a:r>
              <a:rPr dirty="0"/>
              <a:t>Faden </a:t>
            </a:r>
            <a:r>
              <a:rPr dirty="0" err="1"/>
              <a:t>durch</a:t>
            </a:r>
            <a:r>
              <a:rPr dirty="0"/>
              <a:t> die </a:t>
            </a:r>
            <a:r>
              <a:rPr dirty="0" err="1"/>
              <a:t>ganze</a:t>
            </a:r>
            <a:r>
              <a:rPr dirty="0"/>
              <a:t> </a:t>
            </a:r>
            <a:r>
              <a:rPr dirty="0" err="1"/>
              <a:t>Präsentation</a:t>
            </a:r>
            <a:r>
              <a:rPr dirty="0"/>
              <a:t>: </a:t>
            </a:r>
            <a:endParaRPr lang="de-CH" dirty="0"/>
          </a:p>
          <a:p>
            <a:r>
              <a:rPr dirty="0" err="1"/>
              <a:t>Sprintify</a:t>
            </a:r>
            <a:r>
              <a:rPr dirty="0"/>
              <a:t> </a:t>
            </a:r>
            <a:r>
              <a:rPr dirty="0" err="1"/>
              <a:t>beantwortet</a:t>
            </a:r>
            <a:r>
              <a:rPr dirty="0"/>
              <a:t> die Frage, </a:t>
            </a:r>
            <a:r>
              <a:rPr dirty="0" err="1"/>
              <a:t>wie</a:t>
            </a:r>
            <a:r>
              <a:rPr dirty="0"/>
              <a:t> </a:t>
            </a:r>
            <a:r>
              <a:rPr dirty="0" err="1"/>
              <a:t>viele</a:t>
            </a:r>
            <a:r>
              <a:rPr dirty="0"/>
              <a:t> Story Points </a:t>
            </a:r>
            <a:r>
              <a:rPr dirty="0" err="1"/>
              <a:t>ein</a:t>
            </a:r>
            <a:r>
              <a:rPr dirty="0"/>
              <a:t> Scrum-Team </a:t>
            </a:r>
            <a:r>
              <a:rPr dirty="0" err="1"/>
              <a:t>im</a:t>
            </a:r>
            <a:r>
              <a:rPr dirty="0"/>
              <a:t> </a:t>
            </a:r>
            <a:r>
              <a:rPr dirty="0" err="1"/>
              <a:t>nächsten</a:t>
            </a:r>
            <a:r>
              <a:rPr dirty="0"/>
              <a:t> Sprint </a:t>
            </a:r>
            <a:r>
              <a:rPr dirty="0" err="1"/>
              <a:t>realistisch</a:t>
            </a:r>
            <a:r>
              <a:rPr dirty="0"/>
              <a:t> </a:t>
            </a:r>
            <a:r>
              <a:rPr dirty="0" err="1"/>
              <a:t>schaffen</a:t>
            </a:r>
            <a:r>
              <a:rPr dirty="0"/>
              <a:t> </a:t>
            </a:r>
            <a:r>
              <a:rPr dirty="0" err="1"/>
              <a:t>kann</a:t>
            </a:r>
            <a:r>
              <a:rPr dirty="0"/>
              <a:t> – und </a:t>
            </a:r>
            <a:r>
              <a:rPr dirty="0" err="1"/>
              <a:t>zwar</a:t>
            </a:r>
            <a:r>
              <a:rPr dirty="0"/>
              <a:t> </a:t>
            </a:r>
            <a:r>
              <a:rPr dirty="0" err="1"/>
              <a:t>datenbasiert</a:t>
            </a:r>
            <a:r>
              <a:rPr dirty="0"/>
              <a:t>, </a:t>
            </a:r>
            <a:r>
              <a:rPr dirty="0" err="1"/>
              <a:t>statt</a:t>
            </a:r>
            <a:r>
              <a:rPr dirty="0"/>
              <a:t> </a:t>
            </a:r>
            <a:r>
              <a:rPr dirty="0" err="1"/>
              <a:t>aus</a:t>
            </a:r>
            <a:r>
              <a:rPr dirty="0"/>
              <a:t> dem Bauch </a:t>
            </a:r>
            <a:r>
              <a:rPr dirty="0" err="1"/>
              <a:t>heraus</a:t>
            </a:r>
            <a:r>
              <a:rPr dirty="0"/>
              <a:t>. </a:t>
            </a:r>
            <a:endParaRPr lang="de-CH" dirty="0"/>
          </a:p>
          <a:p>
            <a:r>
              <a:rPr lang="de-CH" dirty="0"/>
              <a:t>tönt</a:t>
            </a:r>
            <a:r>
              <a:rPr dirty="0"/>
              <a:t> banal, </a:t>
            </a:r>
            <a:r>
              <a:rPr dirty="0" err="1"/>
              <a:t>aber</a:t>
            </a:r>
            <a:r>
              <a:rPr dirty="0"/>
              <a:t> </a:t>
            </a:r>
            <a:r>
              <a:rPr dirty="0" err="1"/>
              <a:t>sie</a:t>
            </a:r>
            <a:r>
              <a:rPr dirty="0"/>
              <a:t> </a:t>
            </a:r>
            <a:r>
              <a:rPr dirty="0" err="1"/>
              <a:t>zuverlässig</a:t>
            </a:r>
            <a:r>
              <a:rPr dirty="0"/>
              <a:t> </a:t>
            </a:r>
            <a:r>
              <a:rPr dirty="0" err="1"/>
              <a:t>zu</a:t>
            </a:r>
            <a:r>
              <a:rPr dirty="0"/>
              <a:t> </a:t>
            </a:r>
            <a:r>
              <a:rPr dirty="0" err="1"/>
              <a:t>beantworten</a:t>
            </a:r>
            <a:r>
              <a:rPr dirty="0"/>
              <a:t>, war in </a:t>
            </a:r>
            <a:r>
              <a:rPr dirty="0" err="1"/>
              <a:t>unserem</a:t>
            </a:r>
            <a:r>
              <a:rPr dirty="0"/>
              <a:t> </a:t>
            </a:r>
            <a:r>
              <a:rPr dirty="0" err="1"/>
              <a:t>Alltag</a:t>
            </a:r>
            <a:r>
              <a:rPr dirty="0"/>
              <a:t> </a:t>
            </a:r>
            <a:r>
              <a:rPr dirty="0" err="1"/>
              <a:t>überraschend</a:t>
            </a:r>
            <a:r>
              <a:rPr dirty="0"/>
              <a:t> </a:t>
            </a:r>
            <a:r>
              <a:rPr dirty="0" err="1"/>
              <a:t>schwierig</a:t>
            </a:r>
            <a:r>
              <a:rPr dirty="0"/>
              <a:t>. </a:t>
            </a:r>
            <a:endParaRPr lang="de-CH" dirty="0"/>
          </a:p>
          <a:p>
            <a:endParaRPr lang="en-US" dirty="0"/>
          </a:p>
          <a:p>
            <a:r>
              <a:rPr dirty="0" err="1"/>
              <a:t>Betreut</a:t>
            </a:r>
            <a:r>
              <a:rPr dirty="0"/>
              <a:t> </a:t>
            </a:r>
            <a:r>
              <a:rPr dirty="0" err="1"/>
              <a:t>wurde</a:t>
            </a:r>
            <a:r>
              <a:rPr dirty="0"/>
              <a:t> die Arbeit von </a:t>
            </a:r>
            <a:r>
              <a:rPr dirty="0" err="1"/>
              <a:t>meinem</a:t>
            </a:r>
            <a:r>
              <a:rPr dirty="0"/>
              <a:t> Coach Ardin Ibraimi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Zum </a:t>
            </a:r>
            <a:r>
              <a:rPr dirty="0" err="1"/>
              <a:t>Ablauf</a:t>
            </a:r>
            <a:r>
              <a:rPr dirty="0"/>
              <a:t>, </a:t>
            </a:r>
            <a:r>
              <a:rPr dirty="0" err="1"/>
              <a:t>damit</a:t>
            </a:r>
            <a:r>
              <a:rPr dirty="0"/>
              <a:t> Sie </a:t>
            </a:r>
            <a:r>
              <a:rPr dirty="0" err="1"/>
              <a:t>wissen</a:t>
            </a:r>
            <a:r>
              <a:rPr dirty="0"/>
              <a:t>, was Sie </a:t>
            </a:r>
            <a:r>
              <a:rPr dirty="0" err="1"/>
              <a:t>erwartet</a:t>
            </a:r>
            <a:r>
              <a:rPr dirty="0"/>
              <a:t>. </a:t>
            </a:r>
            <a:endParaRPr lang="de-CH" dirty="0"/>
          </a:p>
          <a:p>
            <a:r>
              <a:rPr dirty="0"/>
              <a:t>Ich </a:t>
            </a:r>
            <a:r>
              <a:rPr dirty="0" err="1"/>
              <a:t>starte</a:t>
            </a:r>
            <a:r>
              <a:rPr dirty="0"/>
              <a:t> </a:t>
            </a:r>
            <a:r>
              <a:rPr dirty="0" err="1"/>
              <a:t>mit</a:t>
            </a:r>
            <a:r>
              <a:rPr dirty="0"/>
              <a:t> </a:t>
            </a:r>
            <a:r>
              <a:rPr dirty="0" err="1"/>
              <a:t>meinem</a:t>
            </a:r>
            <a:r>
              <a:rPr dirty="0"/>
              <a:t> </a:t>
            </a:r>
            <a:r>
              <a:rPr dirty="0" err="1"/>
              <a:t>beruflichen</a:t>
            </a:r>
            <a:r>
              <a:rPr dirty="0"/>
              <a:t> </a:t>
            </a:r>
            <a:r>
              <a:rPr dirty="0" err="1"/>
              <a:t>Kontext</a:t>
            </a:r>
            <a:r>
              <a:rPr dirty="0"/>
              <a:t>, also </a:t>
            </a:r>
            <a:r>
              <a:rPr dirty="0" err="1"/>
              <a:t>wer</a:t>
            </a:r>
            <a:r>
              <a:rPr dirty="0"/>
              <a:t> ich bin und in </a:t>
            </a:r>
            <a:r>
              <a:rPr dirty="0" err="1"/>
              <a:t>welchem</a:t>
            </a:r>
            <a:r>
              <a:rPr dirty="0"/>
              <a:t> </a:t>
            </a:r>
            <a:r>
              <a:rPr dirty="0" err="1"/>
              <a:t>Umfeld</a:t>
            </a:r>
            <a:r>
              <a:rPr dirty="0"/>
              <a:t> die Arbeit </a:t>
            </a:r>
            <a:r>
              <a:rPr dirty="0" err="1"/>
              <a:t>entstanden</a:t>
            </a:r>
            <a:r>
              <a:rPr dirty="0"/>
              <a:t> </a:t>
            </a:r>
            <a:r>
              <a:rPr dirty="0" err="1"/>
              <a:t>ist</a:t>
            </a:r>
            <a:r>
              <a:rPr dirty="0"/>
              <a:t>. </a:t>
            </a:r>
            <a:endParaRPr lang="de-CH" dirty="0"/>
          </a:p>
          <a:p>
            <a:r>
              <a:rPr dirty="0" err="1"/>
              <a:t>Danach</a:t>
            </a:r>
            <a:r>
              <a:rPr dirty="0"/>
              <a:t> </a:t>
            </a:r>
            <a:r>
              <a:rPr dirty="0" err="1"/>
              <a:t>schildere</a:t>
            </a:r>
            <a:r>
              <a:rPr dirty="0"/>
              <a:t> ich die </a:t>
            </a:r>
            <a:r>
              <a:rPr dirty="0" err="1"/>
              <a:t>Problemstellung</a:t>
            </a:r>
            <a:r>
              <a:rPr dirty="0"/>
              <a:t> und den </a:t>
            </a:r>
            <a:r>
              <a:rPr dirty="0" err="1"/>
              <a:t>konkreten</a:t>
            </a:r>
            <a:r>
              <a:rPr dirty="0"/>
              <a:t> </a:t>
            </a:r>
            <a:r>
              <a:rPr dirty="0" err="1"/>
              <a:t>Auftrag</a:t>
            </a:r>
            <a:r>
              <a:rPr dirty="0"/>
              <a:t>, den ich von </a:t>
            </a:r>
            <a:r>
              <a:rPr dirty="0" err="1"/>
              <a:t>meinem</a:t>
            </a:r>
            <a:r>
              <a:rPr dirty="0"/>
              <a:t> </a:t>
            </a:r>
            <a:r>
              <a:rPr dirty="0" err="1"/>
              <a:t>Arbeitgeber</a:t>
            </a:r>
            <a:r>
              <a:rPr dirty="0"/>
              <a:t> </a:t>
            </a:r>
            <a:r>
              <a:rPr dirty="0" err="1"/>
              <a:t>erhalten</a:t>
            </a:r>
            <a:r>
              <a:rPr dirty="0"/>
              <a:t> </a:t>
            </a:r>
            <a:r>
              <a:rPr dirty="0" err="1"/>
              <a:t>habe</a:t>
            </a:r>
            <a:r>
              <a:rPr dirty="0"/>
              <a:t>. </a:t>
            </a:r>
            <a:endParaRPr lang="de-CH" dirty="0"/>
          </a:p>
          <a:p>
            <a:r>
              <a:rPr dirty="0" err="1"/>
              <a:t>Anschliessend</a:t>
            </a:r>
            <a:r>
              <a:rPr dirty="0"/>
              <a:t> </a:t>
            </a:r>
            <a:r>
              <a:rPr dirty="0" err="1"/>
              <a:t>zeige</a:t>
            </a:r>
            <a:r>
              <a:rPr dirty="0"/>
              <a:t> ich </a:t>
            </a:r>
            <a:r>
              <a:rPr dirty="0" err="1"/>
              <a:t>mein</a:t>
            </a:r>
            <a:r>
              <a:rPr dirty="0"/>
              <a:t> </a:t>
            </a:r>
            <a:r>
              <a:rPr dirty="0" err="1"/>
              <a:t>methodisches</a:t>
            </a:r>
            <a:r>
              <a:rPr dirty="0"/>
              <a:t> </a:t>
            </a:r>
            <a:r>
              <a:rPr dirty="0" err="1"/>
              <a:t>Vorgehen</a:t>
            </a:r>
            <a:r>
              <a:rPr dirty="0"/>
              <a:t> – </a:t>
            </a:r>
            <a:r>
              <a:rPr dirty="0" err="1"/>
              <a:t>inklusive</a:t>
            </a:r>
            <a:r>
              <a:rPr dirty="0"/>
              <a:t> </a:t>
            </a:r>
            <a:r>
              <a:rPr dirty="0" err="1"/>
              <a:t>eines</a:t>
            </a:r>
            <a:r>
              <a:rPr dirty="0"/>
              <a:t> </a:t>
            </a:r>
            <a:r>
              <a:rPr dirty="0" err="1"/>
              <a:t>Themas</a:t>
            </a:r>
            <a:r>
              <a:rPr dirty="0"/>
              <a:t>, das mir </a:t>
            </a:r>
            <a:r>
              <a:rPr dirty="0" err="1"/>
              <a:t>wichtig</a:t>
            </a:r>
            <a:r>
              <a:rPr dirty="0"/>
              <a:t> </a:t>
            </a:r>
            <a:r>
              <a:rPr dirty="0" err="1"/>
              <a:t>ist</a:t>
            </a:r>
            <a:r>
              <a:rPr dirty="0"/>
              <a:t>, </a:t>
            </a:r>
            <a:r>
              <a:rPr dirty="0" err="1"/>
              <a:t>nämlich</a:t>
            </a:r>
            <a:r>
              <a:rPr dirty="0"/>
              <a:t> der </a:t>
            </a:r>
            <a:r>
              <a:rPr dirty="0" err="1"/>
              <a:t>Einsatz</a:t>
            </a:r>
            <a:r>
              <a:rPr dirty="0"/>
              <a:t> von </a:t>
            </a:r>
            <a:r>
              <a:rPr dirty="0" err="1"/>
              <a:t>künstlicher</a:t>
            </a:r>
            <a:r>
              <a:rPr dirty="0"/>
              <a:t> </a:t>
            </a:r>
            <a:r>
              <a:rPr dirty="0" err="1"/>
              <a:t>Intelligenz</a:t>
            </a:r>
            <a:r>
              <a:rPr dirty="0"/>
              <a:t> </a:t>
            </a:r>
            <a:r>
              <a:rPr dirty="0" err="1"/>
              <a:t>als</a:t>
            </a:r>
            <a:r>
              <a:rPr dirty="0"/>
              <a:t> Co-Engineer. </a:t>
            </a:r>
            <a:endParaRPr lang="de-CH" dirty="0"/>
          </a:p>
          <a:p>
            <a:endParaRPr lang="en-US" dirty="0"/>
          </a:p>
          <a:p>
            <a:r>
              <a:rPr dirty="0" err="1"/>
              <a:t>Im</a:t>
            </a:r>
            <a:r>
              <a:rPr dirty="0"/>
              <a:t> </a:t>
            </a:r>
            <a:r>
              <a:rPr dirty="0" err="1"/>
              <a:t>Hauptteil</a:t>
            </a:r>
            <a:r>
              <a:rPr dirty="0"/>
              <a:t> </a:t>
            </a:r>
            <a:r>
              <a:rPr dirty="0" err="1"/>
              <a:t>geht</a:t>
            </a:r>
            <a:r>
              <a:rPr dirty="0"/>
              <a:t> es </a:t>
            </a:r>
            <a:r>
              <a:rPr dirty="0" err="1"/>
              <a:t>dann</a:t>
            </a:r>
            <a:r>
              <a:rPr dirty="0"/>
              <a:t> um </a:t>
            </a:r>
            <a:r>
              <a:rPr dirty="0" err="1"/>
              <a:t>Architektur</a:t>
            </a:r>
            <a:r>
              <a:rPr dirty="0"/>
              <a:t>, </a:t>
            </a:r>
            <a:r>
              <a:rPr dirty="0" err="1"/>
              <a:t>Technologieentscheidungen</a:t>
            </a:r>
            <a:r>
              <a:rPr dirty="0"/>
              <a:t> und die </a:t>
            </a:r>
            <a:r>
              <a:rPr dirty="0" err="1"/>
              <a:t>einzelnen</a:t>
            </a:r>
            <a:r>
              <a:rPr dirty="0"/>
              <a:t> Module,</a:t>
            </a:r>
            <a:endParaRPr lang="de-CH" dirty="0"/>
          </a:p>
          <a:p>
            <a:r>
              <a:rPr dirty="0"/>
              <a:t> und ich </a:t>
            </a:r>
            <a:r>
              <a:rPr dirty="0" err="1"/>
              <a:t>zeige</a:t>
            </a:r>
            <a:r>
              <a:rPr dirty="0"/>
              <a:t> Ihnen die </a:t>
            </a:r>
            <a:r>
              <a:rPr dirty="0" err="1"/>
              <a:t>fertige</a:t>
            </a:r>
            <a:r>
              <a:rPr dirty="0"/>
              <a:t> </a:t>
            </a:r>
            <a:r>
              <a:rPr dirty="0" err="1"/>
              <a:t>Anwendung</a:t>
            </a:r>
            <a:endParaRPr lang="de-CH" dirty="0"/>
          </a:p>
          <a:p>
            <a:endParaRPr lang="en-US" dirty="0"/>
          </a:p>
          <a:p>
            <a:r>
              <a:rPr dirty="0"/>
              <a:t> Zum </a:t>
            </a:r>
            <a:r>
              <a:rPr dirty="0" err="1"/>
              <a:t>Schluss</a:t>
            </a:r>
            <a:r>
              <a:rPr dirty="0"/>
              <a:t> </a:t>
            </a:r>
            <a:r>
              <a:rPr dirty="0" err="1"/>
              <a:t>folgen</a:t>
            </a:r>
            <a:r>
              <a:rPr dirty="0"/>
              <a:t> die </a:t>
            </a:r>
            <a:r>
              <a:rPr dirty="0" err="1"/>
              <a:t>kritische</a:t>
            </a:r>
            <a:r>
              <a:rPr dirty="0"/>
              <a:t> </a:t>
            </a:r>
            <a:r>
              <a:rPr dirty="0" err="1"/>
              <a:t>Würdigung</a:t>
            </a:r>
            <a:r>
              <a:rPr dirty="0"/>
              <a:t>, </a:t>
            </a:r>
            <a:endParaRPr lang="de-CH" dirty="0"/>
          </a:p>
          <a:p>
            <a:r>
              <a:rPr dirty="0" err="1"/>
              <a:t>meine</a:t>
            </a:r>
            <a:r>
              <a:rPr dirty="0"/>
              <a:t> </a:t>
            </a:r>
            <a:r>
              <a:rPr dirty="0" err="1"/>
              <a:t>persönliche</a:t>
            </a:r>
            <a:r>
              <a:rPr dirty="0"/>
              <a:t> </a:t>
            </a:r>
            <a:r>
              <a:rPr dirty="0" err="1"/>
              <a:t>Reflexion</a:t>
            </a:r>
            <a:r>
              <a:rPr dirty="0"/>
              <a:t>, e</a:t>
            </a:r>
            <a:endParaRPr lang="de-CH" dirty="0"/>
          </a:p>
          <a:p>
            <a:r>
              <a:rPr dirty="0" err="1"/>
              <a:t>ine</a:t>
            </a:r>
            <a:r>
              <a:rPr dirty="0"/>
              <a:t> </a:t>
            </a:r>
            <a:r>
              <a:rPr dirty="0" err="1"/>
              <a:t>kurze</a:t>
            </a:r>
            <a:r>
              <a:rPr dirty="0"/>
              <a:t> </a:t>
            </a:r>
            <a:r>
              <a:rPr dirty="0" err="1"/>
              <a:t>Betrachtung</a:t>
            </a:r>
            <a:r>
              <a:rPr dirty="0"/>
              <a:t> der </a:t>
            </a:r>
            <a:r>
              <a:rPr dirty="0" err="1"/>
              <a:t>Wirtschaftlichkeit</a:t>
            </a:r>
            <a:r>
              <a:rPr dirty="0"/>
              <a:t> und </a:t>
            </a:r>
            <a:endParaRPr lang="de-CH" dirty="0"/>
          </a:p>
          <a:p>
            <a:r>
              <a:rPr dirty="0" err="1"/>
              <a:t>meine</a:t>
            </a:r>
            <a:r>
              <a:rPr dirty="0"/>
              <a:t> </a:t>
            </a:r>
            <a:r>
              <a:rPr dirty="0" err="1"/>
              <a:t>Empfehlung</a:t>
            </a:r>
            <a:r>
              <a:rPr dirty="0"/>
              <a:t>. </a:t>
            </a:r>
            <a:r>
              <a:rPr dirty="0" err="1"/>
              <a:t>Beginnen</a:t>
            </a:r>
            <a:r>
              <a:rPr dirty="0"/>
              <a:t> </a:t>
            </a:r>
            <a:r>
              <a:rPr dirty="0" err="1"/>
              <a:t>wir</a:t>
            </a:r>
            <a:r>
              <a:rPr dirty="0"/>
              <a:t> </a:t>
            </a:r>
            <a:r>
              <a:rPr dirty="0" err="1"/>
              <a:t>mit</a:t>
            </a:r>
            <a:r>
              <a:rPr dirty="0"/>
              <a:t> dem </a:t>
            </a:r>
            <a:r>
              <a:rPr dirty="0" err="1"/>
              <a:t>Kontext</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Zunächst</a:t>
            </a:r>
            <a:r>
              <a:rPr dirty="0"/>
              <a:t> </a:t>
            </a:r>
            <a:r>
              <a:rPr dirty="0" err="1"/>
              <a:t>zu</a:t>
            </a:r>
            <a:r>
              <a:rPr dirty="0"/>
              <a:t> mir und </a:t>
            </a:r>
            <a:r>
              <a:rPr dirty="0" err="1"/>
              <a:t>meinem</a:t>
            </a:r>
            <a:r>
              <a:rPr dirty="0"/>
              <a:t> </a:t>
            </a:r>
            <a:r>
              <a:rPr dirty="0" err="1"/>
              <a:t>Umfeld</a:t>
            </a:r>
            <a:r>
              <a:rPr dirty="0"/>
              <a:t>, </a:t>
            </a:r>
            <a:endParaRPr lang="de-CH" dirty="0"/>
          </a:p>
          <a:p>
            <a:r>
              <a:rPr lang="de-CH" dirty="0"/>
              <a:t>I</a:t>
            </a:r>
            <a:r>
              <a:rPr dirty="0"/>
              <a:t>ch </a:t>
            </a:r>
            <a:r>
              <a:rPr dirty="0" err="1"/>
              <a:t>arbeite</a:t>
            </a:r>
            <a:r>
              <a:rPr dirty="0"/>
              <a:t> </a:t>
            </a:r>
            <a:r>
              <a:rPr dirty="0" err="1"/>
              <a:t>als</a:t>
            </a:r>
            <a:r>
              <a:rPr dirty="0"/>
              <a:t> Cloud Engineer </a:t>
            </a:r>
            <a:r>
              <a:rPr dirty="0" err="1"/>
              <a:t>bei</a:t>
            </a:r>
            <a:r>
              <a:rPr dirty="0"/>
              <a:t> der </a:t>
            </a:r>
            <a:r>
              <a:rPr dirty="0" err="1"/>
              <a:t>Netcloud</a:t>
            </a:r>
            <a:r>
              <a:rPr dirty="0"/>
              <a:t> AG, </a:t>
            </a:r>
            <a:r>
              <a:rPr dirty="0" err="1"/>
              <a:t>einem</a:t>
            </a:r>
            <a:r>
              <a:rPr dirty="0"/>
              <a:t> Schweizer IT-</a:t>
            </a:r>
            <a:r>
              <a:rPr dirty="0" err="1"/>
              <a:t>Dienstleister</a:t>
            </a:r>
            <a:r>
              <a:rPr dirty="0"/>
              <a:t> </a:t>
            </a:r>
            <a:r>
              <a:rPr dirty="0" err="1"/>
              <a:t>mit</a:t>
            </a:r>
            <a:r>
              <a:rPr dirty="0"/>
              <a:t> </a:t>
            </a:r>
            <a:r>
              <a:rPr dirty="0" err="1"/>
              <a:t>Fokus</a:t>
            </a:r>
            <a:r>
              <a:rPr dirty="0"/>
              <a:t> auf Cloud-</a:t>
            </a:r>
            <a:r>
              <a:rPr dirty="0" err="1"/>
              <a:t>Infrastruktur</a:t>
            </a:r>
            <a:r>
              <a:rPr dirty="0"/>
              <a:t> und Managed Services. </a:t>
            </a:r>
            <a:endParaRPr lang="de-CH" dirty="0"/>
          </a:p>
          <a:p>
            <a:endParaRPr lang="en-US" dirty="0"/>
          </a:p>
          <a:p>
            <a:r>
              <a:rPr dirty="0"/>
              <a:t>In der </a:t>
            </a:r>
            <a:r>
              <a:rPr dirty="0" err="1"/>
              <a:t>Abteilung</a:t>
            </a:r>
            <a:r>
              <a:rPr dirty="0"/>
              <a:t> Public Cloud Solutions </a:t>
            </a:r>
            <a:r>
              <a:rPr dirty="0" err="1"/>
              <a:t>betreuen</a:t>
            </a:r>
            <a:r>
              <a:rPr dirty="0"/>
              <a:t> </a:t>
            </a:r>
            <a:r>
              <a:rPr dirty="0" err="1"/>
              <a:t>wir</a:t>
            </a:r>
            <a:r>
              <a:rPr dirty="0"/>
              <a:t> </a:t>
            </a:r>
            <a:r>
              <a:rPr dirty="0" err="1"/>
              <a:t>Kundenprojekte</a:t>
            </a:r>
            <a:r>
              <a:rPr dirty="0"/>
              <a:t> </a:t>
            </a:r>
            <a:r>
              <a:rPr dirty="0" err="1"/>
              <a:t>rund</a:t>
            </a:r>
            <a:r>
              <a:rPr dirty="0"/>
              <a:t> um Microsoft Azure. </a:t>
            </a:r>
            <a:endParaRPr lang="de-CH" dirty="0"/>
          </a:p>
          <a:p>
            <a:r>
              <a:rPr dirty="0"/>
              <a:t>Unser Team </a:t>
            </a:r>
            <a:r>
              <a:rPr dirty="0" err="1"/>
              <a:t>arbeitet</a:t>
            </a:r>
            <a:r>
              <a:rPr dirty="0"/>
              <a:t> </a:t>
            </a:r>
            <a:r>
              <a:rPr dirty="0" err="1"/>
              <a:t>nach</a:t>
            </a:r>
            <a:r>
              <a:rPr dirty="0"/>
              <a:t> Scrum, in </a:t>
            </a:r>
            <a:r>
              <a:rPr dirty="0" err="1"/>
              <a:t>zweiwöchigen</a:t>
            </a:r>
            <a:r>
              <a:rPr dirty="0"/>
              <a:t> Sprints. </a:t>
            </a:r>
            <a:endParaRPr lang="de-CH" dirty="0"/>
          </a:p>
          <a:p>
            <a:endParaRPr lang="en-US" dirty="0"/>
          </a:p>
          <a:p>
            <a:r>
              <a:rPr lang="en-US" dirty="0" err="1"/>
              <a:t>Netcloud</a:t>
            </a:r>
            <a:r>
              <a:rPr lang="en-US" dirty="0"/>
              <a:t> </a:t>
            </a:r>
            <a:endParaRPr lang="de-CH" dirty="0"/>
          </a:p>
          <a:p>
            <a:endParaRPr lang="de-CH" dirty="0"/>
          </a:p>
          <a:p>
            <a:r>
              <a:rPr dirty="0"/>
              <a:t>Für die Arbeit </a:t>
            </a:r>
            <a:r>
              <a:rPr dirty="0" err="1"/>
              <a:t>selbst</a:t>
            </a:r>
            <a:r>
              <a:rPr dirty="0"/>
              <a:t> </a:t>
            </a:r>
            <a:r>
              <a:rPr dirty="0" err="1"/>
              <a:t>ist</a:t>
            </a:r>
            <a:r>
              <a:rPr dirty="0"/>
              <a:t> relevant: Ich </a:t>
            </a:r>
            <a:r>
              <a:rPr dirty="0" err="1"/>
              <a:t>habe</a:t>
            </a:r>
            <a:r>
              <a:rPr dirty="0"/>
              <a:t> </a:t>
            </a:r>
            <a:r>
              <a:rPr dirty="0" err="1"/>
              <a:t>hier</a:t>
            </a:r>
            <a:r>
              <a:rPr dirty="0"/>
              <a:t> </a:t>
            </a:r>
            <a:r>
              <a:rPr dirty="0" err="1"/>
              <a:t>sowohl</a:t>
            </a:r>
            <a:r>
              <a:rPr dirty="0"/>
              <a:t> die Rolle des </a:t>
            </a:r>
            <a:r>
              <a:rPr dirty="0" err="1"/>
              <a:t>Projektleiters</a:t>
            </a:r>
            <a:r>
              <a:rPr dirty="0"/>
              <a:t> </a:t>
            </a:r>
            <a:r>
              <a:rPr dirty="0" err="1"/>
              <a:t>als</a:t>
            </a:r>
            <a:r>
              <a:rPr dirty="0"/>
              <a:t> </a:t>
            </a:r>
            <a:r>
              <a:rPr dirty="0" err="1"/>
              <a:t>auch</a:t>
            </a:r>
            <a:r>
              <a:rPr dirty="0"/>
              <a:t> die des </a:t>
            </a:r>
            <a:r>
              <a:rPr dirty="0" err="1"/>
              <a:t>alleinigen</a:t>
            </a:r>
            <a:r>
              <a:rPr dirty="0"/>
              <a:t> </a:t>
            </a:r>
            <a:r>
              <a:rPr dirty="0" err="1"/>
              <a:t>Entwicklers</a:t>
            </a:r>
            <a:r>
              <a:rPr dirty="0"/>
              <a:t> </a:t>
            </a:r>
            <a:r>
              <a:rPr dirty="0" err="1"/>
              <a:t>übernommen</a:t>
            </a:r>
            <a:r>
              <a:rPr dirty="0"/>
              <a:t>, das </a:t>
            </a:r>
            <a:r>
              <a:rPr dirty="0" err="1"/>
              <a:t>heisst</a:t>
            </a:r>
            <a:r>
              <a:rPr dirty="0"/>
              <a:t>, alle </a:t>
            </a:r>
            <a:r>
              <a:rPr dirty="0" err="1"/>
              <a:t>Entscheidungen</a:t>
            </a:r>
            <a:r>
              <a:rPr dirty="0"/>
              <a:t> und die </a:t>
            </a:r>
            <a:r>
              <a:rPr dirty="0" err="1"/>
              <a:t>gesamte</a:t>
            </a:r>
            <a:r>
              <a:rPr dirty="0"/>
              <a:t> </a:t>
            </a:r>
            <a:r>
              <a:rPr dirty="0" err="1"/>
              <a:t>Umsetzung</a:t>
            </a:r>
            <a:r>
              <a:rPr dirty="0"/>
              <a:t> </a:t>
            </a:r>
            <a:r>
              <a:rPr dirty="0" err="1"/>
              <a:t>lagen</a:t>
            </a:r>
            <a:r>
              <a:rPr dirty="0"/>
              <a:t> </a:t>
            </a:r>
            <a:r>
              <a:rPr dirty="0" err="1"/>
              <a:t>bei</a:t>
            </a:r>
            <a:r>
              <a:rPr dirty="0"/>
              <a:t> mir.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Kommen</a:t>
            </a:r>
            <a:r>
              <a:rPr dirty="0"/>
              <a:t> </a:t>
            </a:r>
            <a:r>
              <a:rPr dirty="0" err="1"/>
              <a:t>wir</a:t>
            </a:r>
            <a:r>
              <a:rPr dirty="0"/>
              <a:t> </a:t>
            </a:r>
            <a:r>
              <a:rPr dirty="0" err="1"/>
              <a:t>zum</a:t>
            </a:r>
            <a:r>
              <a:rPr dirty="0"/>
              <a:t> </a:t>
            </a:r>
            <a:r>
              <a:rPr dirty="0" err="1"/>
              <a:t>eigentlichen</a:t>
            </a:r>
            <a:r>
              <a:rPr dirty="0"/>
              <a:t> Problem. </a:t>
            </a:r>
            <a:endParaRPr lang="de-CH" dirty="0"/>
          </a:p>
          <a:p>
            <a:endParaRPr lang="en-US" dirty="0"/>
          </a:p>
          <a:p>
            <a:r>
              <a:rPr dirty="0" err="1"/>
              <a:t>Unsere</a:t>
            </a:r>
            <a:r>
              <a:rPr dirty="0"/>
              <a:t> Sprint-</a:t>
            </a:r>
            <a:r>
              <a:rPr dirty="0" err="1"/>
              <a:t>Planung</a:t>
            </a:r>
            <a:r>
              <a:rPr dirty="0"/>
              <a:t> lief </a:t>
            </a:r>
            <a:r>
              <a:rPr dirty="0" err="1"/>
              <a:t>bisher</a:t>
            </a:r>
            <a:r>
              <a:rPr dirty="0"/>
              <a:t> </a:t>
            </a:r>
            <a:r>
              <a:rPr dirty="0" err="1"/>
              <a:t>zweigeteilt</a:t>
            </a:r>
            <a:r>
              <a:rPr dirty="0"/>
              <a:t>: </a:t>
            </a:r>
            <a:endParaRPr lang="de-CH" dirty="0"/>
          </a:p>
          <a:p>
            <a:r>
              <a:rPr dirty="0"/>
              <a:t>Die Sprints </a:t>
            </a:r>
            <a:r>
              <a:rPr dirty="0" err="1"/>
              <a:t>selbst</a:t>
            </a:r>
            <a:r>
              <a:rPr dirty="0"/>
              <a:t> und die User Stories </a:t>
            </a:r>
            <a:r>
              <a:rPr dirty="0" err="1"/>
              <a:t>verwalteten</a:t>
            </a:r>
            <a:r>
              <a:rPr dirty="0"/>
              <a:t> </a:t>
            </a:r>
            <a:r>
              <a:rPr dirty="0" err="1"/>
              <a:t>wir</a:t>
            </a:r>
            <a:r>
              <a:rPr dirty="0"/>
              <a:t> in Jira, </a:t>
            </a:r>
            <a:endParaRPr lang="de-CH" dirty="0"/>
          </a:p>
          <a:p>
            <a:r>
              <a:rPr dirty="0"/>
              <a:t>die </a:t>
            </a:r>
            <a:r>
              <a:rPr dirty="0" err="1"/>
              <a:t>Kapazitätsplanung</a:t>
            </a:r>
            <a:r>
              <a:rPr dirty="0"/>
              <a:t> </a:t>
            </a:r>
            <a:r>
              <a:rPr dirty="0" err="1"/>
              <a:t>dagegen</a:t>
            </a:r>
            <a:r>
              <a:rPr dirty="0"/>
              <a:t> in Excel-</a:t>
            </a:r>
            <a:r>
              <a:rPr dirty="0" err="1"/>
              <a:t>Tabellen</a:t>
            </a:r>
            <a:r>
              <a:rPr dirty="0"/>
              <a:t>, </a:t>
            </a:r>
            <a:r>
              <a:rPr dirty="0" err="1"/>
              <a:t>verstreut</a:t>
            </a:r>
            <a:r>
              <a:rPr dirty="0"/>
              <a:t> </a:t>
            </a:r>
            <a:r>
              <a:rPr dirty="0" err="1"/>
              <a:t>über</a:t>
            </a:r>
            <a:r>
              <a:rPr dirty="0"/>
              <a:t> </a:t>
            </a:r>
            <a:r>
              <a:rPr dirty="0" err="1"/>
              <a:t>verschiedene</a:t>
            </a:r>
            <a:r>
              <a:rPr dirty="0"/>
              <a:t> SharePoint-Ordner. </a:t>
            </a:r>
            <a:endParaRPr lang="de-CH" dirty="0"/>
          </a:p>
          <a:p>
            <a:endParaRPr lang="en-US" dirty="0"/>
          </a:p>
          <a:p>
            <a:r>
              <a:rPr dirty="0"/>
              <a:t>Das hat </a:t>
            </a:r>
            <a:r>
              <a:rPr dirty="0" err="1"/>
              <a:t>funktioniert</a:t>
            </a:r>
            <a:r>
              <a:rPr dirty="0"/>
              <a:t>, </a:t>
            </a:r>
            <a:r>
              <a:rPr dirty="0" err="1"/>
              <a:t>aber</a:t>
            </a:r>
            <a:r>
              <a:rPr dirty="0"/>
              <a:t> </a:t>
            </a:r>
            <a:r>
              <a:rPr dirty="0" err="1"/>
              <a:t>ehrlich</a:t>
            </a:r>
            <a:r>
              <a:rPr dirty="0"/>
              <a:t> </a:t>
            </a:r>
            <a:r>
              <a:rPr dirty="0" err="1"/>
              <a:t>gesagt</a:t>
            </a:r>
            <a:r>
              <a:rPr dirty="0"/>
              <a:t> </a:t>
            </a:r>
            <a:r>
              <a:rPr dirty="0" err="1"/>
              <a:t>nur</a:t>
            </a:r>
            <a:r>
              <a:rPr dirty="0"/>
              <a:t> </a:t>
            </a:r>
            <a:r>
              <a:rPr dirty="0" err="1"/>
              <a:t>knapp</a:t>
            </a:r>
            <a:r>
              <a:rPr dirty="0"/>
              <a:t>. </a:t>
            </a:r>
            <a:endParaRPr lang="de-CH" dirty="0"/>
          </a:p>
          <a:p>
            <a:endParaRPr lang="en-US" dirty="0"/>
          </a:p>
          <a:p>
            <a:r>
              <a:rPr dirty="0"/>
              <a:t>Drei Dinge </a:t>
            </a:r>
            <a:r>
              <a:rPr dirty="0" err="1"/>
              <a:t>fehlten</a:t>
            </a:r>
            <a:r>
              <a:rPr dirty="0"/>
              <a:t> </a:t>
            </a:r>
            <a:r>
              <a:rPr dirty="0" err="1"/>
              <a:t>uns</a:t>
            </a:r>
            <a:r>
              <a:rPr dirty="0"/>
              <a:t> </a:t>
            </a:r>
            <a:r>
              <a:rPr dirty="0" err="1"/>
              <a:t>systematisch</a:t>
            </a:r>
            <a:r>
              <a:rPr dirty="0"/>
              <a:t>. </a:t>
            </a:r>
            <a:r>
              <a:rPr dirty="0" err="1"/>
              <a:t>Erstens</a:t>
            </a:r>
            <a:r>
              <a:rPr dirty="0"/>
              <a:t>: </a:t>
            </a:r>
            <a:endParaRPr lang="de-CH" dirty="0"/>
          </a:p>
          <a:p>
            <a:r>
              <a:rPr lang="de-CH" dirty="0"/>
              <a:t>1. </a:t>
            </a:r>
            <a:r>
              <a:rPr dirty="0" err="1"/>
              <a:t>Historische</a:t>
            </a:r>
            <a:r>
              <a:rPr dirty="0"/>
              <a:t> Velocity-</a:t>
            </a:r>
            <a:r>
              <a:rPr dirty="0" err="1"/>
              <a:t>Daten</a:t>
            </a:r>
            <a:r>
              <a:rPr dirty="0"/>
              <a:t> </a:t>
            </a:r>
            <a:r>
              <a:rPr dirty="0" err="1"/>
              <a:t>lagen</a:t>
            </a:r>
            <a:r>
              <a:rPr dirty="0"/>
              <a:t> </a:t>
            </a:r>
            <a:r>
              <a:rPr dirty="0" err="1"/>
              <a:t>nirgends</a:t>
            </a:r>
            <a:r>
              <a:rPr dirty="0"/>
              <a:t> </a:t>
            </a:r>
            <a:r>
              <a:rPr dirty="0" err="1"/>
              <a:t>aufbereitet</a:t>
            </a:r>
            <a:r>
              <a:rPr dirty="0"/>
              <a:t> </a:t>
            </a:r>
            <a:r>
              <a:rPr dirty="0" err="1"/>
              <a:t>vor</a:t>
            </a:r>
            <a:r>
              <a:rPr dirty="0"/>
              <a:t> – </a:t>
            </a:r>
            <a:r>
              <a:rPr dirty="0" err="1"/>
              <a:t>wenn</a:t>
            </a:r>
            <a:r>
              <a:rPr dirty="0"/>
              <a:t> man </a:t>
            </a:r>
            <a:r>
              <a:rPr dirty="0" err="1"/>
              <a:t>wissen</a:t>
            </a:r>
            <a:r>
              <a:rPr dirty="0"/>
              <a:t> </a:t>
            </a:r>
            <a:r>
              <a:rPr dirty="0" err="1"/>
              <a:t>wollte</a:t>
            </a:r>
            <a:r>
              <a:rPr dirty="0"/>
              <a:t>, </a:t>
            </a:r>
            <a:r>
              <a:rPr dirty="0" err="1"/>
              <a:t>wie</a:t>
            </a:r>
            <a:r>
              <a:rPr dirty="0"/>
              <a:t> </a:t>
            </a:r>
            <a:r>
              <a:rPr dirty="0" err="1"/>
              <a:t>viel</a:t>
            </a:r>
            <a:r>
              <a:rPr dirty="0"/>
              <a:t> das Team in den </a:t>
            </a:r>
            <a:r>
              <a:rPr dirty="0" err="1"/>
              <a:t>letzten</a:t>
            </a:r>
            <a:r>
              <a:rPr dirty="0"/>
              <a:t> Sprints </a:t>
            </a:r>
            <a:r>
              <a:rPr dirty="0" err="1"/>
              <a:t>tatsächlich</a:t>
            </a:r>
            <a:r>
              <a:rPr dirty="0"/>
              <a:t> </a:t>
            </a:r>
            <a:r>
              <a:rPr dirty="0" err="1"/>
              <a:t>geschafft</a:t>
            </a:r>
            <a:r>
              <a:rPr dirty="0"/>
              <a:t> hat, </a:t>
            </a:r>
            <a:endParaRPr lang="de-CH" dirty="0"/>
          </a:p>
          <a:p>
            <a:endParaRPr lang="de-CH" dirty="0"/>
          </a:p>
          <a:p>
            <a:r>
              <a:rPr lang="de-CH" dirty="0"/>
              <a:t>2. </a:t>
            </a:r>
            <a:r>
              <a:rPr dirty="0" err="1"/>
              <a:t>Zweitens</a:t>
            </a:r>
            <a:r>
              <a:rPr dirty="0"/>
              <a:t>: Die </a:t>
            </a:r>
            <a:r>
              <a:rPr dirty="0" err="1"/>
              <a:t>individuelle</a:t>
            </a:r>
            <a:r>
              <a:rPr dirty="0"/>
              <a:t> </a:t>
            </a:r>
            <a:r>
              <a:rPr dirty="0" err="1"/>
              <a:t>Kapazität</a:t>
            </a:r>
            <a:r>
              <a:rPr dirty="0"/>
              <a:t> – also </a:t>
            </a:r>
            <a:r>
              <a:rPr dirty="0" err="1"/>
              <a:t>Ferien</a:t>
            </a:r>
            <a:r>
              <a:rPr dirty="0"/>
              <a:t>, </a:t>
            </a:r>
            <a:r>
              <a:rPr dirty="0" err="1"/>
              <a:t>Teilzeitpensen</a:t>
            </a:r>
            <a:r>
              <a:rPr dirty="0"/>
              <a:t>, interne Projekte – floss </a:t>
            </a:r>
            <a:r>
              <a:rPr dirty="0" err="1"/>
              <a:t>nur</a:t>
            </a:r>
            <a:r>
              <a:rPr dirty="0"/>
              <a:t> </a:t>
            </a:r>
            <a:r>
              <a:rPr dirty="0" err="1"/>
              <a:t>informell</a:t>
            </a:r>
            <a:r>
              <a:rPr dirty="0"/>
              <a:t> in die </a:t>
            </a:r>
            <a:r>
              <a:rPr dirty="0" err="1"/>
              <a:t>Planung</a:t>
            </a:r>
            <a:r>
              <a:rPr dirty="0"/>
              <a:t> </a:t>
            </a:r>
            <a:r>
              <a:rPr dirty="0" err="1"/>
              <a:t>ein</a:t>
            </a:r>
            <a:r>
              <a:rPr dirty="0"/>
              <a:t>, </a:t>
            </a:r>
            <a:r>
              <a:rPr dirty="0" err="1"/>
              <a:t>meist</a:t>
            </a:r>
            <a:r>
              <a:rPr dirty="0"/>
              <a:t> </a:t>
            </a:r>
            <a:r>
              <a:rPr dirty="0" err="1"/>
              <a:t>im</a:t>
            </a:r>
            <a:r>
              <a:rPr dirty="0"/>
              <a:t> Kopf des Scrum Masters. </a:t>
            </a:r>
            <a:endParaRPr lang="de-CH" dirty="0"/>
          </a:p>
          <a:p>
            <a:endParaRPr lang="en-US" dirty="0"/>
          </a:p>
          <a:p>
            <a:r>
              <a:rPr lang="en-US" dirty="0"/>
              <a:t>3. </a:t>
            </a:r>
            <a:r>
              <a:rPr dirty="0"/>
              <a:t>Und </a:t>
            </a:r>
            <a:r>
              <a:rPr dirty="0" err="1"/>
              <a:t>drittens</a:t>
            </a:r>
            <a:r>
              <a:rPr dirty="0"/>
              <a:t>, </a:t>
            </a:r>
            <a:r>
              <a:rPr dirty="0" err="1"/>
              <a:t>als</a:t>
            </a:r>
            <a:r>
              <a:rPr dirty="0"/>
              <a:t> </a:t>
            </a:r>
            <a:r>
              <a:rPr dirty="0" err="1"/>
              <a:t>Konsequenz</a:t>
            </a:r>
            <a:r>
              <a:rPr dirty="0"/>
              <a:t> </a:t>
            </a:r>
            <a:r>
              <a:rPr dirty="0" err="1"/>
              <a:t>daraus</a:t>
            </a:r>
            <a:r>
              <a:rPr dirty="0"/>
              <a:t>: Wenn </a:t>
            </a:r>
            <a:r>
              <a:rPr dirty="0" err="1"/>
              <a:t>im</a:t>
            </a:r>
            <a:r>
              <a:rPr dirty="0"/>
              <a:t> Planning die Frage </a:t>
            </a:r>
            <a:r>
              <a:rPr dirty="0" err="1"/>
              <a:t>kam</a:t>
            </a:r>
            <a:r>
              <a:rPr dirty="0"/>
              <a:t>, </a:t>
            </a:r>
            <a:r>
              <a:rPr dirty="0" err="1"/>
              <a:t>wie</a:t>
            </a:r>
            <a:r>
              <a:rPr dirty="0"/>
              <a:t> </a:t>
            </a:r>
            <a:r>
              <a:rPr dirty="0" err="1"/>
              <a:t>viele</a:t>
            </a:r>
            <a:r>
              <a:rPr dirty="0"/>
              <a:t> Story Points </a:t>
            </a:r>
            <a:r>
              <a:rPr dirty="0" err="1"/>
              <a:t>wir</a:t>
            </a:r>
            <a:r>
              <a:rPr dirty="0"/>
              <a:t> </a:t>
            </a:r>
            <a:r>
              <a:rPr dirty="0" err="1"/>
              <a:t>realistisch</a:t>
            </a:r>
            <a:r>
              <a:rPr dirty="0"/>
              <a:t> </a:t>
            </a:r>
            <a:r>
              <a:rPr dirty="0" err="1"/>
              <a:t>schaffen</a:t>
            </a:r>
            <a:r>
              <a:rPr dirty="0"/>
              <a:t>, </a:t>
            </a:r>
            <a:r>
              <a:rPr dirty="0" err="1"/>
              <a:t>konnte</a:t>
            </a:r>
            <a:r>
              <a:rPr dirty="0"/>
              <a:t> das </a:t>
            </a:r>
            <a:r>
              <a:rPr dirty="0" err="1"/>
              <a:t>niemand</a:t>
            </a:r>
            <a:r>
              <a:rPr dirty="0"/>
              <a:t> </a:t>
            </a:r>
            <a:r>
              <a:rPr dirty="0" err="1"/>
              <a:t>datenbasiert</a:t>
            </a:r>
            <a:r>
              <a:rPr dirty="0"/>
              <a:t> </a:t>
            </a:r>
            <a:r>
              <a:rPr dirty="0" err="1"/>
              <a:t>beantworten</a:t>
            </a:r>
            <a:r>
              <a:rPr dirty="0"/>
              <a:t>. Man hat </a:t>
            </a:r>
            <a:r>
              <a:rPr dirty="0" err="1"/>
              <a:t>sich</a:t>
            </a:r>
            <a:r>
              <a:rPr dirty="0"/>
              <a:t> die </a:t>
            </a:r>
            <a:r>
              <a:rPr dirty="0" err="1"/>
              <a:t>Antwort</a:t>
            </a:r>
            <a:r>
              <a:rPr dirty="0"/>
              <a:t> </a:t>
            </a:r>
            <a:r>
              <a:rPr dirty="0" err="1"/>
              <a:t>mehr</a:t>
            </a:r>
            <a:r>
              <a:rPr dirty="0"/>
              <a:t> </a:t>
            </a:r>
            <a:r>
              <a:rPr dirty="0" err="1"/>
              <a:t>oder</a:t>
            </a:r>
            <a:r>
              <a:rPr dirty="0"/>
              <a:t> </a:t>
            </a:r>
            <a:r>
              <a:rPr dirty="0" err="1"/>
              <a:t>weniger</a:t>
            </a:r>
            <a:r>
              <a:rPr dirty="0"/>
              <a:t> </a:t>
            </a:r>
            <a:r>
              <a:rPr dirty="0" err="1"/>
              <a:t>zusammengereimt</a:t>
            </a:r>
            <a:r>
              <a:rPr dirty="0"/>
              <a:t>. </a:t>
            </a:r>
            <a:endParaRPr lang="de-CH" dirty="0"/>
          </a:p>
          <a:p>
            <a:r>
              <a:rPr dirty="0"/>
              <a:t>Die </a:t>
            </a:r>
            <a:r>
              <a:rPr dirty="0" err="1"/>
              <a:t>Folgen</a:t>
            </a:r>
            <a:r>
              <a:rPr dirty="0"/>
              <a:t> </a:t>
            </a:r>
            <a:r>
              <a:rPr dirty="0" err="1"/>
              <a:t>waren</a:t>
            </a:r>
            <a:r>
              <a:rPr dirty="0"/>
              <a:t> </a:t>
            </a:r>
            <a:r>
              <a:rPr dirty="0" err="1"/>
              <a:t>spürbar</a:t>
            </a:r>
            <a:r>
              <a:rPr dirty="0"/>
              <a:t>: Wir </a:t>
            </a:r>
            <a:r>
              <a:rPr dirty="0" err="1"/>
              <a:t>haben</a:t>
            </a:r>
            <a:r>
              <a:rPr dirty="0"/>
              <a:t> </a:t>
            </a:r>
            <a:r>
              <a:rPr dirty="0" err="1"/>
              <a:t>regelmässig</a:t>
            </a:r>
            <a:r>
              <a:rPr dirty="0"/>
              <a:t> </a:t>
            </a:r>
            <a:r>
              <a:rPr dirty="0" err="1"/>
              <a:t>zu</a:t>
            </a:r>
            <a:r>
              <a:rPr dirty="0"/>
              <a:t> </a:t>
            </a:r>
            <a:r>
              <a:rPr dirty="0" err="1"/>
              <a:t>viel</a:t>
            </a:r>
            <a:r>
              <a:rPr dirty="0"/>
              <a:t> </a:t>
            </a:r>
            <a:r>
              <a:rPr dirty="0" err="1"/>
              <a:t>oder</a:t>
            </a:r>
            <a:r>
              <a:rPr dirty="0"/>
              <a:t> </a:t>
            </a:r>
            <a:r>
              <a:rPr dirty="0" err="1"/>
              <a:t>zu</a:t>
            </a:r>
            <a:r>
              <a:rPr dirty="0"/>
              <a:t> </a:t>
            </a:r>
            <a:r>
              <a:rPr dirty="0" err="1"/>
              <a:t>wenig</a:t>
            </a:r>
            <a:r>
              <a:rPr dirty="0"/>
              <a:t> </a:t>
            </a:r>
            <a:r>
              <a:rPr dirty="0" err="1"/>
              <a:t>eingeplant</a:t>
            </a:r>
            <a:r>
              <a:rPr dirty="0"/>
              <a:t>, </a:t>
            </a:r>
            <a:r>
              <a:rPr dirty="0" err="1"/>
              <a:t>dadurch</a:t>
            </a:r>
            <a:r>
              <a:rPr dirty="0"/>
              <a:t> Sprint-</a:t>
            </a:r>
            <a:r>
              <a:rPr dirty="0" err="1"/>
              <a:t>Ziele</a:t>
            </a:r>
            <a:r>
              <a:rPr dirty="0"/>
              <a:t> </a:t>
            </a:r>
            <a:r>
              <a:rPr dirty="0" err="1"/>
              <a:t>verfehlt</a:t>
            </a:r>
            <a:r>
              <a:rPr dirty="0"/>
              <a:t>, und es </a:t>
            </a:r>
            <a:r>
              <a:rPr dirty="0" err="1"/>
              <a:t>entstand</a:t>
            </a:r>
            <a:r>
              <a:rPr dirty="0"/>
              <a:t> </a:t>
            </a:r>
            <a:r>
              <a:rPr dirty="0" err="1"/>
              <a:t>unnötiger</a:t>
            </a:r>
            <a:r>
              <a:rPr dirty="0"/>
              <a:t> </a:t>
            </a:r>
            <a:r>
              <a:rPr dirty="0" err="1"/>
              <a:t>Abstimmungsaufwand</a:t>
            </a:r>
            <a:r>
              <a:rPr dirty="0"/>
              <a:t>. </a:t>
            </a:r>
            <a:r>
              <a:rPr dirty="0" err="1"/>
              <a:t>Genau</a:t>
            </a:r>
            <a:r>
              <a:rPr dirty="0"/>
              <a:t> </a:t>
            </a:r>
            <a:r>
              <a:rPr dirty="0" err="1"/>
              <a:t>hier</a:t>
            </a:r>
            <a:r>
              <a:rPr dirty="0"/>
              <a:t> </a:t>
            </a:r>
            <a:r>
              <a:rPr dirty="0" err="1"/>
              <a:t>setzt</a:t>
            </a:r>
            <a:r>
              <a:rPr dirty="0"/>
              <a:t> </a:t>
            </a:r>
            <a:r>
              <a:rPr dirty="0" err="1"/>
              <a:t>Sprintify</a:t>
            </a:r>
            <a:r>
              <a:rPr dirty="0"/>
              <a:t> an.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Aus </a:t>
            </a:r>
            <a:r>
              <a:rPr lang="de-CH" dirty="0"/>
              <a:t> Problem -&gt;</a:t>
            </a:r>
            <a:r>
              <a:rPr dirty="0"/>
              <a:t> </a:t>
            </a:r>
            <a:r>
              <a:rPr dirty="0" err="1"/>
              <a:t>konkreter</a:t>
            </a:r>
            <a:r>
              <a:rPr dirty="0"/>
              <a:t> </a:t>
            </a:r>
            <a:r>
              <a:rPr dirty="0" err="1"/>
              <a:t>Auftrag</a:t>
            </a:r>
            <a:r>
              <a:rPr dirty="0"/>
              <a:t>, </a:t>
            </a:r>
            <a:endParaRPr lang="de-CH" dirty="0"/>
          </a:p>
          <a:p>
            <a:endParaRPr lang="en-US" dirty="0"/>
          </a:p>
          <a:p>
            <a:r>
              <a:rPr dirty="0" err="1"/>
              <a:t>fünf</a:t>
            </a:r>
            <a:r>
              <a:rPr dirty="0"/>
              <a:t> </a:t>
            </a:r>
            <a:r>
              <a:rPr dirty="0" err="1"/>
              <a:t>Punkten</a:t>
            </a:r>
            <a:r>
              <a:rPr dirty="0"/>
              <a:t>. </a:t>
            </a:r>
            <a:endParaRPr lang="de-CH" dirty="0"/>
          </a:p>
          <a:p>
            <a:endParaRPr lang="en-US" dirty="0"/>
          </a:p>
          <a:p>
            <a:pPr marL="228600" indent="-228600">
              <a:buAutoNum type="arabicPeriod"/>
            </a:pPr>
            <a:r>
              <a:rPr dirty="0" err="1"/>
              <a:t>Erstens</a:t>
            </a:r>
            <a:r>
              <a:rPr dirty="0"/>
              <a:t>: </a:t>
            </a:r>
            <a:r>
              <a:rPr dirty="0" err="1"/>
              <a:t>Sprintify</a:t>
            </a:r>
            <a:r>
              <a:rPr dirty="0"/>
              <a:t> </a:t>
            </a:r>
            <a:r>
              <a:rPr dirty="0" err="1"/>
              <a:t>soll</a:t>
            </a:r>
            <a:r>
              <a:rPr dirty="0"/>
              <a:t> Sprints, User Stories und </a:t>
            </a:r>
            <a:r>
              <a:rPr dirty="0" err="1"/>
              <a:t>Teammitglieder</a:t>
            </a:r>
            <a:r>
              <a:rPr dirty="0"/>
              <a:t> </a:t>
            </a:r>
            <a:r>
              <a:rPr dirty="0" err="1"/>
              <a:t>automatisch</a:t>
            </a:r>
            <a:r>
              <a:rPr dirty="0"/>
              <a:t> </a:t>
            </a:r>
            <a:r>
              <a:rPr dirty="0" err="1"/>
              <a:t>aus</a:t>
            </a:r>
            <a:r>
              <a:rPr dirty="0"/>
              <a:t> Jira </a:t>
            </a:r>
            <a:r>
              <a:rPr dirty="0" err="1"/>
              <a:t>übernehmen</a:t>
            </a:r>
            <a:r>
              <a:rPr dirty="0"/>
              <a:t> – </a:t>
            </a:r>
            <a:r>
              <a:rPr dirty="0" err="1"/>
              <a:t>niemand</a:t>
            </a:r>
            <a:r>
              <a:rPr dirty="0"/>
              <a:t> </a:t>
            </a:r>
            <a:r>
              <a:rPr dirty="0" err="1"/>
              <a:t>soll</a:t>
            </a:r>
            <a:r>
              <a:rPr dirty="0"/>
              <a:t> </a:t>
            </a:r>
            <a:r>
              <a:rPr dirty="0" err="1"/>
              <a:t>Daten</a:t>
            </a:r>
            <a:r>
              <a:rPr dirty="0"/>
              <a:t> </a:t>
            </a:r>
            <a:r>
              <a:rPr dirty="0" err="1"/>
              <a:t>doppelt</a:t>
            </a:r>
            <a:r>
              <a:rPr dirty="0"/>
              <a:t> </a:t>
            </a:r>
            <a:r>
              <a:rPr dirty="0" err="1"/>
              <a:t>pflegen</a:t>
            </a:r>
            <a:r>
              <a:rPr dirty="0"/>
              <a:t>. </a:t>
            </a:r>
            <a:endParaRPr lang="de-CH" dirty="0"/>
          </a:p>
          <a:p>
            <a:pPr marL="228600" indent="-228600">
              <a:buAutoNum type="arabicPeriod"/>
            </a:pPr>
            <a:r>
              <a:rPr dirty="0" err="1"/>
              <a:t>Zweitens</a:t>
            </a:r>
            <a:r>
              <a:rPr dirty="0"/>
              <a:t>: </a:t>
            </a:r>
            <a:r>
              <a:rPr dirty="0" err="1"/>
              <a:t>eine</a:t>
            </a:r>
            <a:r>
              <a:rPr dirty="0"/>
              <a:t> </a:t>
            </a:r>
            <a:r>
              <a:rPr dirty="0" err="1"/>
              <a:t>Kapazitätsplanung</a:t>
            </a:r>
            <a:r>
              <a:rPr dirty="0"/>
              <a:t> pro Person und Sprint, und </a:t>
            </a:r>
            <a:r>
              <a:rPr dirty="0" err="1"/>
              <a:t>zwar</a:t>
            </a:r>
            <a:r>
              <a:rPr dirty="0"/>
              <a:t> </a:t>
            </a:r>
            <a:r>
              <a:rPr dirty="0" err="1"/>
              <a:t>wochenweise</a:t>
            </a:r>
            <a:r>
              <a:rPr dirty="0"/>
              <a:t>, </a:t>
            </a:r>
            <a:r>
              <a:rPr dirty="0" err="1"/>
              <a:t>weil</a:t>
            </a:r>
            <a:r>
              <a:rPr dirty="0"/>
              <a:t> </a:t>
            </a:r>
            <a:r>
              <a:rPr dirty="0" err="1"/>
              <a:t>ein</a:t>
            </a:r>
            <a:r>
              <a:rPr dirty="0"/>
              <a:t> </a:t>
            </a:r>
            <a:r>
              <a:rPr dirty="0" err="1"/>
              <a:t>zweiwöchiger</a:t>
            </a:r>
            <a:r>
              <a:rPr dirty="0"/>
              <a:t> Sprint </a:t>
            </a:r>
            <a:r>
              <a:rPr dirty="0" err="1"/>
              <a:t>eben</a:t>
            </a:r>
            <a:r>
              <a:rPr dirty="0"/>
              <a:t> </a:t>
            </a:r>
            <a:r>
              <a:rPr dirty="0" err="1"/>
              <a:t>aus</a:t>
            </a:r>
            <a:r>
              <a:rPr dirty="0"/>
              <a:t> </a:t>
            </a:r>
            <a:r>
              <a:rPr dirty="0" err="1"/>
              <a:t>zwei</a:t>
            </a:r>
            <a:r>
              <a:rPr dirty="0"/>
              <a:t> </a:t>
            </a:r>
            <a:r>
              <a:rPr dirty="0" err="1"/>
              <a:t>Wochen</a:t>
            </a:r>
            <a:r>
              <a:rPr dirty="0"/>
              <a:t> </a:t>
            </a:r>
            <a:r>
              <a:rPr dirty="0" err="1"/>
              <a:t>mit</a:t>
            </a:r>
            <a:r>
              <a:rPr dirty="0"/>
              <a:t> </a:t>
            </a:r>
            <a:r>
              <a:rPr dirty="0" err="1"/>
              <a:t>möglicherweise</a:t>
            </a:r>
            <a:r>
              <a:rPr dirty="0"/>
              <a:t> </a:t>
            </a:r>
            <a:r>
              <a:rPr dirty="0" err="1"/>
              <a:t>unterschiedlicher</a:t>
            </a:r>
            <a:r>
              <a:rPr dirty="0"/>
              <a:t> </a:t>
            </a:r>
            <a:r>
              <a:rPr dirty="0" err="1"/>
              <a:t>Verfügbarkeit</a:t>
            </a:r>
            <a:r>
              <a:rPr dirty="0"/>
              <a:t> </a:t>
            </a:r>
            <a:r>
              <a:rPr dirty="0" err="1"/>
              <a:t>besteht</a:t>
            </a:r>
            <a:r>
              <a:rPr dirty="0"/>
              <a:t>. </a:t>
            </a:r>
            <a:endParaRPr lang="de-CH" dirty="0"/>
          </a:p>
          <a:p>
            <a:pPr marL="228600" indent="-228600">
              <a:buAutoNum type="arabicPeriod"/>
            </a:pPr>
            <a:r>
              <a:rPr dirty="0" err="1"/>
              <a:t>Drittens</a:t>
            </a:r>
            <a:r>
              <a:rPr dirty="0"/>
              <a:t>: Sprint Analytics </a:t>
            </a:r>
            <a:r>
              <a:rPr dirty="0" err="1"/>
              <a:t>mit</a:t>
            </a:r>
            <a:r>
              <a:rPr dirty="0"/>
              <a:t> Burndown-Chart, Velocity-</a:t>
            </a:r>
            <a:r>
              <a:rPr dirty="0" err="1"/>
              <a:t>Verlauf</a:t>
            </a:r>
            <a:r>
              <a:rPr dirty="0"/>
              <a:t> und dem </a:t>
            </a:r>
            <a:r>
              <a:rPr dirty="0" err="1"/>
              <a:t>Nachverfolgen</a:t>
            </a:r>
            <a:r>
              <a:rPr dirty="0"/>
              <a:t> von Scope-</a:t>
            </a:r>
            <a:r>
              <a:rPr dirty="0" err="1"/>
              <a:t>Änderungen</a:t>
            </a:r>
            <a:r>
              <a:rPr dirty="0"/>
              <a:t>. </a:t>
            </a:r>
            <a:endParaRPr lang="de-CH" dirty="0"/>
          </a:p>
          <a:p>
            <a:pPr marL="228600" indent="-228600">
              <a:buAutoNum type="arabicPeriod"/>
            </a:pPr>
            <a:r>
              <a:rPr dirty="0" err="1"/>
              <a:t>Viertens</a:t>
            </a:r>
            <a:r>
              <a:rPr dirty="0"/>
              <a:t> – und das </a:t>
            </a:r>
            <a:r>
              <a:rPr dirty="0" err="1"/>
              <a:t>ist</a:t>
            </a:r>
            <a:r>
              <a:rPr dirty="0"/>
              <a:t> der </a:t>
            </a:r>
            <a:r>
              <a:rPr dirty="0" err="1"/>
              <a:t>eigentliche</a:t>
            </a:r>
            <a:r>
              <a:rPr dirty="0"/>
              <a:t> Kern und das Neue an der </a:t>
            </a:r>
            <a:r>
              <a:rPr dirty="0" err="1"/>
              <a:t>Lösung</a:t>
            </a:r>
            <a:r>
              <a:rPr dirty="0"/>
              <a:t>: </a:t>
            </a:r>
            <a:r>
              <a:rPr dirty="0" err="1"/>
              <a:t>eine</a:t>
            </a:r>
            <a:r>
              <a:rPr dirty="0"/>
              <a:t> Story-Point-</a:t>
            </a:r>
            <a:r>
              <a:rPr dirty="0" err="1"/>
              <a:t>Empfehlung</a:t>
            </a:r>
            <a:r>
              <a:rPr dirty="0"/>
              <a:t>, die die </a:t>
            </a:r>
            <a:r>
              <a:rPr dirty="0" err="1"/>
              <a:t>historische</a:t>
            </a:r>
            <a:r>
              <a:rPr dirty="0"/>
              <a:t> Velocity </a:t>
            </a:r>
            <a:r>
              <a:rPr dirty="0" err="1"/>
              <a:t>mit</a:t>
            </a:r>
            <a:r>
              <a:rPr dirty="0"/>
              <a:t> der </a:t>
            </a:r>
            <a:r>
              <a:rPr dirty="0" err="1"/>
              <a:t>aktuell</a:t>
            </a:r>
            <a:r>
              <a:rPr dirty="0"/>
              <a:t> </a:t>
            </a:r>
            <a:r>
              <a:rPr dirty="0" err="1"/>
              <a:t>verfügbaren</a:t>
            </a:r>
            <a:r>
              <a:rPr dirty="0"/>
              <a:t> </a:t>
            </a:r>
            <a:r>
              <a:rPr dirty="0" err="1"/>
              <a:t>Kapazität</a:t>
            </a:r>
            <a:r>
              <a:rPr dirty="0"/>
              <a:t> </a:t>
            </a:r>
            <a:r>
              <a:rPr dirty="0" err="1"/>
              <a:t>kombiniert</a:t>
            </a:r>
            <a:r>
              <a:rPr dirty="0"/>
              <a:t>. </a:t>
            </a:r>
            <a:endParaRPr lang="de-CH" dirty="0"/>
          </a:p>
          <a:p>
            <a:pPr marL="228600" indent="-228600">
              <a:buAutoNum type="arabicPeriod"/>
            </a:pPr>
            <a:r>
              <a:rPr dirty="0"/>
              <a:t>Und </a:t>
            </a:r>
            <a:r>
              <a:rPr dirty="0" err="1"/>
              <a:t>fünftens</a:t>
            </a:r>
            <a:r>
              <a:rPr dirty="0"/>
              <a:t> </a:t>
            </a:r>
            <a:r>
              <a:rPr dirty="0" err="1"/>
              <a:t>eine</a:t>
            </a:r>
            <a:r>
              <a:rPr dirty="0"/>
              <a:t> </a:t>
            </a:r>
            <a:r>
              <a:rPr dirty="0" err="1"/>
              <a:t>rollenbasierte</a:t>
            </a:r>
            <a:r>
              <a:rPr dirty="0"/>
              <a:t> </a:t>
            </a:r>
            <a:r>
              <a:rPr dirty="0" err="1"/>
              <a:t>Zugriffskontrolle</a:t>
            </a:r>
            <a:r>
              <a:rPr dirty="0"/>
              <a:t>, </a:t>
            </a:r>
            <a:r>
              <a:rPr dirty="0" err="1"/>
              <a:t>damit</a:t>
            </a:r>
            <a:r>
              <a:rPr dirty="0"/>
              <a:t> </a:t>
            </a:r>
            <a:r>
              <a:rPr dirty="0" err="1"/>
              <a:t>klar</a:t>
            </a:r>
            <a:r>
              <a:rPr dirty="0"/>
              <a:t> </a:t>
            </a:r>
            <a:r>
              <a:rPr dirty="0" err="1"/>
              <a:t>ist</a:t>
            </a:r>
            <a:r>
              <a:rPr dirty="0"/>
              <a:t>, </a:t>
            </a:r>
            <a:r>
              <a:rPr dirty="0" err="1"/>
              <a:t>wer</a:t>
            </a:r>
            <a:r>
              <a:rPr dirty="0"/>
              <a:t> was </a:t>
            </a:r>
            <a:r>
              <a:rPr dirty="0" err="1"/>
              <a:t>darf</a:t>
            </a:r>
            <a:r>
              <a:rPr dirty="0"/>
              <a:t>. </a:t>
            </a:r>
            <a:endParaRPr lang="de-CH" dirty="0"/>
          </a:p>
          <a:p>
            <a:pPr marL="228600" indent="-228600">
              <a:buAutoNum type="arabicPeriod"/>
            </a:pPr>
            <a:endParaRPr lang="en-US" dirty="0"/>
          </a:p>
          <a:p>
            <a:pPr marL="228600" indent="-228600">
              <a:buAutoNum type="arabicPeriod"/>
            </a:pPr>
            <a:r>
              <a:rPr dirty="0"/>
              <a:t>Die </a:t>
            </a:r>
            <a:r>
              <a:rPr dirty="0" err="1"/>
              <a:t>Rahmenbedingungen</a:t>
            </a:r>
            <a:r>
              <a:rPr dirty="0"/>
              <a:t> </a:t>
            </a:r>
            <a:r>
              <a:rPr dirty="0" err="1"/>
              <a:t>waren</a:t>
            </a:r>
            <a:r>
              <a:rPr dirty="0"/>
              <a:t>: Deployment in der Azure-Cloud, </a:t>
            </a:r>
            <a:r>
              <a:rPr dirty="0" err="1"/>
              <a:t>Umsetzung</a:t>
            </a:r>
            <a:r>
              <a:rPr dirty="0"/>
              <a:t> </a:t>
            </a:r>
            <a:r>
              <a:rPr dirty="0" err="1"/>
              <a:t>als</a:t>
            </a:r>
            <a:r>
              <a:rPr dirty="0"/>
              <a:t> Ein-Mann-Projekt, und </a:t>
            </a:r>
            <a:r>
              <a:rPr dirty="0" err="1"/>
              <a:t>ein</a:t>
            </a:r>
            <a:r>
              <a:rPr dirty="0"/>
              <a:t> </a:t>
            </a:r>
            <a:r>
              <a:rPr dirty="0" err="1"/>
              <a:t>Zeitrahmen</a:t>
            </a:r>
            <a:r>
              <a:rPr dirty="0"/>
              <a:t> von </a:t>
            </a:r>
            <a:r>
              <a:rPr dirty="0" err="1"/>
              <a:t>rund</a:t>
            </a:r>
            <a:r>
              <a:rPr dirty="0"/>
              <a:t> </a:t>
            </a:r>
            <a:r>
              <a:rPr dirty="0" err="1"/>
              <a:t>acht</a:t>
            </a:r>
            <a:r>
              <a:rPr dirty="0"/>
              <a:t> </a:t>
            </a:r>
            <a:r>
              <a:rPr dirty="0" err="1"/>
              <a:t>Monaten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Bevor ich </a:t>
            </a:r>
            <a:r>
              <a:rPr dirty="0" err="1"/>
              <a:t>selbst</a:t>
            </a:r>
            <a:r>
              <a:rPr dirty="0"/>
              <a:t> </a:t>
            </a:r>
            <a:r>
              <a:rPr dirty="0" err="1"/>
              <a:t>etwas</a:t>
            </a:r>
            <a:r>
              <a:rPr dirty="0"/>
              <a:t> </a:t>
            </a:r>
            <a:r>
              <a:rPr dirty="0" err="1"/>
              <a:t>gebaut</a:t>
            </a:r>
            <a:r>
              <a:rPr dirty="0"/>
              <a:t> </a:t>
            </a:r>
            <a:r>
              <a:rPr dirty="0" err="1"/>
              <a:t>habe</a:t>
            </a:r>
            <a:r>
              <a:rPr dirty="0"/>
              <a:t>, </a:t>
            </a:r>
            <a:r>
              <a:rPr dirty="0" err="1"/>
              <a:t>habe</a:t>
            </a:r>
            <a:r>
              <a:rPr dirty="0"/>
              <a:t> ich den Markt </a:t>
            </a:r>
            <a:r>
              <a:rPr dirty="0" err="1"/>
              <a:t>evaluiert</a:t>
            </a:r>
            <a:endParaRPr lang="de-CH" dirty="0"/>
          </a:p>
          <a:p>
            <a:endParaRPr lang="en-US" dirty="0"/>
          </a:p>
          <a:p>
            <a:r>
              <a:rPr dirty="0" err="1"/>
              <a:t>denn</a:t>
            </a:r>
            <a:r>
              <a:rPr dirty="0"/>
              <a:t> </a:t>
            </a:r>
            <a:r>
              <a:rPr dirty="0" err="1"/>
              <a:t>eine</a:t>
            </a:r>
            <a:r>
              <a:rPr dirty="0"/>
              <a:t> </a:t>
            </a:r>
            <a:r>
              <a:rPr dirty="0" err="1"/>
              <a:t>eigene</a:t>
            </a:r>
            <a:r>
              <a:rPr dirty="0"/>
              <a:t> </a:t>
            </a:r>
            <a:r>
              <a:rPr dirty="0" err="1"/>
              <a:t>Entwicklung</a:t>
            </a:r>
            <a:r>
              <a:rPr dirty="0"/>
              <a:t> muss man </a:t>
            </a:r>
            <a:r>
              <a:rPr dirty="0" err="1"/>
              <a:t>rechtfertigen</a:t>
            </a:r>
            <a:r>
              <a:rPr dirty="0"/>
              <a:t>, </a:t>
            </a:r>
            <a:r>
              <a:rPr dirty="0" err="1"/>
              <a:t>wenn</a:t>
            </a:r>
            <a:r>
              <a:rPr dirty="0"/>
              <a:t> es </a:t>
            </a:r>
            <a:r>
              <a:rPr dirty="0" err="1"/>
              <a:t>fertige</a:t>
            </a:r>
            <a:r>
              <a:rPr dirty="0"/>
              <a:t> </a:t>
            </a:r>
            <a:r>
              <a:rPr dirty="0" err="1"/>
              <a:t>Produkte</a:t>
            </a:r>
            <a:r>
              <a:rPr dirty="0"/>
              <a:t> </a:t>
            </a:r>
            <a:r>
              <a:rPr dirty="0" err="1"/>
              <a:t>gibt</a:t>
            </a:r>
            <a:r>
              <a:rPr dirty="0"/>
              <a:t>.</a:t>
            </a:r>
            <a:endParaRPr lang="de-CH" dirty="0"/>
          </a:p>
          <a:p>
            <a:endParaRPr lang="en-US" dirty="0"/>
          </a:p>
          <a:p>
            <a:r>
              <a:rPr dirty="0"/>
              <a:t>Ich </a:t>
            </a:r>
            <a:r>
              <a:rPr dirty="0" err="1"/>
              <a:t>habe</a:t>
            </a:r>
            <a:r>
              <a:rPr dirty="0"/>
              <a:t> </a:t>
            </a:r>
            <a:r>
              <a:rPr dirty="0" err="1"/>
              <a:t>drei</a:t>
            </a:r>
            <a:r>
              <a:rPr dirty="0"/>
              <a:t> </a:t>
            </a:r>
            <a:r>
              <a:rPr dirty="0" err="1"/>
              <a:t>etablierte</a:t>
            </a:r>
            <a:r>
              <a:rPr dirty="0"/>
              <a:t> Tools </a:t>
            </a:r>
            <a:r>
              <a:rPr dirty="0" err="1"/>
              <a:t>genauer</a:t>
            </a:r>
            <a:r>
              <a:rPr dirty="0"/>
              <a:t> </a:t>
            </a:r>
            <a:r>
              <a:rPr dirty="0" err="1"/>
              <a:t>angeschaut</a:t>
            </a:r>
            <a:r>
              <a:rPr dirty="0"/>
              <a:t>. </a:t>
            </a:r>
            <a:endParaRPr lang="de-CH" dirty="0"/>
          </a:p>
          <a:p>
            <a:r>
              <a:rPr lang="en-US" dirty="0"/>
              <a:t>1 </a:t>
            </a:r>
            <a:r>
              <a:rPr dirty="0"/>
              <a:t>Tempo Timesheets </a:t>
            </a:r>
            <a:r>
              <a:rPr dirty="0" err="1"/>
              <a:t>ist</a:t>
            </a:r>
            <a:r>
              <a:rPr dirty="0"/>
              <a:t> </a:t>
            </a:r>
            <a:r>
              <a:rPr dirty="0" err="1"/>
              <a:t>ein</a:t>
            </a:r>
            <a:r>
              <a:rPr dirty="0"/>
              <a:t> </a:t>
            </a:r>
            <a:r>
              <a:rPr dirty="0" err="1"/>
              <a:t>sehr</a:t>
            </a:r>
            <a:r>
              <a:rPr dirty="0"/>
              <a:t> </a:t>
            </a:r>
            <a:r>
              <a:rPr dirty="0" err="1"/>
              <a:t>verbreitetes</a:t>
            </a:r>
            <a:r>
              <a:rPr dirty="0"/>
              <a:t> Jira-Plugin, stark in der </a:t>
            </a:r>
            <a:r>
              <a:rPr dirty="0" err="1"/>
              <a:t>Zeiterfassung</a:t>
            </a:r>
            <a:r>
              <a:rPr dirty="0"/>
              <a:t> – </a:t>
            </a:r>
            <a:r>
              <a:rPr dirty="0" err="1"/>
              <a:t>aber</a:t>
            </a:r>
            <a:r>
              <a:rPr dirty="0"/>
              <a:t> es </a:t>
            </a:r>
            <a:r>
              <a:rPr dirty="0" err="1"/>
              <a:t>bietet</a:t>
            </a:r>
            <a:r>
              <a:rPr dirty="0"/>
              <a:t> </a:t>
            </a:r>
            <a:r>
              <a:rPr dirty="0" err="1"/>
              <a:t>keine</a:t>
            </a:r>
            <a:r>
              <a:rPr dirty="0"/>
              <a:t> </a:t>
            </a:r>
            <a:r>
              <a:rPr dirty="0" err="1"/>
              <a:t>wochenbasierte</a:t>
            </a:r>
            <a:r>
              <a:rPr dirty="0"/>
              <a:t>, </a:t>
            </a:r>
            <a:r>
              <a:rPr dirty="0" err="1"/>
              <a:t>vorausschauende</a:t>
            </a:r>
            <a:r>
              <a:rPr dirty="0"/>
              <a:t> </a:t>
            </a:r>
            <a:r>
              <a:rPr dirty="0" err="1"/>
              <a:t>Kapazitätsplanung</a:t>
            </a:r>
            <a:r>
              <a:rPr dirty="0"/>
              <a:t>. </a:t>
            </a:r>
            <a:endParaRPr lang="de-CH" dirty="0"/>
          </a:p>
          <a:p>
            <a:r>
              <a:rPr lang="en-US" dirty="0"/>
              <a:t>2. </a:t>
            </a:r>
            <a:r>
              <a:rPr dirty="0"/>
              <a:t>Jira Advanced Roadmaps, Teil von Jira Premium, </a:t>
            </a:r>
            <a:r>
              <a:rPr dirty="0" err="1"/>
              <a:t>kann</a:t>
            </a:r>
            <a:r>
              <a:rPr dirty="0"/>
              <a:t> Portfolio- und Roadmap-</a:t>
            </a:r>
            <a:r>
              <a:rPr dirty="0" err="1"/>
              <a:t>Planung</a:t>
            </a:r>
            <a:r>
              <a:rPr dirty="0"/>
              <a:t>, </a:t>
            </a:r>
            <a:r>
              <a:rPr dirty="0" err="1"/>
              <a:t>ist</a:t>
            </a:r>
            <a:r>
              <a:rPr dirty="0"/>
              <a:t> </a:t>
            </a:r>
            <a:r>
              <a:rPr dirty="0" err="1"/>
              <a:t>aber</a:t>
            </a:r>
            <a:r>
              <a:rPr dirty="0"/>
              <a:t> </a:t>
            </a:r>
            <a:r>
              <a:rPr dirty="0" err="1"/>
              <a:t>vergleichsweise</a:t>
            </a:r>
            <a:r>
              <a:rPr dirty="0"/>
              <a:t> </a:t>
            </a:r>
            <a:r>
              <a:rPr dirty="0" err="1"/>
              <a:t>teuer</a:t>
            </a:r>
            <a:r>
              <a:rPr dirty="0"/>
              <a:t>, </a:t>
            </a:r>
            <a:r>
              <a:rPr dirty="0" err="1"/>
              <a:t>komplex</a:t>
            </a:r>
            <a:r>
              <a:rPr dirty="0"/>
              <a:t> in der </a:t>
            </a:r>
            <a:r>
              <a:rPr dirty="0" err="1"/>
              <a:t>Einrichtung</a:t>
            </a:r>
            <a:r>
              <a:rPr dirty="0"/>
              <a:t>, und hat </a:t>
            </a:r>
            <a:r>
              <a:rPr dirty="0" err="1"/>
              <a:t>keine</a:t>
            </a:r>
            <a:r>
              <a:rPr dirty="0"/>
              <a:t> Team-</a:t>
            </a:r>
            <a:r>
              <a:rPr dirty="0" err="1"/>
              <a:t>Kapazitätsansicht</a:t>
            </a:r>
            <a:r>
              <a:rPr dirty="0"/>
              <a:t> in der Form, die </a:t>
            </a:r>
            <a:r>
              <a:rPr dirty="0" err="1"/>
              <a:t>wir</a:t>
            </a:r>
            <a:r>
              <a:rPr dirty="0"/>
              <a:t> </a:t>
            </a:r>
            <a:r>
              <a:rPr dirty="0" err="1"/>
              <a:t>brauchten</a:t>
            </a:r>
            <a:r>
              <a:rPr dirty="0"/>
              <a:t>.</a:t>
            </a:r>
            <a:endParaRPr lang="de-CH" dirty="0"/>
          </a:p>
          <a:p>
            <a:r>
              <a:rPr lang="en-US" dirty="0"/>
              <a:t>3. </a:t>
            </a:r>
            <a:r>
              <a:rPr dirty="0"/>
              <a:t>Und </a:t>
            </a:r>
            <a:r>
              <a:rPr dirty="0" err="1"/>
              <a:t>Forecast.app</a:t>
            </a:r>
            <a:r>
              <a:rPr dirty="0"/>
              <a:t> </a:t>
            </a:r>
            <a:r>
              <a:rPr dirty="0" err="1"/>
              <a:t>deckt</a:t>
            </a:r>
            <a:r>
              <a:rPr dirty="0"/>
              <a:t> </a:t>
            </a:r>
            <a:r>
              <a:rPr dirty="0" err="1"/>
              <a:t>klassische</a:t>
            </a:r>
            <a:r>
              <a:rPr dirty="0"/>
              <a:t> Projekt- und </a:t>
            </a:r>
            <a:r>
              <a:rPr dirty="0" err="1"/>
              <a:t>Ressourcenplanung</a:t>
            </a:r>
            <a:r>
              <a:rPr dirty="0"/>
              <a:t> ab, hat </a:t>
            </a:r>
            <a:r>
              <a:rPr dirty="0" err="1"/>
              <a:t>aber</a:t>
            </a:r>
            <a:r>
              <a:rPr dirty="0"/>
              <a:t> </a:t>
            </a:r>
            <a:r>
              <a:rPr dirty="0" err="1"/>
              <a:t>keine</a:t>
            </a:r>
            <a:r>
              <a:rPr dirty="0"/>
              <a:t> </a:t>
            </a:r>
            <a:r>
              <a:rPr dirty="0" err="1"/>
              <a:t>direkte</a:t>
            </a:r>
            <a:r>
              <a:rPr dirty="0"/>
              <a:t> Jira-</a:t>
            </a:r>
            <a:r>
              <a:rPr dirty="0" err="1"/>
              <a:t>Synchronisation</a:t>
            </a:r>
            <a:r>
              <a:rPr dirty="0"/>
              <a:t> und </a:t>
            </a:r>
            <a:r>
              <a:rPr dirty="0" err="1"/>
              <a:t>keine</a:t>
            </a:r>
            <a:r>
              <a:rPr dirty="0"/>
              <a:t> Story-Point-</a:t>
            </a:r>
            <a:r>
              <a:rPr dirty="0" err="1"/>
              <a:t>Empfehlung</a:t>
            </a:r>
            <a:r>
              <a:rPr dirty="0"/>
              <a:t>. </a:t>
            </a:r>
            <a:endParaRPr lang="de-CH" dirty="0"/>
          </a:p>
          <a:p>
            <a:endParaRPr lang="en-US" dirty="0"/>
          </a:p>
          <a:p>
            <a:r>
              <a:rPr dirty="0" err="1"/>
              <a:t>Preislich</a:t>
            </a:r>
            <a:r>
              <a:rPr dirty="0"/>
              <a:t> </a:t>
            </a:r>
            <a:r>
              <a:rPr dirty="0" err="1"/>
              <a:t>bewegen</a:t>
            </a:r>
            <a:r>
              <a:rPr dirty="0"/>
              <a:t> </a:t>
            </a:r>
            <a:r>
              <a:rPr dirty="0" err="1"/>
              <a:t>sich</a:t>
            </a:r>
            <a:r>
              <a:rPr dirty="0"/>
              <a:t> </a:t>
            </a:r>
            <a:r>
              <a:rPr dirty="0" err="1"/>
              <a:t>diese</a:t>
            </a:r>
            <a:r>
              <a:rPr dirty="0"/>
              <a:t> Tools je </a:t>
            </a:r>
            <a:r>
              <a:rPr dirty="0" err="1"/>
              <a:t>nach</a:t>
            </a:r>
            <a:r>
              <a:rPr dirty="0"/>
              <a:t> Modell </a:t>
            </a:r>
            <a:r>
              <a:rPr dirty="0" err="1"/>
              <a:t>zwischen</a:t>
            </a:r>
            <a:r>
              <a:rPr dirty="0"/>
              <a:t> </a:t>
            </a:r>
            <a:r>
              <a:rPr dirty="0" err="1"/>
              <a:t>etwa</a:t>
            </a:r>
            <a:r>
              <a:rPr dirty="0"/>
              <a:t> </a:t>
            </a:r>
            <a:r>
              <a:rPr dirty="0" err="1"/>
              <a:t>zehn</a:t>
            </a:r>
            <a:r>
              <a:rPr dirty="0"/>
              <a:t> und </a:t>
            </a:r>
            <a:r>
              <a:rPr dirty="0" err="1"/>
              <a:t>sechzehn</a:t>
            </a:r>
            <a:r>
              <a:rPr dirty="0"/>
              <a:t> Franken pro </a:t>
            </a:r>
            <a:r>
              <a:rPr dirty="0" err="1"/>
              <a:t>Benutzer</a:t>
            </a:r>
            <a:r>
              <a:rPr dirty="0"/>
              <a:t> und Monat, was für </a:t>
            </a:r>
            <a:r>
              <a:rPr dirty="0" err="1"/>
              <a:t>ein</a:t>
            </a:r>
            <a:r>
              <a:rPr dirty="0"/>
              <a:t> </a:t>
            </a:r>
            <a:r>
              <a:rPr dirty="0" err="1"/>
              <a:t>kleines</a:t>
            </a:r>
            <a:r>
              <a:rPr dirty="0"/>
              <a:t> Team schnell ins </a:t>
            </a:r>
            <a:r>
              <a:rPr dirty="0" err="1"/>
              <a:t>Gewicht</a:t>
            </a:r>
            <a:r>
              <a:rPr dirty="0"/>
              <a:t> </a:t>
            </a:r>
            <a:r>
              <a:rPr dirty="0" err="1"/>
              <a:t>fällt</a:t>
            </a:r>
            <a:r>
              <a:rPr dirty="0"/>
              <a:t>. </a:t>
            </a:r>
            <a:endParaRPr lang="de-CH" dirty="0"/>
          </a:p>
          <a:p>
            <a:endParaRPr lang="en-US" dirty="0"/>
          </a:p>
          <a:p>
            <a:r>
              <a:rPr dirty="0"/>
              <a:t>Mein </a:t>
            </a:r>
            <a:r>
              <a:rPr dirty="0" err="1"/>
              <a:t>Fazit</a:t>
            </a:r>
            <a:r>
              <a:rPr dirty="0"/>
              <a:t> </a:t>
            </a:r>
            <a:r>
              <a:rPr dirty="0" err="1"/>
              <a:t>aus</a:t>
            </a:r>
            <a:r>
              <a:rPr dirty="0"/>
              <a:t> der Evaluation: </a:t>
            </a:r>
            <a:r>
              <a:rPr dirty="0" err="1"/>
              <a:t>Jedes</a:t>
            </a:r>
            <a:r>
              <a:rPr dirty="0"/>
              <a:t> </a:t>
            </a:r>
            <a:r>
              <a:rPr dirty="0" err="1"/>
              <a:t>dieser</a:t>
            </a:r>
            <a:r>
              <a:rPr dirty="0"/>
              <a:t> Tools </a:t>
            </a:r>
            <a:r>
              <a:rPr dirty="0" err="1"/>
              <a:t>deckt</a:t>
            </a:r>
            <a:r>
              <a:rPr dirty="0"/>
              <a:t> </a:t>
            </a:r>
            <a:r>
              <a:rPr dirty="0" err="1"/>
              <a:t>einen</a:t>
            </a:r>
            <a:r>
              <a:rPr dirty="0"/>
              <a:t> </a:t>
            </a:r>
            <a:r>
              <a:rPr dirty="0" err="1"/>
              <a:t>Teilbereich</a:t>
            </a:r>
            <a:r>
              <a:rPr dirty="0"/>
              <a:t> gut ab, </a:t>
            </a:r>
            <a:r>
              <a:rPr dirty="0" err="1"/>
              <a:t>aber</a:t>
            </a:r>
            <a:r>
              <a:rPr dirty="0"/>
              <a:t> </a:t>
            </a:r>
            <a:r>
              <a:rPr dirty="0" err="1"/>
              <a:t>keines</a:t>
            </a:r>
            <a:r>
              <a:rPr dirty="0"/>
              <a:t> </a:t>
            </a:r>
            <a:r>
              <a:rPr dirty="0" err="1"/>
              <a:t>verbindet</a:t>
            </a:r>
            <a:r>
              <a:rPr dirty="0"/>
              <a:t> </a:t>
            </a:r>
            <a:r>
              <a:rPr dirty="0" err="1"/>
              <a:t>wochenbasierte</a:t>
            </a:r>
            <a:r>
              <a:rPr dirty="0"/>
              <a:t> </a:t>
            </a:r>
            <a:r>
              <a:rPr dirty="0" err="1"/>
              <a:t>Kapazitätsplanung</a:t>
            </a:r>
            <a:r>
              <a:rPr dirty="0"/>
              <a:t>, </a:t>
            </a:r>
            <a:r>
              <a:rPr dirty="0" err="1"/>
              <a:t>automatische</a:t>
            </a:r>
            <a:r>
              <a:rPr dirty="0"/>
              <a:t> Jira-</a:t>
            </a:r>
            <a:r>
              <a:rPr dirty="0" err="1"/>
              <a:t>Synchronisation</a:t>
            </a:r>
            <a:r>
              <a:rPr dirty="0"/>
              <a:t> und Sprint Analytics in </a:t>
            </a:r>
            <a:r>
              <a:rPr dirty="0" err="1"/>
              <a:t>einer</a:t>
            </a:r>
            <a:r>
              <a:rPr dirty="0"/>
              <a:t> </a:t>
            </a:r>
            <a:r>
              <a:rPr dirty="0" err="1"/>
              <a:t>einzigen</a:t>
            </a:r>
            <a:r>
              <a:rPr dirty="0"/>
              <a:t> </a:t>
            </a:r>
            <a:r>
              <a:rPr dirty="0" err="1"/>
              <a:t>Oberfläche</a:t>
            </a:r>
            <a:r>
              <a:rPr dirty="0"/>
              <a:t>. </a:t>
            </a:r>
            <a:endParaRPr lang="de-CH" dirty="0"/>
          </a:p>
          <a:p>
            <a:r>
              <a:rPr dirty="0" err="1"/>
              <a:t>Genau</a:t>
            </a:r>
            <a:r>
              <a:rPr dirty="0"/>
              <a:t> </a:t>
            </a:r>
            <a:r>
              <a:rPr dirty="0" err="1"/>
              <a:t>diese</a:t>
            </a:r>
            <a:r>
              <a:rPr dirty="0"/>
              <a:t> </a:t>
            </a:r>
            <a:r>
              <a:rPr dirty="0" err="1"/>
              <a:t>Lücke</a:t>
            </a:r>
            <a:r>
              <a:rPr dirty="0"/>
              <a:t> </a:t>
            </a:r>
            <a:r>
              <a:rPr dirty="0" err="1"/>
              <a:t>wollte</a:t>
            </a:r>
            <a:r>
              <a:rPr dirty="0"/>
              <a:t> ich </a:t>
            </a:r>
            <a:r>
              <a:rPr dirty="0" err="1"/>
              <a:t>schliessen</a:t>
            </a:r>
            <a:r>
              <a:rPr dirty="0"/>
              <a:t> – und das war für </a:t>
            </a:r>
            <a:r>
              <a:rPr dirty="0" err="1"/>
              <a:t>mich</a:t>
            </a:r>
            <a:r>
              <a:rPr dirty="0"/>
              <a:t> die </a:t>
            </a:r>
            <a:r>
              <a:rPr dirty="0" err="1"/>
              <a:t>Rechtfertigung</a:t>
            </a:r>
            <a:r>
              <a:rPr dirty="0"/>
              <a:t> für </a:t>
            </a:r>
            <a:r>
              <a:rPr dirty="0" err="1"/>
              <a:t>eine</a:t>
            </a:r>
            <a:r>
              <a:rPr dirty="0"/>
              <a:t> </a:t>
            </a:r>
            <a:r>
              <a:rPr dirty="0" err="1"/>
              <a:t>Eigenentwicklung</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Zum </a:t>
            </a:r>
            <a:r>
              <a:rPr dirty="0" err="1"/>
              <a:t>methodischen</a:t>
            </a:r>
            <a:r>
              <a:rPr dirty="0"/>
              <a:t> </a:t>
            </a:r>
            <a:r>
              <a:rPr dirty="0" err="1"/>
              <a:t>Vorgehen</a:t>
            </a:r>
            <a:r>
              <a:rPr dirty="0"/>
              <a:t>. </a:t>
            </a:r>
            <a:endParaRPr lang="de-CH" dirty="0"/>
          </a:p>
          <a:p>
            <a:endParaRPr lang="en-US" dirty="0"/>
          </a:p>
          <a:p>
            <a:r>
              <a:rPr dirty="0"/>
              <a:t>Ich </a:t>
            </a:r>
            <a:r>
              <a:rPr dirty="0" err="1"/>
              <a:t>habe</a:t>
            </a:r>
            <a:r>
              <a:rPr dirty="0"/>
              <a:t> </a:t>
            </a:r>
            <a:r>
              <a:rPr dirty="0" err="1"/>
              <a:t>mich</a:t>
            </a:r>
            <a:r>
              <a:rPr dirty="0"/>
              <a:t> für </a:t>
            </a:r>
            <a:r>
              <a:rPr dirty="0" err="1"/>
              <a:t>ein</a:t>
            </a:r>
            <a:r>
              <a:rPr dirty="0"/>
              <a:t> iteratives </a:t>
            </a:r>
            <a:r>
              <a:rPr dirty="0" err="1"/>
              <a:t>Vorgehen</a:t>
            </a:r>
            <a:r>
              <a:rPr dirty="0"/>
              <a:t> in </a:t>
            </a:r>
            <a:r>
              <a:rPr dirty="0" err="1"/>
              <a:t>Anlehnung</a:t>
            </a:r>
            <a:r>
              <a:rPr dirty="0"/>
              <a:t> an Scrum </a:t>
            </a:r>
            <a:r>
              <a:rPr dirty="0" err="1"/>
              <a:t>entschieden</a:t>
            </a:r>
            <a:r>
              <a:rPr dirty="0"/>
              <a:t> </a:t>
            </a:r>
            <a:endParaRPr lang="de-CH" dirty="0"/>
          </a:p>
          <a:p>
            <a:r>
              <a:rPr dirty="0"/>
              <a:t>was </a:t>
            </a:r>
            <a:r>
              <a:rPr dirty="0" err="1"/>
              <a:t>naheliegend</a:t>
            </a:r>
            <a:r>
              <a:rPr dirty="0"/>
              <a:t> </a:t>
            </a:r>
            <a:r>
              <a:rPr dirty="0" err="1"/>
              <a:t>ist</a:t>
            </a:r>
            <a:r>
              <a:rPr dirty="0"/>
              <a:t>, </a:t>
            </a:r>
            <a:r>
              <a:rPr dirty="0" err="1"/>
              <a:t>wenn</a:t>
            </a:r>
            <a:r>
              <a:rPr dirty="0"/>
              <a:t> man </a:t>
            </a:r>
            <a:r>
              <a:rPr dirty="0" err="1"/>
              <a:t>ein</a:t>
            </a:r>
            <a:r>
              <a:rPr dirty="0"/>
              <a:t> </a:t>
            </a:r>
            <a:r>
              <a:rPr dirty="0" err="1"/>
              <a:t>Werkzeug</a:t>
            </a:r>
            <a:r>
              <a:rPr dirty="0"/>
              <a:t> für Scrum-Teams </a:t>
            </a:r>
            <a:r>
              <a:rPr dirty="0" err="1"/>
              <a:t>baut</a:t>
            </a:r>
            <a:r>
              <a:rPr dirty="0"/>
              <a:t>. </a:t>
            </a:r>
            <a:endParaRPr lang="de-CH" dirty="0"/>
          </a:p>
          <a:p>
            <a:endParaRPr lang="en-US" dirty="0"/>
          </a:p>
          <a:p>
            <a:r>
              <a:rPr dirty="0" err="1"/>
              <a:t>zweiwöchige</a:t>
            </a:r>
            <a:r>
              <a:rPr dirty="0"/>
              <a:t> </a:t>
            </a:r>
            <a:r>
              <a:rPr dirty="0" err="1"/>
              <a:t>Iterationen</a:t>
            </a:r>
            <a:r>
              <a:rPr dirty="0"/>
              <a:t> </a:t>
            </a:r>
            <a:r>
              <a:rPr dirty="0" err="1"/>
              <a:t>mit</a:t>
            </a:r>
            <a:r>
              <a:rPr dirty="0"/>
              <a:t> </a:t>
            </a:r>
            <a:r>
              <a:rPr dirty="0" err="1"/>
              <a:t>klar</a:t>
            </a:r>
            <a:r>
              <a:rPr dirty="0"/>
              <a:t> </a:t>
            </a:r>
            <a:r>
              <a:rPr dirty="0" err="1"/>
              <a:t>definierten</a:t>
            </a:r>
            <a:r>
              <a:rPr dirty="0"/>
              <a:t> Zielen, und </a:t>
            </a:r>
            <a:r>
              <a:rPr dirty="0" err="1"/>
              <a:t>nach</a:t>
            </a:r>
            <a:r>
              <a:rPr dirty="0"/>
              <a:t> </a:t>
            </a:r>
            <a:r>
              <a:rPr dirty="0" err="1"/>
              <a:t>jeder</a:t>
            </a:r>
            <a:r>
              <a:rPr dirty="0"/>
              <a:t> Iteration </a:t>
            </a:r>
            <a:r>
              <a:rPr dirty="0" err="1"/>
              <a:t>eine</a:t>
            </a:r>
            <a:r>
              <a:rPr dirty="0"/>
              <a:t> </a:t>
            </a:r>
            <a:r>
              <a:rPr dirty="0" err="1"/>
              <a:t>Besprechung</a:t>
            </a:r>
            <a:r>
              <a:rPr dirty="0"/>
              <a:t> der </a:t>
            </a:r>
            <a:r>
              <a:rPr dirty="0" err="1"/>
              <a:t>Ergebnisse</a:t>
            </a:r>
            <a:r>
              <a:rPr dirty="0"/>
              <a:t> </a:t>
            </a:r>
            <a:r>
              <a:rPr dirty="0" err="1"/>
              <a:t>mit</a:t>
            </a:r>
            <a:r>
              <a:rPr dirty="0"/>
              <a:t> </a:t>
            </a:r>
            <a:r>
              <a:rPr dirty="0" err="1"/>
              <a:t>meinem</a:t>
            </a:r>
            <a:r>
              <a:rPr dirty="0"/>
              <a:t> </a:t>
            </a:r>
            <a:r>
              <a:rPr dirty="0" err="1"/>
              <a:t>Vorgesetzten</a:t>
            </a:r>
            <a:r>
              <a:rPr dirty="0"/>
              <a:t> </a:t>
            </a:r>
            <a:r>
              <a:rPr dirty="0" err="1"/>
              <a:t>als</a:t>
            </a:r>
            <a:r>
              <a:rPr dirty="0"/>
              <a:t> </a:t>
            </a:r>
            <a:r>
              <a:rPr dirty="0" err="1"/>
              <a:t>Auftraggeber</a:t>
            </a:r>
            <a:r>
              <a:rPr dirty="0"/>
              <a:t>. </a:t>
            </a:r>
            <a:endParaRPr lang="de-CH" dirty="0"/>
          </a:p>
          <a:p>
            <a:r>
              <a:rPr dirty="0" err="1"/>
              <a:t>Diese</a:t>
            </a:r>
            <a:r>
              <a:rPr dirty="0"/>
              <a:t> </a:t>
            </a:r>
            <a:r>
              <a:rPr dirty="0" err="1"/>
              <a:t>regelmässige</a:t>
            </a:r>
            <a:r>
              <a:rPr dirty="0"/>
              <a:t> </a:t>
            </a:r>
            <a:r>
              <a:rPr dirty="0" err="1"/>
              <a:t>Rückkopplung</a:t>
            </a:r>
            <a:r>
              <a:rPr dirty="0"/>
              <a:t> hat die Rolle des Reviews </a:t>
            </a:r>
            <a:r>
              <a:rPr dirty="0" err="1"/>
              <a:t>übernommen</a:t>
            </a:r>
            <a:r>
              <a:rPr dirty="0"/>
              <a:t>, die man </a:t>
            </a:r>
            <a:r>
              <a:rPr dirty="0" err="1"/>
              <a:t>als</a:t>
            </a:r>
            <a:r>
              <a:rPr dirty="0"/>
              <a:t> Solo-</a:t>
            </a:r>
            <a:r>
              <a:rPr dirty="0" err="1"/>
              <a:t>Entwickler</a:t>
            </a:r>
            <a:r>
              <a:rPr dirty="0"/>
              <a:t> </a:t>
            </a:r>
            <a:r>
              <a:rPr dirty="0" err="1"/>
              <a:t>sonst</a:t>
            </a:r>
            <a:r>
              <a:rPr dirty="0"/>
              <a:t> nicht hat. </a:t>
            </a:r>
            <a:endParaRPr lang="de-CH" dirty="0"/>
          </a:p>
          <a:p>
            <a:endParaRPr lang="en-US" dirty="0"/>
          </a:p>
          <a:p>
            <a:r>
              <a:rPr dirty="0"/>
              <a:t>Das Projekt lief in vier </a:t>
            </a:r>
            <a:r>
              <a:rPr dirty="0" err="1"/>
              <a:t>Phasen</a:t>
            </a:r>
            <a:r>
              <a:rPr dirty="0"/>
              <a:t> </a:t>
            </a:r>
            <a:r>
              <a:rPr dirty="0" err="1"/>
              <a:t>über</a:t>
            </a:r>
            <a:r>
              <a:rPr dirty="0"/>
              <a:t> </a:t>
            </a:r>
            <a:r>
              <a:rPr dirty="0" err="1"/>
              <a:t>rund</a:t>
            </a:r>
            <a:r>
              <a:rPr dirty="0"/>
              <a:t> </a:t>
            </a:r>
            <a:r>
              <a:rPr dirty="0" err="1"/>
              <a:t>acht</a:t>
            </a:r>
            <a:r>
              <a:rPr dirty="0"/>
              <a:t> </a:t>
            </a:r>
            <a:r>
              <a:rPr dirty="0" err="1"/>
              <a:t>Monate</a:t>
            </a:r>
            <a:r>
              <a:rPr dirty="0"/>
              <a:t>: </a:t>
            </a:r>
            <a:endParaRPr lang="de-CH" dirty="0"/>
          </a:p>
          <a:p>
            <a:pPr marL="171450" indent="-171450">
              <a:buFont typeface="Arial" panose="020B0604020202020204" pitchFamily="34" charset="0"/>
              <a:buChar char="•"/>
            </a:pPr>
            <a:r>
              <a:rPr dirty="0"/>
              <a:t>In der </a:t>
            </a:r>
            <a:r>
              <a:rPr dirty="0" err="1"/>
              <a:t>ersten</a:t>
            </a:r>
            <a:r>
              <a:rPr dirty="0"/>
              <a:t> Phase </a:t>
            </a:r>
            <a:r>
              <a:rPr dirty="0" err="1"/>
              <a:t>Analyse</a:t>
            </a:r>
            <a:r>
              <a:rPr dirty="0"/>
              <a:t> und </a:t>
            </a:r>
            <a:r>
              <a:rPr dirty="0" err="1"/>
              <a:t>Konzeption</a:t>
            </a:r>
            <a:r>
              <a:rPr dirty="0"/>
              <a:t>, </a:t>
            </a:r>
            <a:endParaRPr lang="de-CH" dirty="0"/>
          </a:p>
          <a:p>
            <a:pPr marL="171450" indent="-171450">
              <a:buFont typeface="Arial" panose="020B0604020202020204" pitchFamily="34" charset="0"/>
              <a:buChar char="•"/>
            </a:pPr>
            <a:r>
              <a:rPr dirty="0" err="1"/>
              <a:t>dann</a:t>
            </a:r>
            <a:r>
              <a:rPr dirty="0"/>
              <a:t> die Backend-</a:t>
            </a:r>
            <a:r>
              <a:rPr dirty="0" err="1"/>
              <a:t>Entwicklung</a:t>
            </a:r>
            <a:r>
              <a:rPr dirty="0"/>
              <a:t>,</a:t>
            </a:r>
            <a:endParaRPr lang="de-CH" dirty="0"/>
          </a:p>
          <a:p>
            <a:pPr marL="171450" indent="-171450">
              <a:buFont typeface="Arial" panose="020B0604020202020204" pitchFamily="34" charset="0"/>
              <a:buChar char="•"/>
            </a:pPr>
            <a:r>
              <a:rPr dirty="0" err="1"/>
              <a:t>danach</a:t>
            </a:r>
            <a:r>
              <a:rPr dirty="0"/>
              <a:t> das Frontend, </a:t>
            </a:r>
            <a:endParaRPr lang="de-CH" dirty="0"/>
          </a:p>
          <a:p>
            <a:pPr marL="171450" indent="-171450">
              <a:buFont typeface="Arial" panose="020B0604020202020204" pitchFamily="34" charset="0"/>
              <a:buChar char="•"/>
            </a:pPr>
            <a:r>
              <a:rPr lang="en-US" dirty="0"/>
              <a:t>U</a:t>
            </a:r>
            <a:r>
              <a:rPr dirty="0"/>
              <a:t>nd </a:t>
            </a:r>
            <a:r>
              <a:rPr dirty="0" err="1"/>
              <a:t>schliesslich</a:t>
            </a:r>
            <a:r>
              <a:rPr dirty="0"/>
              <a:t> Integration und Deployment. </a:t>
            </a:r>
            <a:endParaRPr lang="de-CH" dirty="0"/>
          </a:p>
          <a:p>
            <a:endParaRPr lang="en-US" dirty="0"/>
          </a:p>
          <a:p>
            <a:r>
              <a:rPr dirty="0" err="1"/>
              <a:t>Warum</a:t>
            </a:r>
            <a:r>
              <a:rPr dirty="0"/>
              <a:t> </a:t>
            </a:r>
            <a:r>
              <a:rPr dirty="0" err="1"/>
              <a:t>iterativ</a:t>
            </a:r>
            <a:r>
              <a:rPr dirty="0"/>
              <a:t> und nicht </a:t>
            </a:r>
            <a:r>
              <a:rPr dirty="0" err="1"/>
              <a:t>klassisch</a:t>
            </a:r>
            <a:r>
              <a:rPr dirty="0"/>
              <a:t> </a:t>
            </a:r>
            <a:r>
              <a:rPr dirty="0" err="1"/>
              <a:t>nach</a:t>
            </a:r>
            <a:r>
              <a:rPr dirty="0"/>
              <a:t> Plan? </a:t>
            </a:r>
            <a:endParaRPr lang="de-CH" dirty="0"/>
          </a:p>
          <a:p>
            <a:r>
              <a:rPr dirty="0"/>
              <a:t>Weil </a:t>
            </a:r>
            <a:r>
              <a:rPr dirty="0" err="1"/>
              <a:t>sich</a:t>
            </a:r>
            <a:r>
              <a:rPr dirty="0"/>
              <a:t> </a:t>
            </a:r>
            <a:r>
              <a:rPr dirty="0" err="1"/>
              <a:t>meine</a:t>
            </a:r>
            <a:r>
              <a:rPr dirty="0"/>
              <a:t> </a:t>
            </a:r>
            <a:r>
              <a:rPr dirty="0" err="1"/>
              <a:t>Anforderungen</a:t>
            </a:r>
            <a:r>
              <a:rPr dirty="0"/>
              <a:t> </a:t>
            </a:r>
            <a:r>
              <a:rPr dirty="0" err="1"/>
              <a:t>im</a:t>
            </a:r>
            <a:r>
              <a:rPr dirty="0"/>
              <a:t> </a:t>
            </a:r>
            <a:r>
              <a:rPr dirty="0" err="1"/>
              <a:t>Verlauf</a:t>
            </a:r>
            <a:r>
              <a:rPr dirty="0"/>
              <a:t> </a:t>
            </a:r>
            <a:r>
              <a:rPr dirty="0" err="1"/>
              <a:t>tatsächlich</a:t>
            </a:r>
            <a:r>
              <a:rPr dirty="0"/>
              <a:t> </a:t>
            </a:r>
            <a:r>
              <a:rPr dirty="0" err="1"/>
              <a:t>mehrfach</a:t>
            </a:r>
            <a:r>
              <a:rPr dirty="0"/>
              <a:t> </a:t>
            </a:r>
            <a:r>
              <a:rPr dirty="0" err="1"/>
              <a:t>geändert</a:t>
            </a:r>
            <a:r>
              <a:rPr dirty="0"/>
              <a:t> </a:t>
            </a:r>
            <a:r>
              <a:rPr dirty="0" err="1"/>
              <a:t>haben</a:t>
            </a:r>
            <a:endParaRPr lang="de-CH" dirty="0"/>
          </a:p>
          <a:p>
            <a:r>
              <a:rPr dirty="0" err="1"/>
              <a:t>vor</a:t>
            </a:r>
            <a:r>
              <a:rPr dirty="0"/>
              <a:t> </a:t>
            </a:r>
            <a:r>
              <a:rPr dirty="0" err="1"/>
              <a:t>allem</a:t>
            </a:r>
            <a:r>
              <a:rPr dirty="0"/>
              <a:t> </a:t>
            </a:r>
            <a:r>
              <a:rPr dirty="0" err="1"/>
              <a:t>bei</a:t>
            </a:r>
            <a:r>
              <a:rPr dirty="0"/>
              <a:t> der Jira-Integration. </a:t>
            </a:r>
            <a:endParaRPr lang="de-CH" dirty="0"/>
          </a:p>
          <a:p>
            <a:r>
              <a:rPr dirty="0" err="1"/>
              <a:t>Vieles</a:t>
            </a:r>
            <a:r>
              <a:rPr dirty="0"/>
              <a:t> </a:t>
            </a:r>
            <a:r>
              <a:rPr dirty="0" err="1"/>
              <a:t>zeigt</a:t>
            </a:r>
            <a:r>
              <a:rPr dirty="0"/>
              <a:t> </a:t>
            </a:r>
            <a:r>
              <a:rPr dirty="0" err="1"/>
              <a:t>sich</a:t>
            </a:r>
            <a:r>
              <a:rPr dirty="0"/>
              <a:t> </a:t>
            </a:r>
            <a:r>
              <a:rPr dirty="0" err="1"/>
              <a:t>dort</a:t>
            </a:r>
            <a:r>
              <a:rPr dirty="0"/>
              <a:t> erst, </a:t>
            </a:r>
            <a:r>
              <a:rPr dirty="0" err="1"/>
              <a:t>wenn</a:t>
            </a:r>
            <a:r>
              <a:rPr dirty="0"/>
              <a:t> man </a:t>
            </a:r>
            <a:r>
              <a:rPr dirty="0" err="1"/>
              <a:t>mit</a:t>
            </a:r>
            <a:r>
              <a:rPr dirty="0"/>
              <a:t> </a:t>
            </a:r>
            <a:r>
              <a:rPr dirty="0" err="1"/>
              <a:t>echten</a:t>
            </a:r>
            <a:r>
              <a:rPr dirty="0"/>
              <a:t> </a:t>
            </a:r>
            <a:r>
              <a:rPr dirty="0" err="1"/>
              <a:t>Daten</a:t>
            </a:r>
            <a:r>
              <a:rPr dirty="0"/>
              <a:t> </a:t>
            </a:r>
            <a:r>
              <a:rPr dirty="0" err="1"/>
              <a:t>arbeitet</a:t>
            </a:r>
            <a:r>
              <a:rPr dirty="0"/>
              <a:t>. </a:t>
            </a:r>
            <a:endParaRPr lang="de-CH" dirty="0"/>
          </a:p>
          <a:p>
            <a:endParaRPr lang="en-US" dirty="0"/>
          </a:p>
          <a:p>
            <a:r>
              <a:rPr dirty="0"/>
              <a:t>Ein </a:t>
            </a:r>
            <a:r>
              <a:rPr dirty="0" err="1"/>
              <a:t>starres</a:t>
            </a:r>
            <a:r>
              <a:rPr dirty="0"/>
              <a:t> </a:t>
            </a:r>
            <a:r>
              <a:rPr dirty="0" err="1"/>
              <a:t>Wasserfall-Vorgehen</a:t>
            </a:r>
            <a:r>
              <a:rPr dirty="0"/>
              <a:t> </a:t>
            </a:r>
            <a:r>
              <a:rPr dirty="0" err="1"/>
              <a:t>hätte</a:t>
            </a:r>
            <a:r>
              <a:rPr dirty="0"/>
              <a:t> </a:t>
            </a:r>
            <a:r>
              <a:rPr dirty="0" err="1"/>
              <a:t>diese</a:t>
            </a:r>
            <a:r>
              <a:rPr dirty="0"/>
              <a:t> </a:t>
            </a:r>
            <a:r>
              <a:rPr dirty="0" err="1"/>
              <a:t>Änderungen</a:t>
            </a:r>
            <a:r>
              <a:rPr dirty="0"/>
              <a:t> nicht </a:t>
            </a:r>
            <a:r>
              <a:rPr dirty="0" err="1"/>
              <a:t>aufgefangen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Ein Thema, das mir </a:t>
            </a:r>
            <a:r>
              <a:rPr dirty="0" err="1"/>
              <a:t>wichtig</a:t>
            </a:r>
            <a:r>
              <a:rPr dirty="0"/>
              <a:t> </a:t>
            </a:r>
            <a:r>
              <a:rPr dirty="0" err="1"/>
              <a:t>ist</a:t>
            </a:r>
            <a:r>
              <a:rPr dirty="0"/>
              <a:t> und das ich transparent </a:t>
            </a:r>
            <a:r>
              <a:rPr dirty="0" err="1"/>
              <a:t>machen</a:t>
            </a:r>
            <a:r>
              <a:rPr dirty="0"/>
              <a:t> </a:t>
            </a:r>
            <a:r>
              <a:rPr dirty="0" err="1"/>
              <a:t>möchte</a:t>
            </a:r>
            <a:r>
              <a:rPr dirty="0"/>
              <a:t>, </a:t>
            </a:r>
            <a:r>
              <a:rPr dirty="0" err="1"/>
              <a:t>ist</a:t>
            </a:r>
            <a:r>
              <a:rPr dirty="0"/>
              <a:t> der </a:t>
            </a:r>
            <a:r>
              <a:rPr dirty="0" err="1"/>
              <a:t>Einsatz</a:t>
            </a:r>
            <a:r>
              <a:rPr dirty="0"/>
              <a:t> von </a:t>
            </a:r>
            <a:r>
              <a:rPr dirty="0" err="1"/>
              <a:t>künstlicher</a:t>
            </a:r>
            <a:r>
              <a:rPr dirty="0"/>
              <a:t> </a:t>
            </a:r>
            <a:r>
              <a:rPr dirty="0" err="1"/>
              <a:t>Intelligenz</a:t>
            </a:r>
            <a:r>
              <a:rPr dirty="0"/>
              <a:t>. </a:t>
            </a:r>
            <a:endParaRPr lang="de-CH" dirty="0"/>
          </a:p>
          <a:p>
            <a:endParaRPr lang="en-US" dirty="0"/>
          </a:p>
          <a:p>
            <a:r>
              <a:rPr dirty="0"/>
              <a:t>Ich </a:t>
            </a:r>
            <a:r>
              <a:rPr dirty="0" err="1"/>
              <a:t>habe</a:t>
            </a:r>
            <a:r>
              <a:rPr dirty="0"/>
              <a:t> für dieses Projekt Claude Code von Anthropic </a:t>
            </a:r>
            <a:r>
              <a:rPr dirty="0" err="1"/>
              <a:t>als</a:t>
            </a:r>
            <a:r>
              <a:rPr dirty="0"/>
              <a:t> KI-</a:t>
            </a:r>
            <a:r>
              <a:rPr dirty="0" err="1"/>
              <a:t>gestützten</a:t>
            </a:r>
            <a:r>
              <a:rPr dirty="0"/>
              <a:t> Co-Engineer </a:t>
            </a:r>
            <a:r>
              <a:rPr dirty="0" err="1"/>
              <a:t>eingesetzt</a:t>
            </a:r>
            <a:r>
              <a:rPr dirty="0"/>
              <a:t>. </a:t>
            </a:r>
            <a:endParaRPr lang="de-CH" dirty="0"/>
          </a:p>
          <a:p>
            <a:endParaRPr lang="en-US" dirty="0"/>
          </a:p>
          <a:p>
            <a:r>
              <a:rPr dirty="0" err="1"/>
              <a:t>Wichtig</a:t>
            </a:r>
            <a:r>
              <a:rPr dirty="0"/>
              <a:t> </a:t>
            </a:r>
            <a:r>
              <a:rPr dirty="0" err="1"/>
              <a:t>ist</a:t>
            </a:r>
            <a:r>
              <a:rPr dirty="0"/>
              <a:t> mir die </a:t>
            </a:r>
            <a:r>
              <a:rPr dirty="0" err="1"/>
              <a:t>Abgrenzung</a:t>
            </a:r>
            <a:r>
              <a:rPr dirty="0"/>
              <a:t>, was die KI </a:t>
            </a:r>
            <a:r>
              <a:rPr dirty="0" err="1"/>
              <a:t>gemacht</a:t>
            </a:r>
            <a:r>
              <a:rPr dirty="0"/>
              <a:t> hat und was nicht. </a:t>
            </a:r>
            <a:endParaRPr lang="de-CH" dirty="0"/>
          </a:p>
          <a:p>
            <a:r>
              <a:rPr dirty="0" err="1"/>
              <a:t>Eingesetzt</a:t>
            </a:r>
            <a:r>
              <a:rPr dirty="0"/>
              <a:t> </a:t>
            </a:r>
            <a:r>
              <a:rPr dirty="0" err="1"/>
              <a:t>habe</a:t>
            </a:r>
            <a:r>
              <a:rPr dirty="0"/>
              <a:t> ich </a:t>
            </a:r>
            <a:r>
              <a:rPr dirty="0" err="1"/>
              <a:t>sie</a:t>
            </a:r>
            <a:r>
              <a:rPr dirty="0"/>
              <a:t> für </a:t>
            </a:r>
            <a:r>
              <a:rPr dirty="0" err="1"/>
              <a:t>wiederkehrende</a:t>
            </a:r>
            <a:r>
              <a:rPr dirty="0"/>
              <a:t> Code-</a:t>
            </a:r>
            <a:r>
              <a:rPr dirty="0" err="1"/>
              <a:t>Teile</a:t>
            </a:r>
            <a:r>
              <a:rPr dirty="0"/>
              <a:t>, </a:t>
            </a:r>
            <a:endParaRPr lang="de-CH" dirty="0"/>
          </a:p>
          <a:p>
            <a:r>
              <a:rPr dirty="0"/>
              <a:t>für das </a:t>
            </a:r>
            <a:r>
              <a:rPr dirty="0" err="1"/>
              <a:t>initiale</a:t>
            </a:r>
            <a:r>
              <a:rPr dirty="0"/>
              <a:t> </a:t>
            </a:r>
            <a:r>
              <a:rPr dirty="0" err="1"/>
              <a:t>Aufsetzen</a:t>
            </a:r>
            <a:r>
              <a:rPr dirty="0"/>
              <a:t> von </a:t>
            </a:r>
            <a:r>
              <a:rPr dirty="0" err="1"/>
              <a:t>Komponenten</a:t>
            </a:r>
            <a:r>
              <a:rPr dirty="0"/>
              <a:t> </a:t>
            </a:r>
            <a:endParaRPr lang="de-CH" dirty="0"/>
          </a:p>
          <a:p>
            <a:r>
              <a:rPr dirty="0"/>
              <a:t>für </a:t>
            </a:r>
            <a:r>
              <a:rPr dirty="0" err="1"/>
              <a:t>Dokumentationsentwürfe</a:t>
            </a:r>
            <a:r>
              <a:rPr dirty="0"/>
              <a:t>. </a:t>
            </a:r>
            <a:endParaRPr lang="de-CH" dirty="0"/>
          </a:p>
          <a:p>
            <a:endParaRPr lang="en-US" dirty="0"/>
          </a:p>
          <a:p>
            <a:r>
              <a:rPr dirty="0"/>
              <a:t>Was </a:t>
            </a:r>
            <a:r>
              <a:rPr dirty="0" err="1"/>
              <a:t>ausdrücklich</a:t>
            </a:r>
            <a:r>
              <a:rPr dirty="0"/>
              <a:t> </a:t>
            </a:r>
            <a:r>
              <a:rPr dirty="0" err="1"/>
              <a:t>bei</a:t>
            </a:r>
            <a:r>
              <a:rPr dirty="0"/>
              <a:t> mir lag: </a:t>
            </a:r>
            <a:endParaRPr lang="de-CH" dirty="0"/>
          </a:p>
          <a:p>
            <a:r>
              <a:rPr dirty="0"/>
              <a:t>die </a:t>
            </a:r>
            <a:r>
              <a:rPr dirty="0" err="1"/>
              <a:t>Architektur</a:t>
            </a:r>
            <a:r>
              <a:rPr dirty="0"/>
              <a:t>, </a:t>
            </a:r>
            <a:endParaRPr lang="de-CH" dirty="0"/>
          </a:p>
          <a:p>
            <a:r>
              <a:rPr dirty="0"/>
              <a:t>das </a:t>
            </a:r>
            <a:r>
              <a:rPr dirty="0" err="1"/>
              <a:t>Datenmodell</a:t>
            </a:r>
            <a:r>
              <a:rPr dirty="0"/>
              <a:t>, </a:t>
            </a:r>
            <a:endParaRPr lang="de-CH" dirty="0"/>
          </a:p>
          <a:p>
            <a:r>
              <a:rPr dirty="0"/>
              <a:t>das </a:t>
            </a:r>
            <a:r>
              <a:rPr dirty="0" err="1"/>
              <a:t>Sicherheitskonzept</a:t>
            </a:r>
            <a:r>
              <a:rPr dirty="0"/>
              <a:t> </a:t>
            </a:r>
            <a:endParaRPr lang="de-CH" dirty="0"/>
          </a:p>
          <a:p>
            <a:r>
              <a:rPr dirty="0"/>
              <a:t>und </a:t>
            </a:r>
            <a:r>
              <a:rPr dirty="0" err="1"/>
              <a:t>sämtliche</a:t>
            </a:r>
            <a:r>
              <a:rPr dirty="0"/>
              <a:t> </a:t>
            </a:r>
            <a:r>
              <a:rPr dirty="0" err="1"/>
              <a:t>Designentscheidungen</a:t>
            </a:r>
            <a:r>
              <a:rPr dirty="0"/>
              <a:t>. </a:t>
            </a:r>
            <a:endParaRPr lang="de-CH" dirty="0"/>
          </a:p>
          <a:p>
            <a:endParaRPr lang="en-US" dirty="0"/>
          </a:p>
          <a:p>
            <a:r>
              <a:rPr dirty="0"/>
              <a:t>Mein </a:t>
            </a:r>
            <a:r>
              <a:rPr dirty="0" err="1"/>
              <a:t>Arbeitszyklus</a:t>
            </a:r>
            <a:r>
              <a:rPr dirty="0"/>
              <a:t> war </a:t>
            </a:r>
            <a:r>
              <a:rPr dirty="0" err="1"/>
              <a:t>dabei</a:t>
            </a:r>
            <a:r>
              <a:rPr dirty="0"/>
              <a:t> immer </a:t>
            </a:r>
            <a:r>
              <a:rPr dirty="0" err="1"/>
              <a:t>derselbe</a:t>
            </a:r>
            <a:r>
              <a:rPr dirty="0"/>
              <a:t>, </a:t>
            </a:r>
            <a:endParaRPr lang="de-CH" dirty="0"/>
          </a:p>
          <a:p>
            <a:r>
              <a:rPr dirty="0" err="1"/>
              <a:t>sechs</a:t>
            </a:r>
            <a:r>
              <a:rPr dirty="0"/>
              <a:t> </a:t>
            </a:r>
            <a:r>
              <a:rPr dirty="0" err="1"/>
              <a:t>Schritte</a:t>
            </a:r>
            <a:r>
              <a:rPr dirty="0"/>
              <a:t>: </a:t>
            </a:r>
            <a:endParaRPr lang="de-CH" dirty="0"/>
          </a:p>
          <a:p>
            <a:r>
              <a:rPr dirty="0"/>
              <a:t>Ich </a:t>
            </a:r>
            <a:r>
              <a:rPr dirty="0" err="1"/>
              <a:t>formuliere</a:t>
            </a:r>
            <a:r>
              <a:rPr dirty="0"/>
              <a:t> die </a:t>
            </a:r>
            <a:r>
              <a:rPr dirty="0" err="1"/>
              <a:t>Anforderung</a:t>
            </a:r>
            <a:r>
              <a:rPr dirty="0"/>
              <a:t> </a:t>
            </a:r>
            <a:r>
              <a:rPr dirty="0" err="1"/>
              <a:t>präzise</a:t>
            </a:r>
            <a:r>
              <a:rPr dirty="0"/>
              <a:t>, </a:t>
            </a:r>
            <a:r>
              <a:rPr dirty="0" err="1"/>
              <a:t>stelle</a:t>
            </a:r>
            <a:r>
              <a:rPr dirty="0"/>
              <a:t> den </a:t>
            </a:r>
            <a:r>
              <a:rPr dirty="0" err="1"/>
              <a:t>Kontext</a:t>
            </a:r>
            <a:r>
              <a:rPr dirty="0"/>
              <a:t> und die </a:t>
            </a:r>
            <a:r>
              <a:rPr dirty="0" err="1"/>
              <a:t>Architektur</a:t>
            </a:r>
            <a:r>
              <a:rPr dirty="0"/>
              <a:t> </a:t>
            </a:r>
            <a:r>
              <a:rPr dirty="0" err="1"/>
              <a:t>bereit</a:t>
            </a:r>
            <a:r>
              <a:rPr dirty="0"/>
              <a:t>, </a:t>
            </a:r>
            <a:r>
              <a:rPr dirty="0" err="1"/>
              <a:t>lasse</a:t>
            </a:r>
            <a:r>
              <a:rPr dirty="0"/>
              <a:t> </a:t>
            </a:r>
            <a:r>
              <a:rPr dirty="0" err="1"/>
              <a:t>einen</a:t>
            </a:r>
            <a:r>
              <a:rPr dirty="0"/>
              <a:t> </a:t>
            </a:r>
            <a:r>
              <a:rPr dirty="0" err="1"/>
              <a:t>Vorschlag</a:t>
            </a:r>
            <a:r>
              <a:rPr dirty="0"/>
              <a:t> </a:t>
            </a:r>
            <a:r>
              <a:rPr dirty="0" err="1"/>
              <a:t>generieren</a:t>
            </a:r>
            <a:endParaRPr lang="de-CH" dirty="0"/>
          </a:p>
          <a:p>
            <a:r>
              <a:rPr dirty="0"/>
              <a:t>und </a:t>
            </a:r>
            <a:r>
              <a:rPr dirty="0" err="1"/>
              <a:t>dann</a:t>
            </a:r>
            <a:r>
              <a:rPr dirty="0"/>
              <a:t> </a:t>
            </a:r>
            <a:r>
              <a:rPr dirty="0" err="1"/>
              <a:t>kommt</a:t>
            </a:r>
            <a:r>
              <a:rPr dirty="0"/>
              <a:t> der </a:t>
            </a:r>
            <a:r>
              <a:rPr dirty="0" err="1"/>
              <a:t>entscheidende</a:t>
            </a:r>
            <a:r>
              <a:rPr dirty="0"/>
              <a:t> Teil: </a:t>
            </a:r>
            <a:endParaRPr lang="de-CH" dirty="0"/>
          </a:p>
          <a:p>
            <a:endParaRPr lang="en-US" dirty="0"/>
          </a:p>
          <a:p>
            <a:r>
              <a:rPr dirty="0"/>
              <a:t>Code-Review Zeile für Zeile, </a:t>
            </a:r>
            <a:r>
              <a:rPr dirty="0" err="1"/>
              <a:t>manuelles</a:t>
            </a:r>
            <a:r>
              <a:rPr dirty="0"/>
              <a:t> </a:t>
            </a:r>
            <a:r>
              <a:rPr dirty="0" err="1"/>
              <a:t>Anpassen</a:t>
            </a:r>
            <a:r>
              <a:rPr dirty="0"/>
              <a:t> und </a:t>
            </a:r>
            <a:r>
              <a:rPr dirty="0" err="1"/>
              <a:t>Verifizieren</a:t>
            </a:r>
            <a:r>
              <a:rPr dirty="0"/>
              <a:t> </a:t>
            </a:r>
            <a:r>
              <a:rPr dirty="0" err="1"/>
              <a:t>gegen</a:t>
            </a:r>
            <a:r>
              <a:rPr dirty="0"/>
              <a:t> </a:t>
            </a:r>
            <a:r>
              <a:rPr dirty="0" err="1"/>
              <a:t>echte</a:t>
            </a:r>
            <a:r>
              <a:rPr dirty="0"/>
              <a:t> </a:t>
            </a:r>
            <a:r>
              <a:rPr dirty="0" err="1"/>
              <a:t>Daten</a:t>
            </a:r>
            <a:r>
              <a:rPr dirty="0"/>
              <a:t>. </a:t>
            </a:r>
            <a:endParaRPr lang="de-CH" dirty="0"/>
          </a:p>
          <a:p>
            <a:endParaRPr lang="en-US" dirty="0"/>
          </a:p>
          <a:p>
            <a:r>
              <a:rPr dirty="0"/>
              <a:t>Von </a:t>
            </a:r>
            <a:r>
              <a:rPr dirty="0" err="1"/>
              <a:t>diesen</a:t>
            </a:r>
            <a:r>
              <a:rPr dirty="0"/>
              <a:t> </a:t>
            </a:r>
            <a:r>
              <a:rPr dirty="0" err="1"/>
              <a:t>sechs</a:t>
            </a:r>
            <a:r>
              <a:rPr dirty="0"/>
              <a:t> </a:t>
            </a:r>
            <a:r>
              <a:rPr dirty="0" err="1"/>
              <a:t>Schritten</a:t>
            </a:r>
            <a:r>
              <a:rPr dirty="0"/>
              <a:t> </a:t>
            </a:r>
            <a:r>
              <a:rPr dirty="0" err="1"/>
              <a:t>ist</a:t>
            </a:r>
            <a:r>
              <a:rPr dirty="0"/>
              <a:t> </a:t>
            </a:r>
            <a:r>
              <a:rPr dirty="0" err="1"/>
              <a:t>nur</a:t>
            </a:r>
            <a:r>
              <a:rPr dirty="0"/>
              <a:t> </a:t>
            </a:r>
            <a:r>
              <a:rPr dirty="0" err="1"/>
              <a:t>einer</a:t>
            </a:r>
            <a:r>
              <a:rPr dirty="0"/>
              <a:t>, das </a:t>
            </a:r>
            <a:r>
              <a:rPr dirty="0" err="1"/>
              <a:t>Generieren</a:t>
            </a:r>
            <a:r>
              <a:rPr dirty="0"/>
              <a:t>, die </a:t>
            </a:r>
            <a:r>
              <a:rPr dirty="0" err="1"/>
              <a:t>eigentliche</a:t>
            </a:r>
            <a:r>
              <a:rPr dirty="0"/>
              <a:t> </a:t>
            </a:r>
            <a:r>
              <a:rPr dirty="0" err="1"/>
              <a:t>Beschleunigung</a:t>
            </a:r>
            <a:r>
              <a:rPr dirty="0"/>
              <a:t> </a:t>
            </a:r>
            <a:r>
              <a:rPr dirty="0" err="1"/>
              <a:t>durch</a:t>
            </a:r>
            <a:r>
              <a:rPr dirty="0"/>
              <a:t> die KI; die </a:t>
            </a:r>
            <a:r>
              <a:rPr dirty="0" err="1"/>
              <a:t>restlichen</a:t>
            </a:r>
            <a:r>
              <a:rPr dirty="0"/>
              <a:t> </a:t>
            </a:r>
            <a:r>
              <a:rPr dirty="0" err="1"/>
              <a:t>fünf</a:t>
            </a:r>
            <a:r>
              <a:rPr dirty="0"/>
              <a:t> </a:t>
            </a:r>
            <a:r>
              <a:rPr dirty="0" err="1"/>
              <a:t>sind</a:t>
            </a:r>
            <a:r>
              <a:rPr dirty="0"/>
              <a:t> </a:t>
            </a:r>
            <a:r>
              <a:rPr dirty="0" err="1"/>
              <a:t>meine</a:t>
            </a:r>
            <a:r>
              <a:rPr dirty="0"/>
              <a:t> </a:t>
            </a:r>
            <a:r>
              <a:rPr dirty="0" err="1"/>
              <a:t>Eigenleistung</a:t>
            </a:r>
            <a:r>
              <a:rPr dirty="0"/>
              <a:t>. </a:t>
            </a:r>
            <a:endParaRPr lang="de-CH" dirty="0"/>
          </a:p>
          <a:p>
            <a:endParaRPr lang="en-US" dirty="0"/>
          </a:p>
          <a:p>
            <a:r>
              <a:rPr dirty="0"/>
              <a:t>Mein </a:t>
            </a:r>
            <a:r>
              <a:rPr dirty="0" err="1"/>
              <a:t>fachlicher</a:t>
            </a:r>
            <a:r>
              <a:rPr dirty="0"/>
              <a:t> </a:t>
            </a:r>
            <a:r>
              <a:rPr dirty="0" err="1"/>
              <a:t>Hintergrund</a:t>
            </a:r>
            <a:r>
              <a:rPr dirty="0"/>
              <a:t> war die </a:t>
            </a:r>
            <a:r>
              <a:rPr dirty="0" err="1"/>
              <a:t>Voraussetzung</a:t>
            </a:r>
            <a:r>
              <a:rPr dirty="0"/>
              <a:t> </a:t>
            </a:r>
            <a:r>
              <a:rPr dirty="0" err="1"/>
              <a:t>dafür</a:t>
            </a:r>
            <a:r>
              <a:rPr dirty="0"/>
              <a:t>, </a:t>
            </a:r>
            <a:r>
              <a:rPr dirty="0" err="1"/>
              <a:t>Vorschläge</a:t>
            </a:r>
            <a:r>
              <a:rPr dirty="0"/>
              <a:t> </a:t>
            </a:r>
            <a:r>
              <a:rPr dirty="0" err="1"/>
              <a:t>überhaupt</a:t>
            </a:r>
            <a:r>
              <a:rPr dirty="0"/>
              <a:t> </a:t>
            </a:r>
            <a:r>
              <a:rPr dirty="0" err="1"/>
              <a:t>beurteilen</a:t>
            </a:r>
            <a:r>
              <a:rPr dirty="0"/>
              <a:t>, </a:t>
            </a:r>
            <a:r>
              <a:rPr dirty="0" err="1"/>
              <a:t>anpassen</a:t>
            </a:r>
            <a:r>
              <a:rPr dirty="0"/>
              <a:t> </a:t>
            </a:r>
            <a:r>
              <a:rPr dirty="0" err="1"/>
              <a:t>oder</a:t>
            </a:r>
            <a:r>
              <a:rPr dirty="0"/>
              <a:t> </a:t>
            </a:r>
            <a:r>
              <a:rPr dirty="0" err="1"/>
              <a:t>verwerfen</a:t>
            </a:r>
            <a:r>
              <a:rPr dirty="0"/>
              <a:t> </a:t>
            </a:r>
            <a:r>
              <a:rPr dirty="0" err="1"/>
              <a:t>zu</a:t>
            </a:r>
            <a:r>
              <a:rPr dirty="0"/>
              <a:t> </a:t>
            </a:r>
            <a:r>
              <a:rPr dirty="0" err="1"/>
              <a:t>können</a:t>
            </a:r>
            <a:r>
              <a:rPr dirty="0"/>
              <a:t>.</a:t>
            </a:r>
            <a:endParaRPr lang="de-CH"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Damit komme ich zum technischen Teil und beginne mit der Architektur – also der grundlegenden Struktur der Anwendung.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Sprintify</a:t>
            </a:r>
            <a:r>
              <a:rPr dirty="0"/>
              <a:t> </a:t>
            </a:r>
            <a:r>
              <a:rPr dirty="0" err="1"/>
              <a:t>folgt</a:t>
            </a:r>
            <a:r>
              <a:rPr dirty="0"/>
              <a:t> </a:t>
            </a:r>
            <a:r>
              <a:rPr dirty="0" err="1"/>
              <a:t>einer</a:t>
            </a:r>
            <a:r>
              <a:rPr dirty="0"/>
              <a:t> </a:t>
            </a:r>
            <a:r>
              <a:rPr dirty="0" err="1"/>
              <a:t>klassischen</a:t>
            </a:r>
            <a:r>
              <a:rPr dirty="0"/>
              <a:t> Drei-</a:t>
            </a:r>
            <a:r>
              <a:rPr dirty="0" err="1"/>
              <a:t>Schichten</a:t>
            </a:r>
            <a:r>
              <a:rPr dirty="0"/>
              <a:t>-</a:t>
            </a:r>
            <a:r>
              <a:rPr dirty="0" err="1"/>
              <a:t>Architektur</a:t>
            </a:r>
            <a:r>
              <a:rPr dirty="0"/>
              <a:t>: </a:t>
            </a:r>
            <a:endParaRPr lang="de-CH" dirty="0"/>
          </a:p>
          <a:p>
            <a:r>
              <a:rPr dirty="0" err="1"/>
              <a:t>Präsentation</a:t>
            </a:r>
            <a:r>
              <a:rPr dirty="0"/>
              <a:t>, </a:t>
            </a:r>
            <a:r>
              <a:rPr dirty="0" err="1"/>
              <a:t>Logik</a:t>
            </a:r>
            <a:r>
              <a:rPr dirty="0"/>
              <a:t> und </a:t>
            </a:r>
            <a:r>
              <a:rPr dirty="0" err="1"/>
              <a:t>Datenhaltung</a:t>
            </a:r>
            <a:r>
              <a:rPr dirty="0"/>
              <a:t> </a:t>
            </a:r>
            <a:r>
              <a:rPr dirty="0" err="1"/>
              <a:t>sind</a:t>
            </a:r>
            <a:r>
              <a:rPr dirty="0"/>
              <a:t> </a:t>
            </a:r>
            <a:r>
              <a:rPr dirty="0" err="1"/>
              <a:t>sauber</a:t>
            </a:r>
            <a:r>
              <a:rPr dirty="0"/>
              <a:t> </a:t>
            </a:r>
            <a:r>
              <a:rPr dirty="0" err="1"/>
              <a:t>getrennt</a:t>
            </a:r>
            <a:r>
              <a:rPr dirty="0"/>
              <a:t>. </a:t>
            </a:r>
            <a:endParaRPr lang="de-CH" dirty="0"/>
          </a:p>
          <a:p>
            <a:endParaRPr lang="en-US" dirty="0"/>
          </a:p>
          <a:p>
            <a:r>
              <a:rPr dirty="0"/>
              <a:t>Das Frontend </a:t>
            </a:r>
            <a:r>
              <a:rPr dirty="0" err="1"/>
              <a:t>ist</a:t>
            </a:r>
            <a:r>
              <a:rPr dirty="0"/>
              <a:t> </a:t>
            </a:r>
            <a:r>
              <a:rPr dirty="0" err="1"/>
              <a:t>eine</a:t>
            </a:r>
            <a:r>
              <a:rPr dirty="0"/>
              <a:t> Single-Page-Application auf Basis von React 19, </a:t>
            </a:r>
            <a:r>
              <a:rPr dirty="0" err="1"/>
              <a:t>geschrieben</a:t>
            </a:r>
            <a:r>
              <a:rPr dirty="0"/>
              <a:t> in TypeScript, </a:t>
            </a:r>
            <a:r>
              <a:rPr dirty="0" err="1"/>
              <a:t>gebaut</a:t>
            </a:r>
            <a:r>
              <a:rPr dirty="0"/>
              <a:t> </a:t>
            </a:r>
            <a:r>
              <a:rPr dirty="0" err="1"/>
              <a:t>mit</a:t>
            </a:r>
            <a:r>
              <a:rPr dirty="0"/>
              <a:t> Vite und </a:t>
            </a:r>
            <a:r>
              <a:rPr dirty="0" err="1"/>
              <a:t>gestylt</a:t>
            </a:r>
            <a:r>
              <a:rPr dirty="0"/>
              <a:t> </a:t>
            </a:r>
            <a:r>
              <a:rPr dirty="0" err="1"/>
              <a:t>mit</a:t>
            </a:r>
            <a:r>
              <a:rPr dirty="0"/>
              <a:t> Tailwind CSS. </a:t>
            </a:r>
            <a:endParaRPr lang="de-CH" dirty="0"/>
          </a:p>
          <a:p>
            <a:endParaRPr lang="en-US" dirty="0"/>
          </a:p>
          <a:p>
            <a:r>
              <a:rPr dirty="0"/>
              <a:t>Das Backend </a:t>
            </a:r>
            <a:r>
              <a:rPr dirty="0" err="1"/>
              <a:t>läuft</a:t>
            </a:r>
            <a:r>
              <a:rPr dirty="0"/>
              <a:t> auf Node.js </a:t>
            </a:r>
            <a:r>
              <a:rPr dirty="0" err="1"/>
              <a:t>mit</a:t>
            </a:r>
            <a:r>
              <a:rPr dirty="0"/>
              <a:t> dem Framework Express und </a:t>
            </a:r>
            <a:r>
              <a:rPr dirty="0" err="1"/>
              <a:t>nutzt</a:t>
            </a:r>
            <a:r>
              <a:rPr dirty="0"/>
              <a:t> </a:t>
            </a:r>
            <a:r>
              <a:rPr dirty="0" err="1"/>
              <a:t>Sequelize</a:t>
            </a:r>
            <a:r>
              <a:rPr dirty="0"/>
              <a:t> </a:t>
            </a:r>
            <a:r>
              <a:rPr dirty="0" err="1"/>
              <a:t>als</a:t>
            </a:r>
            <a:r>
              <a:rPr dirty="0"/>
              <a:t> </a:t>
            </a:r>
            <a:r>
              <a:rPr dirty="0" err="1"/>
              <a:t>objektrelationalen</a:t>
            </a:r>
            <a:r>
              <a:rPr dirty="0"/>
              <a:t> Mapper. </a:t>
            </a:r>
            <a:endParaRPr lang="de-CH" dirty="0"/>
          </a:p>
          <a:p>
            <a:endParaRPr lang="en-US" dirty="0"/>
          </a:p>
          <a:p>
            <a:r>
              <a:rPr dirty="0"/>
              <a:t>Die API </a:t>
            </a:r>
            <a:r>
              <a:rPr dirty="0" err="1"/>
              <a:t>ist</a:t>
            </a:r>
            <a:r>
              <a:rPr dirty="0"/>
              <a:t> in </a:t>
            </a:r>
            <a:r>
              <a:rPr dirty="0" err="1"/>
              <a:t>zehn</a:t>
            </a:r>
            <a:r>
              <a:rPr dirty="0"/>
              <a:t> Route-Module </a:t>
            </a:r>
            <a:r>
              <a:rPr dirty="0" err="1"/>
              <a:t>aufgeteilt</a:t>
            </a:r>
            <a:r>
              <a:rPr dirty="0"/>
              <a:t>, </a:t>
            </a:r>
            <a:endParaRPr lang="de-CH" dirty="0"/>
          </a:p>
          <a:p>
            <a:r>
              <a:rPr dirty="0" err="1"/>
              <a:t>dazu</a:t>
            </a:r>
            <a:r>
              <a:rPr dirty="0"/>
              <a:t> </a:t>
            </a:r>
            <a:r>
              <a:rPr dirty="0" err="1"/>
              <a:t>kommt</a:t>
            </a:r>
            <a:r>
              <a:rPr dirty="0"/>
              <a:t> </a:t>
            </a:r>
            <a:r>
              <a:rPr dirty="0" err="1"/>
              <a:t>ein</a:t>
            </a:r>
            <a:r>
              <a:rPr dirty="0"/>
              <a:t> Middleware-Stack für </a:t>
            </a:r>
            <a:r>
              <a:rPr dirty="0" err="1"/>
              <a:t>Authentifizierung</a:t>
            </a:r>
            <a:r>
              <a:rPr dirty="0"/>
              <a:t> und Sicherheit. </a:t>
            </a:r>
            <a:endParaRPr lang="de-CH" dirty="0"/>
          </a:p>
          <a:p>
            <a:endParaRPr lang="en-US" dirty="0"/>
          </a:p>
          <a:p>
            <a:r>
              <a:rPr dirty="0"/>
              <a:t>Als </a:t>
            </a:r>
            <a:r>
              <a:rPr dirty="0" err="1"/>
              <a:t>Datenbank</a:t>
            </a:r>
            <a:r>
              <a:rPr dirty="0"/>
              <a:t> </a:t>
            </a:r>
            <a:r>
              <a:rPr dirty="0" err="1"/>
              <a:t>kommt</a:t>
            </a:r>
            <a:r>
              <a:rPr dirty="0"/>
              <a:t> PostgreSQL </a:t>
            </a:r>
            <a:r>
              <a:rPr dirty="0" err="1"/>
              <a:t>zum</a:t>
            </a:r>
            <a:r>
              <a:rPr dirty="0"/>
              <a:t> </a:t>
            </a:r>
            <a:r>
              <a:rPr dirty="0" err="1"/>
              <a:t>Einsatz</a:t>
            </a:r>
            <a:r>
              <a:rPr dirty="0"/>
              <a:t>, </a:t>
            </a:r>
            <a:r>
              <a:rPr dirty="0" err="1"/>
              <a:t>betrieben</a:t>
            </a:r>
            <a:r>
              <a:rPr dirty="0"/>
              <a:t> </a:t>
            </a:r>
            <a:r>
              <a:rPr dirty="0" err="1"/>
              <a:t>als</a:t>
            </a:r>
            <a:r>
              <a:rPr dirty="0"/>
              <a:t> Managed-Dienst in Azure. </a:t>
            </a:r>
            <a:endParaRPr lang="de-CH" dirty="0"/>
          </a:p>
          <a:p>
            <a:endParaRPr lang="en-US" dirty="0"/>
          </a:p>
          <a:p>
            <a:r>
              <a:rPr dirty="0"/>
              <a:t>Lassen Sie </a:t>
            </a:r>
            <a:r>
              <a:rPr dirty="0" err="1"/>
              <a:t>mich</a:t>
            </a:r>
            <a:r>
              <a:rPr dirty="0"/>
              <a:t> die </a:t>
            </a:r>
            <a:r>
              <a:rPr dirty="0" err="1"/>
              <a:t>zwei</a:t>
            </a:r>
            <a:r>
              <a:rPr dirty="0"/>
              <a:t> </a:t>
            </a:r>
            <a:r>
              <a:rPr dirty="0" err="1"/>
              <a:t>wichtigsten</a:t>
            </a:r>
            <a:r>
              <a:rPr dirty="0"/>
              <a:t> </a:t>
            </a:r>
            <a:r>
              <a:rPr dirty="0" err="1"/>
              <a:t>Technologieentscheidungen</a:t>
            </a:r>
            <a:r>
              <a:rPr dirty="0"/>
              <a:t> </a:t>
            </a:r>
            <a:r>
              <a:rPr dirty="0" err="1"/>
              <a:t>begründen</a:t>
            </a:r>
            <a:r>
              <a:rPr dirty="0"/>
              <a:t>. Node.js </a:t>
            </a:r>
            <a:r>
              <a:rPr dirty="0" err="1"/>
              <a:t>habe</a:t>
            </a:r>
            <a:r>
              <a:rPr dirty="0"/>
              <a:t> ich </a:t>
            </a:r>
            <a:r>
              <a:rPr dirty="0" err="1"/>
              <a:t>gewählt</a:t>
            </a:r>
            <a:r>
              <a:rPr dirty="0"/>
              <a:t>, </a:t>
            </a:r>
            <a:r>
              <a:rPr dirty="0" err="1"/>
              <a:t>weil</a:t>
            </a:r>
            <a:r>
              <a:rPr dirty="0"/>
              <a:t> ich </a:t>
            </a:r>
            <a:r>
              <a:rPr dirty="0" err="1"/>
              <a:t>bereits</a:t>
            </a:r>
            <a:r>
              <a:rPr dirty="0"/>
              <a:t> </a:t>
            </a:r>
            <a:r>
              <a:rPr dirty="0" err="1"/>
              <a:t>fundierte</a:t>
            </a:r>
            <a:r>
              <a:rPr dirty="0"/>
              <a:t> </a:t>
            </a:r>
            <a:r>
              <a:rPr dirty="0" err="1"/>
              <a:t>Erfahrung</a:t>
            </a:r>
            <a:r>
              <a:rPr dirty="0"/>
              <a:t> </a:t>
            </a:r>
            <a:r>
              <a:rPr dirty="0" err="1"/>
              <a:t>mit</a:t>
            </a:r>
            <a:r>
              <a:rPr dirty="0"/>
              <a:t> JavaScript und TypeScript </a:t>
            </a:r>
            <a:r>
              <a:rPr dirty="0" err="1"/>
              <a:t>hatte</a:t>
            </a:r>
            <a:r>
              <a:rPr dirty="0"/>
              <a:t> und </a:t>
            </a:r>
            <a:r>
              <a:rPr dirty="0" err="1"/>
              <a:t>weil</a:t>
            </a:r>
            <a:r>
              <a:rPr dirty="0"/>
              <a:t> das </a:t>
            </a:r>
            <a:r>
              <a:rPr dirty="0" err="1"/>
              <a:t>ereignisgesteuerte</a:t>
            </a:r>
            <a:r>
              <a:rPr dirty="0"/>
              <a:t>, nicht-</a:t>
            </a:r>
            <a:r>
              <a:rPr dirty="0" err="1"/>
              <a:t>blockierende</a:t>
            </a:r>
            <a:r>
              <a:rPr dirty="0"/>
              <a:t> I/O-Modell </a:t>
            </a:r>
            <a:r>
              <a:rPr dirty="0" err="1"/>
              <a:t>hervorragend</a:t>
            </a:r>
            <a:r>
              <a:rPr dirty="0"/>
              <a:t> </a:t>
            </a:r>
            <a:r>
              <a:rPr dirty="0" err="1"/>
              <a:t>zur</a:t>
            </a:r>
            <a:r>
              <a:rPr dirty="0"/>
              <a:t> Jira-</a:t>
            </a:r>
            <a:r>
              <a:rPr dirty="0" err="1"/>
              <a:t>Anbindung</a:t>
            </a:r>
            <a:r>
              <a:rPr dirty="0"/>
              <a:t> </a:t>
            </a:r>
            <a:r>
              <a:rPr dirty="0" err="1"/>
              <a:t>passt</a:t>
            </a:r>
            <a:r>
              <a:rPr dirty="0"/>
              <a:t> – </a:t>
            </a:r>
            <a:r>
              <a:rPr dirty="0" err="1"/>
              <a:t>dort</a:t>
            </a:r>
            <a:r>
              <a:rPr dirty="0"/>
              <a:t> fallen </a:t>
            </a:r>
            <a:r>
              <a:rPr dirty="0" err="1"/>
              <a:t>sehr</a:t>
            </a:r>
            <a:r>
              <a:rPr dirty="0"/>
              <a:t> </a:t>
            </a:r>
            <a:r>
              <a:rPr dirty="0" err="1"/>
              <a:t>viele</a:t>
            </a:r>
            <a:r>
              <a:rPr dirty="0"/>
              <a:t> </a:t>
            </a:r>
            <a:r>
              <a:rPr dirty="0" err="1"/>
              <a:t>parallele</a:t>
            </a:r>
            <a:r>
              <a:rPr dirty="0"/>
              <a:t> HTTP-Calls an, und </a:t>
            </a:r>
            <a:r>
              <a:rPr dirty="0" err="1"/>
              <a:t>genau</a:t>
            </a:r>
            <a:r>
              <a:rPr dirty="0"/>
              <a:t> das </a:t>
            </a:r>
            <a:r>
              <a:rPr dirty="0" err="1"/>
              <a:t>kann</a:t>
            </a:r>
            <a:r>
              <a:rPr dirty="0"/>
              <a:t> Node </a:t>
            </a:r>
            <a:r>
              <a:rPr dirty="0" err="1"/>
              <a:t>effizient</a:t>
            </a:r>
            <a:r>
              <a:rPr dirty="0"/>
              <a:t>. </a:t>
            </a:r>
            <a:endParaRPr lang="de-CH" dirty="0"/>
          </a:p>
          <a:p>
            <a:endParaRPr lang="en-US" dirty="0"/>
          </a:p>
          <a:p>
            <a:r>
              <a:rPr dirty="0"/>
              <a:t>PostgreSQL war </a:t>
            </a:r>
            <a:r>
              <a:rPr dirty="0" err="1"/>
              <a:t>naheliegend</a:t>
            </a:r>
            <a:r>
              <a:rPr dirty="0"/>
              <a:t>, </a:t>
            </a:r>
            <a:r>
              <a:rPr dirty="0" err="1"/>
              <a:t>weil</a:t>
            </a:r>
            <a:r>
              <a:rPr dirty="0"/>
              <a:t> </a:t>
            </a:r>
            <a:r>
              <a:rPr dirty="0" err="1"/>
              <a:t>unsere</a:t>
            </a:r>
            <a:r>
              <a:rPr dirty="0"/>
              <a:t> </a:t>
            </a:r>
            <a:r>
              <a:rPr dirty="0" err="1"/>
              <a:t>Datenstruktur</a:t>
            </a:r>
            <a:r>
              <a:rPr dirty="0"/>
              <a:t> </a:t>
            </a:r>
            <a:r>
              <a:rPr dirty="0" err="1"/>
              <a:t>klar</a:t>
            </a:r>
            <a:r>
              <a:rPr dirty="0"/>
              <a:t> relational </a:t>
            </a:r>
            <a:r>
              <a:rPr dirty="0" err="1"/>
              <a:t>ist</a:t>
            </a:r>
            <a:r>
              <a:rPr dirty="0"/>
              <a:t> und </a:t>
            </a:r>
            <a:r>
              <a:rPr dirty="0" err="1"/>
              <a:t>weil</a:t>
            </a:r>
            <a:r>
              <a:rPr dirty="0"/>
              <a:t> ACID-</a:t>
            </a:r>
            <a:r>
              <a:rPr dirty="0" err="1"/>
              <a:t>Transaktionen</a:t>
            </a:r>
            <a:r>
              <a:rPr dirty="0"/>
              <a:t> für die </a:t>
            </a:r>
            <a:r>
              <a:rPr dirty="0" err="1"/>
              <a:t>Konsistenz</a:t>
            </a:r>
            <a:r>
              <a:rPr dirty="0"/>
              <a:t> von Sprint- und Story-</a:t>
            </a:r>
            <a:r>
              <a:rPr dirty="0" err="1"/>
              <a:t>Daten</a:t>
            </a:r>
            <a:r>
              <a:rPr dirty="0"/>
              <a:t> </a:t>
            </a:r>
            <a:r>
              <a:rPr dirty="0" err="1"/>
              <a:t>wichtig</a:t>
            </a:r>
            <a:r>
              <a:rPr dirty="0"/>
              <a:t> </a:t>
            </a:r>
            <a:r>
              <a:rPr dirty="0" err="1"/>
              <a:t>sind</a:t>
            </a:r>
            <a:r>
              <a:rPr dirty="0"/>
              <a:t>. </a:t>
            </a:r>
            <a:endParaRPr lang="de-CH" dirty="0"/>
          </a:p>
          <a:p>
            <a:endParaRPr lang="en-US" dirty="0"/>
          </a:p>
          <a:p>
            <a:r>
              <a:rPr dirty="0" err="1"/>
              <a:t>Rechts</a:t>
            </a:r>
            <a:r>
              <a:rPr dirty="0"/>
              <a:t> </a:t>
            </a:r>
            <a:r>
              <a:rPr dirty="0" err="1"/>
              <a:t>sehen</a:t>
            </a:r>
            <a:r>
              <a:rPr dirty="0"/>
              <a:t> Sie die </a:t>
            </a:r>
            <a:r>
              <a:rPr dirty="0" err="1"/>
              <a:t>beiden</a:t>
            </a:r>
            <a:r>
              <a:rPr dirty="0"/>
              <a:t> </a:t>
            </a:r>
            <a:r>
              <a:rPr dirty="0" err="1"/>
              <a:t>externen</a:t>
            </a:r>
            <a:r>
              <a:rPr dirty="0"/>
              <a:t> Systeme: Jira Cloud, </a:t>
            </a:r>
            <a:r>
              <a:rPr dirty="0" err="1"/>
              <a:t>angebunden</a:t>
            </a:r>
            <a:r>
              <a:rPr dirty="0"/>
              <a:t> </a:t>
            </a:r>
            <a:r>
              <a:rPr dirty="0" err="1"/>
              <a:t>über</a:t>
            </a:r>
            <a:r>
              <a:rPr dirty="0"/>
              <a:t> </a:t>
            </a:r>
            <a:r>
              <a:rPr dirty="0" err="1"/>
              <a:t>zwei</a:t>
            </a:r>
            <a:r>
              <a:rPr dirty="0"/>
              <a:t> APIs, und Microsoft Entra ID für die </a:t>
            </a:r>
            <a:r>
              <a:rPr dirty="0" err="1"/>
              <a:t>Authentifizierung</a:t>
            </a:r>
            <a:r>
              <a:rPr dirty="0"/>
              <a:t>. Ein Scheduler </a:t>
            </a:r>
            <a:r>
              <a:rPr dirty="0" err="1"/>
              <a:t>synchronisiert</a:t>
            </a:r>
            <a:r>
              <a:rPr dirty="0"/>
              <a:t> </a:t>
            </a:r>
            <a:r>
              <a:rPr dirty="0" err="1"/>
              <a:t>automatisch</a:t>
            </a:r>
            <a:r>
              <a:rPr dirty="0"/>
              <a:t> alle 15 Minuten </a:t>
            </a:r>
            <a:r>
              <a:rPr dirty="0" err="1"/>
              <a:t>mit</a:t>
            </a:r>
            <a:r>
              <a:rPr dirty="0"/>
              <a:t> Jira.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Schauen</a:t>
            </a:r>
            <a:r>
              <a:rPr dirty="0"/>
              <a:t> </a:t>
            </a:r>
            <a:r>
              <a:rPr dirty="0" err="1"/>
              <a:t>wir</a:t>
            </a:r>
            <a:r>
              <a:rPr dirty="0"/>
              <a:t> auf das </a:t>
            </a:r>
            <a:r>
              <a:rPr dirty="0" err="1"/>
              <a:t>Datenmodell</a:t>
            </a:r>
            <a:r>
              <a:rPr dirty="0"/>
              <a:t> –</a:t>
            </a:r>
            <a:endParaRPr lang="de-CH" dirty="0"/>
          </a:p>
          <a:p>
            <a:endParaRPr lang="en-US" dirty="0"/>
          </a:p>
          <a:p>
            <a:r>
              <a:rPr dirty="0"/>
              <a:t>es </a:t>
            </a:r>
            <a:r>
              <a:rPr dirty="0" err="1"/>
              <a:t>umfasst</a:t>
            </a:r>
            <a:r>
              <a:rPr dirty="0"/>
              <a:t> </a:t>
            </a:r>
            <a:r>
              <a:rPr dirty="0" err="1"/>
              <a:t>sieben</a:t>
            </a:r>
            <a:r>
              <a:rPr dirty="0"/>
              <a:t> </a:t>
            </a:r>
            <a:r>
              <a:rPr dirty="0" err="1"/>
              <a:t>Entitäten</a:t>
            </a:r>
            <a:r>
              <a:rPr dirty="0"/>
              <a:t>. Von links </a:t>
            </a:r>
            <a:r>
              <a:rPr dirty="0" err="1"/>
              <a:t>nach</a:t>
            </a:r>
            <a:r>
              <a:rPr dirty="0"/>
              <a:t> </a:t>
            </a:r>
            <a:r>
              <a:rPr dirty="0" err="1"/>
              <a:t>rechts</a:t>
            </a:r>
            <a:r>
              <a:rPr dirty="0"/>
              <a:t>: </a:t>
            </a:r>
            <a:endParaRPr lang="de-CH" dirty="0"/>
          </a:p>
          <a:p>
            <a:endParaRPr lang="en-US" dirty="0"/>
          </a:p>
          <a:p>
            <a:r>
              <a:rPr dirty="0"/>
              <a:t>Ein Projekt hat </a:t>
            </a:r>
            <a:r>
              <a:rPr dirty="0" err="1"/>
              <a:t>mehrere</a:t>
            </a:r>
            <a:r>
              <a:rPr dirty="0"/>
              <a:t> Sprints, </a:t>
            </a:r>
            <a:endParaRPr lang="de-CH" dirty="0"/>
          </a:p>
          <a:p>
            <a:r>
              <a:rPr dirty="0"/>
              <a:t>und </a:t>
            </a:r>
            <a:r>
              <a:rPr dirty="0" err="1"/>
              <a:t>ein</a:t>
            </a:r>
            <a:r>
              <a:rPr dirty="0"/>
              <a:t> Sprint hat </a:t>
            </a:r>
            <a:r>
              <a:rPr dirty="0" err="1"/>
              <a:t>mehrere</a:t>
            </a:r>
            <a:r>
              <a:rPr dirty="0"/>
              <a:t> User Stories. </a:t>
            </a:r>
            <a:endParaRPr lang="de-CH" dirty="0"/>
          </a:p>
          <a:p>
            <a:endParaRPr lang="en-US" dirty="0"/>
          </a:p>
          <a:p>
            <a:r>
              <a:rPr dirty="0"/>
              <a:t>Das </a:t>
            </a:r>
            <a:r>
              <a:rPr dirty="0" err="1"/>
              <a:t>ist</a:t>
            </a:r>
            <a:r>
              <a:rPr dirty="0"/>
              <a:t> die </a:t>
            </a:r>
            <a:r>
              <a:rPr dirty="0" err="1"/>
              <a:t>zentrale</a:t>
            </a:r>
            <a:r>
              <a:rPr dirty="0"/>
              <a:t> </a:t>
            </a:r>
            <a:r>
              <a:rPr dirty="0" err="1"/>
              <a:t>Hierarchie</a:t>
            </a:r>
            <a:r>
              <a:rPr dirty="0"/>
              <a:t>. </a:t>
            </a:r>
            <a:r>
              <a:rPr dirty="0" err="1"/>
              <a:t>Interessanter</a:t>
            </a:r>
            <a:r>
              <a:rPr dirty="0"/>
              <a:t> </a:t>
            </a:r>
            <a:r>
              <a:rPr dirty="0" err="1"/>
              <a:t>sind</a:t>
            </a:r>
            <a:r>
              <a:rPr dirty="0"/>
              <a:t> die </a:t>
            </a:r>
            <a:r>
              <a:rPr dirty="0" err="1"/>
              <a:t>Verknüpfungstabellen</a:t>
            </a:r>
            <a:r>
              <a:rPr dirty="0"/>
              <a:t>, die ich </a:t>
            </a:r>
            <a:r>
              <a:rPr dirty="0" err="1"/>
              <a:t>blau</a:t>
            </a:r>
            <a:r>
              <a:rPr dirty="0"/>
              <a:t> </a:t>
            </a:r>
            <a:r>
              <a:rPr dirty="0" err="1"/>
              <a:t>markiert</a:t>
            </a:r>
            <a:r>
              <a:rPr dirty="0"/>
              <a:t> </a:t>
            </a:r>
            <a:r>
              <a:rPr dirty="0" err="1"/>
              <a:t>habe</a:t>
            </a:r>
            <a:r>
              <a:rPr dirty="0"/>
              <a:t>. </a:t>
            </a:r>
            <a:endParaRPr lang="de-CH" dirty="0"/>
          </a:p>
          <a:p>
            <a:endParaRPr lang="en-US" dirty="0"/>
          </a:p>
          <a:p>
            <a:r>
              <a:rPr dirty="0"/>
              <a:t>Die </a:t>
            </a:r>
            <a:r>
              <a:rPr dirty="0" err="1"/>
              <a:t>Beziehung</a:t>
            </a:r>
            <a:r>
              <a:rPr dirty="0"/>
              <a:t> </a:t>
            </a:r>
            <a:r>
              <a:rPr dirty="0" err="1"/>
              <a:t>zwischen</a:t>
            </a:r>
            <a:r>
              <a:rPr dirty="0"/>
              <a:t> </a:t>
            </a:r>
            <a:r>
              <a:rPr dirty="0" err="1"/>
              <a:t>Usern</a:t>
            </a:r>
            <a:r>
              <a:rPr dirty="0"/>
              <a:t> und </a:t>
            </a:r>
            <a:r>
              <a:rPr dirty="0" err="1"/>
              <a:t>Projekten</a:t>
            </a:r>
            <a:r>
              <a:rPr dirty="0"/>
              <a:t> </a:t>
            </a:r>
            <a:r>
              <a:rPr dirty="0" err="1"/>
              <a:t>ist</a:t>
            </a:r>
            <a:r>
              <a:rPr dirty="0"/>
              <a:t> </a:t>
            </a:r>
            <a:r>
              <a:rPr dirty="0" err="1"/>
              <a:t>eine</a:t>
            </a:r>
            <a:r>
              <a:rPr dirty="0"/>
              <a:t> Many-to-Many-</a:t>
            </a:r>
            <a:r>
              <a:rPr dirty="0" err="1"/>
              <a:t>Beziehung</a:t>
            </a:r>
            <a:r>
              <a:rPr dirty="0"/>
              <a:t> – </a:t>
            </a:r>
            <a:endParaRPr lang="de-CH" dirty="0"/>
          </a:p>
          <a:p>
            <a:r>
              <a:rPr dirty="0" err="1"/>
              <a:t>ein</a:t>
            </a:r>
            <a:r>
              <a:rPr dirty="0"/>
              <a:t> User </a:t>
            </a:r>
            <a:r>
              <a:rPr dirty="0" err="1"/>
              <a:t>kann</a:t>
            </a:r>
            <a:r>
              <a:rPr dirty="0"/>
              <a:t> in </a:t>
            </a:r>
            <a:r>
              <a:rPr dirty="0" err="1"/>
              <a:t>mehreren</a:t>
            </a:r>
            <a:r>
              <a:rPr dirty="0"/>
              <a:t> </a:t>
            </a:r>
            <a:r>
              <a:rPr dirty="0" err="1"/>
              <a:t>Projekten</a:t>
            </a:r>
            <a:r>
              <a:rPr dirty="0"/>
              <a:t> sein, </a:t>
            </a:r>
            <a:r>
              <a:rPr dirty="0" err="1"/>
              <a:t>ein</a:t>
            </a:r>
            <a:r>
              <a:rPr dirty="0"/>
              <a:t> Projekt hat </a:t>
            </a:r>
            <a:r>
              <a:rPr dirty="0" err="1"/>
              <a:t>mehrere</a:t>
            </a:r>
            <a:r>
              <a:rPr dirty="0"/>
              <a:t> User. </a:t>
            </a:r>
            <a:endParaRPr lang="de-CH" dirty="0"/>
          </a:p>
          <a:p>
            <a:endParaRPr lang="en-US" dirty="0"/>
          </a:p>
          <a:p>
            <a:r>
              <a:rPr dirty="0" err="1"/>
              <a:t>Aufgelöst</a:t>
            </a:r>
            <a:r>
              <a:rPr dirty="0"/>
              <a:t> </a:t>
            </a:r>
            <a:r>
              <a:rPr dirty="0" err="1"/>
              <a:t>wird</a:t>
            </a:r>
            <a:r>
              <a:rPr dirty="0"/>
              <a:t> das </a:t>
            </a:r>
            <a:r>
              <a:rPr dirty="0" err="1"/>
              <a:t>über</a:t>
            </a:r>
            <a:r>
              <a:rPr dirty="0"/>
              <a:t> die </a:t>
            </a:r>
            <a:r>
              <a:rPr dirty="0" err="1"/>
              <a:t>Tabelle</a:t>
            </a:r>
            <a:r>
              <a:rPr dirty="0"/>
              <a:t> </a:t>
            </a:r>
            <a:r>
              <a:rPr dirty="0" err="1"/>
              <a:t>ProjectUser</a:t>
            </a:r>
            <a:r>
              <a:rPr dirty="0"/>
              <a:t>, und </a:t>
            </a:r>
            <a:r>
              <a:rPr dirty="0" err="1"/>
              <a:t>genau</a:t>
            </a:r>
            <a:r>
              <a:rPr dirty="0"/>
              <a:t> </a:t>
            </a:r>
            <a:r>
              <a:rPr dirty="0" err="1"/>
              <a:t>dort</a:t>
            </a:r>
            <a:r>
              <a:rPr dirty="0"/>
              <a:t> </a:t>
            </a:r>
            <a:r>
              <a:rPr dirty="0" err="1"/>
              <a:t>ist</a:t>
            </a:r>
            <a:r>
              <a:rPr dirty="0"/>
              <a:t> </a:t>
            </a:r>
            <a:r>
              <a:rPr dirty="0" err="1"/>
              <a:t>auch</a:t>
            </a:r>
            <a:r>
              <a:rPr dirty="0"/>
              <a:t> die Rolle </a:t>
            </a:r>
            <a:r>
              <a:rPr dirty="0" err="1"/>
              <a:t>hinterlegt</a:t>
            </a:r>
            <a:r>
              <a:rPr dirty="0"/>
              <a:t>: Admin, Member </a:t>
            </a:r>
            <a:r>
              <a:rPr dirty="0" err="1"/>
              <a:t>oder</a:t>
            </a:r>
            <a:r>
              <a:rPr dirty="0"/>
              <a:t> Viewer. </a:t>
            </a:r>
            <a:endParaRPr lang="de-CH" dirty="0"/>
          </a:p>
          <a:p>
            <a:endParaRPr lang="en-US" dirty="0"/>
          </a:p>
          <a:p>
            <a:r>
              <a:rPr dirty="0" err="1"/>
              <a:t>Diese</a:t>
            </a:r>
            <a:r>
              <a:rPr dirty="0"/>
              <a:t> </a:t>
            </a:r>
            <a:r>
              <a:rPr dirty="0" err="1"/>
              <a:t>Beziehung</a:t>
            </a:r>
            <a:r>
              <a:rPr dirty="0"/>
              <a:t> war </a:t>
            </a:r>
            <a:r>
              <a:rPr dirty="0" err="1"/>
              <a:t>einer</a:t>
            </a:r>
            <a:r>
              <a:rPr dirty="0"/>
              <a:t> der </a:t>
            </a:r>
            <a:r>
              <a:rPr dirty="0" err="1"/>
              <a:t>Gründe</a:t>
            </a:r>
            <a:r>
              <a:rPr dirty="0"/>
              <a:t> für PostgreSQL, </a:t>
            </a:r>
            <a:r>
              <a:rPr dirty="0" err="1"/>
              <a:t>weil</a:t>
            </a:r>
            <a:r>
              <a:rPr dirty="0"/>
              <a:t> </a:t>
            </a:r>
            <a:r>
              <a:rPr dirty="0" err="1"/>
              <a:t>relationale</a:t>
            </a:r>
            <a:r>
              <a:rPr dirty="0"/>
              <a:t> </a:t>
            </a:r>
            <a:r>
              <a:rPr dirty="0" err="1"/>
              <a:t>Datenbanken</a:t>
            </a:r>
            <a:r>
              <a:rPr dirty="0"/>
              <a:t> </a:t>
            </a:r>
            <a:r>
              <a:rPr dirty="0" err="1"/>
              <a:t>solche</a:t>
            </a:r>
            <a:r>
              <a:rPr dirty="0"/>
              <a:t> Many-to-Many-Konstrukte </a:t>
            </a:r>
            <a:r>
              <a:rPr dirty="0" err="1"/>
              <a:t>sauber</a:t>
            </a:r>
            <a:r>
              <a:rPr dirty="0"/>
              <a:t> </a:t>
            </a:r>
            <a:r>
              <a:rPr dirty="0" err="1"/>
              <a:t>abbilden</a:t>
            </a:r>
            <a:r>
              <a:rPr dirty="0"/>
              <a:t>. </a:t>
            </a:r>
            <a:endParaRPr lang="de-CH" dirty="0"/>
          </a:p>
          <a:p>
            <a:endParaRPr lang="en-US" dirty="0"/>
          </a:p>
          <a:p>
            <a:r>
              <a:rPr dirty="0" err="1"/>
              <a:t>Ähnlich</a:t>
            </a:r>
            <a:r>
              <a:rPr dirty="0"/>
              <a:t> der </a:t>
            </a:r>
            <a:r>
              <a:rPr dirty="0" err="1"/>
              <a:t>CapacityPlan</a:t>
            </a:r>
            <a:r>
              <a:rPr dirty="0"/>
              <a:t>: Er </a:t>
            </a:r>
            <a:r>
              <a:rPr dirty="0" err="1"/>
              <a:t>hängt</a:t>
            </a:r>
            <a:r>
              <a:rPr dirty="0"/>
              <a:t> </a:t>
            </a:r>
            <a:r>
              <a:rPr dirty="0" err="1"/>
              <a:t>sowohl</a:t>
            </a:r>
            <a:r>
              <a:rPr dirty="0"/>
              <a:t> am Sprint </a:t>
            </a:r>
            <a:r>
              <a:rPr dirty="0" err="1"/>
              <a:t>als</a:t>
            </a:r>
            <a:r>
              <a:rPr dirty="0"/>
              <a:t> </a:t>
            </a:r>
            <a:r>
              <a:rPr dirty="0" err="1"/>
              <a:t>auch</a:t>
            </a:r>
            <a:r>
              <a:rPr dirty="0"/>
              <a:t> am User und </a:t>
            </a:r>
            <a:r>
              <a:rPr dirty="0" err="1"/>
              <a:t>speichert</a:t>
            </a:r>
            <a:r>
              <a:rPr dirty="0"/>
              <a:t> die </a:t>
            </a:r>
            <a:r>
              <a:rPr dirty="0" err="1"/>
              <a:t>wochenweisen</a:t>
            </a:r>
            <a:r>
              <a:rPr dirty="0"/>
              <a:t> </a:t>
            </a:r>
            <a:r>
              <a:rPr dirty="0" err="1"/>
              <a:t>Kapazitätsdaten</a:t>
            </a:r>
            <a:r>
              <a:rPr dirty="0"/>
              <a:t> – </a:t>
            </a:r>
            <a:endParaRPr lang="de-CH" dirty="0"/>
          </a:p>
          <a:p>
            <a:r>
              <a:rPr dirty="0"/>
              <a:t>also für </a:t>
            </a:r>
            <a:r>
              <a:rPr dirty="0" err="1"/>
              <a:t>jede</a:t>
            </a:r>
            <a:r>
              <a:rPr dirty="0"/>
              <a:t> Person in </a:t>
            </a:r>
            <a:r>
              <a:rPr dirty="0" err="1"/>
              <a:t>jedem</a:t>
            </a:r>
            <a:r>
              <a:rPr dirty="0"/>
              <a:t> Sprint </a:t>
            </a:r>
            <a:r>
              <a:rPr dirty="0" err="1"/>
              <a:t>einen</a:t>
            </a:r>
            <a:r>
              <a:rPr dirty="0"/>
              <a:t> </a:t>
            </a:r>
            <a:r>
              <a:rPr dirty="0" err="1"/>
              <a:t>eigenen</a:t>
            </a:r>
            <a:r>
              <a:rPr dirty="0"/>
              <a:t> Plan. </a:t>
            </a:r>
            <a:endParaRPr lang="de-CH" dirty="0"/>
          </a:p>
          <a:p>
            <a:endParaRPr lang="en-US" dirty="0"/>
          </a:p>
          <a:p>
            <a:r>
              <a:rPr dirty="0"/>
              <a:t>Und </a:t>
            </a:r>
            <a:r>
              <a:rPr dirty="0" err="1"/>
              <a:t>schliesslich</a:t>
            </a:r>
            <a:r>
              <a:rPr dirty="0"/>
              <a:t> die </a:t>
            </a:r>
            <a:r>
              <a:rPr dirty="0" err="1"/>
              <a:t>Retrospektive</a:t>
            </a:r>
            <a:r>
              <a:rPr dirty="0"/>
              <a:t>, die </a:t>
            </a:r>
            <a:r>
              <a:rPr dirty="0" err="1"/>
              <a:t>über</a:t>
            </a:r>
            <a:r>
              <a:rPr dirty="0"/>
              <a:t> </a:t>
            </a:r>
            <a:r>
              <a:rPr dirty="0" err="1"/>
              <a:t>einen</a:t>
            </a:r>
            <a:r>
              <a:rPr dirty="0"/>
              <a:t> Unique Constraint </a:t>
            </a:r>
            <a:r>
              <a:rPr dirty="0" err="1"/>
              <a:t>genau</a:t>
            </a:r>
            <a:r>
              <a:rPr dirty="0"/>
              <a:t> </a:t>
            </a:r>
            <a:r>
              <a:rPr dirty="0" err="1"/>
              <a:t>einem</a:t>
            </a:r>
            <a:r>
              <a:rPr dirty="0"/>
              <a:t> Sprint </a:t>
            </a:r>
            <a:r>
              <a:rPr dirty="0" err="1"/>
              <a:t>zugeordnet</a:t>
            </a:r>
            <a:r>
              <a:rPr dirty="0"/>
              <a:t> </a:t>
            </a:r>
            <a:r>
              <a:rPr dirty="0" err="1"/>
              <a:t>ist</a:t>
            </a:r>
            <a:r>
              <a:rPr dirty="0"/>
              <a:t>, </a:t>
            </a:r>
            <a:r>
              <a:rPr dirty="0" err="1"/>
              <a:t>damit</a:t>
            </a:r>
            <a:r>
              <a:rPr dirty="0"/>
              <a:t> </a:t>
            </a:r>
            <a:r>
              <a:rPr dirty="0" err="1"/>
              <a:t>historisch</a:t>
            </a:r>
            <a:r>
              <a:rPr dirty="0"/>
              <a:t> </a:t>
            </a:r>
            <a:r>
              <a:rPr dirty="0" err="1"/>
              <a:t>nachvollziehbar</a:t>
            </a:r>
            <a:r>
              <a:rPr dirty="0"/>
              <a:t> </a:t>
            </a:r>
            <a:r>
              <a:rPr dirty="0" err="1"/>
              <a:t>bleibt</a:t>
            </a:r>
            <a:r>
              <a:rPr dirty="0"/>
              <a:t>, </a:t>
            </a:r>
            <a:r>
              <a:rPr dirty="0" err="1"/>
              <a:t>welche</a:t>
            </a:r>
            <a:r>
              <a:rPr dirty="0"/>
              <a:t> </a:t>
            </a:r>
            <a:r>
              <a:rPr dirty="0" err="1"/>
              <a:t>Verbesserungen</a:t>
            </a:r>
            <a:r>
              <a:rPr dirty="0"/>
              <a:t> </a:t>
            </a:r>
            <a:r>
              <a:rPr dirty="0" err="1"/>
              <a:t>wann</a:t>
            </a:r>
            <a:r>
              <a:rPr dirty="0"/>
              <a:t> </a:t>
            </a:r>
            <a:r>
              <a:rPr dirty="0" err="1"/>
              <a:t>beschlossen</a:t>
            </a:r>
            <a:r>
              <a:rPr dirty="0"/>
              <a:t> </a:t>
            </a:r>
            <a:r>
              <a:rPr dirty="0" err="1"/>
              <a:t>wurden</a:t>
            </a:r>
            <a:r>
              <a:rPr dirty="0"/>
              <a:t>. </a:t>
            </a:r>
            <a:endParaRPr lang="de-CH" dirty="0"/>
          </a:p>
          <a:p>
            <a:endParaRPr lang="en-US" dirty="0"/>
          </a:p>
          <a:p>
            <a:r>
              <a:rPr dirty="0"/>
              <a:t>Sieben Modelle </a:t>
            </a:r>
            <a:r>
              <a:rPr dirty="0" err="1"/>
              <a:t>klingt</a:t>
            </a:r>
            <a:r>
              <a:rPr dirty="0"/>
              <a:t> </a:t>
            </a:r>
            <a:r>
              <a:rPr dirty="0" err="1"/>
              <a:t>schlank</a:t>
            </a:r>
            <a:r>
              <a:rPr dirty="0"/>
              <a:t>, und das </a:t>
            </a:r>
            <a:r>
              <a:rPr dirty="0" err="1"/>
              <a:t>ist</a:t>
            </a:r>
            <a:r>
              <a:rPr dirty="0"/>
              <a:t> </a:t>
            </a:r>
            <a:r>
              <a:rPr dirty="0" err="1"/>
              <a:t>Absicht</a:t>
            </a:r>
            <a:r>
              <a:rPr dirty="0"/>
              <a:t>: Ich </a:t>
            </a:r>
            <a:r>
              <a:rPr dirty="0" err="1"/>
              <a:t>habe</a:t>
            </a:r>
            <a:r>
              <a:rPr dirty="0"/>
              <a:t> das </a:t>
            </a:r>
            <a:r>
              <a:rPr dirty="0" err="1"/>
              <a:t>Datenmodell</a:t>
            </a:r>
            <a:r>
              <a:rPr dirty="0"/>
              <a:t> </a:t>
            </a:r>
            <a:r>
              <a:rPr dirty="0" err="1"/>
              <a:t>bewusst</a:t>
            </a:r>
            <a:r>
              <a:rPr dirty="0"/>
              <a:t> so </a:t>
            </a:r>
            <a:r>
              <a:rPr dirty="0" err="1"/>
              <a:t>einfach</a:t>
            </a:r>
            <a:r>
              <a:rPr dirty="0"/>
              <a:t> </a:t>
            </a:r>
            <a:r>
              <a:rPr dirty="0" err="1"/>
              <a:t>wie</a:t>
            </a:r>
            <a:r>
              <a:rPr dirty="0"/>
              <a:t> </a:t>
            </a:r>
            <a:r>
              <a:rPr dirty="0" err="1"/>
              <a:t>möglich</a:t>
            </a:r>
            <a:r>
              <a:rPr dirty="0"/>
              <a:t> </a:t>
            </a:r>
            <a:r>
              <a:rPr dirty="0" err="1"/>
              <a:t>gehalten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Zum Thema Sicherheit und </a:t>
            </a:r>
            <a:r>
              <a:rPr dirty="0" err="1"/>
              <a:t>Zugriffskontrolle</a:t>
            </a:r>
            <a:r>
              <a:rPr dirty="0"/>
              <a:t>, das mir </a:t>
            </a:r>
            <a:r>
              <a:rPr dirty="0" err="1"/>
              <a:t>als</a:t>
            </a:r>
            <a:r>
              <a:rPr dirty="0"/>
              <a:t> Cloud Engineer </a:t>
            </a:r>
            <a:r>
              <a:rPr dirty="0" err="1"/>
              <a:t>besonders</a:t>
            </a:r>
            <a:r>
              <a:rPr dirty="0"/>
              <a:t> am Herzen </a:t>
            </a:r>
            <a:r>
              <a:rPr dirty="0" err="1"/>
              <a:t>liegt</a:t>
            </a:r>
            <a:r>
              <a:rPr dirty="0"/>
              <a:t>. </a:t>
            </a:r>
            <a:endParaRPr lang="de-CH" dirty="0"/>
          </a:p>
          <a:p>
            <a:endParaRPr lang="en-US" dirty="0"/>
          </a:p>
          <a:p>
            <a:r>
              <a:rPr dirty="0"/>
              <a:t>Die </a:t>
            </a:r>
            <a:r>
              <a:rPr dirty="0" err="1"/>
              <a:t>Authentifizierung</a:t>
            </a:r>
            <a:r>
              <a:rPr dirty="0"/>
              <a:t> </a:t>
            </a:r>
            <a:r>
              <a:rPr dirty="0" err="1"/>
              <a:t>läuft</a:t>
            </a:r>
            <a:r>
              <a:rPr dirty="0"/>
              <a:t> </a:t>
            </a:r>
            <a:r>
              <a:rPr dirty="0" err="1"/>
              <a:t>über</a:t>
            </a:r>
            <a:r>
              <a:rPr dirty="0"/>
              <a:t> Microsoft Entra ID </a:t>
            </a:r>
            <a:r>
              <a:rPr dirty="0" err="1"/>
              <a:t>mit</a:t>
            </a:r>
            <a:r>
              <a:rPr dirty="0"/>
              <a:t> der Microsoft Authentication Library. </a:t>
            </a:r>
            <a:endParaRPr lang="de-CH" dirty="0"/>
          </a:p>
          <a:p>
            <a:endParaRPr lang="en-US" dirty="0"/>
          </a:p>
          <a:p>
            <a:r>
              <a:rPr dirty="0" err="1"/>
              <a:t>Im</a:t>
            </a:r>
            <a:r>
              <a:rPr dirty="0"/>
              <a:t> Frontend </a:t>
            </a:r>
            <a:r>
              <a:rPr dirty="0" err="1"/>
              <a:t>kommt</a:t>
            </a:r>
            <a:r>
              <a:rPr dirty="0"/>
              <a:t> der OAuth-2.0-Authorization-Code-Flow </a:t>
            </a:r>
            <a:r>
              <a:rPr dirty="0" err="1"/>
              <a:t>zum</a:t>
            </a:r>
            <a:r>
              <a:rPr dirty="0"/>
              <a:t> </a:t>
            </a:r>
            <a:r>
              <a:rPr dirty="0" err="1"/>
              <a:t>Einsatz</a:t>
            </a:r>
            <a:r>
              <a:rPr dirty="0"/>
              <a:t>, </a:t>
            </a:r>
            <a:r>
              <a:rPr dirty="0" err="1"/>
              <a:t>im</a:t>
            </a:r>
            <a:r>
              <a:rPr dirty="0"/>
              <a:t> Backend </a:t>
            </a:r>
            <a:r>
              <a:rPr dirty="0" err="1"/>
              <a:t>werden</a:t>
            </a:r>
            <a:r>
              <a:rPr dirty="0"/>
              <a:t> die </a:t>
            </a:r>
            <a:r>
              <a:rPr dirty="0" err="1"/>
              <a:t>ausgestellten</a:t>
            </a:r>
            <a:r>
              <a:rPr dirty="0"/>
              <a:t> JWT-Tokens </a:t>
            </a:r>
            <a:r>
              <a:rPr dirty="0" err="1"/>
              <a:t>validiert</a:t>
            </a:r>
            <a:r>
              <a:rPr dirty="0"/>
              <a:t>. </a:t>
            </a:r>
            <a:endParaRPr lang="de-CH" dirty="0"/>
          </a:p>
          <a:p>
            <a:endParaRPr lang="en-US" dirty="0"/>
          </a:p>
          <a:p>
            <a:r>
              <a:rPr dirty="0"/>
              <a:t>Der </a:t>
            </a:r>
            <a:r>
              <a:rPr dirty="0" err="1"/>
              <a:t>grosse</a:t>
            </a:r>
            <a:r>
              <a:rPr dirty="0"/>
              <a:t> </a:t>
            </a:r>
            <a:r>
              <a:rPr dirty="0" err="1"/>
              <a:t>Vorteil</a:t>
            </a:r>
            <a:r>
              <a:rPr dirty="0"/>
              <a:t> dieses Ansatzes: Wir </a:t>
            </a:r>
            <a:r>
              <a:rPr dirty="0" err="1"/>
              <a:t>bekommen</a:t>
            </a:r>
            <a:r>
              <a:rPr dirty="0"/>
              <a:t> Single Sign-On </a:t>
            </a:r>
            <a:r>
              <a:rPr dirty="0" err="1"/>
              <a:t>gegen</a:t>
            </a:r>
            <a:r>
              <a:rPr dirty="0"/>
              <a:t> das </a:t>
            </a:r>
            <a:r>
              <a:rPr dirty="0" err="1"/>
              <a:t>bestehende</a:t>
            </a:r>
            <a:r>
              <a:rPr dirty="0"/>
              <a:t> Active Directory der </a:t>
            </a:r>
            <a:r>
              <a:rPr dirty="0" err="1"/>
              <a:t>Organisation</a:t>
            </a:r>
            <a:r>
              <a:rPr dirty="0"/>
              <a:t>, und es </a:t>
            </a:r>
            <a:r>
              <a:rPr dirty="0" err="1"/>
              <a:t>gibt</a:t>
            </a:r>
            <a:r>
              <a:rPr dirty="0"/>
              <a:t> </a:t>
            </a:r>
            <a:r>
              <a:rPr dirty="0" err="1"/>
              <a:t>keinen</a:t>
            </a:r>
            <a:r>
              <a:rPr dirty="0"/>
              <a:t> </a:t>
            </a:r>
            <a:r>
              <a:rPr dirty="0" err="1"/>
              <a:t>eigenen</a:t>
            </a:r>
            <a:r>
              <a:rPr dirty="0"/>
              <a:t> </a:t>
            </a:r>
            <a:r>
              <a:rPr dirty="0" err="1"/>
              <a:t>Passwort</a:t>
            </a:r>
            <a:r>
              <a:rPr dirty="0"/>
              <a:t>-Speicher</a:t>
            </a:r>
            <a:endParaRPr lang="de-CH" dirty="0"/>
          </a:p>
          <a:p>
            <a:r>
              <a:rPr dirty="0"/>
              <a:t> das </a:t>
            </a:r>
            <a:r>
              <a:rPr dirty="0" err="1"/>
              <a:t>schliesst</a:t>
            </a:r>
            <a:r>
              <a:rPr dirty="0"/>
              <a:t> </a:t>
            </a:r>
            <a:r>
              <a:rPr dirty="0" err="1"/>
              <a:t>eine</a:t>
            </a:r>
            <a:r>
              <a:rPr dirty="0"/>
              <a:t> </a:t>
            </a:r>
            <a:r>
              <a:rPr dirty="0" err="1"/>
              <a:t>ganze</a:t>
            </a:r>
            <a:r>
              <a:rPr dirty="0"/>
              <a:t> Klasse von </a:t>
            </a:r>
            <a:r>
              <a:rPr dirty="0" err="1"/>
              <a:t>Angriffen</a:t>
            </a:r>
            <a:r>
              <a:rPr dirty="0"/>
              <a:t> von </a:t>
            </a:r>
            <a:r>
              <a:rPr dirty="0" err="1"/>
              <a:t>vornherein</a:t>
            </a:r>
            <a:r>
              <a:rPr dirty="0"/>
              <a:t> </a:t>
            </a:r>
            <a:r>
              <a:rPr dirty="0" err="1"/>
              <a:t>aus.</a:t>
            </a:r>
            <a:r>
              <a:rPr dirty="0"/>
              <a:t> </a:t>
            </a:r>
            <a:endParaRPr lang="de-CH" dirty="0"/>
          </a:p>
          <a:p>
            <a:endParaRPr lang="en-US" dirty="0"/>
          </a:p>
          <a:p>
            <a:r>
              <a:rPr dirty="0"/>
              <a:t>Für die </a:t>
            </a:r>
            <a:r>
              <a:rPr dirty="0" err="1"/>
              <a:t>lokale</a:t>
            </a:r>
            <a:r>
              <a:rPr dirty="0"/>
              <a:t> </a:t>
            </a:r>
            <a:r>
              <a:rPr dirty="0" err="1"/>
              <a:t>Entwicklung</a:t>
            </a:r>
            <a:r>
              <a:rPr dirty="0"/>
              <a:t> </a:t>
            </a:r>
            <a:r>
              <a:rPr dirty="0" err="1"/>
              <a:t>gibt</a:t>
            </a:r>
            <a:r>
              <a:rPr dirty="0"/>
              <a:t> es </a:t>
            </a:r>
            <a:r>
              <a:rPr dirty="0" err="1"/>
              <a:t>zusätzlich</a:t>
            </a:r>
            <a:r>
              <a:rPr dirty="0"/>
              <a:t> </a:t>
            </a:r>
            <a:r>
              <a:rPr dirty="0" err="1"/>
              <a:t>einen</a:t>
            </a:r>
            <a:r>
              <a:rPr dirty="0"/>
              <a:t> Fallback </a:t>
            </a:r>
            <a:r>
              <a:rPr dirty="0" err="1"/>
              <a:t>über</a:t>
            </a:r>
            <a:r>
              <a:rPr dirty="0"/>
              <a:t> </a:t>
            </a:r>
            <a:r>
              <a:rPr dirty="0" err="1"/>
              <a:t>eine</a:t>
            </a:r>
            <a:r>
              <a:rPr dirty="0"/>
              <a:t> </a:t>
            </a:r>
            <a:r>
              <a:rPr dirty="0" err="1"/>
              <a:t>lokale</a:t>
            </a:r>
            <a:r>
              <a:rPr dirty="0"/>
              <a:t> JWT-</a:t>
            </a:r>
            <a:r>
              <a:rPr dirty="0" err="1"/>
              <a:t>Authentifizierung</a:t>
            </a:r>
            <a:r>
              <a:rPr dirty="0"/>
              <a:t>. </a:t>
            </a:r>
            <a:endParaRPr lang="de-CH" dirty="0"/>
          </a:p>
          <a:p>
            <a:endParaRPr lang="en-US" dirty="0"/>
          </a:p>
          <a:p>
            <a:r>
              <a:rPr dirty="0"/>
              <a:t>Die </a:t>
            </a:r>
            <a:r>
              <a:rPr dirty="0" err="1"/>
              <a:t>Autorisierung</a:t>
            </a:r>
            <a:r>
              <a:rPr dirty="0"/>
              <a:t> </a:t>
            </a:r>
            <a:r>
              <a:rPr dirty="0" err="1"/>
              <a:t>arbeitet</a:t>
            </a:r>
            <a:r>
              <a:rPr dirty="0"/>
              <a:t> auf </a:t>
            </a:r>
            <a:r>
              <a:rPr dirty="0" err="1"/>
              <a:t>zwei</a:t>
            </a:r>
            <a:r>
              <a:rPr dirty="0"/>
              <a:t> </a:t>
            </a:r>
            <a:r>
              <a:rPr dirty="0" err="1"/>
              <a:t>Ebenen</a:t>
            </a:r>
            <a:r>
              <a:rPr dirty="0"/>
              <a:t>: </a:t>
            </a:r>
            <a:endParaRPr lang="de-CH" dirty="0"/>
          </a:p>
          <a:p>
            <a:r>
              <a:rPr dirty="0"/>
              <a:t>Global </a:t>
            </a:r>
            <a:r>
              <a:rPr dirty="0" err="1"/>
              <a:t>unterscheide</a:t>
            </a:r>
            <a:r>
              <a:rPr dirty="0"/>
              <a:t> ich Admin und Member, auf </a:t>
            </a:r>
            <a:r>
              <a:rPr dirty="0" err="1"/>
              <a:t>Projektebene</a:t>
            </a:r>
            <a:r>
              <a:rPr dirty="0"/>
              <a:t> </a:t>
            </a:r>
            <a:r>
              <a:rPr dirty="0" err="1"/>
              <a:t>kommt</a:t>
            </a:r>
            <a:r>
              <a:rPr dirty="0"/>
              <a:t> </a:t>
            </a:r>
            <a:r>
              <a:rPr dirty="0" err="1"/>
              <a:t>über</a:t>
            </a:r>
            <a:r>
              <a:rPr dirty="0"/>
              <a:t> die </a:t>
            </a:r>
            <a:r>
              <a:rPr dirty="0" err="1"/>
              <a:t>ProjectUser-Tabelle</a:t>
            </a:r>
            <a:r>
              <a:rPr dirty="0"/>
              <a:t> </a:t>
            </a:r>
            <a:r>
              <a:rPr dirty="0" err="1"/>
              <a:t>zusätzlich</a:t>
            </a:r>
            <a:r>
              <a:rPr dirty="0"/>
              <a:t> der Viewer </a:t>
            </a:r>
            <a:r>
              <a:rPr dirty="0" err="1"/>
              <a:t>mit</a:t>
            </a:r>
            <a:r>
              <a:rPr dirty="0"/>
              <a:t> </a:t>
            </a:r>
            <a:r>
              <a:rPr dirty="0" err="1"/>
              <a:t>reinem</a:t>
            </a:r>
            <a:r>
              <a:rPr dirty="0"/>
              <a:t> </a:t>
            </a:r>
            <a:r>
              <a:rPr dirty="0" err="1"/>
              <a:t>Lesezugriff</a:t>
            </a:r>
            <a:r>
              <a:rPr dirty="0"/>
              <a:t> </a:t>
            </a:r>
            <a:r>
              <a:rPr dirty="0" err="1"/>
              <a:t>dazu</a:t>
            </a:r>
            <a:r>
              <a:rPr dirty="0"/>
              <a:t>. </a:t>
            </a:r>
            <a:endParaRPr lang="de-CH" dirty="0"/>
          </a:p>
          <a:p>
            <a:endParaRPr lang="en-US" dirty="0"/>
          </a:p>
          <a:p>
            <a:r>
              <a:rPr dirty="0"/>
              <a:t>Als </a:t>
            </a:r>
            <a:r>
              <a:rPr dirty="0" err="1"/>
              <a:t>Sicherheits</a:t>
            </a:r>
            <a:r>
              <a:rPr dirty="0"/>
              <a:t>-Baseline </a:t>
            </a:r>
            <a:r>
              <a:rPr dirty="0" err="1"/>
              <a:t>setze</a:t>
            </a:r>
            <a:r>
              <a:rPr dirty="0"/>
              <a:t> ich Helmet für die HTTP-Security-Header </a:t>
            </a:r>
            <a:r>
              <a:rPr dirty="0" err="1"/>
              <a:t>ein</a:t>
            </a:r>
            <a:r>
              <a:rPr dirty="0"/>
              <a:t> – also Content Security Policy, X-Frame-Options, HSTS – </a:t>
            </a:r>
            <a:r>
              <a:rPr dirty="0" err="1"/>
              <a:t>sowie</a:t>
            </a:r>
            <a:r>
              <a:rPr dirty="0"/>
              <a:t> </a:t>
            </a:r>
            <a:r>
              <a:rPr dirty="0" err="1"/>
              <a:t>eine</a:t>
            </a:r>
            <a:r>
              <a:rPr dirty="0"/>
              <a:t> </a:t>
            </a:r>
            <a:r>
              <a:rPr dirty="0" err="1"/>
              <a:t>restriktive</a:t>
            </a:r>
            <a:r>
              <a:rPr dirty="0"/>
              <a:t> CORS-</a:t>
            </a:r>
            <a:r>
              <a:rPr dirty="0" err="1"/>
              <a:t>Konfiguration</a:t>
            </a:r>
            <a:r>
              <a:rPr dirty="0"/>
              <a:t>. </a:t>
            </a:r>
            <a:endParaRPr lang="de-CH" dirty="0"/>
          </a:p>
          <a:p>
            <a:endParaRPr lang="en-US" dirty="0"/>
          </a:p>
          <a:p>
            <a:r>
              <a:rPr dirty="0"/>
              <a:t>Und </a:t>
            </a:r>
            <a:r>
              <a:rPr dirty="0" err="1"/>
              <a:t>jetzt</a:t>
            </a:r>
            <a:r>
              <a:rPr dirty="0"/>
              <a:t> bin ich </a:t>
            </a:r>
            <a:r>
              <a:rPr dirty="0" err="1"/>
              <a:t>bewusst</a:t>
            </a:r>
            <a:r>
              <a:rPr dirty="0"/>
              <a:t> </a:t>
            </a:r>
            <a:r>
              <a:rPr dirty="0" err="1"/>
              <a:t>ehrlich</a:t>
            </a:r>
            <a:r>
              <a:rPr dirty="0"/>
              <a:t>: CSRF-Schutz, Rate Limiting und </a:t>
            </a:r>
            <a:r>
              <a:rPr dirty="0" err="1"/>
              <a:t>erweiterte</a:t>
            </a:r>
            <a:r>
              <a:rPr dirty="0"/>
              <a:t> Input-</a:t>
            </a:r>
            <a:r>
              <a:rPr dirty="0" err="1"/>
              <a:t>Sanitisierung</a:t>
            </a:r>
            <a:r>
              <a:rPr dirty="0"/>
              <a:t> </a:t>
            </a:r>
            <a:r>
              <a:rPr dirty="0" err="1"/>
              <a:t>sind</a:t>
            </a:r>
            <a:r>
              <a:rPr dirty="0"/>
              <a:t> </a:t>
            </a:r>
            <a:r>
              <a:rPr dirty="0" err="1"/>
              <a:t>noch</a:t>
            </a:r>
            <a:r>
              <a:rPr dirty="0"/>
              <a:t> nicht </a:t>
            </a:r>
            <a:r>
              <a:rPr dirty="0" err="1"/>
              <a:t>umgesetzt</a:t>
            </a:r>
            <a:r>
              <a:rPr dirty="0"/>
              <a:t>, </a:t>
            </a:r>
            <a:r>
              <a:rPr dirty="0" err="1"/>
              <a:t>sondern</a:t>
            </a:r>
            <a:r>
              <a:rPr dirty="0"/>
              <a:t> </a:t>
            </a:r>
            <a:r>
              <a:rPr dirty="0" err="1"/>
              <a:t>als</a:t>
            </a:r>
            <a:r>
              <a:rPr dirty="0"/>
              <a:t> </a:t>
            </a:r>
            <a:r>
              <a:rPr dirty="0" err="1"/>
              <a:t>nächste</a:t>
            </a:r>
            <a:r>
              <a:rPr dirty="0"/>
              <a:t> </a:t>
            </a:r>
            <a:r>
              <a:rPr dirty="0" err="1"/>
              <a:t>Härtungsphase</a:t>
            </a:r>
            <a:r>
              <a:rPr dirty="0"/>
              <a:t> </a:t>
            </a:r>
            <a:r>
              <a:rPr dirty="0" err="1"/>
              <a:t>vor</a:t>
            </a:r>
            <a:r>
              <a:rPr dirty="0"/>
              <a:t> dem </a:t>
            </a:r>
            <a:r>
              <a:rPr dirty="0" err="1"/>
              <a:t>produktiven</a:t>
            </a:r>
            <a:r>
              <a:rPr dirty="0"/>
              <a:t> Go-Live </a:t>
            </a:r>
            <a:r>
              <a:rPr dirty="0" err="1"/>
              <a:t>geplant</a:t>
            </a:r>
            <a:r>
              <a:rPr dirty="0"/>
              <a:t>, </a:t>
            </a:r>
            <a:r>
              <a:rPr dirty="0" err="1"/>
              <a:t>orientiert</a:t>
            </a:r>
            <a:r>
              <a:rPr dirty="0"/>
              <a:t> an den OWASP Top 10. </a:t>
            </a:r>
            <a:endParaRPr lang="de-CH" dirty="0"/>
          </a:p>
          <a:p>
            <a:r>
              <a:rPr dirty="0"/>
              <a:t>In der </a:t>
            </a:r>
            <a:r>
              <a:rPr dirty="0" err="1"/>
              <a:t>Diplomphase</a:t>
            </a:r>
            <a:r>
              <a:rPr dirty="0"/>
              <a:t> </a:t>
            </a:r>
            <a:r>
              <a:rPr dirty="0" err="1"/>
              <a:t>ist</a:t>
            </a:r>
            <a:r>
              <a:rPr dirty="0"/>
              <a:t> die App </a:t>
            </a:r>
            <a:r>
              <a:rPr dirty="0" err="1"/>
              <a:t>nur</a:t>
            </a:r>
            <a:r>
              <a:rPr dirty="0"/>
              <a:t> </a:t>
            </a:r>
            <a:r>
              <a:rPr dirty="0" err="1"/>
              <a:t>im</a:t>
            </a:r>
            <a:r>
              <a:rPr dirty="0"/>
              <a:t> </a:t>
            </a:r>
            <a:r>
              <a:rPr dirty="0" err="1"/>
              <a:t>internen</a:t>
            </a:r>
            <a:r>
              <a:rPr dirty="0"/>
              <a:t> Netz </a:t>
            </a:r>
            <a:r>
              <a:rPr dirty="0" err="1"/>
              <a:t>erreichbar</a:t>
            </a:r>
            <a:r>
              <a:rPr dirty="0"/>
              <a:t>, </a:t>
            </a:r>
            <a:r>
              <a:rPr dirty="0" err="1"/>
              <a:t>deshalb</a:t>
            </a:r>
            <a:r>
              <a:rPr dirty="0"/>
              <a:t> </a:t>
            </a:r>
            <a:r>
              <a:rPr dirty="0" err="1"/>
              <a:t>ist</a:t>
            </a:r>
            <a:r>
              <a:rPr dirty="0"/>
              <a:t> </a:t>
            </a:r>
            <a:r>
              <a:rPr dirty="0" err="1"/>
              <a:t>diese</a:t>
            </a:r>
            <a:r>
              <a:rPr dirty="0"/>
              <a:t> </a:t>
            </a:r>
            <a:r>
              <a:rPr dirty="0" err="1"/>
              <a:t>Reihenfolge</a:t>
            </a:r>
            <a:r>
              <a:rPr dirty="0"/>
              <a:t> </a:t>
            </a:r>
            <a:r>
              <a:rPr dirty="0" err="1"/>
              <a:t>vertretbar</a:t>
            </a:r>
            <a:r>
              <a:rPr dirty="0"/>
              <a:t> – </a:t>
            </a:r>
            <a:r>
              <a:rPr dirty="0" err="1"/>
              <a:t>aber</a:t>
            </a:r>
            <a:r>
              <a:rPr dirty="0"/>
              <a:t> </a:t>
            </a:r>
            <a:r>
              <a:rPr dirty="0" err="1"/>
              <a:t>vor</a:t>
            </a:r>
            <a:r>
              <a:rPr dirty="0"/>
              <a:t> </a:t>
            </a:r>
            <a:r>
              <a:rPr dirty="0" err="1"/>
              <a:t>einem</a:t>
            </a:r>
            <a:r>
              <a:rPr dirty="0"/>
              <a:t> </a:t>
            </a:r>
            <a:r>
              <a:rPr dirty="0" err="1"/>
              <a:t>echten</a:t>
            </a:r>
            <a:r>
              <a:rPr dirty="0"/>
              <a:t> Rollout </a:t>
            </a:r>
            <a:r>
              <a:rPr dirty="0" err="1"/>
              <a:t>gehört</a:t>
            </a:r>
            <a:r>
              <a:rPr dirty="0"/>
              <a:t> das </a:t>
            </a:r>
            <a:r>
              <a:rPr dirty="0" err="1"/>
              <a:t>ergänzt</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Kommen wir zu dem Teil, der mir am meisten Kopfzerbrechen bereitet hat: der Jira-Integration.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Die Jira-</a:t>
            </a:r>
            <a:r>
              <a:rPr dirty="0" err="1"/>
              <a:t>Anbindung</a:t>
            </a:r>
            <a:r>
              <a:rPr dirty="0"/>
              <a:t> war </a:t>
            </a:r>
            <a:r>
              <a:rPr dirty="0" err="1"/>
              <a:t>klar</a:t>
            </a:r>
            <a:r>
              <a:rPr dirty="0"/>
              <a:t> der </a:t>
            </a:r>
            <a:r>
              <a:rPr dirty="0" err="1"/>
              <a:t>anspruchsvollste</a:t>
            </a:r>
            <a:r>
              <a:rPr dirty="0"/>
              <a:t> Teil der Arbeit</a:t>
            </a:r>
            <a:endParaRPr lang="de-CH" dirty="0"/>
          </a:p>
          <a:p>
            <a:r>
              <a:rPr dirty="0"/>
              <a:t>und </a:t>
            </a:r>
            <a:r>
              <a:rPr dirty="0" err="1"/>
              <a:t>interessanterweise</a:t>
            </a:r>
            <a:r>
              <a:rPr dirty="0"/>
              <a:t> nicht </a:t>
            </a:r>
            <a:r>
              <a:rPr dirty="0" err="1"/>
              <a:t>wegen</a:t>
            </a:r>
            <a:r>
              <a:rPr dirty="0"/>
              <a:t> der Technik </a:t>
            </a:r>
            <a:r>
              <a:rPr dirty="0" err="1"/>
              <a:t>im</a:t>
            </a:r>
            <a:r>
              <a:rPr dirty="0"/>
              <a:t> </a:t>
            </a:r>
            <a:r>
              <a:rPr dirty="0" err="1"/>
              <a:t>engeren</a:t>
            </a:r>
            <a:r>
              <a:rPr dirty="0"/>
              <a:t> Sinn, </a:t>
            </a:r>
            <a:r>
              <a:rPr dirty="0" err="1"/>
              <a:t>sondern</a:t>
            </a:r>
            <a:r>
              <a:rPr dirty="0"/>
              <a:t> </a:t>
            </a:r>
            <a:r>
              <a:rPr dirty="0" err="1"/>
              <a:t>wegen</a:t>
            </a:r>
            <a:r>
              <a:rPr dirty="0"/>
              <a:t> der </a:t>
            </a:r>
            <a:r>
              <a:rPr dirty="0" err="1"/>
              <a:t>Vielfalt</a:t>
            </a:r>
            <a:r>
              <a:rPr dirty="0"/>
              <a:t> der </a:t>
            </a:r>
            <a:r>
              <a:rPr dirty="0" err="1"/>
              <a:t>Konfigurationen</a:t>
            </a:r>
            <a:r>
              <a:rPr dirty="0"/>
              <a:t>. </a:t>
            </a:r>
            <a:endParaRPr lang="de-CH" dirty="0"/>
          </a:p>
          <a:p>
            <a:endParaRPr lang="en-US" dirty="0"/>
          </a:p>
          <a:p>
            <a:r>
              <a:rPr dirty="0" err="1"/>
              <a:t>Sprintify</a:t>
            </a:r>
            <a:r>
              <a:rPr dirty="0"/>
              <a:t> </a:t>
            </a:r>
            <a:r>
              <a:rPr dirty="0" err="1"/>
              <a:t>spricht</a:t>
            </a:r>
            <a:r>
              <a:rPr dirty="0"/>
              <a:t> </a:t>
            </a:r>
            <a:r>
              <a:rPr dirty="0" err="1"/>
              <a:t>zwei</a:t>
            </a:r>
            <a:r>
              <a:rPr dirty="0"/>
              <a:t> </a:t>
            </a:r>
            <a:r>
              <a:rPr dirty="0" err="1"/>
              <a:t>verschiedene</a:t>
            </a:r>
            <a:r>
              <a:rPr dirty="0"/>
              <a:t> APIs an: die REST-API Version 2 für die Issues, also die User Stories, </a:t>
            </a:r>
            <a:endParaRPr lang="de-CH" dirty="0"/>
          </a:p>
          <a:p>
            <a:r>
              <a:rPr dirty="0"/>
              <a:t>und die Agile-API Version 1 für Boards und Sprints. </a:t>
            </a:r>
            <a:endParaRPr lang="de-CH" dirty="0"/>
          </a:p>
          <a:p>
            <a:endParaRPr lang="en-US" dirty="0"/>
          </a:p>
          <a:p>
            <a:r>
              <a:rPr dirty="0" err="1"/>
              <a:t>Warum</a:t>
            </a:r>
            <a:r>
              <a:rPr dirty="0"/>
              <a:t> </a:t>
            </a:r>
            <a:r>
              <a:rPr dirty="0" err="1"/>
              <a:t>zwei</a:t>
            </a:r>
            <a:r>
              <a:rPr dirty="0"/>
              <a:t>? Weil Jira </a:t>
            </a:r>
            <a:r>
              <a:rPr dirty="0" err="1"/>
              <a:t>diese</a:t>
            </a:r>
            <a:r>
              <a:rPr dirty="0"/>
              <a:t> </a:t>
            </a:r>
            <a:r>
              <a:rPr dirty="0" err="1"/>
              <a:t>Konzepte</a:t>
            </a:r>
            <a:r>
              <a:rPr dirty="0"/>
              <a:t> </a:t>
            </a:r>
            <a:r>
              <a:rPr dirty="0" err="1"/>
              <a:t>tatsächlich</a:t>
            </a:r>
            <a:r>
              <a:rPr dirty="0"/>
              <a:t> </a:t>
            </a:r>
            <a:r>
              <a:rPr dirty="0" err="1"/>
              <a:t>über</a:t>
            </a:r>
            <a:r>
              <a:rPr dirty="0"/>
              <a:t> </a:t>
            </a:r>
            <a:r>
              <a:rPr dirty="0" err="1"/>
              <a:t>getrennte</a:t>
            </a:r>
            <a:r>
              <a:rPr dirty="0"/>
              <a:t> </a:t>
            </a:r>
            <a:r>
              <a:rPr dirty="0" err="1"/>
              <a:t>Schnittstellen</a:t>
            </a:r>
            <a:r>
              <a:rPr dirty="0"/>
              <a:t> </a:t>
            </a:r>
            <a:r>
              <a:rPr dirty="0" err="1"/>
              <a:t>anbietet</a:t>
            </a:r>
            <a:r>
              <a:rPr dirty="0"/>
              <a:t>. </a:t>
            </a:r>
            <a:endParaRPr lang="de-CH" dirty="0"/>
          </a:p>
          <a:p>
            <a:endParaRPr lang="en-US" dirty="0"/>
          </a:p>
          <a:p>
            <a:r>
              <a:rPr dirty="0"/>
              <a:t>Die </a:t>
            </a:r>
            <a:r>
              <a:rPr dirty="0" err="1"/>
              <a:t>Synchronisation</a:t>
            </a:r>
            <a:r>
              <a:rPr dirty="0"/>
              <a:t> </a:t>
            </a:r>
            <a:r>
              <a:rPr dirty="0" err="1"/>
              <a:t>läuft</a:t>
            </a:r>
            <a:r>
              <a:rPr dirty="0"/>
              <a:t> in </a:t>
            </a:r>
            <a:r>
              <a:rPr dirty="0" err="1"/>
              <a:t>drei</a:t>
            </a:r>
            <a:r>
              <a:rPr dirty="0"/>
              <a:t> </a:t>
            </a:r>
            <a:r>
              <a:rPr dirty="0" err="1"/>
              <a:t>Schritten</a:t>
            </a:r>
            <a:r>
              <a:rPr dirty="0"/>
              <a:t>: </a:t>
            </a:r>
            <a:endParaRPr lang="de-CH" dirty="0"/>
          </a:p>
          <a:p>
            <a:r>
              <a:rPr dirty="0" err="1"/>
              <a:t>Zuerst</a:t>
            </a:r>
            <a:r>
              <a:rPr dirty="0"/>
              <a:t> </a:t>
            </a:r>
            <a:r>
              <a:rPr dirty="0" err="1"/>
              <a:t>rufe</a:t>
            </a:r>
            <a:r>
              <a:rPr dirty="0"/>
              <a:t> ich </a:t>
            </a:r>
            <a:r>
              <a:rPr dirty="0" err="1"/>
              <a:t>über</a:t>
            </a:r>
            <a:r>
              <a:rPr dirty="0"/>
              <a:t> die Agile-API die Boards und </a:t>
            </a:r>
            <a:r>
              <a:rPr dirty="0" err="1"/>
              <a:t>deren</a:t>
            </a:r>
            <a:r>
              <a:rPr dirty="0"/>
              <a:t> Sprints ab. </a:t>
            </a:r>
            <a:endParaRPr lang="de-CH" dirty="0"/>
          </a:p>
          <a:p>
            <a:r>
              <a:rPr dirty="0"/>
              <a:t>Dann </a:t>
            </a:r>
            <a:r>
              <a:rPr dirty="0" err="1"/>
              <a:t>synchronisiere</a:t>
            </a:r>
            <a:r>
              <a:rPr dirty="0"/>
              <a:t> ich die Issues pro Sprint. </a:t>
            </a:r>
            <a:endParaRPr lang="de-CH" dirty="0"/>
          </a:p>
          <a:p>
            <a:r>
              <a:rPr dirty="0"/>
              <a:t>Und </a:t>
            </a:r>
            <a:r>
              <a:rPr dirty="0" err="1"/>
              <a:t>zuletzt</a:t>
            </a:r>
            <a:r>
              <a:rPr dirty="0"/>
              <a:t> </a:t>
            </a:r>
            <a:r>
              <a:rPr dirty="0" err="1"/>
              <a:t>verknüpfe</a:t>
            </a:r>
            <a:r>
              <a:rPr dirty="0"/>
              <a:t> ich die Jira-</a:t>
            </a:r>
            <a:r>
              <a:rPr dirty="0" err="1"/>
              <a:t>Benutzer</a:t>
            </a:r>
            <a:r>
              <a:rPr dirty="0"/>
              <a:t> </a:t>
            </a:r>
            <a:r>
              <a:rPr dirty="0" err="1"/>
              <a:t>anhand</a:t>
            </a:r>
            <a:r>
              <a:rPr dirty="0"/>
              <a:t> </a:t>
            </a:r>
            <a:r>
              <a:rPr dirty="0" err="1"/>
              <a:t>ihrer</a:t>
            </a:r>
            <a:r>
              <a:rPr dirty="0"/>
              <a:t> Account-ID </a:t>
            </a:r>
            <a:r>
              <a:rPr dirty="0" err="1"/>
              <a:t>oder</a:t>
            </a:r>
            <a:r>
              <a:rPr dirty="0"/>
              <a:t> E-Mail </a:t>
            </a:r>
            <a:r>
              <a:rPr dirty="0" err="1"/>
              <a:t>mit</a:t>
            </a:r>
            <a:r>
              <a:rPr dirty="0"/>
              <a:t> den </a:t>
            </a:r>
            <a:r>
              <a:rPr dirty="0" err="1"/>
              <a:t>lokalen</a:t>
            </a:r>
            <a:r>
              <a:rPr dirty="0"/>
              <a:t> </a:t>
            </a:r>
            <a:r>
              <a:rPr dirty="0" err="1"/>
              <a:t>Benutzern</a:t>
            </a:r>
            <a:r>
              <a:rPr dirty="0"/>
              <a:t>. </a:t>
            </a:r>
            <a:endParaRPr lang="de-CH" dirty="0"/>
          </a:p>
          <a:p>
            <a:endParaRPr lang="en-US" dirty="0"/>
          </a:p>
          <a:p>
            <a:r>
              <a:rPr dirty="0"/>
              <a:t>Zwei Details, die den </a:t>
            </a:r>
            <a:r>
              <a:rPr dirty="0" err="1"/>
              <a:t>Aufwand</a:t>
            </a:r>
            <a:r>
              <a:rPr dirty="0"/>
              <a:t> </a:t>
            </a:r>
            <a:r>
              <a:rPr dirty="0" err="1"/>
              <a:t>erklären</a:t>
            </a:r>
            <a:r>
              <a:rPr dirty="0"/>
              <a:t>: Die Story Points </a:t>
            </a:r>
            <a:r>
              <a:rPr dirty="0" err="1"/>
              <a:t>liest</a:t>
            </a:r>
            <a:r>
              <a:rPr dirty="0"/>
              <a:t> das System </a:t>
            </a:r>
            <a:r>
              <a:rPr dirty="0" err="1"/>
              <a:t>über</a:t>
            </a:r>
            <a:r>
              <a:rPr dirty="0"/>
              <a:t> </a:t>
            </a:r>
            <a:r>
              <a:rPr dirty="0" err="1"/>
              <a:t>ein</a:t>
            </a:r>
            <a:r>
              <a:rPr dirty="0"/>
              <a:t> </a:t>
            </a:r>
            <a:r>
              <a:rPr dirty="0" err="1"/>
              <a:t>konfigurierbares</a:t>
            </a:r>
            <a:r>
              <a:rPr dirty="0"/>
              <a:t> Custom Field </a:t>
            </a:r>
            <a:r>
              <a:rPr dirty="0" err="1"/>
              <a:t>aus</a:t>
            </a:r>
            <a:endParaRPr lang="de-CH" dirty="0"/>
          </a:p>
          <a:p>
            <a:r>
              <a:rPr dirty="0" err="1"/>
              <a:t>standardmässig</a:t>
            </a:r>
            <a:r>
              <a:rPr dirty="0"/>
              <a:t> </a:t>
            </a:r>
            <a:r>
              <a:rPr dirty="0" err="1"/>
              <a:t>ein</a:t>
            </a:r>
            <a:r>
              <a:rPr dirty="0"/>
              <a:t> </a:t>
            </a:r>
            <a:r>
              <a:rPr dirty="0" err="1"/>
              <a:t>bestimmtes</a:t>
            </a:r>
            <a:r>
              <a:rPr dirty="0"/>
              <a:t> Feld, </a:t>
            </a:r>
            <a:r>
              <a:rPr dirty="0" err="1"/>
              <a:t>aber</a:t>
            </a:r>
            <a:r>
              <a:rPr dirty="0"/>
              <a:t> </a:t>
            </a:r>
            <a:r>
              <a:rPr dirty="0" err="1"/>
              <a:t>jedes</a:t>
            </a:r>
            <a:r>
              <a:rPr dirty="0"/>
              <a:t> Projekt </a:t>
            </a:r>
            <a:r>
              <a:rPr dirty="0" err="1"/>
              <a:t>kann</a:t>
            </a:r>
            <a:r>
              <a:rPr dirty="0"/>
              <a:t> </a:t>
            </a:r>
            <a:r>
              <a:rPr dirty="0" err="1"/>
              <a:t>ein</a:t>
            </a:r>
            <a:r>
              <a:rPr dirty="0"/>
              <a:t> </a:t>
            </a:r>
            <a:r>
              <a:rPr dirty="0" err="1"/>
              <a:t>anderes</a:t>
            </a:r>
            <a:r>
              <a:rPr dirty="0"/>
              <a:t> </a:t>
            </a:r>
            <a:r>
              <a:rPr dirty="0" err="1"/>
              <a:t>verwenden</a:t>
            </a:r>
            <a:r>
              <a:rPr dirty="0"/>
              <a:t>, </a:t>
            </a:r>
            <a:r>
              <a:rPr dirty="0" err="1"/>
              <a:t>deshalb</a:t>
            </a:r>
            <a:r>
              <a:rPr dirty="0"/>
              <a:t> muss das </a:t>
            </a:r>
            <a:r>
              <a:rPr dirty="0" err="1"/>
              <a:t>einstellbar</a:t>
            </a:r>
            <a:r>
              <a:rPr dirty="0"/>
              <a:t> sein. </a:t>
            </a:r>
            <a:endParaRPr lang="de-CH" dirty="0"/>
          </a:p>
          <a:p>
            <a:endParaRPr lang="en-US" dirty="0"/>
          </a:p>
          <a:p>
            <a:r>
              <a:rPr dirty="0"/>
              <a:t>Und der Jira-Status </a:t>
            </a:r>
            <a:r>
              <a:rPr dirty="0" err="1"/>
              <a:t>wird</a:t>
            </a:r>
            <a:r>
              <a:rPr dirty="0"/>
              <a:t> auf </a:t>
            </a:r>
            <a:r>
              <a:rPr dirty="0" err="1"/>
              <a:t>ein</a:t>
            </a:r>
            <a:r>
              <a:rPr dirty="0"/>
              <a:t> </a:t>
            </a:r>
            <a:r>
              <a:rPr dirty="0" err="1"/>
              <a:t>einheitliches</a:t>
            </a:r>
            <a:r>
              <a:rPr dirty="0"/>
              <a:t> Schema </a:t>
            </a:r>
            <a:r>
              <a:rPr dirty="0" err="1"/>
              <a:t>gemappt</a:t>
            </a:r>
            <a:r>
              <a:rPr dirty="0"/>
              <a:t>, </a:t>
            </a:r>
            <a:r>
              <a:rPr dirty="0" err="1"/>
              <a:t>weil</a:t>
            </a:r>
            <a:r>
              <a:rPr dirty="0"/>
              <a:t> die Teams </a:t>
            </a:r>
            <a:r>
              <a:rPr dirty="0" err="1"/>
              <a:t>unterschiedliche</a:t>
            </a:r>
            <a:r>
              <a:rPr dirty="0"/>
              <a:t> Status-</a:t>
            </a:r>
            <a:r>
              <a:rPr dirty="0" err="1"/>
              <a:t>Bezeichnungen</a:t>
            </a:r>
            <a:r>
              <a:rPr dirty="0"/>
              <a:t> </a:t>
            </a:r>
            <a:r>
              <a:rPr dirty="0" err="1"/>
              <a:t>nutzen</a:t>
            </a:r>
            <a:r>
              <a:rPr dirty="0"/>
              <a:t>. </a:t>
            </a:r>
            <a:endParaRPr lang="de-CH" dirty="0"/>
          </a:p>
          <a:p>
            <a:endParaRPr lang="en-US" dirty="0"/>
          </a:p>
          <a:p>
            <a:r>
              <a:rPr dirty="0"/>
              <a:t>Zum </a:t>
            </a:r>
            <a:r>
              <a:rPr dirty="0" err="1"/>
              <a:t>Schluss</a:t>
            </a:r>
            <a:r>
              <a:rPr dirty="0"/>
              <a:t> der </a:t>
            </a:r>
            <a:r>
              <a:rPr dirty="0" err="1"/>
              <a:t>Fallstrick</a:t>
            </a:r>
            <a:r>
              <a:rPr dirty="0"/>
              <a:t>, der </a:t>
            </a:r>
            <a:r>
              <a:rPr dirty="0" err="1"/>
              <a:t>mich</a:t>
            </a:r>
            <a:r>
              <a:rPr dirty="0"/>
              <a:t> am </a:t>
            </a:r>
            <a:r>
              <a:rPr dirty="0" err="1"/>
              <a:t>meisten</a:t>
            </a:r>
            <a:r>
              <a:rPr dirty="0"/>
              <a:t> Zeit </a:t>
            </a:r>
            <a:r>
              <a:rPr dirty="0" err="1"/>
              <a:t>gekostet</a:t>
            </a:r>
            <a:r>
              <a:rPr dirty="0"/>
              <a:t> hat: </a:t>
            </a:r>
            <a:endParaRPr lang="de-CH" dirty="0"/>
          </a:p>
          <a:p>
            <a:r>
              <a:rPr dirty="0"/>
              <a:t>Eine Story </a:t>
            </a:r>
            <a:r>
              <a:rPr dirty="0" err="1"/>
              <a:t>kann</a:t>
            </a:r>
            <a:r>
              <a:rPr dirty="0"/>
              <a:t> in </a:t>
            </a:r>
            <a:r>
              <a:rPr dirty="0" err="1"/>
              <a:t>mehreren</a:t>
            </a:r>
            <a:r>
              <a:rPr dirty="0"/>
              <a:t> Sprints </a:t>
            </a:r>
            <a:r>
              <a:rPr dirty="0" err="1"/>
              <a:t>vorkommen</a:t>
            </a:r>
            <a:r>
              <a:rPr dirty="0"/>
              <a:t>. Nur </a:t>
            </a:r>
            <a:r>
              <a:rPr dirty="0" err="1"/>
              <a:t>wenn</a:t>
            </a:r>
            <a:r>
              <a:rPr dirty="0"/>
              <a:t> man die Sprints </a:t>
            </a:r>
            <a:r>
              <a:rPr dirty="0" err="1"/>
              <a:t>chronologisch</a:t>
            </a:r>
            <a:r>
              <a:rPr dirty="0"/>
              <a:t> </a:t>
            </a:r>
            <a:r>
              <a:rPr dirty="0" err="1"/>
              <a:t>aufsteigend</a:t>
            </a:r>
            <a:r>
              <a:rPr dirty="0"/>
              <a:t> </a:t>
            </a:r>
            <a:r>
              <a:rPr dirty="0" err="1"/>
              <a:t>synchronisiert</a:t>
            </a:r>
            <a:r>
              <a:rPr dirty="0"/>
              <a:t>, </a:t>
            </a:r>
            <a:r>
              <a:rPr dirty="0" err="1"/>
              <a:t>gewinnt</a:t>
            </a:r>
            <a:r>
              <a:rPr dirty="0"/>
              <a:t> die </a:t>
            </a:r>
            <a:r>
              <a:rPr dirty="0" err="1"/>
              <a:t>Zuordnung</a:t>
            </a:r>
            <a:r>
              <a:rPr dirty="0"/>
              <a:t> </a:t>
            </a:r>
            <a:r>
              <a:rPr dirty="0" err="1"/>
              <a:t>zum</a:t>
            </a:r>
            <a:r>
              <a:rPr dirty="0"/>
              <a:t> </a:t>
            </a:r>
            <a:r>
              <a:rPr dirty="0" err="1"/>
              <a:t>neuesten</a:t>
            </a:r>
            <a:r>
              <a:rPr dirty="0"/>
              <a:t> Sprint. </a:t>
            </a:r>
            <a:endParaRPr lang="de-CH" dirty="0"/>
          </a:p>
          <a:p>
            <a:r>
              <a:rPr dirty="0" err="1"/>
              <a:t>Synchronisiert</a:t>
            </a:r>
            <a:r>
              <a:rPr dirty="0"/>
              <a:t> man </a:t>
            </a:r>
            <a:r>
              <a:rPr dirty="0" err="1"/>
              <a:t>absteigend</a:t>
            </a:r>
            <a:r>
              <a:rPr dirty="0"/>
              <a:t>, </a:t>
            </a:r>
            <a:r>
              <a:rPr dirty="0" err="1"/>
              <a:t>landet</a:t>
            </a:r>
            <a:r>
              <a:rPr dirty="0"/>
              <a:t> die Story </a:t>
            </a:r>
            <a:r>
              <a:rPr dirty="0" err="1"/>
              <a:t>im</a:t>
            </a:r>
            <a:r>
              <a:rPr dirty="0"/>
              <a:t> </a:t>
            </a:r>
            <a:r>
              <a:rPr dirty="0" err="1"/>
              <a:t>falschen</a:t>
            </a:r>
            <a:r>
              <a:rPr dirty="0"/>
              <a:t> Sprint. </a:t>
            </a:r>
            <a:endParaRPr lang="de-CH" dirty="0"/>
          </a:p>
          <a:p>
            <a:endParaRPr lang="en-US" dirty="0"/>
          </a:p>
          <a:p>
            <a:r>
              <a:rPr dirty="0" err="1"/>
              <a:t>Solche</a:t>
            </a:r>
            <a:r>
              <a:rPr dirty="0"/>
              <a:t> </a:t>
            </a:r>
            <a:r>
              <a:rPr dirty="0" err="1"/>
              <a:t>Eigenheiten</a:t>
            </a:r>
            <a:r>
              <a:rPr dirty="0"/>
              <a:t> </a:t>
            </a:r>
            <a:r>
              <a:rPr dirty="0" err="1"/>
              <a:t>sieht</a:t>
            </a:r>
            <a:r>
              <a:rPr dirty="0"/>
              <a:t> man nicht in der </a:t>
            </a:r>
            <a:r>
              <a:rPr dirty="0" err="1"/>
              <a:t>Dokumentation</a:t>
            </a:r>
            <a:r>
              <a:rPr dirty="0"/>
              <a:t> – die </a:t>
            </a:r>
            <a:r>
              <a:rPr dirty="0" err="1"/>
              <a:t>findet</a:t>
            </a:r>
            <a:r>
              <a:rPr dirty="0"/>
              <a:t> man erst </a:t>
            </a:r>
            <a:r>
              <a:rPr dirty="0" err="1"/>
              <a:t>mit</a:t>
            </a:r>
            <a:r>
              <a:rPr dirty="0"/>
              <a:t> </a:t>
            </a:r>
            <a:r>
              <a:rPr dirty="0" err="1"/>
              <a:t>echten</a:t>
            </a:r>
            <a:r>
              <a:rPr dirty="0"/>
              <a:t> </a:t>
            </a:r>
            <a:r>
              <a:rPr dirty="0" err="1"/>
              <a:t>Daten</a:t>
            </a:r>
            <a:r>
              <a:rPr dirty="0"/>
              <a:t>, und ich </a:t>
            </a:r>
            <a:r>
              <a:rPr dirty="0" err="1"/>
              <a:t>musste</a:t>
            </a:r>
            <a:r>
              <a:rPr dirty="0"/>
              <a:t> </a:t>
            </a:r>
            <a:r>
              <a:rPr dirty="0" err="1"/>
              <a:t>Teile</a:t>
            </a:r>
            <a:r>
              <a:rPr dirty="0"/>
              <a:t> der </a:t>
            </a:r>
            <a:r>
              <a:rPr dirty="0" err="1"/>
              <a:t>Synchronisation</a:t>
            </a:r>
            <a:r>
              <a:rPr dirty="0"/>
              <a:t> </a:t>
            </a:r>
            <a:r>
              <a:rPr dirty="0" err="1"/>
              <a:t>deswegen</a:t>
            </a:r>
            <a:r>
              <a:rPr dirty="0"/>
              <a:t> neu </a:t>
            </a:r>
            <a:r>
              <a:rPr dirty="0" err="1"/>
              <a:t>schreiben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Nach der Architektur und der Integration zeige ich Ihnen jetzt die einzelnen fachlichen Module im Detail.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Das </a:t>
            </a:r>
            <a:r>
              <a:rPr dirty="0" err="1"/>
              <a:t>Herzstück</a:t>
            </a:r>
            <a:r>
              <a:rPr dirty="0"/>
              <a:t> von </a:t>
            </a:r>
            <a:r>
              <a:rPr dirty="0" err="1"/>
              <a:t>Sprintify</a:t>
            </a:r>
            <a:r>
              <a:rPr dirty="0"/>
              <a:t> </a:t>
            </a:r>
            <a:r>
              <a:rPr dirty="0" err="1"/>
              <a:t>ist</a:t>
            </a:r>
            <a:r>
              <a:rPr dirty="0"/>
              <a:t> die </a:t>
            </a:r>
            <a:r>
              <a:rPr dirty="0" err="1"/>
              <a:t>Kapazitätsplanung</a:t>
            </a:r>
            <a:r>
              <a:rPr dirty="0"/>
              <a:t>. </a:t>
            </a:r>
            <a:endParaRPr lang="de-CH" dirty="0"/>
          </a:p>
          <a:p>
            <a:endParaRPr lang="en-US" dirty="0"/>
          </a:p>
          <a:p>
            <a:r>
              <a:rPr dirty="0"/>
              <a:t>Pro </a:t>
            </a:r>
            <a:r>
              <a:rPr dirty="0" err="1"/>
              <a:t>Teammitglied</a:t>
            </a:r>
            <a:r>
              <a:rPr dirty="0"/>
              <a:t> und Sprint </a:t>
            </a:r>
            <a:r>
              <a:rPr dirty="0" err="1"/>
              <a:t>lässt</a:t>
            </a:r>
            <a:r>
              <a:rPr dirty="0"/>
              <a:t> </a:t>
            </a:r>
            <a:r>
              <a:rPr dirty="0" err="1"/>
              <a:t>sich</a:t>
            </a:r>
            <a:r>
              <a:rPr dirty="0"/>
              <a:t> die </a:t>
            </a:r>
            <a:r>
              <a:rPr dirty="0" err="1"/>
              <a:t>verfügbare</a:t>
            </a:r>
            <a:r>
              <a:rPr dirty="0"/>
              <a:t> </a:t>
            </a:r>
            <a:r>
              <a:rPr dirty="0" err="1"/>
              <a:t>Arbeitszeit</a:t>
            </a:r>
            <a:r>
              <a:rPr dirty="0"/>
              <a:t> </a:t>
            </a:r>
            <a:r>
              <a:rPr dirty="0" err="1"/>
              <a:t>wochenweise</a:t>
            </a:r>
            <a:r>
              <a:rPr dirty="0"/>
              <a:t> </a:t>
            </a:r>
            <a:r>
              <a:rPr dirty="0" err="1"/>
              <a:t>aufschlüsseln</a:t>
            </a:r>
            <a:r>
              <a:rPr dirty="0"/>
              <a:t>, </a:t>
            </a:r>
            <a:endParaRPr lang="de-CH" dirty="0"/>
          </a:p>
          <a:p>
            <a:r>
              <a:rPr dirty="0"/>
              <a:t>und </a:t>
            </a:r>
            <a:r>
              <a:rPr dirty="0" err="1"/>
              <a:t>zwar</a:t>
            </a:r>
            <a:r>
              <a:rPr dirty="0"/>
              <a:t> in vier </a:t>
            </a:r>
            <a:r>
              <a:rPr dirty="0" err="1"/>
              <a:t>Kategorien</a:t>
            </a:r>
            <a:r>
              <a:rPr dirty="0"/>
              <a:t>: Holiday für </a:t>
            </a:r>
            <a:r>
              <a:rPr dirty="0" err="1"/>
              <a:t>Ferien</a:t>
            </a:r>
            <a:r>
              <a:rPr dirty="0"/>
              <a:t> und </a:t>
            </a:r>
            <a:r>
              <a:rPr dirty="0" err="1"/>
              <a:t>Feiertage</a:t>
            </a:r>
            <a:r>
              <a:rPr dirty="0"/>
              <a:t>, Customer für </a:t>
            </a:r>
            <a:r>
              <a:rPr dirty="0" err="1"/>
              <a:t>Kundenprojektarbeit</a:t>
            </a:r>
            <a:r>
              <a:rPr dirty="0"/>
              <a:t>, Internal für Meetings, Weiterbildung und interne </a:t>
            </a:r>
            <a:r>
              <a:rPr dirty="0" err="1"/>
              <a:t>Entwicklung</a:t>
            </a:r>
            <a:r>
              <a:rPr dirty="0"/>
              <a:t>, und Other für </a:t>
            </a:r>
            <a:r>
              <a:rPr dirty="0" err="1"/>
              <a:t>sonstige</a:t>
            </a:r>
            <a:r>
              <a:rPr dirty="0"/>
              <a:t> </a:t>
            </a:r>
            <a:r>
              <a:rPr dirty="0" err="1"/>
              <a:t>Abwesenheiten</a:t>
            </a:r>
            <a:r>
              <a:rPr dirty="0"/>
              <a:t>. </a:t>
            </a:r>
            <a:endParaRPr lang="de-CH" dirty="0"/>
          </a:p>
          <a:p>
            <a:endParaRPr lang="en-US" dirty="0"/>
          </a:p>
          <a:p>
            <a:r>
              <a:rPr dirty="0" err="1"/>
              <a:t>Bearbeitet</a:t>
            </a:r>
            <a:r>
              <a:rPr dirty="0"/>
              <a:t> </a:t>
            </a:r>
            <a:r>
              <a:rPr dirty="0" err="1"/>
              <a:t>wird</a:t>
            </a:r>
            <a:r>
              <a:rPr dirty="0"/>
              <a:t> </a:t>
            </a:r>
            <a:r>
              <a:rPr dirty="0" err="1"/>
              <a:t>direkt</a:t>
            </a:r>
            <a:r>
              <a:rPr dirty="0"/>
              <a:t> in der </a:t>
            </a:r>
            <a:r>
              <a:rPr dirty="0" err="1"/>
              <a:t>Tabelle</a:t>
            </a:r>
            <a:r>
              <a:rPr dirty="0"/>
              <a:t>, per Inline-Editing – </a:t>
            </a:r>
            <a:r>
              <a:rPr dirty="0" err="1"/>
              <a:t>möglichst</a:t>
            </a:r>
            <a:r>
              <a:rPr dirty="0"/>
              <a:t> </a:t>
            </a:r>
            <a:r>
              <a:rPr dirty="0" err="1"/>
              <a:t>wenig</a:t>
            </a:r>
            <a:r>
              <a:rPr dirty="0"/>
              <a:t> </a:t>
            </a:r>
            <a:r>
              <a:rPr dirty="0" err="1"/>
              <a:t>Reibung</a:t>
            </a:r>
            <a:r>
              <a:rPr dirty="0"/>
              <a:t>, </a:t>
            </a:r>
            <a:r>
              <a:rPr dirty="0" err="1"/>
              <a:t>damit</a:t>
            </a:r>
            <a:r>
              <a:rPr dirty="0"/>
              <a:t> es </a:t>
            </a:r>
            <a:r>
              <a:rPr dirty="0" err="1"/>
              <a:t>im</a:t>
            </a:r>
            <a:r>
              <a:rPr dirty="0"/>
              <a:t> </a:t>
            </a:r>
            <a:r>
              <a:rPr dirty="0" err="1"/>
              <a:t>Alltag</a:t>
            </a:r>
            <a:r>
              <a:rPr dirty="0"/>
              <a:t> </a:t>
            </a:r>
            <a:r>
              <a:rPr dirty="0" err="1"/>
              <a:t>auch</a:t>
            </a:r>
            <a:r>
              <a:rPr dirty="0"/>
              <a:t> </a:t>
            </a:r>
            <a:r>
              <a:rPr dirty="0" err="1"/>
              <a:t>wirklich</a:t>
            </a:r>
            <a:r>
              <a:rPr dirty="0"/>
              <a:t> </a:t>
            </a:r>
            <a:r>
              <a:rPr dirty="0" err="1"/>
              <a:t>genutzt</a:t>
            </a:r>
            <a:r>
              <a:rPr dirty="0"/>
              <a:t> </a:t>
            </a:r>
            <a:r>
              <a:rPr dirty="0" err="1"/>
              <a:t>wird</a:t>
            </a:r>
            <a:r>
              <a:rPr dirty="0"/>
              <a:t>. </a:t>
            </a:r>
            <a:endParaRPr lang="de-CH" dirty="0"/>
          </a:p>
          <a:p>
            <a:endParaRPr lang="en-US" dirty="0"/>
          </a:p>
          <a:p>
            <a:r>
              <a:rPr dirty="0" err="1"/>
              <a:t>Wird</a:t>
            </a:r>
            <a:r>
              <a:rPr dirty="0"/>
              <a:t> </a:t>
            </a:r>
            <a:r>
              <a:rPr dirty="0" err="1"/>
              <a:t>ein</a:t>
            </a:r>
            <a:r>
              <a:rPr dirty="0"/>
              <a:t> Sprint </a:t>
            </a:r>
            <a:r>
              <a:rPr dirty="0" err="1"/>
              <a:t>zum</a:t>
            </a:r>
            <a:r>
              <a:rPr dirty="0"/>
              <a:t> </a:t>
            </a:r>
            <a:r>
              <a:rPr dirty="0" err="1"/>
              <a:t>ersten</a:t>
            </a:r>
            <a:r>
              <a:rPr dirty="0"/>
              <a:t> Mal </a:t>
            </a:r>
            <a:r>
              <a:rPr dirty="0" err="1"/>
              <a:t>geöffnet</a:t>
            </a:r>
            <a:r>
              <a:rPr dirty="0"/>
              <a:t>, </a:t>
            </a:r>
            <a:r>
              <a:rPr dirty="0" err="1"/>
              <a:t>legt</a:t>
            </a:r>
            <a:r>
              <a:rPr dirty="0"/>
              <a:t> das System </a:t>
            </a:r>
            <a:r>
              <a:rPr dirty="0" err="1"/>
              <a:t>automatisch</a:t>
            </a:r>
            <a:r>
              <a:rPr dirty="0"/>
              <a:t> </a:t>
            </a:r>
            <a:r>
              <a:rPr dirty="0" err="1"/>
              <a:t>leere</a:t>
            </a:r>
            <a:r>
              <a:rPr dirty="0"/>
              <a:t> </a:t>
            </a:r>
            <a:r>
              <a:rPr dirty="0" err="1"/>
              <a:t>Kapazitätspläne</a:t>
            </a:r>
            <a:r>
              <a:rPr dirty="0"/>
              <a:t> für alle </a:t>
            </a:r>
            <a:r>
              <a:rPr dirty="0" err="1"/>
              <a:t>Projektmitglieder</a:t>
            </a:r>
            <a:r>
              <a:rPr dirty="0"/>
              <a:t> an, </a:t>
            </a:r>
            <a:r>
              <a:rPr dirty="0" err="1"/>
              <a:t>orientiert</a:t>
            </a:r>
            <a:r>
              <a:rPr dirty="0"/>
              <a:t> an Start- und </a:t>
            </a:r>
            <a:r>
              <a:rPr dirty="0" err="1"/>
              <a:t>Enddatum</a:t>
            </a:r>
            <a:r>
              <a:rPr dirty="0"/>
              <a:t> des Sprints. </a:t>
            </a:r>
            <a:endParaRPr lang="de-CH" dirty="0"/>
          </a:p>
          <a:p>
            <a:endParaRPr lang="en-US" dirty="0"/>
          </a:p>
          <a:p>
            <a:r>
              <a:rPr dirty="0"/>
              <a:t>Und </a:t>
            </a:r>
            <a:r>
              <a:rPr dirty="0" err="1"/>
              <a:t>jetzt</a:t>
            </a:r>
            <a:r>
              <a:rPr dirty="0"/>
              <a:t> </a:t>
            </a:r>
            <a:r>
              <a:rPr dirty="0" err="1"/>
              <a:t>zum</a:t>
            </a:r>
            <a:r>
              <a:rPr dirty="0"/>
              <a:t> </a:t>
            </a:r>
            <a:r>
              <a:rPr dirty="0" err="1"/>
              <a:t>eigentlich</a:t>
            </a:r>
            <a:r>
              <a:rPr dirty="0"/>
              <a:t> </a:t>
            </a:r>
            <a:r>
              <a:rPr dirty="0" err="1"/>
              <a:t>Neuen</a:t>
            </a:r>
            <a:r>
              <a:rPr dirty="0"/>
              <a:t>: Aus </a:t>
            </a:r>
            <a:r>
              <a:rPr dirty="0" err="1"/>
              <a:t>diesen</a:t>
            </a:r>
            <a:r>
              <a:rPr dirty="0"/>
              <a:t> </a:t>
            </a:r>
            <a:r>
              <a:rPr dirty="0" err="1"/>
              <a:t>Daten</a:t>
            </a:r>
            <a:r>
              <a:rPr dirty="0"/>
              <a:t> </a:t>
            </a:r>
            <a:r>
              <a:rPr dirty="0" err="1"/>
              <a:t>leitet</a:t>
            </a:r>
            <a:r>
              <a:rPr dirty="0"/>
              <a:t> </a:t>
            </a:r>
            <a:r>
              <a:rPr dirty="0" err="1"/>
              <a:t>Sprintify</a:t>
            </a:r>
            <a:r>
              <a:rPr dirty="0"/>
              <a:t> </a:t>
            </a:r>
            <a:r>
              <a:rPr dirty="0" err="1"/>
              <a:t>eine</a:t>
            </a:r>
            <a:r>
              <a:rPr dirty="0"/>
              <a:t> Story-Point-</a:t>
            </a:r>
            <a:r>
              <a:rPr dirty="0" err="1"/>
              <a:t>Empfehlung</a:t>
            </a:r>
            <a:r>
              <a:rPr dirty="0"/>
              <a:t> ab. </a:t>
            </a:r>
            <a:endParaRPr lang="de-CH" dirty="0"/>
          </a:p>
          <a:p>
            <a:endParaRPr lang="en-US" dirty="0"/>
          </a:p>
          <a:p>
            <a:r>
              <a:rPr dirty="0"/>
              <a:t>Die Formel </a:t>
            </a:r>
            <a:r>
              <a:rPr dirty="0" err="1"/>
              <a:t>lautet</a:t>
            </a:r>
            <a:r>
              <a:rPr dirty="0"/>
              <a:t>: </a:t>
            </a:r>
            <a:r>
              <a:rPr dirty="0" err="1"/>
              <a:t>empfohlene</a:t>
            </a:r>
            <a:r>
              <a:rPr dirty="0"/>
              <a:t> Story Points </a:t>
            </a:r>
            <a:r>
              <a:rPr dirty="0" err="1"/>
              <a:t>gleich</a:t>
            </a:r>
            <a:r>
              <a:rPr dirty="0"/>
              <a:t> </a:t>
            </a:r>
            <a:r>
              <a:rPr dirty="0" err="1"/>
              <a:t>durchschnittliche</a:t>
            </a:r>
            <a:r>
              <a:rPr dirty="0"/>
              <a:t> Velocity mal </a:t>
            </a:r>
            <a:r>
              <a:rPr dirty="0" err="1"/>
              <a:t>Kapazitätsfaktor</a:t>
            </a:r>
            <a:r>
              <a:rPr dirty="0"/>
              <a:t>. </a:t>
            </a:r>
            <a:endParaRPr lang="de-CH" dirty="0"/>
          </a:p>
          <a:p>
            <a:r>
              <a:rPr dirty="0"/>
              <a:t>Der </a:t>
            </a:r>
            <a:r>
              <a:rPr dirty="0" err="1"/>
              <a:t>Kapazitätsfaktor</a:t>
            </a:r>
            <a:r>
              <a:rPr dirty="0"/>
              <a:t> </a:t>
            </a:r>
            <a:r>
              <a:rPr dirty="0" err="1"/>
              <a:t>ist</a:t>
            </a:r>
            <a:r>
              <a:rPr dirty="0"/>
              <a:t> das </a:t>
            </a:r>
            <a:r>
              <a:rPr dirty="0" err="1"/>
              <a:t>Verhältnis</a:t>
            </a:r>
            <a:r>
              <a:rPr dirty="0"/>
              <a:t> der </a:t>
            </a:r>
            <a:r>
              <a:rPr dirty="0" err="1"/>
              <a:t>aktuellen</a:t>
            </a:r>
            <a:r>
              <a:rPr dirty="0"/>
              <a:t> Sprint-</a:t>
            </a:r>
            <a:r>
              <a:rPr dirty="0" err="1"/>
              <a:t>Kapazität</a:t>
            </a:r>
            <a:r>
              <a:rPr dirty="0"/>
              <a:t> </a:t>
            </a:r>
            <a:r>
              <a:rPr dirty="0" err="1"/>
              <a:t>zur</a:t>
            </a:r>
            <a:r>
              <a:rPr dirty="0"/>
              <a:t> </a:t>
            </a:r>
            <a:r>
              <a:rPr dirty="0" err="1"/>
              <a:t>durchschnittlichen</a:t>
            </a:r>
            <a:r>
              <a:rPr dirty="0"/>
              <a:t> </a:t>
            </a:r>
            <a:r>
              <a:rPr dirty="0" err="1"/>
              <a:t>Kapazität</a:t>
            </a:r>
            <a:r>
              <a:rPr dirty="0"/>
              <a:t> der </a:t>
            </a:r>
            <a:r>
              <a:rPr dirty="0" err="1"/>
              <a:t>letzten</a:t>
            </a:r>
            <a:r>
              <a:rPr dirty="0"/>
              <a:t> </a:t>
            </a:r>
            <a:r>
              <a:rPr dirty="0" err="1"/>
              <a:t>sechs</a:t>
            </a:r>
            <a:r>
              <a:rPr dirty="0"/>
              <a:t> </a:t>
            </a:r>
            <a:r>
              <a:rPr dirty="0" err="1"/>
              <a:t>abgeschlossenen</a:t>
            </a:r>
            <a:r>
              <a:rPr dirty="0"/>
              <a:t> Sprints. </a:t>
            </a:r>
            <a:endParaRPr lang="de-CH" dirty="0"/>
          </a:p>
          <a:p>
            <a:endParaRPr lang="en-US" dirty="0"/>
          </a:p>
          <a:p>
            <a:r>
              <a:rPr dirty="0" err="1"/>
              <a:t>Konkret</a:t>
            </a:r>
            <a:r>
              <a:rPr dirty="0"/>
              <a:t> </a:t>
            </a:r>
            <a:r>
              <a:rPr dirty="0" err="1"/>
              <a:t>heisst</a:t>
            </a:r>
            <a:r>
              <a:rPr dirty="0"/>
              <a:t> das: Hat das Team </a:t>
            </a:r>
            <a:r>
              <a:rPr dirty="0" err="1"/>
              <a:t>im</a:t>
            </a:r>
            <a:r>
              <a:rPr dirty="0"/>
              <a:t> </a:t>
            </a:r>
            <a:r>
              <a:rPr dirty="0" err="1"/>
              <a:t>nächsten</a:t>
            </a:r>
            <a:r>
              <a:rPr dirty="0"/>
              <a:t> Sprint </a:t>
            </a:r>
            <a:r>
              <a:rPr dirty="0" err="1"/>
              <a:t>weniger</a:t>
            </a:r>
            <a:r>
              <a:rPr dirty="0"/>
              <a:t> </a:t>
            </a:r>
            <a:r>
              <a:rPr dirty="0" err="1"/>
              <a:t>Stunden</a:t>
            </a:r>
            <a:r>
              <a:rPr dirty="0"/>
              <a:t> </a:t>
            </a:r>
            <a:r>
              <a:rPr dirty="0" err="1"/>
              <a:t>zur</a:t>
            </a:r>
            <a:r>
              <a:rPr dirty="0"/>
              <a:t> </a:t>
            </a:r>
            <a:r>
              <a:rPr dirty="0" err="1"/>
              <a:t>Verfügung</a:t>
            </a:r>
            <a:r>
              <a:rPr dirty="0"/>
              <a:t> </a:t>
            </a:r>
            <a:r>
              <a:rPr dirty="0" err="1"/>
              <a:t>als</a:t>
            </a:r>
            <a:r>
              <a:rPr dirty="0"/>
              <a:t> </a:t>
            </a:r>
            <a:r>
              <a:rPr dirty="0" err="1"/>
              <a:t>im</a:t>
            </a:r>
            <a:r>
              <a:rPr dirty="0"/>
              <a:t> </a:t>
            </a:r>
            <a:r>
              <a:rPr dirty="0" err="1"/>
              <a:t>Schnitt</a:t>
            </a:r>
            <a:r>
              <a:rPr dirty="0"/>
              <a:t> – </a:t>
            </a:r>
            <a:r>
              <a:rPr dirty="0" err="1"/>
              <a:t>etwa</a:t>
            </a:r>
            <a:r>
              <a:rPr dirty="0"/>
              <a:t> </a:t>
            </a:r>
            <a:r>
              <a:rPr dirty="0" err="1"/>
              <a:t>wegen</a:t>
            </a:r>
            <a:r>
              <a:rPr dirty="0"/>
              <a:t> </a:t>
            </a:r>
            <a:r>
              <a:rPr dirty="0" err="1"/>
              <a:t>Ferienzeit</a:t>
            </a:r>
            <a:r>
              <a:rPr dirty="0"/>
              <a:t> – </a:t>
            </a:r>
            <a:r>
              <a:rPr dirty="0" err="1"/>
              <a:t>fällt</a:t>
            </a:r>
            <a:r>
              <a:rPr dirty="0"/>
              <a:t> die </a:t>
            </a:r>
            <a:r>
              <a:rPr dirty="0" err="1"/>
              <a:t>Empfehlung</a:t>
            </a:r>
            <a:r>
              <a:rPr dirty="0"/>
              <a:t> </a:t>
            </a:r>
            <a:r>
              <a:rPr dirty="0" err="1"/>
              <a:t>automatisch</a:t>
            </a:r>
            <a:r>
              <a:rPr dirty="0"/>
              <a:t> </a:t>
            </a:r>
            <a:r>
              <a:rPr dirty="0" err="1"/>
              <a:t>tiefer</a:t>
            </a:r>
            <a:r>
              <a:rPr dirty="0"/>
              <a:t> </a:t>
            </a:r>
            <a:r>
              <a:rPr dirty="0" err="1"/>
              <a:t>aus.</a:t>
            </a:r>
            <a:r>
              <a:rPr dirty="0"/>
              <a:t> </a:t>
            </a:r>
            <a:endParaRPr lang="de-CH" dirty="0"/>
          </a:p>
          <a:p>
            <a:r>
              <a:rPr dirty="0"/>
              <a:t>Und falls </a:t>
            </a:r>
            <a:r>
              <a:rPr dirty="0" err="1"/>
              <a:t>noch</a:t>
            </a:r>
            <a:r>
              <a:rPr dirty="0"/>
              <a:t> </a:t>
            </a:r>
            <a:r>
              <a:rPr dirty="0" err="1"/>
              <a:t>keine</a:t>
            </a:r>
            <a:r>
              <a:rPr dirty="0"/>
              <a:t> </a:t>
            </a:r>
            <a:r>
              <a:rPr dirty="0" err="1"/>
              <a:t>historischen</a:t>
            </a:r>
            <a:r>
              <a:rPr dirty="0"/>
              <a:t> </a:t>
            </a:r>
            <a:r>
              <a:rPr dirty="0" err="1"/>
              <a:t>Kapazitätsdaten</a:t>
            </a:r>
            <a:r>
              <a:rPr dirty="0"/>
              <a:t> </a:t>
            </a:r>
            <a:r>
              <a:rPr dirty="0" err="1"/>
              <a:t>vorliegen</a:t>
            </a:r>
            <a:r>
              <a:rPr dirty="0"/>
              <a:t>, </a:t>
            </a:r>
            <a:r>
              <a:rPr dirty="0" err="1"/>
              <a:t>greift</a:t>
            </a:r>
            <a:r>
              <a:rPr dirty="0"/>
              <a:t> das System auf die </a:t>
            </a:r>
            <a:r>
              <a:rPr dirty="0" err="1"/>
              <a:t>reine</a:t>
            </a:r>
            <a:r>
              <a:rPr dirty="0"/>
              <a:t> </a:t>
            </a:r>
            <a:r>
              <a:rPr dirty="0" err="1"/>
              <a:t>durchschnittliche</a:t>
            </a:r>
            <a:r>
              <a:rPr dirty="0"/>
              <a:t> Velocity </a:t>
            </a:r>
            <a:r>
              <a:rPr dirty="0" err="1"/>
              <a:t>zurück</a:t>
            </a:r>
            <a:r>
              <a:rPr dirty="0"/>
              <a:t>. </a:t>
            </a:r>
            <a:endParaRPr lang="de-CH" dirty="0"/>
          </a:p>
          <a:p>
            <a:endParaRPr lang="en-US" dirty="0"/>
          </a:p>
          <a:p>
            <a:r>
              <a:rPr dirty="0"/>
              <a:t>Das </a:t>
            </a:r>
            <a:r>
              <a:rPr dirty="0" err="1"/>
              <a:t>ist</a:t>
            </a:r>
            <a:r>
              <a:rPr dirty="0"/>
              <a:t> die </a:t>
            </a:r>
            <a:r>
              <a:rPr dirty="0" err="1"/>
              <a:t>datenbasierte</a:t>
            </a:r>
            <a:r>
              <a:rPr dirty="0"/>
              <a:t> </a:t>
            </a:r>
            <a:r>
              <a:rPr dirty="0" err="1"/>
              <a:t>Antwort</a:t>
            </a:r>
            <a:r>
              <a:rPr dirty="0"/>
              <a:t> auf die Frage </a:t>
            </a:r>
            <a:r>
              <a:rPr dirty="0" err="1"/>
              <a:t>vom</a:t>
            </a:r>
            <a:r>
              <a:rPr dirty="0"/>
              <a:t> Anfang.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Das </a:t>
            </a:r>
            <a:r>
              <a:rPr dirty="0" err="1"/>
              <a:t>zweite</a:t>
            </a:r>
            <a:r>
              <a:rPr dirty="0"/>
              <a:t> </a:t>
            </a:r>
            <a:r>
              <a:rPr dirty="0" err="1"/>
              <a:t>grosse</a:t>
            </a:r>
            <a:r>
              <a:rPr dirty="0"/>
              <a:t> Modul </a:t>
            </a:r>
            <a:r>
              <a:rPr dirty="0" err="1"/>
              <a:t>ist</a:t>
            </a:r>
            <a:r>
              <a:rPr dirty="0"/>
              <a:t> Sprint Analytics, und es hat vier </a:t>
            </a:r>
            <a:r>
              <a:rPr dirty="0" err="1"/>
              <a:t>Ansichten</a:t>
            </a:r>
            <a:r>
              <a:rPr dirty="0"/>
              <a:t>. </a:t>
            </a:r>
            <a:endParaRPr lang="de-CH" dirty="0"/>
          </a:p>
          <a:p>
            <a:endParaRPr lang="en-US" dirty="0"/>
          </a:p>
          <a:p>
            <a:r>
              <a:rPr dirty="0"/>
              <a:t>Ich </a:t>
            </a:r>
            <a:r>
              <a:rPr dirty="0" err="1"/>
              <a:t>finde</a:t>
            </a:r>
            <a:r>
              <a:rPr dirty="0"/>
              <a:t> es </a:t>
            </a:r>
            <a:r>
              <a:rPr dirty="0" err="1"/>
              <a:t>hilfreich</a:t>
            </a:r>
            <a:r>
              <a:rPr dirty="0"/>
              <a:t>, </a:t>
            </a:r>
            <a:r>
              <a:rPr dirty="0" err="1"/>
              <a:t>jede</a:t>
            </a:r>
            <a:r>
              <a:rPr dirty="0"/>
              <a:t> </a:t>
            </a:r>
            <a:r>
              <a:rPr dirty="0" err="1"/>
              <a:t>Ansicht</a:t>
            </a:r>
            <a:r>
              <a:rPr dirty="0"/>
              <a:t> </a:t>
            </a:r>
            <a:r>
              <a:rPr dirty="0" err="1"/>
              <a:t>mit</a:t>
            </a:r>
            <a:r>
              <a:rPr dirty="0"/>
              <a:t> der Frage </a:t>
            </a:r>
            <a:r>
              <a:rPr dirty="0" err="1"/>
              <a:t>zu</a:t>
            </a:r>
            <a:r>
              <a:rPr dirty="0"/>
              <a:t> </a:t>
            </a:r>
            <a:r>
              <a:rPr dirty="0" err="1"/>
              <a:t>verknüpfen</a:t>
            </a:r>
            <a:r>
              <a:rPr dirty="0"/>
              <a:t>, die </a:t>
            </a:r>
            <a:r>
              <a:rPr dirty="0" err="1"/>
              <a:t>sie</a:t>
            </a:r>
            <a:r>
              <a:rPr dirty="0"/>
              <a:t> </a:t>
            </a:r>
            <a:r>
              <a:rPr dirty="0" err="1"/>
              <a:t>beantwortet</a:t>
            </a:r>
            <a:r>
              <a:rPr dirty="0"/>
              <a:t>. </a:t>
            </a:r>
            <a:endParaRPr lang="de-CH" dirty="0"/>
          </a:p>
          <a:p>
            <a:endParaRPr lang="en-US" dirty="0"/>
          </a:p>
          <a:p>
            <a:r>
              <a:rPr dirty="0"/>
              <a:t>Die Overview </a:t>
            </a:r>
            <a:r>
              <a:rPr dirty="0" err="1"/>
              <a:t>zeigt</a:t>
            </a:r>
            <a:r>
              <a:rPr dirty="0"/>
              <a:t> die </a:t>
            </a:r>
            <a:r>
              <a:rPr dirty="0" err="1"/>
              <a:t>Kennzahlen</a:t>
            </a:r>
            <a:r>
              <a:rPr dirty="0"/>
              <a:t> des </a:t>
            </a:r>
            <a:r>
              <a:rPr dirty="0" err="1"/>
              <a:t>aktuellen</a:t>
            </a:r>
            <a:r>
              <a:rPr dirty="0"/>
              <a:t> Sprints und </a:t>
            </a:r>
            <a:r>
              <a:rPr dirty="0" err="1"/>
              <a:t>ein</a:t>
            </a:r>
            <a:r>
              <a:rPr dirty="0"/>
              <a:t> Burndown-Chart – </a:t>
            </a:r>
            <a:r>
              <a:rPr dirty="0" err="1"/>
              <a:t>sie</a:t>
            </a:r>
            <a:r>
              <a:rPr dirty="0"/>
              <a:t> </a:t>
            </a:r>
            <a:r>
              <a:rPr dirty="0" err="1"/>
              <a:t>beantwortet</a:t>
            </a:r>
            <a:r>
              <a:rPr dirty="0"/>
              <a:t> die Frage: Sind </a:t>
            </a:r>
            <a:r>
              <a:rPr dirty="0" err="1"/>
              <a:t>wir</a:t>
            </a:r>
            <a:r>
              <a:rPr dirty="0"/>
              <a:t> auf Kurs? </a:t>
            </a:r>
            <a:endParaRPr lang="de-CH" dirty="0"/>
          </a:p>
          <a:p>
            <a:endParaRPr lang="en-US" dirty="0"/>
          </a:p>
          <a:p>
            <a:r>
              <a:rPr dirty="0"/>
              <a:t>Die Compare-</a:t>
            </a:r>
            <a:r>
              <a:rPr dirty="0" err="1"/>
              <a:t>Ansicht</a:t>
            </a:r>
            <a:r>
              <a:rPr dirty="0"/>
              <a:t> </a:t>
            </a:r>
            <a:r>
              <a:rPr dirty="0" err="1"/>
              <a:t>stellt</a:t>
            </a:r>
            <a:r>
              <a:rPr dirty="0"/>
              <a:t> die </a:t>
            </a:r>
            <a:r>
              <a:rPr dirty="0" err="1"/>
              <a:t>aktuelle</a:t>
            </a:r>
            <a:r>
              <a:rPr dirty="0"/>
              <a:t> Velocity dem </a:t>
            </a:r>
            <a:r>
              <a:rPr dirty="0" err="1"/>
              <a:t>vorherigen</a:t>
            </a:r>
            <a:r>
              <a:rPr dirty="0"/>
              <a:t> Sprint und </a:t>
            </a:r>
            <a:r>
              <a:rPr dirty="0" err="1"/>
              <a:t>Langzeit</a:t>
            </a:r>
            <a:r>
              <a:rPr dirty="0"/>
              <a:t>-Benchmarks </a:t>
            </a:r>
            <a:r>
              <a:rPr dirty="0" err="1"/>
              <a:t>gegenüber</a:t>
            </a:r>
            <a:r>
              <a:rPr dirty="0"/>
              <a:t> – </a:t>
            </a:r>
            <a:r>
              <a:rPr dirty="0" err="1"/>
              <a:t>sie</a:t>
            </a:r>
            <a:r>
              <a:rPr dirty="0"/>
              <a:t> </a:t>
            </a:r>
            <a:r>
              <a:rPr dirty="0" err="1"/>
              <a:t>beantwortet</a:t>
            </a:r>
            <a:r>
              <a:rPr dirty="0"/>
              <a:t>: Werden </a:t>
            </a:r>
            <a:r>
              <a:rPr dirty="0" err="1"/>
              <a:t>wir</a:t>
            </a:r>
            <a:r>
              <a:rPr dirty="0"/>
              <a:t> </a:t>
            </a:r>
            <a:r>
              <a:rPr dirty="0" err="1"/>
              <a:t>besser</a:t>
            </a:r>
            <a:r>
              <a:rPr dirty="0"/>
              <a:t> </a:t>
            </a:r>
            <a:r>
              <a:rPr dirty="0" err="1"/>
              <a:t>oder</a:t>
            </a:r>
            <a:r>
              <a:rPr dirty="0"/>
              <a:t> </a:t>
            </a:r>
            <a:r>
              <a:rPr dirty="0" err="1"/>
              <a:t>schlechter</a:t>
            </a:r>
            <a:r>
              <a:rPr dirty="0"/>
              <a:t>? </a:t>
            </a:r>
            <a:endParaRPr lang="de-CH" dirty="0"/>
          </a:p>
          <a:p>
            <a:endParaRPr lang="en-US" dirty="0"/>
          </a:p>
          <a:p>
            <a:r>
              <a:rPr dirty="0"/>
              <a:t>Die Changes-</a:t>
            </a:r>
            <a:r>
              <a:rPr dirty="0" err="1"/>
              <a:t>Ansicht</a:t>
            </a:r>
            <a:r>
              <a:rPr dirty="0"/>
              <a:t> </a:t>
            </a:r>
            <a:r>
              <a:rPr dirty="0" err="1"/>
              <a:t>zeigt</a:t>
            </a:r>
            <a:r>
              <a:rPr dirty="0"/>
              <a:t>, </a:t>
            </a:r>
            <a:r>
              <a:rPr dirty="0" err="1"/>
              <a:t>welche</a:t>
            </a:r>
            <a:r>
              <a:rPr dirty="0"/>
              <a:t> Stories </a:t>
            </a:r>
            <a:r>
              <a:rPr dirty="0" err="1"/>
              <a:t>während</a:t>
            </a:r>
            <a:r>
              <a:rPr dirty="0"/>
              <a:t> des Sprints </a:t>
            </a:r>
            <a:r>
              <a:rPr dirty="0" err="1"/>
              <a:t>zum</a:t>
            </a:r>
            <a:r>
              <a:rPr dirty="0"/>
              <a:t> </a:t>
            </a:r>
            <a:r>
              <a:rPr dirty="0" err="1"/>
              <a:t>Umfang</a:t>
            </a:r>
            <a:r>
              <a:rPr dirty="0"/>
              <a:t> </a:t>
            </a:r>
            <a:r>
              <a:rPr dirty="0" err="1"/>
              <a:t>dazugekommen</a:t>
            </a:r>
            <a:r>
              <a:rPr dirty="0"/>
              <a:t> </a:t>
            </a:r>
            <a:r>
              <a:rPr dirty="0" err="1"/>
              <a:t>sind</a:t>
            </a:r>
            <a:r>
              <a:rPr dirty="0"/>
              <a:t> – </a:t>
            </a:r>
            <a:r>
              <a:rPr dirty="0" err="1"/>
              <a:t>sie</a:t>
            </a:r>
            <a:r>
              <a:rPr dirty="0"/>
              <a:t> </a:t>
            </a:r>
            <a:r>
              <a:rPr dirty="0" err="1"/>
              <a:t>beantwortet</a:t>
            </a:r>
            <a:r>
              <a:rPr dirty="0"/>
              <a:t> die Frage: </a:t>
            </a:r>
            <a:r>
              <a:rPr dirty="0" err="1"/>
              <a:t>Warum</a:t>
            </a:r>
            <a:r>
              <a:rPr dirty="0"/>
              <a:t> </a:t>
            </a:r>
            <a:r>
              <a:rPr dirty="0" err="1"/>
              <a:t>haben</a:t>
            </a:r>
            <a:r>
              <a:rPr dirty="0"/>
              <a:t> </a:t>
            </a:r>
            <a:r>
              <a:rPr dirty="0" err="1"/>
              <a:t>wir</a:t>
            </a:r>
            <a:r>
              <a:rPr dirty="0"/>
              <a:t> das Ziel </a:t>
            </a:r>
            <a:r>
              <a:rPr dirty="0" err="1"/>
              <a:t>verfehlt</a:t>
            </a:r>
            <a:r>
              <a:rPr dirty="0"/>
              <a:t>? </a:t>
            </a:r>
            <a:r>
              <a:rPr lang="de-CH" dirty="0"/>
              <a:t> </a:t>
            </a:r>
            <a:r>
              <a:rPr dirty="0"/>
              <a:t>Denn in </a:t>
            </a:r>
            <a:r>
              <a:rPr dirty="0" err="1"/>
              <a:t>unserer</a:t>
            </a:r>
            <a:r>
              <a:rPr dirty="0"/>
              <a:t> </a:t>
            </a:r>
            <a:r>
              <a:rPr dirty="0" err="1"/>
              <a:t>Erfahrung</a:t>
            </a:r>
            <a:r>
              <a:rPr dirty="0"/>
              <a:t> </a:t>
            </a:r>
            <a:r>
              <a:rPr dirty="0" err="1"/>
              <a:t>sind</a:t>
            </a:r>
            <a:r>
              <a:rPr dirty="0"/>
              <a:t> </a:t>
            </a:r>
            <a:r>
              <a:rPr dirty="0" err="1"/>
              <a:t>genau</a:t>
            </a:r>
            <a:r>
              <a:rPr dirty="0"/>
              <a:t> </a:t>
            </a:r>
            <a:r>
              <a:rPr dirty="0" err="1"/>
              <a:t>solche</a:t>
            </a:r>
            <a:r>
              <a:rPr dirty="0"/>
              <a:t> </a:t>
            </a:r>
            <a:r>
              <a:rPr dirty="0" err="1"/>
              <a:t>nachträglichen</a:t>
            </a:r>
            <a:r>
              <a:rPr dirty="0"/>
              <a:t> Scope-</a:t>
            </a:r>
            <a:r>
              <a:rPr dirty="0" err="1"/>
              <a:t>Änderungen</a:t>
            </a:r>
            <a:r>
              <a:rPr dirty="0"/>
              <a:t> </a:t>
            </a:r>
            <a:r>
              <a:rPr dirty="0" err="1"/>
              <a:t>einer</a:t>
            </a:r>
            <a:r>
              <a:rPr dirty="0"/>
              <a:t> der </a:t>
            </a:r>
            <a:r>
              <a:rPr dirty="0" err="1"/>
              <a:t>häufigsten</a:t>
            </a:r>
            <a:r>
              <a:rPr dirty="0"/>
              <a:t> </a:t>
            </a:r>
            <a:r>
              <a:rPr dirty="0" err="1"/>
              <a:t>Gründe</a:t>
            </a:r>
            <a:r>
              <a:rPr dirty="0"/>
              <a:t> für </a:t>
            </a:r>
            <a:r>
              <a:rPr dirty="0" err="1"/>
              <a:t>verfehlte</a:t>
            </a:r>
            <a:r>
              <a:rPr dirty="0"/>
              <a:t> Sprint-</a:t>
            </a:r>
            <a:r>
              <a:rPr dirty="0" err="1"/>
              <a:t>Ziele</a:t>
            </a:r>
            <a:r>
              <a:rPr dirty="0"/>
              <a:t>. </a:t>
            </a:r>
            <a:endParaRPr lang="de-CH" dirty="0"/>
          </a:p>
          <a:p>
            <a:endParaRPr lang="en-US" dirty="0"/>
          </a:p>
          <a:p>
            <a:r>
              <a:rPr dirty="0"/>
              <a:t>Und die </a:t>
            </a:r>
            <a:r>
              <a:rPr dirty="0" err="1"/>
              <a:t>vierte</a:t>
            </a:r>
            <a:r>
              <a:rPr dirty="0"/>
              <a:t> </a:t>
            </a:r>
            <a:r>
              <a:rPr dirty="0" err="1"/>
              <a:t>Ansicht</a:t>
            </a:r>
            <a:r>
              <a:rPr dirty="0"/>
              <a:t>, Team Performance, </a:t>
            </a:r>
            <a:r>
              <a:rPr dirty="0" err="1"/>
              <a:t>zeigt</a:t>
            </a:r>
            <a:r>
              <a:rPr dirty="0"/>
              <a:t> die Velocity pro Person </a:t>
            </a:r>
            <a:r>
              <a:rPr dirty="0" err="1"/>
              <a:t>als</a:t>
            </a:r>
            <a:r>
              <a:rPr dirty="0"/>
              <a:t> </a:t>
            </a:r>
            <a:r>
              <a:rPr dirty="0" err="1"/>
              <a:t>Balkendiagramm</a:t>
            </a:r>
            <a:r>
              <a:rPr dirty="0"/>
              <a:t> – </a:t>
            </a:r>
            <a:r>
              <a:rPr dirty="0" err="1"/>
              <a:t>sie</a:t>
            </a:r>
            <a:r>
              <a:rPr dirty="0"/>
              <a:t> </a:t>
            </a:r>
            <a:r>
              <a:rPr dirty="0" err="1"/>
              <a:t>beantwortet</a:t>
            </a:r>
            <a:r>
              <a:rPr dirty="0"/>
              <a:t>: </a:t>
            </a:r>
            <a:r>
              <a:rPr dirty="0" err="1"/>
              <a:t>Ist</a:t>
            </a:r>
            <a:r>
              <a:rPr dirty="0"/>
              <a:t> die Arbeit </a:t>
            </a:r>
            <a:r>
              <a:rPr dirty="0" err="1"/>
              <a:t>gleichmässig</a:t>
            </a:r>
            <a:r>
              <a:rPr dirty="0"/>
              <a:t> </a:t>
            </a:r>
            <a:r>
              <a:rPr dirty="0" err="1"/>
              <a:t>verteilt</a:t>
            </a:r>
            <a:r>
              <a:rPr dirty="0"/>
              <a:t>? </a:t>
            </a:r>
            <a:endParaRPr lang="de-CH" dirty="0"/>
          </a:p>
          <a:p>
            <a:endParaRPr lang="en-US" dirty="0"/>
          </a:p>
          <a:p>
            <a:r>
              <a:rPr dirty="0"/>
              <a:t>Ein </a:t>
            </a:r>
            <a:r>
              <a:rPr dirty="0" err="1"/>
              <a:t>wichtiger</a:t>
            </a:r>
            <a:r>
              <a:rPr dirty="0"/>
              <a:t> </a:t>
            </a:r>
            <a:r>
              <a:rPr dirty="0" err="1"/>
              <a:t>Hinweis</a:t>
            </a:r>
            <a:r>
              <a:rPr dirty="0"/>
              <a:t> </a:t>
            </a:r>
            <a:r>
              <a:rPr dirty="0" err="1"/>
              <a:t>dazu</a:t>
            </a:r>
            <a:r>
              <a:rPr dirty="0"/>
              <a:t>: </a:t>
            </a:r>
            <a:r>
              <a:rPr dirty="0" err="1"/>
              <a:t>Diese</a:t>
            </a:r>
            <a:r>
              <a:rPr dirty="0"/>
              <a:t> </a:t>
            </a:r>
            <a:r>
              <a:rPr dirty="0" err="1"/>
              <a:t>Ansicht</a:t>
            </a:r>
            <a:r>
              <a:rPr dirty="0"/>
              <a:t> </a:t>
            </a:r>
            <a:r>
              <a:rPr dirty="0" err="1"/>
              <a:t>ist</a:t>
            </a:r>
            <a:r>
              <a:rPr dirty="0"/>
              <a:t> </a:t>
            </a:r>
            <a:r>
              <a:rPr dirty="0" err="1"/>
              <a:t>ausdrücklich</a:t>
            </a:r>
            <a:r>
              <a:rPr dirty="0"/>
              <a:t> nicht für die </a:t>
            </a:r>
            <a:r>
              <a:rPr dirty="0" err="1"/>
              <a:t>individuelle</a:t>
            </a:r>
            <a:r>
              <a:rPr dirty="0"/>
              <a:t> </a:t>
            </a:r>
            <a:r>
              <a:rPr dirty="0" err="1"/>
              <a:t>Leistungsbewertung</a:t>
            </a:r>
            <a:r>
              <a:rPr dirty="0"/>
              <a:t> </a:t>
            </a:r>
            <a:r>
              <a:rPr dirty="0" err="1"/>
              <a:t>gedacht</a:t>
            </a:r>
            <a:r>
              <a:rPr dirty="0"/>
              <a:t>, </a:t>
            </a:r>
            <a:r>
              <a:rPr dirty="0" err="1"/>
              <a:t>sondern</a:t>
            </a:r>
            <a:r>
              <a:rPr dirty="0"/>
              <a:t> um </a:t>
            </a:r>
            <a:r>
              <a:rPr dirty="0" err="1"/>
              <a:t>Überlastung</a:t>
            </a:r>
            <a:r>
              <a:rPr dirty="0"/>
              <a:t> </a:t>
            </a:r>
            <a:r>
              <a:rPr dirty="0" err="1"/>
              <a:t>oder</a:t>
            </a:r>
            <a:r>
              <a:rPr dirty="0"/>
              <a:t> </a:t>
            </a:r>
            <a:r>
              <a:rPr dirty="0" err="1"/>
              <a:t>eine</a:t>
            </a:r>
            <a:r>
              <a:rPr dirty="0"/>
              <a:t> </a:t>
            </a:r>
            <a:r>
              <a:rPr dirty="0" err="1"/>
              <a:t>ungleiche</a:t>
            </a:r>
            <a:r>
              <a:rPr dirty="0"/>
              <a:t> </a:t>
            </a:r>
            <a:r>
              <a:rPr dirty="0" err="1"/>
              <a:t>Verteilung</a:t>
            </a:r>
            <a:r>
              <a:rPr dirty="0"/>
              <a:t> </a:t>
            </a:r>
            <a:r>
              <a:rPr dirty="0" err="1"/>
              <a:t>frühzeitig</a:t>
            </a:r>
            <a:r>
              <a:rPr dirty="0"/>
              <a:t> </a:t>
            </a:r>
            <a:r>
              <a:rPr dirty="0" err="1"/>
              <a:t>zu</a:t>
            </a:r>
            <a:r>
              <a:rPr dirty="0"/>
              <a:t> </a:t>
            </a:r>
            <a:r>
              <a:rPr dirty="0" err="1"/>
              <a:t>erkennen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Zwei </a:t>
            </a:r>
            <a:r>
              <a:rPr dirty="0" err="1"/>
              <a:t>ergänzende</a:t>
            </a:r>
            <a:r>
              <a:rPr dirty="0"/>
              <a:t> </a:t>
            </a:r>
            <a:r>
              <a:rPr dirty="0" err="1"/>
              <a:t>Funktionen</a:t>
            </a:r>
            <a:r>
              <a:rPr dirty="0"/>
              <a:t> </a:t>
            </a:r>
            <a:r>
              <a:rPr dirty="0" err="1"/>
              <a:t>runden</a:t>
            </a:r>
            <a:r>
              <a:rPr dirty="0"/>
              <a:t> das ab. </a:t>
            </a:r>
            <a:endParaRPr lang="de-CH" dirty="0"/>
          </a:p>
          <a:p>
            <a:endParaRPr lang="en-US" dirty="0"/>
          </a:p>
          <a:p>
            <a:r>
              <a:rPr dirty="0"/>
              <a:t>Die Sprint History </a:t>
            </a:r>
            <a:r>
              <a:rPr dirty="0" err="1"/>
              <a:t>zeigt</a:t>
            </a:r>
            <a:r>
              <a:rPr dirty="0"/>
              <a:t> die Velocity </a:t>
            </a:r>
            <a:r>
              <a:rPr dirty="0" err="1"/>
              <a:t>über</a:t>
            </a:r>
            <a:r>
              <a:rPr dirty="0"/>
              <a:t> alle </a:t>
            </a:r>
            <a:r>
              <a:rPr dirty="0" err="1"/>
              <a:t>abgeschlossenen</a:t>
            </a:r>
            <a:r>
              <a:rPr dirty="0"/>
              <a:t> Sprints </a:t>
            </a:r>
            <a:r>
              <a:rPr dirty="0" err="1"/>
              <a:t>als</a:t>
            </a:r>
            <a:r>
              <a:rPr dirty="0"/>
              <a:t> </a:t>
            </a:r>
            <a:r>
              <a:rPr dirty="0" err="1"/>
              <a:t>Balkendiagramm</a:t>
            </a:r>
            <a:r>
              <a:rPr dirty="0"/>
              <a:t>. Das </a:t>
            </a:r>
            <a:r>
              <a:rPr dirty="0" err="1"/>
              <a:t>ist</a:t>
            </a:r>
            <a:r>
              <a:rPr dirty="0"/>
              <a:t> </a:t>
            </a:r>
            <a:r>
              <a:rPr dirty="0" err="1"/>
              <a:t>wichtiger</a:t>
            </a:r>
            <a:r>
              <a:rPr dirty="0"/>
              <a:t>, </a:t>
            </a:r>
            <a:r>
              <a:rPr dirty="0" err="1"/>
              <a:t>als</a:t>
            </a:r>
            <a:r>
              <a:rPr dirty="0"/>
              <a:t> es </a:t>
            </a:r>
            <a:r>
              <a:rPr dirty="0" err="1"/>
              <a:t>klingt</a:t>
            </a:r>
            <a:r>
              <a:rPr dirty="0"/>
              <a:t>, </a:t>
            </a:r>
            <a:r>
              <a:rPr dirty="0" err="1"/>
              <a:t>denn</a:t>
            </a:r>
            <a:r>
              <a:rPr dirty="0"/>
              <a:t> </a:t>
            </a:r>
            <a:r>
              <a:rPr dirty="0" err="1"/>
              <a:t>genau</a:t>
            </a:r>
            <a:r>
              <a:rPr dirty="0"/>
              <a:t> </a:t>
            </a:r>
            <a:r>
              <a:rPr dirty="0" err="1"/>
              <a:t>diese</a:t>
            </a:r>
            <a:r>
              <a:rPr dirty="0"/>
              <a:t> </a:t>
            </a:r>
            <a:r>
              <a:rPr dirty="0" err="1"/>
              <a:t>historische</a:t>
            </a:r>
            <a:r>
              <a:rPr dirty="0"/>
              <a:t> </a:t>
            </a:r>
            <a:r>
              <a:rPr dirty="0" err="1"/>
              <a:t>Datenbasis</a:t>
            </a:r>
            <a:r>
              <a:rPr dirty="0"/>
              <a:t> </a:t>
            </a:r>
            <a:r>
              <a:rPr dirty="0" err="1"/>
              <a:t>existierte</a:t>
            </a:r>
            <a:r>
              <a:rPr dirty="0"/>
              <a:t> </a:t>
            </a:r>
            <a:r>
              <a:rPr dirty="0" err="1"/>
              <a:t>vorher</a:t>
            </a:r>
            <a:r>
              <a:rPr dirty="0"/>
              <a:t> nicht </a:t>
            </a:r>
            <a:endParaRPr lang="de-CH" dirty="0"/>
          </a:p>
          <a:p>
            <a:r>
              <a:rPr dirty="0"/>
              <a:t>und </a:t>
            </a:r>
            <a:r>
              <a:rPr dirty="0" err="1"/>
              <a:t>sie</a:t>
            </a:r>
            <a:r>
              <a:rPr dirty="0"/>
              <a:t> </a:t>
            </a:r>
            <a:r>
              <a:rPr dirty="0" err="1"/>
              <a:t>ist</a:t>
            </a:r>
            <a:r>
              <a:rPr dirty="0"/>
              <a:t> die </a:t>
            </a:r>
            <a:r>
              <a:rPr dirty="0" err="1"/>
              <a:t>Grundlage</a:t>
            </a:r>
            <a:r>
              <a:rPr dirty="0"/>
              <a:t> </a:t>
            </a:r>
            <a:r>
              <a:rPr dirty="0" err="1"/>
              <a:t>sowohl</a:t>
            </a:r>
            <a:r>
              <a:rPr dirty="0"/>
              <a:t> für die Story-Point-</a:t>
            </a:r>
            <a:r>
              <a:rPr dirty="0" err="1"/>
              <a:t>Empfehlung</a:t>
            </a:r>
            <a:r>
              <a:rPr dirty="0"/>
              <a:t> </a:t>
            </a:r>
            <a:r>
              <a:rPr dirty="0" err="1"/>
              <a:t>als</a:t>
            </a:r>
            <a:r>
              <a:rPr dirty="0"/>
              <a:t> </a:t>
            </a:r>
            <a:r>
              <a:rPr dirty="0" err="1"/>
              <a:t>auch</a:t>
            </a:r>
            <a:r>
              <a:rPr dirty="0"/>
              <a:t> für den Forecast. </a:t>
            </a:r>
            <a:endParaRPr lang="de-CH" dirty="0"/>
          </a:p>
          <a:p>
            <a:endParaRPr lang="en-US" dirty="0"/>
          </a:p>
          <a:p>
            <a:r>
              <a:rPr dirty="0"/>
              <a:t> der Forecast, den Sie </a:t>
            </a:r>
            <a:r>
              <a:rPr dirty="0" err="1"/>
              <a:t>später</a:t>
            </a:r>
            <a:r>
              <a:rPr dirty="0"/>
              <a:t> auf dem Dashboard </a:t>
            </a:r>
            <a:r>
              <a:rPr dirty="0" err="1"/>
              <a:t>sehen</a:t>
            </a:r>
            <a:r>
              <a:rPr dirty="0"/>
              <a:t>, </a:t>
            </a:r>
            <a:r>
              <a:rPr dirty="0" err="1"/>
              <a:t>rechnet</a:t>
            </a:r>
            <a:r>
              <a:rPr dirty="0"/>
              <a:t> </a:t>
            </a:r>
            <a:r>
              <a:rPr dirty="0" err="1"/>
              <a:t>aus</a:t>
            </a:r>
            <a:r>
              <a:rPr dirty="0"/>
              <a:t> der </a:t>
            </a:r>
            <a:r>
              <a:rPr dirty="0" err="1"/>
              <a:t>durchschnittlichen</a:t>
            </a:r>
            <a:r>
              <a:rPr dirty="0"/>
              <a:t> Velocity und den </a:t>
            </a:r>
            <a:r>
              <a:rPr dirty="0" err="1"/>
              <a:t>noch</a:t>
            </a:r>
            <a:r>
              <a:rPr dirty="0"/>
              <a:t> </a:t>
            </a:r>
            <a:r>
              <a:rPr dirty="0" err="1"/>
              <a:t>verbleibenden</a:t>
            </a:r>
            <a:r>
              <a:rPr dirty="0"/>
              <a:t> Story Points </a:t>
            </a:r>
            <a:r>
              <a:rPr dirty="0" err="1"/>
              <a:t>im</a:t>
            </a:r>
            <a:r>
              <a:rPr dirty="0"/>
              <a:t> Backlog </a:t>
            </a:r>
            <a:r>
              <a:rPr dirty="0" err="1"/>
              <a:t>aus</a:t>
            </a:r>
            <a:r>
              <a:rPr dirty="0"/>
              <a:t>, </a:t>
            </a:r>
            <a:r>
              <a:rPr dirty="0" err="1"/>
              <a:t>wie</a:t>
            </a:r>
            <a:r>
              <a:rPr dirty="0"/>
              <a:t> </a:t>
            </a:r>
            <a:r>
              <a:rPr dirty="0" err="1"/>
              <a:t>viele</a:t>
            </a:r>
            <a:r>
              <a:rPr dirty="0"/>
              <a:t> Sprints </a:t>
            </a:r>
            <a:r>
              <a:rPr dirty="0" err="1"/>
              <a:t>voraussichtlich</a:t>
            </a:r>
            <a:r>
              <a:rPr dirty="0"/>
              <a:t> </a:t>
            </a:r>
            <a:r>
              <a:rPr dirty="0" err="1"/>
              <a:t>noch</a:t>
            </a:r>
            <a:r>
              <a:rPr dirty="0"/>
              <a:t> </a:t>
            </a:r>
            <a:r>
              <a:rPr dirty="0" err="1"/>
              <a:t>nötig</a:t>
            </a:r>
            <a:r>
              <a:rPr dirty="0"/>
              <a:t> </a:t>
            </a:r>
            <a:r>
              <a:rPr dirty="0" err="1"/>
              <a:t>sind</a:t>
            </a:r>
            <a:r>
              <a:rPr dirty="0"/>
              <a:t> und </a:t>
            </a:r>
            <a:r>
              <a:rPr dirty="0" err="1"/>
              <a:t>wann</a:t>
            </a:r>
            <a:r>
              <a:rPr dirty="0"/>
              <a:t> das Backlog </a:t>
            </a:r>
            <a:r>
              <a:rPr dirty="0" err="1"/>
              <a:t>fertig</a:t>
            </a:r>
            <a:r>
              <a:rPr dirty="0"/>
              <a:t> sein </a:t>
            </a:r>
            <a:r>
              <a:rPr dirty="0" err="1"/>
              <a:t>wird</a:t>
            </a:r>
            <a:r>
              <a:rPr dirty="0"/>
              <a:t>. </a:t>
            </a:r>
            <a:endParaRPr lang="de-CH" dirty="0"/>
          </a:p>
          <a:p>
            <a:r>
              <a:rPr dirty="0"/>
              <a:t>So </a:t>
            </a:r>
            <a:r>
              <a:rPr dirty="0" err="1"/>
              <a:t>bekommt</a:t>
            </a:r>
            <a:r>
              <a:rPr dirty="0"/>
              <a:t> das Team nicht </a:t>
            </a:r>
            <a:r>
              <a:rPr dirty="0" err="1"/>
              <a:t>nur</a:t>
            </a:r>
            <a:r>
              <a:rPr dirty="0"/>
              <a:t> </a:t>
            </a:r>
            <a:r>
              <a:rPr dirty="0" err="1"/>
              <a:t>einen</a:t>
            </a:r>
            <a:r>
              <a:rPr dirty="0"/>
              <a:t> Blick </a:t>
            </a:r>
            <a:r>
              <a:rPr dirty="0" err="1"/>
              <a:t>zurück</a:t>
            </a:r>
            <a:r>
              <a:rPr dirty="0"/>
              <a:t> auf die </a:t>
            </a:r>
            <a:r>
              <a:rPr dirty="0" err="1"/>
              <a:t>geleistete</a:t>
            </a:r>
            <a:r>
              <a:rPr dirty="0"/>
              <a:t> Arbeit, </a:t>
            </a:r>
            <a:r>
              <a:rPr dirty="0" err="1"/>
              <a:t>sondern</a:t>
            </a:r>
            <a:r>
              <a:rPr dirty="0"/>
              <a:t> </a:t>
            </a:r>
            <a:r>
              <a:rPr dirty="0" err="1"/>
              <a:t>auch</a:t>
            </a:r>
            <a:r>
              <a:rPr dirty="0"/>
              <a:t> </a:t>
            </a:r>
            <a:r>
              <a:rPr dirty="0" err="1"/>
              <a:t>eine</a:t>
            </a:r>
            <a:r>
              <a:rPr dirty="0"/>
              <a:t> </a:t>
            </a:r>
            <a:r>
              <a:rPr dirty="0" err="1"/>
              <a:t>belastbare</a:t>
            </a:r>
            <a:r>
              <a:rPr dirty="0"/>
              <a:t> Prognose </a:t>
            </a:r>
            <a:r>
              <a:rPr dirty="0" err="1"/>
              <a:t>nach</a:t>
            </a:r>
            <a:r>
              <a:rPr dirty="0"/>
              <a:t> </a:t>
            </a:r>
            <a:r>
              <a:rPr dirty="0" err="1"/>
              <a:t>vorn</a:t>
            </a:r>
            <a:r>
              <a:rPr dirty="0"/>
              <a:t> – </a:t>
            </a:r>
            <a:r>
              <a:rPr dirty="0" err="1"/>
              <a:t>beides</a:t>
            </a:r>
            <a:r>
              <a:rPr dirty="0"/>
              <a:t> auf </a:t>
            </a:r>
            <a:r>
              <a:rPr dirty="0" err="1"/>
              <a:t>derselben</a:t>
            </a:r>
            <a:r>
              <a:rPr dirty="0"/>
              <a:t> </a:t>
            </a:r>
            <a:r>
              <a:rPr dirty="0" err="1"/>
              <a:t>Datenbasis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Ein kurzer Blick auf den Entwicklungsprozess und wie sich die acht Monate konkret aufgeteilt haben.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Über</a:t>
            </a:r>
            <a:r>
              <a:rPr dirty="0"/>
              <a:t> die vier </a:t>
            </a:r>
            <a:r>
              <a:rPr dirty="0" err="1"/>
              <a:t>Phasen</a:t>
            </a:r>
            <a:r>
              <a:rPr dirty="0"/>
              <a:t> </a:t>
            </a:r>
            <a:r>
              <a:rPr dirty="0" err="1"/>
              <a:t>verteilt</a:t>
            </a:r>
            <a:r>
              <a:rPr dirty="0"/>
              <a:t> </a:t>
            </a:r>
            <a:r>
              <a:rPr dirty="0" err="1"/>
              <a:t>waren</a:t>
            </a:r>
            <a:r>
              <a:rPr dirty="0"/>
              <a:t> es </a:t>
            </a:r>
            <a:r>
              <a:rPr dirty="0" err="1"/>
              <a:t>rund</a:t>
            </a:r>
            <a:r>
              <a:rPr dirty="0"/>
              <a:t> </a:t>
            </a:r>
            <a:r>
              <a:rPr dirty="0" err="1"/>
              <a:t>sechzehn</a:t>
            </a:r>
            <a:r>
              <a:rPr dirty="0"/>
              <a:t> </a:t>
            </a:r>
            <a:r>
              <a:rPr dirty="0" err="1"/>
              <a:t>zweiwöchige</a:t>
            </a:r>
            <a:r>
              <a:rPr dirty="0"/>
              <a:t> Sprints.</a:t>
            </a:r>
            <a:endParaRPr lang="de-CH" dirty="0"/>
          </a:p>
          <a:p>
            <a:endParaRPr lang="en-US" dirty="0"/>
          </a:p>
          <a:p>
            <a:r>
              <a:rPr dirty="0"/>
              <a:t>In der </a:t>
            </a:r>
            <a:r>
              <a:rPr dirty="0" err="1"/>
              <a:t>Analysephase</a:t>
            </a:r>
            <a:r>
              <a:rPr dirty="0"/>
              <a:t>, den Sprints </a:t>
            </a:r>
            <a:r>
              <a:rPr dirty="0" err="1"/>
              <a:t>eins</a:t>
            </a:r>
            <a:r>
              <a:rPr dirty="0"/>
              <a:t> bis </a:t>
            </a:r>
            <a:r>
              <a:rPr dirty="0" err="1"/>
              <a:t>drei</a:t>
            </a:r>
            <a:r>
              <a:rPr dirty="0"/>
              <a:t>, </a:t>
            </a:r>
            <a:r>
              <a:rPr dirty="0" err="1"/>
              <a:t>ging</a:t>
            </a:r>
            <a:r>
              <a:rPr dirty="0"/>
              <a:t> es um die </a:t>
            </a:r>
            <a:r>
              <a:rPr dirty="0" err="1"/>
              <a:t>Anforderungsaufnahme</a:t>
            </a:r>
            <a:r>
              <a:rPr dirty="0"/>
              <a:t> </a:t>
            </a:r>
            <a:r>
              <a:rPr dirty="0" err="1"/>
              <a:t>mit</a:t>
            </a:r>
            <a:r>
              <a:rPr dirty="0"/>
              <a:t> dem Team, die </a:t>
            </a:r>
            <a:r>
              <a:rPr dirty="0" err="1"/>
              <a:t>eben</a:t>
            </a:r>
            <a:r>
              <a:rPr dirty="0"/>
              <a:t> </a:t>
            </a:r>
            <a:r>
              <a:rPr dirty="0" err="1"/>
              <a:t>gezeigte</a:t>
            </a:r>
            <a:r>
              <a:rPr dirty="0"/>
              <a:t> </a:t>
            </a:r>
            <a:r>
              <a:rPr dirty="0" err="1"/>
              <a:t>Marktanalyse</a:t>
            </a:r>
            <a:r>
              <a:rPr dirty="0"/>
              <a:t> und den </a:t>
            </a:r>
            <a:r>
              <a:rPr dirty="0" err="1"/>
              <a:t>Architekturentscheid</a:t>
            </a:r>
            <a:r>
              <a:rPr dirty="0"/>
              <a:t> – in </a:t>
            </a:r>
            <a:r>
              <a:rPr dirty="0" err="1"/>
              <a:t>dieser</a:t>
            </a:r>
            <a:r>
              <a:rPr dirty="0"/>
              <a:t> Phase </a:t>
            </a:r>
            <a:r>
              <a:rPr dirty="0" err="1"/>
              <a:t>ist</a:t>
            </a:r>
            <a:r>
              <a:rPr dirty="0"/>
              <a:t> </a:t>
            </a:r>
            <a:r>
              <a:rPr dirty="0" err="1"/>
              <a:t>auch</a:t>
            </a:r>
            <a:r>
              <a:rPr dirty="0"/>
              <a:t> </a:t>
            </a:r>
            <a:r>
              <a:rPr dirty="0" err="1"/>
              <a:t>ein</a:t>
            </a:r>
            <a:r>
              <a:rPr dirty="0"/>
              <a:t> </a:t>
            </a:r>
            <a:r>
              <a:rPr dirty="0" err="1"/>
              <a:t>erster</a:t>
            </a:r>
            <a:r>
              <a:rPr dirty="0"/>
              <a:t> UI-</a:t>
            </a:r>
            <a:r>
              <a:rPr dirty="0" err="1"/>
              <a:t>Prototyp</a:t>
            </a:r>
            <a:r>
              <a:rPr dirty="0"/>
              <a:t> </a:t>
            </a:r>
            <a:r>
              <a:rPr dirty="0" err="1"/>
              <a:t>entstanden</a:t>
            </a:r>
            <a:r>
              <a:rPr dirty="0"/>
              <a:t>. </a:t>
            </a:r>
            <a:endParaRPr lang="de-CH" dirty="0"/>
          </a:p>
          <a:p>
            <a:endParaRPr lang="en-US" dirty="0"/>
          </a:p>
          <a:p>
            <a:r>
              <a:rPr dirty="0"/>
              <a:t>In der Backend-Phase, Sprint vier bis </a:t>
            </a:r>
            <a:r>
              <a:rPr dirty="0" err="1"/>
              <a:t>acht</a:t>
            </a:r>
            <a:r>
              <a:rPr dirty="0"/>
              <a:t>, </a:t>
            </a:r>
            <a:r>
              <a:rPr dirty="0" err="1"/>
              <a:t>habe</a:t>
            </a:r>
            <a:r>
              <a:rPr dirty="0"/>
              <a:t> ich das </a:t>
            </a:r>
            <a:r>
              <a:rPr dirty="0" err="1"/>
              <a:t>Datenmodell</a:t>
            </a:r>
            <a:r>
              <a:rPr dirty="0"/>
              <a:t> </a:t>
            </a:r>
            <a:r>
              <a:rPr dirty="0" err="1"/>
              <a:t>aufgebaut</a:t>
            </a:r>
            <a:r>
              <a:rPr dirty="0"/>
              <a:t>, die REST-API </a:t>
            </a:r>
            <a:r>
              <a:rPr dirty="0" err="1"/>
              <a:t>implementiert</a:t>
            </a:r>
            <a:r>
              <a:rPr dirty="0"/>
              <a:t> und die Jira-Integration </a:t>
            </a:r>
            <a:r>
              <a:rPr dirty="0" err="1"/>
              <a:t>entwickelt</a:t>
            </a:r>
            <a:r>
              <a:rPr dirty="0"/>
              <a:t>. </a:t>
            </a:r>
            <a:endParaRPr lang="de-CH" dirty="0"/>
          </a:p>
          <a:p>
            <a:endParaRPr lang="en-US" dirty="0"/>
          </a:p>
          <a:p>
            <a:r>
              <a:rPr dirty="0"/>
              <a:t>Die Frontend-Phase, Sprint </a:t>
            </a:r>
            <a:r>
              <a:rPr dirty="0" err="1"/>
              <a:t>neun</a:t>
            </a:r>
            <a:r>
              <a:rPr dirty="0"/>
              <a:t> bis </a:t>
            </a:r>
            <a:r>
              <a:rPr dirty="0" err="1"/>
              <a:t>dreizehn</a:t>
            </a:r>
            <a:r>
              <a:rPr dirty="0"/>
              <a:t>, </a:t>
            </a:r>
            <a:r>
              <a:rPr dirty="0" err="1"/>
              <a:t>umfasste</a:t>
            </a:r>
            <a:r>
              <a:rPr dirty="0"/>
              <a:t> die </a:t>
            </a:r>
            <a:r>
              <a:rPr dirty="0" err="1"/>
              <a:t>gesamte</a:t>
            </a:r>
            <a:r>
              <a:rPr dirty="0"/>
              <a:t> React-</a:t>
            </a:r>
            <a:r>
              <a:rPr dirty="0" err="1"/>
              <a:t>Oberfläche</a:t>
            </a:r>
            <a:r>
              <a:rPr dirty="0"/>
              <a:t>: Dashboard, </a:t>
            </a:r>
            <a:r>
              <a:rPr dirty="0" err="1"/>
              <a:t>Kapazitätsplanung</a:t>
            </a:r>
            <a:r>
              <a:rPr dirty="0"/>
              <a:t>, Analytics, Sprint History und </a:t>
            </a:r>
            <a:r>
              <a:rPr dirty="0" err="1"/>
              <a:t>Teamverwaltung</a:t>
            </a:r>
            <a:r>
              <a:rPr dirty="0"/>
              <a:t>. </a:t>
            </a:r>
            <a:endParaRPr lang="de-CH" dirty="0"/>
          </a:p>
          <a:p>
            <a:endParaRPr lang="en-US" dirty="0"/>
          </a:p>
          <a:p>
            <a:r>
              <a:rPr dirty="0"/>
              <a:t>Und in der Deployment-Phase, Sprint </a:t>
            </a:r>
            <a:r>
              <a:rPr dirty="0" err="1"/>
              <a:t>vierzehn</a:t>
            </a:r>
            <a:r>
              <a:rPr dirty="0"/>
              <a:t> bis </a:t>
            </a:r>
            <a:r>
              <a:rPr dirty="0" err="1"/>
              <a:t>sechzehn</a:t>
            </a:r>
            <a:r>
              <a:rPr dirty="0"/>
              <a:t>, </a:t>
            </a:r>
            <a:r>
              <a:rPr dirty="0" err="1"/>
              <a:t>kamen</a:t>
            </a:r>
            <a:r>
              <a:rPr dirty="0"/>
              <a:t> das Deployment auf Azure, Tests </a:t>
            </a:r>
            <a:r>
              <a:rPr dirty="0" err="1"/>
              <a:t>mit</a:t>
            </a:r>
            <a:r>
              <a:rPr dirty="0"/>
              <a:t> </a:t>
            </a:r>
            <a:r>
              <a:rPr dirty="0" err="1"/>
              <a:t>echten</a:t>
            </a:r>
            <a:r>
              <a:rPr dirty="0"/>
              <a:t> Jira-</a:t>
            </a:r>
            <a:r>
              <a:rPr dirty="0" err="1"/>
              <a:t>Daten</a:t>
            </a:r>
            <a:r>
              <a:rPr dirty="0"/>
              <a:t>, Performance-</a:t>
            </a:r>
            <a:r>
              <a:rPr dirty="0" err="1"/>
              <a:t>Optimierung</a:t>
            </a:r>
            <a:r>
              <a:rPr dirty="0"/>
              <a:t> und </a:t>
            </a:r>
            <a:r>
              <a:rPr dirty="0" err="1"/>
              <a:t>zuletzt</a:t>
            </a:r>
            <a:r>
              <a:rPr dirty="0"/>
              <a:t> die Story-Point-</a:t>
            </a:r>
            <a:r>
              <a:rPr dirty="0" err="1"/>
              <a:t>Empfehlung</a:t>
            </a:r>
            <a:r>
              <a:rPr dirty="0"/>
              <a:t> </a:t>
            </a:r>
            <a:r>
              <a:rPr dirty="0" err="1"/>
              <a:t>dazu</a:t>
            </a:r>
            <a:r>
              <a:rPr dirty="0"/>
              <a:t>. </a:t>
            </a:r>
            <a:endParaRPr lang="de-CH" dirty="0"/>
          </a:p>
          <a:p>
            <a:endParaRPr lang="en-US" dirty="0"/>
          </a:p>
          <a:p>
            <a:r>
              <a:rPr dirty="0"/>
              <a:t>Dass </a:t>
            </a:r>
            <a:r>
              <a:rPr dirty="0" err="1"/>
              <a:t>diese</a:t>
            </a:r>
            <a:r>
              <a:rPr dirty="0"/>
              <a:t> </a:t>
            </a:r>
            <a:r>
              <a:rPr dirty="0" err="1"/>
              <a:t>Empfehlung</a:t>
            </a:r>
            <a:r>
              <a:rPr dirty="0"/>
              <a:t> erst </a:t>
            </a:r>
            <a:r>
              <a:rPr dirty="0" err="1"/>
              <a:t>spät</a:t>
            </a:r>
            <a:r>
              <a:rPr dirty="0"/>
              <a:t> </a:t>
            </a:r>
            <a:r>
              <a:rPr dirty="0" err="1"/>
              <a:t>kam</a:t>
            </a:r>
            <a:r>
              <a:rPr dirty="0"/>
              <a:t>, war </a:t>
            </a:r>
            <a:r>
              <a:rPr dirty="0" err="1"/>
              <a:t>kein</a:t>
            </a:r>
            <a:r>
              <a:rPr dirty="0"/>
              <a:t> Zufall – </a:t>
            </a:r>
            <a:r>
              <a:rPr dirty="0" err="1"/>
              <a:t>sie</a:t>
            </a:r>
            <a:r>
              <a:rPr dirty="0"/>
              <a:t> </a:t>
            </a:r>
            <a:r>
              <a:rPr dirty="0" err="1"/>
              <a:t>setzt</a:t>
            </a:r>
            <a:r>
              <a:rPr dirty="0"/>
              <a:t> ja </a:t>
            </a:r>
            <a:r>
              <a:rPr dirty="0" err="1"/>
              <a:t>historische</a:t>
            </a:r>
            <a:r>
              <a:rPr dirty="0"/>
              <a:t> </a:t>
            </a:r>
            <a:r>
              <a:rPr dirty="0" err="1"/>
              <a:t>Daten</a:t>
            </a:r>
            <a:r>
              <a:rPr dirty="0"/>
              <a:t> </a:t>
            </a:r>
            <a:r>
              <a:rPr dirty="0" err="1"/>
              <a:t>voraus</a:t>
            </a:r>
            <a:r>
              <a:rPr dirty="0"/>
              <a:t>, die ich erst </a:t>
            </a:r>
            <a:r>
              <a:rPr dirty="0" err="1"/>
              <a:t>sammeln</a:t>
            </a:r>
            <a:r>
              <a:rPr dirty="0"/>
              <a:t> </a:t>
            </a:r>
            <a:r>
              <a:rPr dirty="0" err="1"/>
              <a:t>musste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Zum Deployment und </a:t>
            </a:r>
            <a:r>
              <a:rPr dirty="0" err="1"/>
              <a:t>Betrieb</a:t>
            </a:r>
            <a:r>
              <a:rPr dirty="0"/>
              <a:t>. </a:t>
            </a:r>
            <a:endParaRPr lang="de-CH" dirty="0"/>
          </a:p>
          <a:p>
            <a:r>
              <a:rPr dirty="0" err="1"/>
              <a:t>Sprintify</a:t>
            </a:r>
            <a:r>
              <a:rPr dirty="0"/>
              <a:t> </a:t>
            </a:r>
            <a:r>
              <a:rPr dirty="0" err="1"/>
              <a:t>läuft</a:t>
            </a:r>
            <a:r>
              <a:rPr dirty="0"/>
              <a:t> auf Azure App Service, </a:t>
            </a:r>
            <a:endParaRPr lang="de-CH" dirty="0"/>
          </a:p>
          <a:p>
            <a:r>
              <a:rPr dirty="0"/>
              <a:t>also </a:t>
            </a:r>
            <a:r>
              <a:rPr dirty="0" err="1"/>
              <a:t>einer</a:t>
            </a:r>
            <a:r>
              <a:rPr dirty="0"/>
              <a:t> Managed-Cloud-</a:t>
            </a:r>
            <a:r>
              <a:rPr dirty="0" err="1"/>
              <a:t>Plattform</a:t>
            </a:r>
            <a:r>
              <a:rPr dirty="0"/>
              <a:t>. </a:t>
            </a:r>
            <a:endParaRPr lang="de-CH" dirty="0"/>
          </a:p>
          <a:p>
            <a:endParaRPr lang="en-US" dirty="0"/>
          </a:p>
          <a:p>
            <a:r>
              <a:rPr dirty="0"/>
              <a:t>Der </a:t>
            </a:r>
            <a:r>
              <a:rPr dirty="0" err="1"/>
              <a:t>entscheidende</a:t>
            </a:r>
            <a:r>
              <a:rPr dirty="0"/>
              <a:t> </a:t>
            </a:r>
            <a:r>
              <a:rPr dirty="0" err="1"/>
              <a:t>Vorteil</a:t>
            </a:r>
            <a:r>
              <a:rPr dirty="0"/>
              <a:t> </a:t>
            </a:r>
            <a:r>
              <a:rPr dirty="0" err="1"/>
              <a:t>ist</a:t>
            </a:r>
            <a:r>
              <a:rPr dirty="0"/>
              <a:t> für </a:t>
            </a:r>
            <a:r>
              <a:rPr dirty="0" err="1"/>
              <a:t>mich</a:t>
            </a:r>
            <a:r>
              <a:rPr dirty="0"/>
              <a:t> nicht in </a:t>
            </a:r>
            <a:r>
              <a:rPr dirty="0" err="1"/>
              <a:t>erster</a:t>
            </a:r>
            <a:r>
              <a:rPr dirty="0"/>
              <a:t> Linie das Geld, s</a:t>
            </a:r>
            <a:endParaRPr lang="de-CH" dirty="0"/>
          </a:p>
          <a:p>
            <a:r>
              <a:rPr dirty="0" err="1"/>
              <a:t>ondern</a:t>
            </a:r>
            <a:r>
              <a:rPr dirty="0"/>
              <a:t> </a:t>
            </a:r>
            <a:r>
              <a:rPr dirty="0" err="1"/>
              <a:t>dass</a:t>
            </a:r>
            <a:r>
              <a:rPr dirty="0"/>
              <a:t> ich </a:t>
            </a:r>
            <a:r>
              <a:rPr dirty="0" err="1"/>
              <a:t>keinen</a:t>
            </a:r>
            <a:r>
              <a:rPr dirty="0"/>
              <a:t> </a:t>
            </a:r>
            <a:r>
              <a:rPr dirty="0" err="1"/>
              <a:t>eigenen</a:t>
            </a:r>
            <a:r>
              <a:rPr dirty="0"/>
              <a:t> Server </a:t>
            </a:r>
            <a:r>
              <a:rPr dirty="0" err="1"/>
              <a:t>warten</a:t>
            </a:r>
            <a:r>
              <a:rPr dirty="0"/>
              <a:t> muss: </a:t>
            </a:r>
            <a:endParaRPr lang="de-CH" dirty="0"/>
          </a:p>
          <a:p>
            <a:r>
              <a:rPr dirty="0" err="1"/>
              <a:t>zentrale</a:t>
            </a:r>
            <a:r>
              <a:rPr dirty="0"/>
              <a:t> Updates, </a:t>
            </a:r>
            <a:r>
              <a:rPr dirty="0" err="1"/>
              <a:t>automatische</a:t>
            </a:r>
            <a:r>
              <a:rPr dirty="0"/>
              <a:t> </a:t>
            </a:r>
            <a:r>
              <a:rPr dirty="0" err="1"/>
              <a:t>Skalierung</a:t>
            </a:r>
            <a:r>
              <a:rPr dirty="0"/>
              <a:t>, </a:t>
            </a:r>
            <a:r>
              <a:rPr dirty="0" err="1"/>
              <a:t>kein</a:t>
            </a:r>
            <a:r>
              <a:rPr dirty="0"/>
              <a:t> Patchen am </a:t>
            </a:r>
            <a:r>
              <a:rPr dirty="0" err="1"/>
              <a:t>Wochenende</a:t>
            </a:r>
            <a:r>
              <a:rPr dirty="0"/>
              <a:t>. </a:t>
            </a:r>
            <a:endParaRPr lang="de-CH" dirty="0"/>
          </a:p>
          <a:p>
            <a:endParaRPr lang="en-US" dirty="0"/>
          </a:p>
          <a:p>
            <a:r>
              <a:rPr dirty="0" err="1"/>
              <a:t>Gerade</a:t>
            </a:r>
            <a:r>
              <a:rPr dirty="0"/>
              <a:t> für </a:t>
            </a:r>
            <a:r>
              <a:rPr dirty="0" err="1"/>
              <a:t>ein</a:t>
            </a:r>
            <a:r>
              <a:rPr dirty="0"/>
              <a:t> Ein-Mann-Projekt war das </a:t>
            </a:r>
            <a:r>
              <a:rPr dirty="0" err="1"/>
              <a:t>entscheidend</a:t>
            </a:r>
            <a:r>
              <a:rPr dirty="0"/>
              <a:t>, </a:t>
            </a:r>
            <a:r>
              <a:rPr dirty="0" err="1"/>
              <a:t>weil</a:t>
            </a:r>
            <a:r>
              <a:rPr dirty="0"/>
              <a:t> ich für </a:t>
            </a:r>
            <a:r>
              <a:rPr dirty="0" err="1"/>
              <a:t>klassischen</a:t>
            </a:r>
            <a:r>
              <a:rPr dirty="0"/>
              <a:t> Server-</a:t>
            </a:r>
            <a:r>
              <a:rPr dirty="0" err="1"/>
              <a:t>Betrieb</a:t>
            </a:r>
            <a:r>
              <a:rPr dirty="0"/>
              <a:t> </a:t>
            </a:r>
            <a:r>
              <a:rPr dirty="0" err="1"/>
              <a:t>schlicht</a:t>
            </a:r>
            <a:r>
              <a:rPr dirty="0"/>
              <a:t> </a:t>
            </a:r>
            <a:r>
              <a:rPr dirty="0" err="1"/>
              <a:t>keine</a:t>
            </a:r>
            <a:r>
              <a:rPr dirty="0"/>
              <a:t> </a:t>
            </a:r>
            <a:r>
              <a:rPr dirty="0" err="1"/>
              <a:t>Kapazität</a:t>
            </a:r>
            <a:r>
              <a:rPr dirty="0"/>
              <a:t> </a:t>
            </a:r>
            <a:r>
              <a:rPr dirty="0" err="1"/>
              <a:t>gehabt</a:t>
            </a:r>
            <a:r>
              <a:rPr dirty="0"/>
              <a:t> </a:t>
            </a:r>
            <a:r>
              <a:rPr dirty="0" err="1"/>
              <a:t>hätte</a:t>
            </a:r>
            <a:r>
              <a:rPr dirty="0"/>
              <a:t>. </a:t>
            </a:r>
            <a:endParaRPr lang="de-CH" dirty="0"/>
          </a:p>
          <a:p>
            <a:endParaRPr lang="en-US" dirty="0"/>
          </a:p>
          <a:p>
            <a:r>
              <a:rPr dirty="0" err="1"/>
              <a:t>Konkret</a:t>
            </a:r>
            <a:r>
              <a:rPr dirty="0"/>
              <a:t> </a:t>
            </a:r>
            <a:r>
              <a:rPr dirty="0" err="1"/>
              <a:t>läuft</a:t>
            </a:r>
            <a:r>
              <a:rPr dirty="0"/>
              <a:t> das Backend </a:t>
            </a:r>
            <a:r>
              <a:rPr dirty="0" err="1"/>
              <a:t>als</a:t>
            </a:r>
            <a:r>
              <a:rPr dirty="0"/>
              <a:t> App Service, das Frontend </a:t>
            </a:r>
            <a:r>
              <a:rPr dirty="0" err="1"/>
              <a:t>als</a:t>
            </a:r>
            <a:r>
              <a:rPr dirty="0"/>
              <a:t> </a:t>
            </a:r>
            <a:r>
              <a:rPr dirty="0" err="1"/>
              <a:t>vorkompilierte</a:t>
            </a:r>
            <a:r>
              <a:rPr dirty="0"/>
              <a:t> </a:t>
            </a:r>
            <a:r>
              <a:rPr dirty="0" err="1"/>
              <a:t>statische</a:t>
            </a:r>
            <a:r>
              <a:rPr dirty="0"/>
              <a:t> </a:t>
            </a:r>
            <a:r>
              <a:rPr dirty="0" err="1"/>
              <a:t>Dateien</a:t>
            </a:r>
            <a:r>
              <a:rPr dirty="0"/>
              <a:t>, und die </a:t>
            </a:r>
            <a:r>
              <a:rPr dirty="0" err="1"/>
              <a:t>Datenbank</a:t>
            </a:r>
            <a:r>
              <a:rPr dirty="0"/>
              <a:t> </a:t>
            </a:r>
            <a:r>
              <a:rPr dirty="0" err="1"/>
              <a:t>als</a:t>
            </a:r>
            <a:r>
              <a:rPr dirty="0"/>
              <a:t> Managed PostgreSQL – </a:t>
            </a:r>
            <a:endParaRPr lang="de-CH" dirty="0"/>
          </a:p>
          <a:p>
            <a:r>
              <a:rPr dirty="0" err="1"/>
              <a:t>auch</a:t>
            </a:r>
            <a:r>
              <a:rPr dirty="0"/>
              <a:t> die will ich nicht </a:t>
            </a:r>
            <a:r>
              <a:rPr dirty="0" err="1"/>
              <a:t>selbst</a:t>
            </a:r>
            <a:r>
              <a:rPr dirty="0"/>
              <a:t> </a:t>
            </a:r>
            <a:r>
              <a:rPr dirty="0" err="1"/>
              <a:t>betreiben</a:t>
            </a:r>
            <a:r>
              <a:rPr dirty="0"/>
              <a:t>, Backups und Patches </a:t>
            </a:r>
            <a:r>
              <a:rPr dirty="0" err="1"/>
              <a:t>übernimmt</a:t>
            </a:r>
            <a:r>
              <a:rPr dirty="0"/>
              <a:t> die </a:t>
            </a:r>
            <a:r>
              <a:rPr dirty="0" err="1"/>
              <a:t>Plattform</a:t>
            </a:r>
            <a:r>
              <a:rPr dirty="0"/>
              <a:t>. </a:t>
            </a:r>
            <a:endParaRPr lang="de-CH" dirty="0"/>
          </a:p>
          <a:p>
            <a:endParaRPr lang="en-US" dirty="0"/>
          </a:p>
          <a:p>
            <a:r>
              <a:rPr dirty="0" err="1"/>
              <a:t>Konfiguriert</a:t>
            </a:r>
            <a:r>
              <a:rPr dirty="0"/>
              <a:t> </a:t>
            </a:r>
            <a:r>
              <a:rPr dirty="0" err="1"/>
              <a:t>wird</a:t>
            </a:r>
            <a:r>
              <a:rPr dirty="0"/>
              <a:t> </a:t>
            </a:r>
            <a:r>
              <a:rPr dirty="0" err="1"/>
              <a:t>alles</a:t>
            </a:r>
            <a:r>
              <a:rPr dirty="0"/>
              <a:t> </a:t>
            </a:r>
            <a:r>
              <a:rPr dirty="0" err="1"/>
              <a:t>über</a:t>
            </a:r>
            <a:r>
              <a:rPr dirty="0"/>
              <a:t> Azure App Settings, also </a:t>
            </a:r>
            <a:r>
              <a:rPr dirty="0" err="1"/>
              <a:t>Umgebungsvariablen</a:t>
            </a:r>
            <a:r>
              <a:rPr dirty="0"/>
              <a:t>, </a:t>
            </a:r>
            <a:r>
              <a:rPr dirty="0" err="1"/>
              <a:t>sodass</a:t>
            </a:r>
            <a:r>
              <a:rPr dirty="0"/>
              <a:t> </a:t>
            </a:r>
            <a:r>
              <a:rPr dirty="0" err="1"/>
              <a:t>keine</a:t>
            </a:r>
            <a:r>
              <a:rPr dirty="0"/>
              <a:t> </a:t>
            </a:r>
            <a:r>
              <a:rPr dirty="0" err="1"/>
              <a:t>Zugangsdaten</a:t>
            </a:r>
            <a:r>
              <a:rPr dirty="0"/>
              <a:t> </a:t>
            </a:r>
            <a:r>
              <a:rPr dirty="0" err="1"/>
              <a:t>im</a:t>
            </a:r>
            <a:r>
              <a:rPr dirty="0"/>
              <a:t> Code </a:t>
            </a:r>
            <a:r>
              <a:rPr dirty="0" err="1"/>
              <a:t>liegen</a:t>
            </a:r>
            <a:r>
              <a:rPr dirty="0"/>
              <a:t>. </a:t>
            </a:r>
            <a:endParaRPr lang="de-CH" dirty="0"/>
          </a:p>
          <a:p>
            <a:r>
              <a:rPr dirty="0"/>
              <a:t>Und </a:t>
            </a:r>
            <a:r>
              <a:rPr dirty="0" err="1"/>
              <a:t>Datenbankmigrationen</a:t>
            </a:r>
            <a:r>
              <a:rPr dirty="0"/>
              <a:t> </a:t>
            </a:r>
            <a:r>
              <a:rPr dirty="0" err="1"/>
              <a:t>laufen</a:t>
            </a:r>
            <a:r>
              <a:rPr dirty="0"/>
              <a:t> </a:t>
            </a:r>
            <a:r>
              <a:rPr dirty="0" err="1"/>
              <a:t>sauber</a:t>
            </a:r>
            <a:r>
              <a:rPr dirty="0"/>
              <a:t> </a:t>
            </a:r>
            <a:r>
              <a:rPr dirty="0" err="1"/>
              <a:t>versioniert</a:t>
            </a:r>
            <a:r>
              <a:rPr dirty="0"/>
              <a:t> </a:t>
            </a:r>
            <a:r>
              <a:rPr dirty="0" err="1"/>
              <a:t>über</a:t>
            </a:r>
            <a:r>
              <a:rPr dirty="0"/>
              <a:t> die </a:t>
            </a:r>
            <a:r>
              <a:rPr dirty="0" err="1"/>
              <a:t>Sequelize</a:t>
            </a:r>
            <a:r>
              <a:rPr dirty="0"/>
              <a:t>-CLI. </a:t>
            </a:r>
            <a:endParaRPr lang="de-CH" dirty="0"/>
          </a:p>
          <a:p>
            <a:endParaRPr lang="en-US" dirty="0"/>
          </a:p>
          <a:p>
            <a:r>
              <a:rPr dirty="0"/>
              <a:t>Das Deployment </a:t>
            </a:r>
            <a:r>
              <a:rPr dirty="0" err="1"/>
              <a:t>über</a:t>
            </a:r>
            <a:r>
              <a:rPr dirty="0"/>
              <a:t> </a:t>
            </a:r>
            <a:r>
              <a:rPr dirty="0" err="1"/>
              <a:t>eine</a:t>
            </a:r>
            <a:r>
              <a:rPr dirty="0"/>
              <a:t> Managed-</a:t>
            </a:r>
            <a:r>
              <a:rPr dirty="0" err="1"/>
              <a:t>Plattform</a:t>
            </a:r>
            <a:r>
              <a:rPr dirty="0"/>
              <a:t> </a:t>
            </a:r>
            <a:r>
              <a:rPr dirty="0" err="1"/>
              <a:t>entspricht</a:t>
            </a:r>
            <a:r>
              <a:rPr dirty="0"/>
              <a:t> </a:t>
            </a:r>
            <a:r>
              <a:rPr dirty="0" err="1"/>
              <a:t>auch</a:t>
            </a:r>
            <a:r>
              <a:rPr dirty="0"/>
              <a:t> dem </a:t>
            </a:r>
            <a:r>
              <a:rPr dirty="0" err="1"/>
              <a:t>aktuellen</a:t>
            </a:r>
            <a:r>
              <a:rPr dirty="0"/>
              <a:t> Trend </a:t>
            </a:r>
            <a:endParaRPr lang="de-CH" dirty="0"/>
          </a:p>
          <a:p>
            <a:r>
              <a:rPr dirty="0"/>
              <a:t>man </a:t>
            </a:r>
            <a:r>
              <a:rPr dirty="0" err="1"/>
              <a:t>verlagert</a:t>
            </a:r>
            <a:r>
              <a:rPr dirty="0"/>
              <a:t> den </a:t>
            </a:r>
            <a:r>
              <a:rPr dirty="0" err="1"/>
              <a:t>Betriebsaufwand</a:t>
            </a:r>
            <a:r>
              <a:rPr dirty="0"/>
              <a:t> </a:t>
            </a:r>
            <a:r>
              <a:rPr dirty="0" err="1"/>
              <a:t>bewusst</a:t>
            </a:r>
            <a:r>
              <a:rPr dirty="0"/>
              <a:t> </a:t>
            </a:r>
            <a:r>
              <a:rPr dirty="0" err="1"/>
              <a:t>zum</a:t>
            </a:r>
            <a:r>
              <a:rPr dirty="0"/>
              <a:t> Cloud-</a:t>
            </a:r>
            <a:r>
              <a:rPr dirty="0" err="1"/>
              <a:t>Anbieter</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a:t>
            </a:r>
            <a:r>
              <a:rPr dirty="0" err="1"/>
              <a:t>viel</a:t>
            </a:r>
            <a:r>
              <a:rPr dirty="0"/>
              <a:t> </a:t>
            </a:r>
            <a:r>
              <a:rPr dirty="0" err="1"/>
              <a:t>zur</a:t>
            </a:r>
            <a:r>
              <a:rPr dirty="0"/>
              <a:t> Technik</a:t>
            </a:r>
            <a:endParaRPr lang="de-CH" dirty="0"/>
          </a:p>
          <a:p>
            <a:r>
              <a:rPr dirty="0" err="1"/>
              <a:t>jetzt</a:t>
            </a:r>
            <a:r>
              <a:rPr dirty="0"/>
              <a:t> </a:t>
            </a:r>
            <a:r>
              <a:rPr dirty="0" err="1"/>
              <a:t>zeige</a:t>
            </a:r>
            <a:r>
              <a:rPr dirty="0"/>
              <a:t> ich Ihnen die </a:t>
            </a:r>
            <a:r>
              <a:rPr dirty="0" err="1"/>
              <a:t>Anwendung</a:t>
            </a:r>
            <a:r>
              <a:rPr dirty="0"/>
              <a:t> </a:t>
            </a:r>
            <a:r>
              <a:rPr dirty="0" err="1"/>
              <a:t>selbst</a:t>
            </a:r>
            <a:r>
              <a:rPr dirty="0"/>
              <a:t>, </a:t>
            </a:r>
            <a:endParaRPr lang="de-CH" dirty="0"/>
          </a:p>
          <a:p>
            <a:endParaRPr lang="en-US" dirty="0"/>
          </a:p>
          <a:p>
            <a:r>
              <a:rPr dirty="0" err="1"/>
              <a:t>Personennamen</a:t>
            </a:r>
            <a:r>
              <a:rPr dirty="0"/>
              <a:t> von </a:t>
            </a:r>
            <a:r>
              <a:rPr dirty="0" err="1"/>
              <a:t>Kolleginnen</a:t>
            </a:r>
            <a:r>
              <a:rPr dirty="0"/>
              <a:t> und </a:t>
            </a:r>
            <a:r>
              <a:rPr dirty="0" err="1"/>
              <a:t>Kollegen</a:t>
            </a:r>
            <a:r>
              <a:rPr dirty="0"/>
              <a:t> </a:t>
            </a:r>
            <a:r>
              <a:rPr dirty="0" err="1"/>
              <a:t>sowie</a:t>
            </a:r>
            <a:r>
              <a:rPr dirty="0"/>
              <a:t> </a:t>
            </a:r>
            <a:r>
              <a:rPr dirty="0" err="1"/>
              <a:t>Kundendaten</a:t>
            </a:r>
            <a:r>
              <a:rPr dirty="0"/>
              <a:t> </a:t>
            </a:r>
            <a:r>
              <a:rPr dirty="0" err="1"/>
              <a:t>habe</a:t>
            </a:r>
            <a:r>
              <a:rPr dirty="0"/>
              <a:t> ich </a:t>
            </a:r>
            <a:r>
              <a:rPr dirty="0" err="1"/>
              <a:t>aus</a:t>
            </a:r>
            <a:r>
              <a:rPr dirty="0"/>
              <a:t> </a:t>
            </a:r>
            <a:r>
              <a:rPr dirty="0" err="1"/>
              <a:t>Datenschutzgründen</a:t>
            </a:r>
            <a:r>
              <a:rPr dirty="0"/>
              <a:t> </a:t>
            </a:r>
            <a:r>
              <a:rPr dirty="0" err="1"/>
              <a:t>unkenntlich</a:t>
            </a:r>
            <a:r>
              <a:rPr dirty="0"/>
              <a:t> </a:t>
            </a:r>
            <a:r>
              <a:rPr dirty="0" err="1"/>
              <a:t>gemacht</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4AB3E-37FB-0859-EA63-6DD9254360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19A4FD-A159-292C-8AD2-DE1C2230447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D2492A5-E3BE-A7C0-52EF-3D88CF62E6CF}"/>
              </a:ext>
            </a:extLst>
          </p:cNvPr>
          <p:cNvSpPr>
            <a:spLocks noGrp="1"/>
          </p:cNvSpPr>
          <p:nvPr>
            <p:ph type="body" sz="quarter" idx="3"/>
          </p:nvPr>
        </p:nvSpPr>
        <p:spPr/>
        <p:txBody>
          <a:bodyPr/>
          <a:lstStyle/>
          <a:p>
            <a:r>
              <a:rPr dirty="0"/>
              <a:t>Das </a:t>
            </a:r>
            <a:r>
              <a:rPr dirty="0" err="1"/>
              <a:t>ist</a:t>
            </a:r>
            <a:r>
              <a:rPr dirty="0"/>
              <a:t> das Dashboard, der </a:t>
            </a:r>
            <a:r>
              <a:rPr dirty="0" err="1"/>
              <a:t>Einstiegspunkt</a:t>
            </a:r>
            <a:r>
              <a:rPr dirty="0"/>
              <a:t> für das Team. </a:t>
            </a:r>
            <a:endParaRPr lang="de-CH" dirty="0"/>
          </a:p>
          <a:p>
            <a:r>
              <a:rPr dirty="0"/>
              <a:t>Ganz </a:t>
            </a:r>
            <a:r>
              <a:rPr dirty="0" err="1"/>
              <a:t>oben</a:t>
            </a:r>
            <a:r>
              <a:rPr dirty="0"/>
              <a:t> </a:t>
            </a:r>
            <a:r>
              <a:rPr dirty="0" err="1"/>
              <a:t>sehen</a:t>
            </a:r>
            <a:r>
              <a:rPr dirty="0"/>
              <a:t> Sie die </a:t>
            </a:r>
            <a:r>
              <a:rPr dirty="0" err="1"/>
              <a:t>zentralen</a:t>
            </a:r>
            <a:r>
              <a:rPr dirty="0"/>
              <a:t> </a:t>
            </a:r>
            <a:r>
              <a:rPr dirty="0" err="1"/>
              <a:t>Kennzahlen</a:t>
            </a:r>
            <a:r>
              <a:rPr dirty="0"/>
              <a:t> auf </a:t>
            </a:r>
            <a:r>
              <a:rPr dirty="0" err="1"/>
              <a:t>einen</a:t>
            </a:r>
            <a:r>
              <a:rPr dirty="0"/>
              <a:t> Blick: </a:t>
            </a:r>
            <a:endParaRPr lang="de-CH" dirty="0"/>
          </a:p>
          <a:p>
            <a:r>
              <a:rPr dirty="0" err="1"/>
              <a:t>Anzahl</a:t>
            </a:r>
            <a:r>
              <a:rPr dirty="0"/>
              <a:t> Sprints, </a:t>
            </a:r>
            <a:r>
              <a:rPr dirty="0" err="1"/>
              <a:t>Anzahl</a:t>
            </a:r>
            <a:r>
              <a:rPr dirty="0"/>
              <a:t> Stories, Story Points und die Completion Rate. </a:t>
            </a:r>
            <a:endParaRPr lang="de-CH" dirty="0"/>
          </a:p>
          <a:p>
            <a:endParaRPr lang="en-US" dirty="0"/>
          </a:p>
          <a:p>
            <a:r>
              <a:rPr dirty="0"/>
              <a:t>In der Mitte links der Sprint-</a:t>
            </a:r>
            <a:r>
              <a:rPr dirty="0" err="1"/>
              <a:t>Überblick</a:t>
            </a:r>
            <a:r>
              <a:rPr dirty="0"/>
              <a:t> </a:t>
            </a:r>
            <a:r>
              <a:rPr dirty="0" err="1"/>
              <a:t>mit</a:t>
            </a:r>
            <a:r>
              <a:rPr dirty="0"/>
              <a:t> </a:t>
            </a:r>
            <a:r>
              <a:rPr dirty="0" err="1"/>
              <a:t>aktiven</a:t>
            </a:r>
            <a:r>
              <a:rPr dirty="0"/>
              <a:t> und </a:t>
            </a:r>
            <a:r>
              <a:rPr dirty="0" err="1"/>
              <a:t>abgeschlossenen</a:t>
            </a:r>
            <a:r>
              <a:rPr dirty="0"/>
              <a:t> Sprints und der </a:t>
            </a:r>
            <a:r>
              <a:rPr dirty="0" err="1"/>
              <a:t>durchschnittlichen</a:t>
            </a:r>
            <a:r>
              <a:rPr dirty="0"/>
              <a:t> Velocity, </a:t>
            </a:r>
            <a:endParaRPr lang="de-CH" dirty="0"/>
          </a:p>
          <a:p>
            <a:r>
              <a:rPr dirty="0" err="1"/>
              <a:t>rechts</a:t>
            </a:r>
            <a:r>
              <a:rPr dirty="0"/>
              <a:t> der Story Progress. Und </a:t>
            </a:r>
            <a:r>
              <a:rPr dirty="0" err="1"/>
              <a:t>ganz</a:t>
            </a:r>
            <a:r>
              <a:rPr dirty="0"/>
              <a:t> </a:t>
            </a:r>
            <a:r>
              <a:rPr dirty="0" err="1"/>
              <a:t>unten</a:t>
            </a:r>
            <a:r>
              <a:rPr dirty="0"/>
              <a:t> der Forecast, den ich </a:t>
            </a:r>
            <a:r>
              <a:rPr dirty="0" err="1"/>
              <a:t>vorhin</a:t>
            </a:r>
            <a:r>
              <a:rPr dirty="0"/>
              <a:t> </a:t>
            </a:r>
            <a:r>
              <a:rPr dirty="0" err="1"/>
              <a:t>angesprochen</a:t>
            </a:r>
            <a:r>
              <a:rPr dirty="0"/>
              <a:t> </a:t>
            </a:r>
            <a:r>
              <a:rPr dirty="0" err="1"/>
              <a:t>habe</a:t>
            </a:r>
            <a:r>
              <a:rPr dirty="0"/>
              <a:t>: </a:t>
            </a:r>
            <a:endParaRPr lang="de-CH" dirty="0"/>
          </a:p>
          <a:p>
            <a:endParaRPr lang="en-US" dirty="0"/>
          </a:p>
          <a:p>
            <a:r>
              <a:rPr dirty="0" err="1"/>
              <a:t>durchschnittliche</a:t>
            </a:r>
            <a:r>
              <a:rPr dirty="0"/>
              <a:t> Velocity, </a:t>
            </a:r>
            <a:r>
              <a:rPr dirty="0" err="1"/>
              <a:t>verbleibende</a:t>
            </a:r>
            <a:r>
              <a:rPr dirty="0"/>
              <a:t> </a:t>
            </a:r>
            <a:r>
              <a:rPr dirty="0" err="1"/>
              <a:t>Punkte</a:t>
            </a:r>
            <a:r>
              <a:rPr dirty="0"/>
              <a:t>, die </a:t>
            </a:r>
            <a:r>
              <a:rPr dirty="0" err="1"/>
              <a:t>geschätzte</a:t>
            </a:r>
            <a:r>
              <a:rPr dirty="0"/>
              <a:t> </a:t>
            </a:r>
            <a:r>
              <a:rPr dirty="0" err="1"/>
              <a:t>Anzahl</a:t>
            </a:r>
            <a:r>
              <a:rPr dirty="0"/>
              <a:t> </a:t>
            </a:r>
            <a:r>
              <a:rPr dirty="0" err="1"/>
              <a:t>noch</a:t>
            </a:r>
            <a:r>
              <a:rPr dirty="0"/>
              <a:t> </a:t>
            </a:r>
            <a:r>
              <a:rPr dirty="0" err="1"/>
              <a:t>nötiger</a:t>
            </a:r>
            <a:r>
              <a:rPr dirty="0"/>
              <a:t> Sprints und das </a:t>
            </a:r>
            <a:r>
              <a:rPr dirty="0" err="1"/>
              <a:t>voraussichtliche</a:t>
            </a:r>
            <a:r>
              <a:rPr dirty="0"/>
              <a:t> </a:t>
            </a:r>
            <a:r>
              <a:rPr dirty="0" err="1"/>
              <a:t>Fertigstellungsdatum</a:t>
            </a:r>
            <a:r>
              <a:rPr dirty="0"/>
              <a:t>. </a:t>
            </a:r>
            <a:endParaRPr lang="de-CH" dirty="0"/>
          </a:p>
          <a:p>
            <a:endParaRPr lang="en-US" dirty="0"/>
          </a:p>
          <a:p>
            <a:r>
              <a:rPr dirty="0"/>
              <a:t>Der </a:t>
            </a:r>
            <a:r>
              <a:rPr dirty="0" err="1"/>
              <a:t>Kerngedanke</a:t>
            </a:r>
            <a:r>
              <a:rPr dirty="0"/>
              <a:t> </a:t>
            </a:r>
            <a:r>
              <a:rPr dirty="0" err="1"/>
              <a:t>dieser</a:t>
            </a:r>
            <a:r>
              <a:rPr dirty="0"/>
              <a:t> </a:t>
            </a:r>
            <a:r>
              <a:rPr dirty="0" err="1"/>
              <a:t>Seite</a:t>
            </a:r>
            <a:r>
              <a:rPr dirty="0"/>
              <a:t> </a:t>
            </a:r>
            <a:r>
              <a:rPr dirty="0" err="1"/>
              <a:t>ist</a:t>
            </a:r>
            <a:r>
              <a:rPr dirty="0"/>
              <a:t>: Alles </a:t>
            </a:r>
            <a:r>
              <a:rPr dirty="0" err="1"/>
              <a:t>Wesentliche</a:t>
            </a:r>
            <a:r>
              <a:rPr dirty="0"/>
              <a:t> auf </a:t>
            </a:r>
            <a:r>
              <a:rPr dirty="0" err="1"/>
              <a:t>einen</a:t>
            </a:r>
            <a:r>
              <a:rPr dirty="0"/>
              <a:t> Blick, </a:t>
            </a:r>
            <a:r>
              <a:rPr dirty="0" err="1"/>
              <a:t>ohne</a:t>
            </a:r>
            <a:r>
              <a:rPr dirty="0"/>
              <a:t> </a:t>
            </a:r>
            <a:r>
              <a:rPr dirty="0" err="1"/>
              <a:t>dass</a:t>
            </a:r>
            <a:r>
              <a:rPr dirty="0"/>
              <a:t> </a:t>
            </a:r>
            <a:r>
              <a:rPr dirty="0" err="1"/>
              <a:t>jemand</a:t>
            </a:r>
            <a:r>
              <a:rPr dirty="0"/>
              <a:t> </a:t>
            </a:r>
            <a:r>
              <a:rPr dirty="0" err="1"/>
              <a:t>eine</a:t>
            </a:r>
            <a:r>
              <a:rPr dirty="0"/>
              <a:t> Excel-</a:t>
            </a:r>
            <a:r>
              <a:rPr dirty="0" err="1"/>
              <a:t>Datei</a:t>
            </a:r>
            <a:r>
              <a:rPr dirty="0"/>
              <a:t> </a:t>
            </a:r>
            <a:r>
              <a:rPr dirty="0" err="1"/>
              <a:t>öffnen</a:t>
            </a:r>
            <a:r>
              <a:rPr dirty="0"/>
              <a:t> </a:t>
            </a:r>
            <a:r>
              <a:rPr dirty="0" err="1"/>
              <a:t>oder</a:t>
            </a:r>
            <a:r>
              <a:rPr dirty="0"/>
              <a:t> </a:t>
            </a:r>
            <a:r>
              <a:rPr dirty="0" err="1"/>
              <a:t>Daten</a:t>
            </a:r>
            <a:r>
              <a:rPr dirty="0"/>
              <a:t> </a:t>
            </a:r>
            <a:r>
              <a:rPr dirty="0" err="1"/>
              <a:t>zusammensuchen</a:t>
            </a:r>
            <a:r>
              <a:rPr dirty="0"/>
              <a:t> muss.</a:t>
            </a:r>
          </a:p>
        </p:txBody>
      </p:sp>
      <p:sp>
        <p:nvSpPr>
          <p:cNvPr id="4" name="Slide Number Placeholder 3">
            <a:extLst>
              <a:ext uri="{FF2B5EF4-FFF2-40B4-BE49-F238E27FC236}">
                <a16:creationId xmlns:a16="http://schemas.microsoft.com/office/drawing/2014/main" id="{ADEA140F-45EA-9BAD-D16F-E2152597CFD6}"/>
              </a:ext>
            </a:extLst>
          </p:cNvPr>
          <p:cNvSpPr>
            <a:spLocks noGrp="1"/>
          </p:cNvSpPr>
          <p:nvPr>
            <p:ph type="sldNum" sz="quarter" idx="5"/>
          </p:nvPr>
        </p:nvSpPr>
        <p:spPr/>
      </p:sp>
    </p:spTree>
    <p:extLst>
      <p:ext uri="{BB962C8B-B14F-4D97-AF65-F5344CB8AC3E}">
        <p14:creationId xmlns:p14="http://schemas.microsoft.com/office/powerpoint/2010/main" val="5032557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BD16D-83CC-D0BA-7EF6-13E0567FBE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914BF8-7FEA-2877-40A3-C934A8F795A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AE26BB9-AF56-2A48-78EE-465DB8D95A08}"/>
              </a:ext>
            </a:extLst>
          </p:cNvPr>
          <p:cNvSpPr>
            <a:spLocks noGrp="1"/>
          </p:cNvSpPr>
          <p:nvPr>
            <p:ph type="body" sz="quarter" idx="3"/>
          </p:nvPr>
        </p:nvSpPr>
        <p:spPr/>
        <p:txBody>
          <a:bodyPr/>
          <a:lstStyle/>
          <a:p>
            <a:r>
              <a:rPr dirty="0"/>
              <a:t>Hier die </a:t>
            </a:r>
            <a:r>
              <a:rPr dirty="0" err="1"/>
              <a:t>Detailansicht</a:t>
            </a:r>
            <a:r>
              <a:rPr dirty="0"/>
              <a:t> des </a:t>
            </a:r>
            <a:r>
              <a:rPr dirty="0" err="1"/>
              <a:t>aktiven</a:t>
            </a:r>
            <a:r>
              <a:rPr dirty="0"/>
              <a:t> Sprints. </a:t>
            </a:r>
            <a:endParaRPr lang="de-CH" dirty="0"/>
          </a:p>
          <a:p>
            <a:endParaRPr lang="en-US" dirty="0"/>
          </a:p>
          <a:p>
            <a:r>
              <a:rPr dirty="0"/>
              <a:t>Oben in der </a:t>
            </a:r>
            <a:r>
              <a:rPr dirty="0" err="1"/>
              <a:t>farbigen</a:t>
            </a:r>
            <a:r>
              <a:rPr dirty="0"/>
              <a:t> </a:t>
            </a:r>
            <a:r>
              <a:rPr dirty="0" err="1"/>
              <a:t>Leiste</a:t>
            </a:r>
            <a:r>
              <a:rPr dirty="0"/>
              <a:t> der Fortschritt in </a:t>
            </a:r>
            <a:r>
              <a:rPr dirty="0" err="1"/>
              <a:t>Prozent</a:t>
            </a:r>
            <a:r>
              <a:rPr dirty="0"/>
              <a:t> und die </a:t>
            </a:r>
            <a:r>
              <a:rPr dirty="0" err="1"/>
              <a:t>Laufzeit</a:t>
            </a:r>
            <a:r>
              <a:rPr dirty="0"/>
              <a:t> des Sprints. </a:t>
            </a:r>
            <a:endParaRPr lang="de-CH" dirty="0"/>
          </a:p>
          <a:p>
            <a:r>
              <a:rPr dirty="0" err="1"/>
              <a:t>Darunter</a:t>
            </a:r>
            <a:r>
              <a:rPr dirty="0"/>
              <a:t> die vier </a:t>
            </a:r>
            <a:r>
              <a:rPr dirty="0" err="1"/>
              <a:t>wichtigsten</a:t>
            </a:r>
            <a:r>
              <a:rPr dirty="0"/>
              <a:t> </a:t>
            </a:r>
            <a:r>
              <a:rPr dirty="0" err="1"/>
              <a:t>Kennzahlen</a:t>
            </a:r>
            <a:r>
              <a:rPr dirty="0"/>
              <a:t>: </a:t>
            </a:r>
            <a:r>
              <a:rPr dirty="0" err="1"/>
              <a:t>Anzahl</a:t>
            </a:r>
            <a:r>
              <a:rPr dirty="0"/>
              <a:t> Stories, Story Points </a:t>
            </a:r>
            <a:r>
              <a:rPr dirty="0" err="1"/>
              <a:t>insgesamt</a:t>
            </a:r>
            <a:r>
              <a:rPr dirty="0"/>
              <a:t>, </a:t>
            </a:r>
            <a:r>
              <a:rPr dirty="0" err="1"/>
              <a:t>wie</a:t>
            </a:r>
            <a:r>
              <a:rPr dirty="0"/>
              <a:t> </a:t>
            </a:r>
            <a:r>
              <a:rPr dirty="0" err="1"/>
              <a:t>viele</a:t>
            </a:r>
            <a:r>
              <a:rPr dirty="0"/>
              <a:t> </a:t>
            </a:r>
            <a:r>
              <a:rPr dirty="0" err="1"/>
              <a:t>Punkte</a:t>
            </a:r>
            <a:r>
              <a:rPr dirty="0"/>
              <a:t> </a:t>
            </a:r>
            <a:r>
              <a:rPr dirty="0" err="1"/>
              <a:t>erledigt</a:t>
            </a:r>
            <a:r>
              <a:rPr dirty="0"/>
              <a:t> und </a:t>
            </a:r>
            <a:r>
              <a:rPr dirty="0" err="1"/>
              <a:t>wie</a:t>
            </a:r>
            <a:r>
              <a:rPr dirty="0"/>
              <a:t> </a:t>
            </a:r>
            <a:r>
              <a:rPr dirty="0" err="1"/>
              <a:t>viele</a:t>
            </a:r>
            <a:r>
              <a:rPr dirty="0"/>
              <a:t> </a:t>
            </a:r>
            <a:r>
              <a:rPr dirty="0" err="1"/>
              <a:t>gerade</a:t>
            </a:r>
            <a:r>
              <a:rPr dirty="0"/>
              <a:t> in Arbeit </a:t>
            </a:r>
            <a:r>
              <a:rPr dirty="0" err="1"/>
              <a:t>sind</a:t>
            </a:r>
            <a:r>
              <a:rPr dirty="0"/>
              <a:t>. </a:t>
            </a:r>
            <a:endParaRPr lang="de-CH" dirty="0"/>
          </a:p>
          <a:p>
            <a:endParaRPr lang="en-US" dirty="0"/>
          </a:p>
          <a:p>
            <a:r>
              <a:rPr dirty="0"/>
              <a:t>Links </a:t>
            </a:r>
            <a:r>
              <a:rPr dirty="0" err="1"/>
              <a:t>unten</a:t>
            </a:r>
            <a:r>
              <a:rPr dirty="0"/>
              <a:t> die Status-</a:t>
            </a:r>
            <a:r>
              <a:rPr dirty="0" err="1"/>
              <a:t>Aufteilung</a:t>
            </a:r>
            <a:r>
              <a:rPr dirty="0"/>
              <a:t> – To Do, In Progress, Done – </a:t>
            </a:r>
            <a:endParaRPr lang="de-CH" dirty="0"/>
          </a:p>
          <a:p>
            <a:r>
              <a:rPr dirty="0"/>
              <a:t>und </a:t>
            </a:r>
            <a:r>
              <a:rPr dirty="0" err="1"/>
              <a:t>rechts</a:t>
            </a:r>
            <a:r>
              <a:rPr dirty="0"/>
              <a:t> die Team-</a:t>
            </a:r>
            <a:r>
              <a:rPr dirty="0" err="1"/>
              <a:t>Kapazität</a:t>
            </a:r>
            <a:r>
              <a:rPr dirty="0"/>
              <a:t> für </a:t>
            </a:r>
            <a:r>
              <a:rPr dirty="0" err="1"/>
              <a:t>genau</a:t>
            </a:r>
            <a:r>
              <a:rPr dirty="0"/>
              <a:t> </a:t>
            </a:r>
            <a:r>
              <a:rPr dirty="0" err="1"/>
              <a:t>diesen</a:t>
            </a:r>
            <a:r>
              <a:rPr dirty="0"/>
              <a:t> Sprint. </a:t>
            </a:r>
            <a:endParaRPr lang="de-CH" dirty="0"/>
          </a:p>
          <a:p>
            <a:endParaRPr lang="en-US" dirty="0"/>
          </a:p>
          <a:p>
            <a:r>
              <a:rPr dirty="0"/>
              <a:t>Das </a:t>
            </a:r>
            <a:r>
              <a:rPr dirty="0" err="1"/>
              <a:t>ist</a:t>
            </a:r>
            <a:r>
              <a:rPr dirty="0"/>
              <a:t> die </a:t>
            </a:r>
            <a:r>
              <a:rPr dirty="0" err="1"/>
              <a:t>Ansicht</a:t>
            </a:r>
            <a:r>
              <a:rPr dirty="0"/>
              <a:t>, die das Team </a:t>
            </a:r>
            <a:r>
              <a:rPr dirty="0" err="1"/>
              <a:t>im</a:t>
            </a:r>
            <a:r>
              <a:rPr dirty="0"/>
              <a:t> </a:t>
            </a:r>
            <a:r>
              <a:rPr dirty="0" err="1"/>
              <a:t>Tagesgeschäft</a:t>
            </a:r>
            <a:r>
              <a:rPr dirty="0"/>
              <a:t> </a:t>
            </a:r>
            <a:r>
              <a:rPr dirty="0" err="1"/>
              <a:t>während</a:t>
            </a:r>
            <a:r>
              <a:rPr dirty="0"/>
              <a:t> </a:t>
            </a:r>
            <a:r>
              <a:rPr dirty="0" err="1"/>
              <a:t>eines</a:t>
            </a:r>
            <a:r>
              <a:rPr dirty="0"/>
              <a:t> </a:t>
            </a:r>
            <a:r>
              <a:rPr dirty="0" err="1"/>
              <a:t>laufenden</a:t>
            </a:r>
            <a:r>
              <a:rPr dirty="0"/>
              <a:t> Sprints am </a:t>
            </a:r>
            <a:r>
              <a:rPr dirty="0" err="1"/>
              <a:t>häufigsten</a:t>
            </a:r>
            <a:r>
              <a:rPr dirty="0"/>
              <a:t> </a:t>
            </a:r>
            <a:r>
              <a:rPr dirty="0" err="1"/>
              <a:t>offen</a:t>
            </a:r>
            <a:r>
              <a:rPr dirty="0"/>
              <a:t> hat.</a:t>
            </a:r>
          </a:p>
        </p:txBody>
      </p:sp>
      <p:sp>
        <p:nvSpPr>
          <p:cNvPr id="4" name="Slide Number Placeholder 3">
            <a:extLst>
              <a:ext uri="{FF2B5EF4-FFF2-40B4-BE49-F238E27FC236}">
                <a16:creationId xmlns:a16="http://schemas.microsoft.com/office/drawing/2014/main" id="{4D5EC24A-347D-5C44-C74B-243BC97E7EA3}"/>
              </a:ext>
            </a:extLst>
          </p:cNvPr>
          <p:cNvSpPr>
            <a:spLocks noGrp="1"/>
          </p:cNvSpPr>
          <p:nvPr>
            <p:ph type="sldNum" sz="quarter" idx="5"/>
          </p:nvPr>
        </p:nvSpPr>
        <p:spPr/>
      </p:sp>
    </p:spTree>
    <p:extLst>
      <p:ext uri="{BB962C8B-B14F-4D97-AF65-F5344CB8AC3E}">
        <p14:creationId xmlns:p14="http://schemas.microsoft.com/office/powerpoint/2010/main" val="40833815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67967-498A-7CF7-38ED-CFAF688177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9F3403-72D5-7412-2C4D-C0A6F47BD6F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1B04044-E787-AADA-D8EF-E684D43555F5}"/>
              </a:ext>
            </a:extLst>
          </p:cNvPr>
          <p:cNvSpPr>
            <a:spLocks noGrp="1"/>
          </p:cNvSpPr>
          <p:nvPr>
            <p:ph type="body" sz="quarter" idx="3"/>
          </p:nvPr>
        </p:nvSpPr>
        <p:spPr/>
        <p:txBody>
          <a:bodyPr/>
          <a:lstStyle/>
          <a:p>
            <a:r>
              <a:rPr dirty="0" err="1"/>
              <a:t>Jetzt</a:t>
            </a:r>
            <a:r>
              <a:rPr dirty="0"/>
              <a:t> das Analytics-Modul, </a:t>
            </a:r>
            <a:endParaRPr lang="de-CH" dirty="0"/>
          </a:p>
          <a:p>
            <a:r>
              <a:rPr dirty="0" err="1"/>
              <a:t>zuerst</a:t>
            </a:r>
            <a:r>
              <a:rPr dirty="0"/>
              <a:t> die Overview </a:t>
            </a:r>
            <a:r>
              <a:rPr dirty="0" err="1"/>
              <a:t>mit</a:t>
            </a:r>
            <a:r>
              <a:rPr dirty="0"/>
              <a:t> dem Burndown-Chart. </a:t>
            </a:r>
            <a:endParaRPr lang="de-CH" dirty="0"/>
          </a:p>
          <a:p>
            <a:endParaRPr lang="en-US" dirty="0"/>
          </a:p>
          <a:p>
            <a:r>
              <a:rPr dirty="0"/>
              <a:t>Oben </a:t>
            </a:r>
            <a:r>
              <a:rPr dirty="0" err="1"/>
              <a:t>wieder</a:t>
            </a:r>
            <a:r>
              <a:rPr dirty="0"/>
              <a:t> die </a:t>
            </a:r>
            <a:r>
              <a:rPr dirty="0" err="1"/>
              <a:t>Kennzahlen</a:t>
            </a:r>
            <a:r>
              <a:rPr dirty="0"/>
              <a:t>, </a:t>
            </a:r>
            <a:r>
              <a:rPr dirty="0" err="1"/>
              <a:t>darunter</a:t>
            </a:r>
            <a:r>
              <a:rPr dirty="0"/>
              <a:t> das </a:t>
            </a:r>
            <a:r>
              <a:rPr dirty="0" err="1"/>
              <a:t>eigentliche</a:t>
            </a:r>
            <a:r>
              <a:rPr dirty="0"/>
              <a:t> Chart. </a:t>
            </a:r>
            <a:endParaRPr lang="de-CH" dirty="0"/>
          </a:p>
          <a:p>
            <a:r>
              <a:rPr dirty="0"/>
              <a:t>Die </a:t>
            </a:r>
            <a:r>
              <a:rPr dirty="0" err="1"/>
              <a:t>gestrichelte</a:t>
            </a:r>
            <a:r>
              <a:rPr dirty="0"/>
              <a:t>, </a:t>
            </a:r>
            <a:r>
              <a:rPr dirty="0" err="1"/>
              <a:t>fallende</a:t>
            </a:r>
            <a:r>
              <a:rPr dirty="0"/>
              <a:t> Linie </a:t>
            </a:r>
            <a:r>
              <a:rPr dirty="0" err="1"/>
              <a:t>ist</a:t>
            </a:r>
            <a:r>
              <a:rPr dirty="0"/>
              <a:t> der </a:t>
            </a:r>
            <a:r>
              <a:rPr dirty="0" err="1"/>
              <a:t>ideale</a:t>
            </a:r>
            <a:r>
              <a:rPr dirty="0"/>
              <a:t> </a:t>
            </a:r>
            <a:r>
              <a:rPr dirty="0" err="1"/>
              <a:t>Verlauf</a:t>
            </a:r>
            <a:r>
              <a:rPr dirty="0"/>
              <a:t> – so </a:t>
            </a:r>
            <a:r>
              <a:rPr dirty="0" err="1"/>
              <a:t>müssten</a:t>
            </a:r>
            <a:r>
              <a:rPr dirty="0"/>
              <a:t> die </a:t>
            </a:r>
            <a:r>
              <a:rPr dirty="0" err="1"/>
              <a:t>offenen</a:t>
            </a:r>
            <a:r>
              <a:rPr dirty="0"/>
              <a:t> </a:t>
            </a:r>
            <a:r>
              <a:rPr dirty="0" err="1"/>
              <a:t>Punkte</a:t>
            </a:r>
            <a:r>
              <a:rPr dirty="0"/>
              <a:t> </a:t>
            </a:r>
            <a:r>
              <a:rPr dirty="0" err="1"/>
              <a:t>gleichmässig</a:t>
            </a:r>
            <a:r>
              <a:rPr dirty="0"/>
              <a:t> </a:t>
            </a:r>
            <a:r>
              <a:rPr dirty="0" err="1"/>
              <a:t>abgearbeitet</a:t>
            </a:r>
            <a:r>
              <a:rPr dirty="0"/>
              <a:t> </a:t>
            </a:r>
            <a:r>
              <a:rPr dirty="0" err="1"/>
              <a:t>werden</a:t>
            </a:r>
            <a:r>
              <a:rPr dirty="0"/>
              <a:t>. </a:t>
            </a:r>
            <a:endParaRPr lang="de-CH" dirty="0"/>
          </a:p>
          <a:p>
            <a:r>
              <a:rPr dirty="0"/>
              <a:t>Die </a:t>
            </a:r>
            <a:r>
              <a:rPr dirty="0" err="1"/>
              <a:t>durchgezogene</a:t>
            </a:r>
            <a:r>
              <a:rPr dirty="0"/>
              <a:t> Linie </a:t>
            </a:r>
            <a:r>
              <a:rPr dirty="0" err="1"/>
              <a:t>ist</a:t>
            </a:r>
            <a:r>
              <a:rPr dirty="0"/>
              <a:t> der </a:t>
            </a:r>
            <a:r>
              <a:rPr dirty="0" err="1"/>
              <a:t>tatsächliche</a:t>
            </a:r>
            <a:r>
              <a:rPr dirty="0"/>
              <a:t> </a:t>
            </a:r>
            <a:r>
              <a:rPr dirty="0" err="1"/>
              <a:t>Verlauf</a:t>
            </a:r>
            <a:r>
              <a:rPr dirty="0"/>
              <a:t>, </a:t>
            </a:r>
            <a:r>
              <a:rPr dirty="0" err="1"/>
              <a:t>berechnet</a:t>
            </a:r>
            <a:r>
              <a:rPr dirty="0"/>
              <a:t> </a:t>
            </a:r>
            <a:r>
              <a:rPr dirty="0" err="1"/>
              <a:t>aus</a:t>
            </a:r>
            <a:r>
              <a:rPr dirty="0"/>
              <a:t> den </a:t>
            </a:r>
            <a:r>
              <a:rPr dirty="0" err="1"/>
              <a:t>echten</a:t>
            </a:r>
            <a:r>
              <a:rPr dirty="0"/>
              <a:t> </a:t>
            </a:r>
            <a:r>
              <a:rPr dirty="0" err="1"/>
              <a:t>Abschlusszeitpunkten</a:t>
            </a:r>
            <a:r>
              <a:rPr dirty="0"/>
              <a:t> der </a:t>
            </a:r>
            <a:r>
              <a:rPr dirty="0" err="1"/>
              <a:t>einzelnen</a:t>
            </a:r>
            <a:r>
              <a:rPr dirty="0"/>
              <a:t> Stories. </a:t>
            </a:r>
            <a:endParaRPr lang="de-CH" dirty="0"/>
          </a:p>
          <a:p>
            <a:endParaRPr lang="en-US" dirty="0"/>
          </a:p>
          <a:p>
            <a:r>
              <a:rPr dirty="0"/>
              <a:t>In </a:t>
            </a:r>
            <a:r>
              <a:rPr dirty="0" err="1"/>
              <a:t>diesem</a:t>
            </a:r>
            <a:r>
              <a:rPr dirty="0"/>
              <a:t> </a:t>
            </a:r>
            <a:r>
              <a:rPr dirty="0" err="1"/>
              <a:t>Beispiel</a:t>
            </a:r>
            <a:r>
              <a:rPr dirty="0"/>
              <a:t> </a:t>
            </a:r>
            <a:r>
              <a:rPr dirty="0" err="1"/>
              <a:t>sehen</a:t>
            </a:r>
            <a:r>
              <a:rPr dirty="0"/>
              <a:t> Sie </a:t>
            </a:r>
            <a:r>
              <a:rPr dirty="0" err="1"/>
              <a:t>schön</a:t>
            </a:r>
            <a:r>
              <a:rPr dirty="0"/>
              <a:t>, </a:t>
            </a:r>
            <a:r>
              <a:rPr dirty="0" err="1"/>
              <a:t>dass</a:t>
            </a:r>
            <a:r>
              <a:rPr dirty="0"/>
              <a:t> </a:t>
            </a:r>
            <a:r>
              <a:rPr dirty="0" err="1"/>
              <a:t>lange</a:t>
            </a:r>
            <a:r>
              <a:rPr dirty="0"/>
              <a:t> fast </a:t>
            </a:r>
            <a:r>
              <a:rPr dirty="0" err="1"/>
              <a:t>nichts</a:t>
            </a:r>
            <a:r>
              <a:rPr dirty="0"/>
              <a:t> </a:t>
            </a:r>
            <a:r>
              <a:rPr dirty="0" err="1"/>
              <a:t>passiert</a:t>
            </a:r>
            <a:r>
              <a:rPr dirty="0"/>
              <a:t> </a:t>
            </a:r>
            <a:r>
              <a:rPr dirty="0" err="1"/>
              <a:t>ist</a:t>
            </a:r>
            <a:r>
              <a:rPr dirty="0"/>
              <a:t> und die </a:t>
            </a:r>
            <a:r>
              <a:rPr dirty="0" err="1"/>
              <a:t>Kurve</a:t>
            </a:r>
            <a:r>
              <a:rPr dirty="0"/>
              <a:t> erst </a:t>
            </a:r>
            <a:r>
              <a:rPr dirty="0" err="1"/>
              <a:t>gegen</a:t>
            </a:r>
            <a:r>
              <a:rPr dirty="0"/>
              <a:t> Ende </a:t>
            </a:r>
            <a:r>
              <a:rPr dirty="0" err="1"/>
              <a:t>steil</a:t>
            </a:r>
            <a:r>
              <a:rPr dirty="0"/>
              <a:t> </a:t>
            </a:r>
            <a:r>
              <a:rPr dirty="0" err="1"/>
              <a:t>abfällt</a:t>
            </a:r>
            <a:endParaRPr lang="de-CH" dirty="0"/>
          </a:p>
          <a:p>
            <a:r>
              <a:rPr dirty="0"/>
              <a:t> </a:t>
            </a:r>
            <a:r>
              <a:rPr dirty="0" err="1"/>
              <a:t>ein</a:t>
            </a:r>
            <a:r>
              <a:rPr dirty="0"/>
              <a:t> </a:t>
            </a:r>
            <a:r>
              <a:rPr dirty="0" err="1"/>
              <a:t>typisches</a:t>
            </a:r>
            <a:r>
              <a:rPr dirty="0"/>
              <a:t> Muster, </a:t>
            </a:r>
            <a:r>
              <a:rPr dirty="0" err="1"/>
              <a:t>wenn</a:t>
            </a:r>
            <a:r>
              <a:rPr dirty="0"/>
              <a:t> </a:t>
            </a:r>
            <a:r>
              <a:rPr dirty="0" err="1"/>
              <a:t>viel</a:t>
            </a:r>
            <a:r>
              <a:rPr dirty="0"/>
              <a:t> auf den </a:t>
            </a:r>
            <a:r>
              <a:rPr dirty="0" err="1"/>
              <a:t>letzten</a:t>
            </a:r>
            <a:r>
              <a:rPr dirty="0"/>
              <a:t> </a:t>
            </a:r>
            <a:r>
              <a:rPr dirty="0" err="1"/>
              <a:t>Drücker</a:t>
            </a:r>
            <a:r>
              <a:rPr dirty="0"/>
              <a:t> </a:t>
            </a:r>
            <a:r>
              <a:rPr dirty="0" err="1"/>
              <a:t>fertig</a:t>
            </a:r>
            <a:r>
              <a:rPr dirty="0"/>
              <a:t> </a:t>
            </a:r>
            <a:r>
              <a:rPr dirty="0" err="1"/>
              <a:t>wird</a:t>
            </a:r>
            <a:r>
              <a:rPr dirty="0"/>
              <a:t>. </a:t>
            </a:r>
            <a:endParaRPr lang="de-CH" dirty="0"/>
          </a:p>
          <a:p>
            <a:endParaRPr lang="en-US" dirty="0"/>
          </a:p>
          <a:p>
            <a:r>
              <a:rPr dirty="0" err="1"/>
              <a:t>Genau</a:t>
            </a:r>
            <a:r>
              <a:rPr dirty="0"/>
              <a:t> </a:t>
            </a:r>
            <a:r>
              <a:rPr dirty="0" err="1"/>
              <a:t>solche</a:t>
            </a:r>
            <a:r>
              <a:rPr dirty="0"/>
              <a:t> Muster </a:t>
            </a:r>
            <a:r>
              <a:rPr dirty="0" err="1"/>
              <a:t>macht</a:t>
            </a:r>
            <a:r>
              <a:rPr dirty="0"/>
              <a:t> das Burndown-Chart </a:t>
            </a:r>
            <a:r>
              <a:rPr dirty="0" err="1"/>
              <a:t>sofort</a:t>
            </a:r>
            <a:r>
              <a:rPr dirty="0"/>
              <a:t> </a:t>
            </a:r>
            <a:r>
              <a:rPr dirty="0" err="1"/>
              <a:t>sichtbar</a:t>
            </a:r>
            <a:r>
              <a:rPr dirty="0"/>
              <a:t> und </a:t>
            </a:r>
            <a:r>
              <a:rPr dirty="0" err="1"/>
              <a:t>damit</a:t>
            </a:r>
            <a:r>
              <a:rPr dirty="0"/>
              <a:t> </a:t>
            </a:r>
            <a:r>
              <a:rPr dirty="0" err="1"/>
              <a:t>besprechbar</a:t>
            </a:r>
            <a:r>
              <a:rPr dirty="0"/>
              <a:t>.</a:t>
            </a:r>
          </a:p>
        </p:txBody>
      </p:sp>
      <p:sp>
        <p:nvSpPr>
          <p:cNvPr id="4" name="Slide Number Placeholder 3">
            <a:extLst>
              <a:ext uri="{FF2B5EF4-FFF2-40B4-BE49-F238E27FC236}">
                <a16:creationId xmlns:a16="http://schemas.microsoft.com/office/drawing/2014/main" id="{CE219EF0-B3E5-86FA-87FA-F57FF17FAD11}"/>
              </a:ext>
            </a:extLst>
          </p:cNvPr>
          <p:cNvSpPr>
            <a:spLocks noGrp="1"/>
          </p:cNvSpPr>
          <p:nvPr>
            <p:ph type="sldNum" sz="quarter" idx="5"/>
          </p:nvPr>
        </p:nvSpPr>
        <p:spPr/>
      </p:sp>
    </p:spTree>
    <p:extLst>
      <p:ext uri="{BB962C8B-B14F-4D97-AF65-F5344CB8AC3E}">
        <p14:creationId xmlns:p14="http://schemas.microsoft.com/office/powerpoint/2010/main" val="3757116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98DEA-FD8F-49A7-0CB2-AB30FB10B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70AD8-A3A1-AE5F-9D0A-1281CE89D01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6C23B7D-3FB4-E4BA-BBAF-26C05BE99092}"/>
              </a:ext>
            </a:extLst>
          </p:cNvPr>
          <p:cNvSpPr>
            <a:spLocks noGrp="1"/>
          </p:cNvSpPr>
          <p:nvPr>
            <p:ph type="body" sz="quarter" idx="3"/>
          </p:nvPr>
        </p:nvSpPr>
        <p:spPr/>
        <p:txBody>
          <a:bodyPr/>
          <a:lstStyle/>
          <a:p>
            <a:r>
              <a:rPr dirty="0"/>
              <a:t>Die Compare-</a:t>
            </a:r>
            <a:r>
              <a:rPr dirty="0" err="1"/>
              <a:t>Ansicht</a:t>
            </a:r>
            <a:r>
              <a:rPr dirty="0"/>
              <a:t>. </a:t>
            </a:r>
            <a:endParaRPr lang="de-CH" dirty="0"/>
          </a:p>
          <a:p>
            <a:endParaRPr lang="en-US" dirty="0"/>
          </a:p>
          <a:p>
            <a:r>
              <a:rPr dirty="0"/>
              <a:t>Links </a:t>
            </a:r>
            <a:r>
              <a:rPr dirty="0" err="1"/>
              <a:t>wird</a:t>
            </a:r>
            <a:r>
              <a:rPr dirty="0"/>
              <a:t> der </a:t>
            </a:r>
            <a:r>
              <a:rPr dirty="0" err="1"/>
              <a:t>aktuelle</a:t>
            </a:r>
            <a:r>
              <a:rPr dirty="0"/>
              <a:t> Sprint dem </a:t>
            </a:r>
            <a:r>
              <a:rPr dirty="0" err="1"/>
              <a:t>vorherigen</a:t>
            </a:r>
            <a:r>
              <a:rPr dirty="0"/>
              <a:t> </a:t>
            </a:r>
            <a:r>
              <a:rPr dirty="0" err="1"/>
              <a:t>direkt</a:t>
            </a:r>
            <a:r>
              <a:rPr dirty="0"/>
              <a:t> </a:t>
            </a:r>
            <a:r>
              <a:rPr dirty="0" err="1"/>
              <a:t>gegenübergestellt</a:t>
            </a:r>
            <a:r>
              <a:rPr dirty="0"/>
              <a:t> –</a:t>
            </a:r>
            <a:endParaRPr lang="de-CH" dirty="0"/>
          </a:p>
          <a:p>
            <a:r>
              <a:rPr dirty="0"/>
              <a:t> </a:t>
            </a:r>
            <a:r>
              <a:rPr dirty="0" err="1"/>
              <a:t>hier</a:t>
            </a:r>
            <a:r>
              <a:rPr dirty="0"/>
              <a:t> 21 </a:t>
            </a:r>
            <a:r>
              <a:rPr dirty="0" err="1"/>
              <a:t>zu</a:t>
            </a:r>
            <a:r>
              <a:rPr dirty="0"/>
              <a:t> 9 Story Points. </a:t>
            </a:r>
            <a:endParaRPr lang="de-CH" dirty="0"/>
          </a:p>
          <a:p>
            <a:endParaRPr lang="en-US" dirty="0"/>
          </a:p>
          <a:p>
            <a:r>
              <a:rPr dirty="0" err="1"/>
              <a:t>Rechts</a:t>
            </a:r>
            <a:r>
              <a:rPr dirty="0"/>
              <a:t> </a:t>
            </a:r>
            <a:r>
              <a:rPr dirty="0" err="1"/>
              <a:t>sehen</a:t>
            </a:r>
            <a:r>
              <a:rPr dirty="0"/>
              <a:t> Sie die Team-Benchmarks: die </a:t>
            </a:r>
            <a:r>
              <a:rPr dirty="0" err="1"/>
              <a:t>durchschnittliche</a:t>
            </a:r>
            <a:r>
              <a:rPr dirty="0"/>
              <a:t> Velocity und die </a:t>
            </a:r>
            <a:r>
              <a:rPr dirty="0" err="1"/>
              <a:t>beste</a:t>
            </a:r>
            <a:r>
              <a:rPr dirty="0"/>
              <a:t> </a:t>
            </a:r>
            <a:r>
              <a:rPr dirty="0" err="1"/>
              <a:t>jemals</a:t>
            </a:r>
            <a:r>
              <a:rPr dirty="0"/>
              <a:t> </a:t>
            </a:r>
            <a:r>
              <a:rPr dirty="0" err="1"/>
              <a:t>erreichte</a:t>
            </a:r>
            <a:r>
              <a:rPr dirty="0"/>
              <a:t> Velocity </a:t>
            </a:r>
            <a:r>
              <a:rPr dirty="0" err="1"/>
              <a:t>über</a:t>
            </a:r>
            <a:r>
              <a:rPr dirty="0"/>
              <a:t> alle </a:t>
            </a:r>
            <a:r>
              <a:rPr dirty="0" err="1"/>
              <a:t>abgeschlossenen</a:t>
            </a:r>
            <a:r>
              <a:rPr dirty="0"/>
              <a:t> Sprints. </a:t>
            </a:r>
            <a:endParaRPr lang="de-CH" dirty="0"/>
          </a:p>
          <a:p>
            <a:endParaRPr lang="en-US" dirty="0"/>
          </a:p>
          <a:p>
            <a:r>
              <a:rPr dirty="0"/>
              <a:t>Und das </a:t>
            </a:r>
            <a:r>
              <a:rPr dirty="0" err="1"/>
              <a:t>kleine</a:t>
            </a:r>
            <a:r>
              <a:rPr dirty="0"/>
              <a:t> Label «Improving» </a:t>
            </a:r>
            <a:r>
              <a:rPr dirty="0" err="1"/>
              <a:t>fasst</a:t>
            </a:r>
            <a:r>
              <a:rPr dirty="0"/>
              <a:t> den Trend </a:t>
            </a:r>
            <a:r>
              <a:rPr dirty="0" err="1"/>
              <a:t>zusammen</a:t>
            </a:r>
            <a:r>
              <a:rPr dirty="0"/>
              <a:t>.</a:t>
            </a:r>
            <a:endParaRPr lang="de-CH" dirty="0"/>
          </a:p>
          <a:p>
            <a:endParaRPr lang="en-US" dirty="0"/>
          </a:p>
          <a:p>
            <a:r>
              <a:rPr dirty="0"/>
              <a:t> Das </a:t>
            </a:r>
            <a:r>
              <a:rPr dirty="0" err="1"/>
              <a:t>gibt</a:t>
            </a:r>
            <a:r>
              <a:rPr dirty="0"/>
              <a:t> dem Team </a:t>
            </a:r>
            <a:r>
              <a:rPr dirty="0" err="1"/>
              <a:t>eine</a:t>
            </a:r>
            <a:r>
              <a:rPr dirty="0"/>
              <a:t> </a:t>
            </a:r>
            <a:r>
              <a:rPr dirty="0" err="1"/>
              <a:t>ehrliche</a:t>
            </a:r>
            <a:r>
              <a:rPr dirty="0"/>
              <a:t> </a:t>
            </a:r>
            <a:r>
              <a:rPr dirty="0" err="1"/>
              <a:t>Standortbestimmung</a:t>
            </a:r>
            <a:r>
              <a:rPr dirty="0"/>
              <a:t>: </a:t>
            </a:r>
            <a:r>
              <a:rPr dirty="0" err="1"/>
              <a:t>Bewegen</a:t>
            </a:r>
            <a:r>
              <a:rPr dirty="0"/>
              <a:t> </a:t>
            </a:r>
            <a:r>
              <a:rPr dirty="0" err="1"/>
              <a:t>wir</a:t>
            </a:r>
            <a:r>
              <a:rPr dirty="0"/>
              <a:t> </a:t>
            </a:r>
            <a:r>
              <a:rPr dirty="0" err="1"/>
              <a:t>uns</a:t>
            </a:r>
            <a:r>
              <a:rPr dirty="0"/>
              <a:t> in die </a:t>
            </a:r>
            <a:r>
              <a:rPr dirty="0" err="1"/>
              <a:t>richtige</a:t>
            </a:r>
            <a:r>
              <a:rPr dirty="0"/>
              <a:t> </a:t>
            </a:r>
            <a:r>
              <a:rPr dirty="0" err="1"/>
              <a:t>Richtung</a:t>
            </a:r>
            <a:r>
              <a:rPr dirty="0"/>
              <a:t>, </a:t>
            </a:r>
            <a:r>
              <a:rPr dirty="0" err="1"/>
              <a:t>oder</a:t>
            </a:r>
            <a:r>
              <a:rPr dirty="0"/>
              <a:t> </a:t>
            </a:r>
            <a:r>
              <a:rPr dirty="0" err="1"/>
              <a:t>lässt</a:t>
            </a:r>
            <a:r>
              <a:rPr dirty="0"/>
              <a:t> die </a:t>
            </a:r>
            <a:r>
              <a:rPr dirty="0" err="1"/>
              <a:t>Leistung</a:t>
            </a:r>
            <a:r>
              <a:rPr dirty="0"/>
              <a:t> </a:t>
            </a:r>
            <a:r>
              <a:rPr dirty="0" err="1"/>
              <a:t>nach</a:t>
            </a:r>
            <a:r>
              <a:rPr dirty="0"/>
              <a:t>?</a:t>
            </a:r>
          </a:p>
        </p:txBody>
      </p:sp>
      <p:sp>
        <p:nvSpPr>
          <p:cNvPr id="4" name="Slide Number Placeholder 3">
            <a:extLst>
              <a:ext uri="{FF2B5EF4-FFF2-40B4-BE49-F238E27FC236}">
                <a16:creationId xmlns:a16="http://schemas.microsoft.com/office/drawing/2014/main" id="{B5528F82-A26A-F260-3121-9DB7B42E1753}"/>
              </a:ext>
            </a:extLst>
          </p:cNvPr>
          <p:cNvSpPr>
            <a:spLocks noGrp="1"/>
          </p:cNvSpPr>
          <p:nvPr>
            <p:ph type="sldNum" sz="quarter" idx="5"/>
          </p:nvPr>
        </p:nvSpPr>
        <p:spPr/>
      </p:sp>
    </p:spTree>
    <p:extLst>
      <p:ext uri="{BB962C8B-B14F-4D97-AF65-F5344CB8AC3E}">
        <p14:creationId xmlns:p14="http://schemas.microsoft.com/office/powerpoint/2010/main" val="28408620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E1504-9F0C-E75C-35C7-0643FC51E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5F819-2903-5B74-0983-8C01A7CF7CB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DF05D6D-75F9-E138-B19C-21714EEC664D}"/>
              </a:ext>
            </a:extLst>
          </p:cNvPr>
          <p:cNvSpPr>
            <a:spLocks noGrp="1"/>
          </p:cNvSpPr>
          <p:nvPr>
            <p:ph type="body" sz="quarter" idx="3"/>
          </p:nvPr>
        </p:nvSpPr>
        <p:spPr/>
        <p:txBody>
          <a:bodyPr/>
          <a:lstStyle/>
          <a:p>
            <a:r>
              <a:rPr dirty="0"/>
              <a:t>Die Changes-</a:t>
            </a:r>
            <a:r>
              <a:rPr dirty="0" err="1"/>
              <a:t>Ansicht</a:t>
            </a:r>
            <a:r>
              <a:rPr dirty="0"/>
              <a:t> </a:t>
            </a:r>
            <a:r>
              <a:rPr dirty="0" err="1"/>
              <a:t>zeigt</a:t>
            </a:r>
            <a:r>
              <a:rPr dirty="0"/>
              <a:t>, was </a:t>
            </a:r>
            <a:r>
              <a:rPr dirty="0" err="1"/>
              <a:t>während</a:t>
            </a:r>
            <a:r>
              <a:rPr dirty="0"/>
              <a:t> des Sprints am </a:t>
            </a:r>
            <a:r>
              <a:rPr dirty="0" err="1"/>
              <a:t>Umfang</a:t>
            </a:r>
            <a:r>
              <a:rPr dirty="0"/>
              <a:t> </a:t>
            </a:r>
            <a:r>
              <a:rPr dirty="0" err="1"/>
              <a:t>verändert</a:t>
            </a:r>
            <a:r>
              <a:rPr dirty="0"/>
              <a:t> </a:t>
            </a:r>
            <a:r>
              <a:rPr dirty="0" err="1"/>
              <a:t>wurde</a:t>
            </a:r>
            <a:r>
              <a:rPr dirty="0"/>
              <a:t> – </a:t>
            </a:r>
            <a:r>
              <a:rPr dirty="0" err="1"/>
              <a:t>hinzugefügte</a:t>
            </a:r>
            <a:r>
              <a:rPr dirty="0"/>
              <a:t> und </a:t>
            </a:r>
            <a:r>
              <a:rPr dirty="0" err="1"/>
              <a:t>entfernte</a:t>
            </a:r>
            <a:r>
              <a:rPr dirty="0"/>
              <a:t> Stories. </a:t>
            </a:r>
            <a:endParaRPr lang="de-CH" dirty="0"/>
          </a:p>
          <a:p>
            <a:endParaRPr lang="en-US" dirty="0"/>
          </a:p>
          <a:p>
            <a:r>
              <a:rPr dirty="0"/>
              <a:t>In </a:t>
            </a:r>
            <a:r>
              <a:rPr dirty="0" err="1"/>
              <a:t>diesem</a:t>
            </a:r>
            <a:r>
              <a:rPr dirty="0"/>
              <a:t> </a:t>
            </a:r>
            <a:r>
              <a:rPr dirty="0" err="1"/>
              <a:t>Beispiel</a:t>
            </a:r>
            <a:r>
              <a:rPr dirty="0"/>
              <a:t> </a:t>
            </a:r>
            <a:r>
              <a:rPr dirty="0" err="1"/>
              <a:t>wurden</a:t>
            </a:r>
            <a:r>
              <a:rPr dirty="0"/>
              <a:t> 45 Stories </a:t>
            </a:r>
            <a:r>
              <a:rPr dirty="0" err="1"/>
              <a:t>nachträglich</a:t>
            </a:r>
            <a:r>
              <a:rPr dirty="0"/>
              <a:t> in den </a:t>
            </a:r>
            <a:r>
              <a:rPr dirty="0" err="1"/>
              <a:t>laufenden</a:t>
            </a:r>
            <a:r>
              <a:rPr dirty="0"/>
              <a:t> Sprint </a:t>
            </a:r>
            <a:r>
              <a:rPr dirty="0" err="1"/>
              <a:t>hineingenommen</a:t>
            </a:r>
            <a:r>
              <a:rPr dirty="0"/>
              <a:t>, das </a:t>
            </a:r>
            <a:r>
              <a:rPr dirty="0" err="1"/>
              <a:t>sehen</a:t>
            </a:r>
            <a:r>
              <a:rPr dirty="0"/>
              <a:t> Sie </a:t>
            </a:r>
            <a:r>
              <a:rPr dirty="0" err="1"/>
              <a:t>oben</a:t>
            </a:r>
            <a:r>
              <a:rPr dirty="0"/>
              <a:t> an der </a:t>
            </a:r>
            <a:r>
              <a:rPr dirty="0" err="1"/>
              <a:t>Kennzahl</a:t>
            </a:r>
            <a:r>
              <a:rPr dirty="0"/>
              <a:t> «Net Change plus 45». </a:t>
            </a:r>
            <a:endParaRPr lang="de-CH" dirty="0"/>
          </a:p>
          <a:p>
            <a:endParaRPr lang="en-US" dirty="0"/>
          </a:p>
          <a:p>
            <a:r>
              <a:rPr dirty="0"/>
              <a:t>Wie </a:t>
            </a:r>
            <a:r>
              <a:rPr dirty="0" err="1"/>
              <a:t>gesagt</a:t>
            </a:r>
            <a:r>
              <a:rPr dirty="0"/>
              <a:t>: </a:t>
            </a:r>
            <a:r>
              <a:rPr dirty="0" err="1"/>
              <a:t>Solche</a:t>
            </a:r>
            <a:r>
              <a:rPr dirty="0"/>
              <a:t> Scope-</a:t>
            </a:r>
            <a:r>
              <a:rPr dirty="0" err="1"/>
              <a:t>Änderungen</a:t>
            </a:r>
            <a:r>
              <a:rPr dirty="0"/>
              <a:t> </a:t>
            </a:r>
            <a:r>
              <a:rPr dirty="0" err="1"/>
              <a:t>sind</a:t>
            </a:r>
            <a:r>
              <a:rPr dirty="0"/>
              <a:t> in der Praxis </a:t>
            </a:r>
            <a:r>
              <a:rPr dirty="0" err="1"/>
              <a:t>einer</a:t>
            </a:r>
            <a:r>
              <a:rPr dirty="0"/>
              <a:t> der </a:t>
            </a:r>
            <a:r>
              <a:rPr dirty="0" err="1"/>
              <a:t>häufigsten</a:t>
            </a:r>
            <a:r>
              <a:rPr dirty="0"/>
              <a:t> </a:t>
            </a:r>
            <a:r>
              <a:rPr dirty="0" err="1"/>
              <a:t>Gründe</a:t>
            </a:r>
            <a:r>
              <a:rPr dirty="0"/>
              <a:t>, </a:t>
            </a:r>
            <a:r>
              <a:rPr dirty="0" err="1"/>
              <a:t>warum</a:t>
            </a:r>
            <a:r>
              <a:rPr dirty="0"/>
              <a:t> </a:t>
            </a:r>
            <a:r>
              <a:rPr dirty="0" err="1"/>
              <a:t>ein</a:t>
            </a:r>
            <a:r>
              <a:rPr dirty="0"/>
              <a:t> Sprint-Ziel am Ende nicht </a:t>
            </a:r>
            <a:r>
              <a:rPr dirty="0" err="1"/>
              <a:t>erreicht</a:t>
            </a:r>
            <a:r>
              <a:rPr dirty="0"/>
              <a:t> </a:t>
            </a:r>
            <a:r>
              <a:rPr dirty="0" err="1"/>
              <a:t>wird</a:t>
            </a:r>
            <a:r>
              <a:rPr dirty="0"/>
              <a:t>. </a:t>
            </a:r>
            <a:endParaRPr lang="de-CH" dirty="0"/>
          </a:p>
          <a:p>
            <a:endParaRPr lang="en-US" dirty="0"/>
          </a:p>
          <a:p>
            <a:r>
              <a:rPr dirty="0"/>
              <a:t>Bisher </a:t>
            </a:r>
            <a:r>
              <a:rPr dirty="0" err="1"/>
              <a:t>ist</a:t>
            </a:r>
            <a:r>
              <a:rPr dirty="0"/>
              <a:t> das oft </a:t>
            </a:r>
            <a:r>
              <a:rPr dirty="0" err="1"/>
              <a:t>untergegangen</a:t>
            </a:r>
            <a:r>
              <a:rPr dirty="0"/>
              <a:t>; </a:t>
            </a:r>
            <a:r>
              <a:rPr dirty="0" err="1"/>
              <a:t>hier</a:t>
            </a:r>
            <a:r>
              <a:rPr dirty="0"/>
              <a:t> </a:t>
            </a:r>
            <a:r>
              <a:rPr dirty="0" err="1"/>
              <a:t>wird</a:t>
            </a:r>
            <a:r>
              <a:rPr dirty="0"/>
              <a:t> es </a:t>
            </a:r>
            <a:r>
              <a:rPr dirty="0" err="1"/>
              <a:t>sichtbar</a:t>
            </a:r>
            <a:r>
              <a:rPr dirty="0"/>
              <a:t> und </a:t>
            </a:r>
            <a:r>
              <a:rPr dirty="0" err="1"/>
              <a:t>lässt</a:t>
            </a:r>
            <a:r>
              <a:rPr dirty="0"/>
              <a:t> </a:t>
            </a:r>
            <a:r>
              <a:rPr dirty="0" err="1"/>
              <a:t>sich</a:t>
            </a:r>
            <a:r>
              <a:rPr dirty="0"/>
              <a:t> in der </a:t>
            </a:r>
            <a:r>
              <a:rPr dirty="0" err="1"/>
              <a:t>Retrospektive</a:t>
            </a:r>
            <a:r>
              <a:rPr dirty="0"/>
              <a:t> </a:t>
            </a:r>
            <a:r>
              <a:rPr dirty="0" err="1"/>
              <a:t>gezielt</a:t>
            </a:r>
            <a:r>
              <a:rPr dirty="0"/>
              <a:t> </a:t>
            </a:r>
            <a:r>
              <a:rPr dirty="0" err="1"/>
              <a:t>ansprechen</a:t>
            </a:r>
            <a:r>
              <a:rPr dirty="0"/>
              <a:t>. Die </a:t>
            </a:r>
            <a:r>
              <a:rPr dirty="0" err="1"/>
              <a:t>einzelnen</a:t>
            </a:r>
            <a:r>
              <a:rPr dirty="0"/>
              <a:t> Story-Titel </a:t>
            </a:r>
            <a:r>
              <a:rPr dirty="0" err="1"/>
              <a:t>habe</a:t>
            </a:r>
            <a:r>
              <a:rPr dirty="0"/>
              <a:t> ich </a:t>
            </a:r>
            <a:r>
              <a:rPr dirty="0" err="1"/>
              <a:t>unkenntlich</a:t>
            </a:r>
            <a:r>
              <a:rPr dirty="0"/>
              <a:t> </a:t>
            </a:r>
            <a:r>
              <a:rPr dirty="0" err="1"/>
              <a:t>gemacht</a:t>
            </a:r>
            <a:r>
              <a:rPr dirty="0"/>
              <a:t>, </a:t>
            </a:r>
            <a:r>
              <a:rPr dirty="0" err="1"/>
              <a:t>weil</a:t>
            </a:r>
            <a:r>
              <a:rPr dirty="0"/>
              <a:t> </a:t>
            </a:r>
            <a:r>
              <a:rPr dirty="0" err="1"/>
              <a:t>sie</a:t>
            </a:r>
            <a:r>
              <a:rPr dirty="0"/>
              <a:t> </a:t>
            </a:r>
            <a:r>
              <a:rPr dirty="0" err="1"/>
              <a:t>Kundennamen</a:t>
            </a:r>
            <a:r>
              <a:rPr dirty="0"/>
              <a:t> </a:t>
            </a:r>
            <a:r>
              <a:rPr dirty="0" err="1"/>
              <a:t>enthalten</a:t>
            </a:r>
            <a:r>
              <a:rPr dirty="0"/>
              <a:t>.</a:t>
            </a:r>
          </a:p>
        </p:txBody>
      </p:sp>
      <p:sp>
        <p:nvSpPr>
          <p:cNvPr id="4" name="Slide Number Placeholder 3">
            <a:extLst>
              <a:ext uri="{FF2B5EF4-FFF2-40B4-BE49-F238E27FC236}">
                <a16:creationId xmlns:a16="http://schemas.microsoft.com/office/drawing/2014/main" id="{2EB0E79A-FFC7-326B-F90D-BC1FAF4CB18C}"/>
              </a:ext>
            </a:extLst>
          </p:cNvPr>
          <p:cNvSpPr>
            <a:spLocks noGrp="1"/>
          </p:cNvSpPr>
          <p:nvPr>
            <p:ph type="sldNum" sz="quarter" idx="5"/>
          </p:nvPr>
        </p:nvSpPr>
        <p:spPr/>
      </p:sp>
    </p:spTree>
    <p:extLst>
      <p:ext uri="{BB962C8B-B14F-4D97-AF65-F5344CB8AC3E}">
        <p14:creationId xmlns:p14="http://schemas.microsoft.com/office/powerpoint/2010/main" val="14418352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E9F53-C316-CE9E-DB5C-82AAE39B8C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D90286-7D57-E0A5-0E58-9E798E68430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A33A113-A2EE-11EA-2EE7-0D8FCD5BEB87}"/>
              </a:ext>
            </a:extLst>
          </p:cNvPr>
          <p:cNvSpPr>
            <a:spLocks noGrp="1"/>
          </p:cNvSpPr>
          <p:nvPr>
            <p:ph type="body" sz="quarter" idx="3"/>
          </p:nvPr>
        </p:nvSpPr>
        <p:spPr/>
        <p:txBody>
          <a:bodyPr/>
          <a:lstStyle/>
          <a:p>
            <a:r>
              <a:rPr dirty="0"/>
              <a:t>Team Performance </a:t>
            </a:r>
            <a:r>
              <a:rPr dirty="0" err="1"/>
              <a:t>zeigt</a:t>
            </a:r>
            <a:r>
              <a:rPr dirty="0"/>
              <a:t> die Velocity pro </a:t>
            </a:r>
            <a:r>
              <a:rPr dirty="0" err="1"/>
              <a:t>Teammitglied</a:t>
            </a:r>
            <a:r>
              <a:rPr dirty="0"/>
              <a:t> </a:t>
            </a:r>
            <a:r>
              <a:rPr dirty="0" err="1"/>
              <a:t>als</a:t>
            </a:r>
            <a:r>
              <a:rPr dirty="0"/>
              <a:t> </a:t>
            </a:r>
            <a:r>
              <a:rPr dirty="0" err="1"/>
              <a:t>Balkendiagramm</a:t>
            </a:r>
            <a:r>
              <a:rPr dirty="0"/>
              <a:t>, </a:t>
            </a:r>
            <a:r>
              <a:rPr dirty="0" err="1"/>
              <a:t>ergänzt</a:t>
            </a:r>
            <a:r>
              <a:rPr dirty="0"/>
              <a:t> um die Completion Rate. </a:t>
            </a:r>
            <a:endParaRPr lang="de-CH" dirty="0"/>
          </a:p>
          <a:p>
            <a:endParaRPr lang="en-US" dirty="0"/>
          </a:p>
          <a:p>
            <a:r>
              <a:rPr dirty="0"/>
              <a:t>Ich </a:t>
            </a:r>
            <a:r>
              <a:rPr dirty="0" err="1"/>
              <a:t>betone</a:t>
            </a:r>
            <a:r>
              <a:rPr dirty="0"/>
              <a:t> es </a:t>
            </a:r>
            <a:r>
              <a:rPr dirty="0" err="1"/>
              <a:t>noch</a:t>
            </a:r>
            <a:r>
              <a:rPr dirty="0"/>
              <a:t> </a:t>
            </a:r>
            <a:r>
              <a:rPr dirty="0" err="1"/>
              <a:t>einmal</a:t>
            </a:r>
            <a:r>
              <a:rPr dirty="0"/>
              <a:t>, </a:t>
            </a:r>
            <a:r>
              <a:rPr dirty="0" err="1"/>
              <a:t>weil</a:t>
            </a:r>
            <a:r>
              <a:rPr dirty="0"/>
              <a:t> es mir </a:t>
            </a:r>
            <a:r>
              <a:rPr dirty="0" err="1"/>
              <a:t>wichtig</a:t>
            </a:r>
            <a:r>
              <a:rPr dirty="0"/>
              <a:t> </a:t>
            </a:r>
            <a:r>
              <a:rPr dirty="0" err="1"/>
              <a:t>ist</a:t>
            </a:r>
            <a:r>
              <a:rPr dirty="0"/>
              <a:t>: </a:t>
            </a:r>
            <a:r>
              <a:rPr dirty="0" err="1"/>
              <a:t>Diese</a:t>
            </a:r>
            <a:r>
              <a:rPr dirty="0"/>
              <a:t> </a:t>
            </a:r>
            <a:r>
              <a:rPr dirty="0" err="1"/>
              <a:t>Ansicht</a:t>
            </a:r>
            <a:r>
              <a:rPr dirty="0"/>
              <a:t> </a:t>
            </a:r>
            <a:r>
              <a:rPr dirty="0" err="1"/>
              <a:t>ist</a:t>
            </a:r>
            <a:r>
              <a:rPr dirty="0"/>
              <a:t> </a:t>
            </a:r>
            <a:r>
              <a:rPr dirty="0" err="1"/>
              <a:t>bewusst</a:t>
            </a:r>
            <a:r>
              <a:rPr dirty="0"/>
              <a:t> nicht </a:t>
            </a:r>
            <a:r>
              <a:rPr dirty="0" err="1"/>
              <a:t>als</a:t>
            </a:r>
            <a:r>
              <a:rPr dirty="0"/>
              <a:t> Ranking </a:t>
            </a:r>
            <a:r>
              <a:rPr dirty="0" err="1"/>
              <a:t>oder</a:t>
            </a:r>
            <a:r>
              <a:rPr dirty="0"/>
              <a:t> </a:t>
            </a:r>
            <a:r>
              <a:rPr dirty="0" err="1"/>
              <a:t>zur</a:t>
            </a:r>
            <a:r>
              <a:rPr dirty="0"/>
              <a:t> </a:t>
            </a:r>
            <a:r>
              <a:rPr dirty="0" err="1"/>
              <a:t>Leistungsbeurteilung</a:t>
            </a:r>
            <a:r>
              <a:rPr dirty="0"/>
              <a:t> </a:t>
            </a:r>
            <a:r>
              <a:rPr dirty="0" err="1"/>
              <a:t>gedacht</a:t>
            </a:r>
            <a:r>
              <a:rPr dirty="0"/>
              <a:t>. </a:t>
            </a:r>
            <a:endParaRPr lang="de-CH" dirty="0"/>
          </a:p>
          <a:p>
            <a:r>
              <a:rPr dirty="0"/>
              <a:t>Der Zweck </a:t>
            </a:r>
            <a:r>
              <a:rPr dirty="0" err="1"/>
              <a:t>ist</a:t>
            </a:r>
            <a:r>
              <a:rPr dirty="0"/>
              <a:t>, </a:t>
            </a:r>
            <a:r>
              <a:rPr dirty="0" err="1"/>
              <a:t>zu</a:t>
            </a:r>
            <a:r>
              <a:rPr dirty="0"/>
              <a:t> </a:t>
            </a:r>
            <a:r>
              <a:rPr dirty="0" err="1"/>
              <a:t>erkennen</a:t>
            </a:r>
            <a:r>
              <a:rPr dirty="0"/>
              <a:t>, </a:t>
            </a:r>
            <a:r>
              <a:rPr dirty="0" err="1"/>
              <a:t>ob</a:t>
            </a:r>
            <a:r>
              <a:rPr dirty="0"/>
              <a:t> die Arbeit </a:t>
            </a:r>
            <a:r>
              <a:rPr dirty="0" err="1"/>
              <a:t>im</a:t>
            </a:r>
            <a:r>
              <a:rPr dirty="0"/>
              <a:t> Team </a:t>
            </a:r>
            <a:r>
              <a:rPr dirty="0" err="1"/>
              <a:t>gleichmässig</a:t>
            </a:r>
            <a:r>
              <a:rPr dirty="0"/>
              <a:t> </a:t>
            </a:r>
            <a:r>
              <a:rPr dirty="0" err="1"/>
              <a:t>verteilt</a:t>
            </a:r>
            <a:r>
              <a:rPr dirty="0"/>
              <a:t> </a:t>
            </a:r>
            <a:r>
              <a:rPr dirty="0" err="1"/>
              <a:t>ist</a:t>
            </a:r>
            <a:r>
              <a:rPr dirty="0"/>
              <a:t>, </a:t>
            </a:r>
            <a:r>
              <a:rPr dirty="0" err="1"/>
              <a:t>oder</a:t>
            </a:r>
            <a:r>
              <a:rPr dirty="0"/>
              <a:t> </a:t>
            </a:r>
            <a:r>
              <a:rPr dirty="0" err="1"/>
              <a:t>ob</a:t>
            </a:r>
            <a:r>
              <a:rPr dirty="0"/>
              <a:t> </a:t>
            </a:r>
            <a:r>
              <a:rPr dirty="0" err="1"/>
              <a:t>einzelne</a:t>
            </a:r>
            <a:r>
              <a:rPr dirty="0"/>
              <a:t> </a:t>
            </a:r>
            <a:r>
              <a:rPr dirty="0" err="1"/>
              <a:t>Personen</a:t>
            </a:r>
            <a:r>
              <a:rPr dirty="0"/>
              <a:t> </a:t>
            </a:r>
            <a:r>
              <a:rPr dirty="0" err="1"/>
              <a:t>strukturell</a:t>
            </a:r>
            <a:r>
              <a:rPr dirty="0"/>
              <a:t> </a:t>
            </a:r>
            <a:r>
              <a:rPr dirty="0" err="1"/>
              <a:t>überlastet</a:t>
            </a:r>
            <a:r>
              <a:rPr dirty="0"/>
              <a:t> </a:t>
            </a:r>
            <a:r>
              <a:rPr dirty="0" err="1"/>
              <a:t>sind</a:t>
            </a:r>
            <a:r>
              <a:rPr dirty="0"/>
              <a:t>. </a:t>
            </a:r>
            <a:endParaRPr lang="de-CH" dirty="0"/>
          </a:p>
          <a:p>
            <a:r>
              <a:rPr dirty="0"/>
              <a:t>Die Namen </a:t>
            </a:r>
            <a:r>
              <a:rPr dirty="0" err="1"/>
              <a:t>sind</a:t>
            </a:r>
            <a:r>
              <a:rPr dirty="0"/>
              <a:t> </a:t>
            </a:r>
            <a:r>
              <a:rPr dirty="0" err="1"/>
              <a:t>anonymisiert</a:t>
            </a:r>
            <a:r>
              <a:rPr dirty="0"/>
              <a:t>, die Zahlen </a:t>
            </a:r>
            <a:r>
              <a:rPr dirty="0" err="1"/>
              <a:t>dahinter</a:t>
            </a:r>
            <a:r>
              <a:rPr dirty="0"/>
              <a:t> </a:t>
            </a:r>
            <a:r>
              <a:rPr dirty="0" err="1"/>
              <a:t>sind</a:t>
            </a:r>
            <a:r>
              <a:rPr dirty="0"/>
              <a:t> </a:t>
            </a:r>
            <a:r>
              <a:rPr dirty="0" err="1"/>
              <a:t>echt</a:t>
            </a:r>
            <a:r>
              <a:rPr dirty="0"/>
              <a:t>.</a:t>
            </a:r>
          </a:p>
        </p:txBody>
      </p:sp>
      <p:sp>
        <p:nvSpPr>
          <p:cNvPr id="4" name="Slide Number Placeholder 3">
            <a:extLst>
              <a:ext uri="{FF2B5EF4-FFF2-40B4-BE49-F238E27FC236}">
                <a16:creationId xmlns:a16="http://schemas.microsoft.com/office/drawing/2014/main" id="{77FA2E1B-C83A-BCFD-09F6-544180836EAB}"/>
              </a:ext>
            </a:extLst>
          </p:cNvPr>
          <p:cNvSpPr>
            <a:spLocks noGrp="1"/>
          </p:cNvSpPr>
          <p:nvPr>
            <p:ph type="sldNum" sz="quarter" idx="5"/>
          </p:nvPr>
        </p:nvSpPr>
        <p:spPr/>
      </p:sp>
    </p:spTree>
    <p:extLst>
      <p:ext uri="{BB962C8B-B14F-4D97-AF65-F5344CB8AC3E}">
        <p14:creationId xmlns:p14="http://schemas.microsoft.com/office/powerpoint/2010/main" val="5504261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BE266-5007-DA6C-ADA8-22FDD9560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301A9-2B90-8991-87F8-933DB8C8A08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2278AB9-2563-0778-ED22-1497E9CB57F1}"/>
              </a:ext>
            </a:extLst>
          </p:cNvPr>
          <p:cNvSpPr>
            <a:spLocks noGrp="1"/>
          </p:cNvSpPr>
          <p:nvPr>
            <p:ph type="body" sz="quarter" idx="3"/>
          </p:nvPr>
        </p:nvSpPr>
        <p:spPr/>
        <p:txBody>
          <a:bodyPr/>
          <a:lstStyle/>
          <a:p>
            <a:r>
              <a:rPr dirty="0"/>
              <a:t>Die Sprint History </a:t>
            </a:r>
            <a:r>
              <a:rPr dirty="0" err="1"/>
              <a:t>zeigt</a:t>
            </a:r>
            <a:r>
              <a:rPr dirty="0"/>
              <a:t> die Velocity </a:t>
            </a:r>
            <a:r>
              <a:rPr dirty="0" err="1"/>
              <a:t>über</a:t>
            </a:r>
            <a:r>
              <a:rPr dirty="0"/>
              <a:t> alle </a:t>
            </a:r>
            <a:r>
              <a:rPr dirty="0" err="1"/>
              <a:t>abgeschlossenen</a:t>
            </a:r>
            <a:r>
              <a:rPr dirty="0"/>
              <a:t> Sprints </a:t>
            </a:r>
            <a:r>
              <a:rPr dirty="0" err="1"/>
              <a:t>hinweg</a:t>
            </a:r>
            <a:r>
              <a:rPr lang="de-CH" dirty="0"/>
              <a:t> </a:t>
            </a:r>
          </a:p>
          <a:p>
            <a:r>
              <a:rPr dirty="0" err="1"/>
              <a:t>hier</a:t>
            </a:r>
            <a:r>
              <a:rPr dirty="0"/>
              <a:t> </a:t>
            </a:r>
            <a:r>
              <a:rPr dirty="0" err="1"/>
              <a:t>mit</a:t>
            </a:r>
            <a:r>
              <a:rPr dirty="0"/>
              <a:t> </a:t>
            </a:r>
            <a:r>
              <a:rPr dirty="0" err="1"/>
              <a:t>einem</a:t>
            </a:r>
            <a:r>
              <a:rPr dirty="0"/>
              <a:t> </a:t>
            </a:r>
            <a:r>
              <a:rPr dirty="0" err="1"/>
              <a:t>Durchschnitt</a:t>
            </a:r>
            <a:r>
              <a:rPr dirty="0"/>
              <a:t> von </a:t>
            </a:r>
            <a:r>
              <a:rPr dirty="0" err="1"/>
              <a:t>rund</a:t>
            </a:r>
            <a:r>
              <a:rPr dirty="0"/>
              <a:t> </a:t>
            </a:r>
            <a:r>
              <a:rPr dirty="0" err="1"/>
              <a:t>zwanzig</a:t>
            </a:r>
            <a:r>
              <a:rPr dirty="0"/>
              <a:t> </a:t>
            </a:r>
            <a:r>
              <a:rPr dirty="0" err="1"/>
              <a:t>Punkten</a:t>
            </a:r>
            <a:endParaRPr lang="de-CH" dirty="0"/>
          </a:p>
          <a:p>
            <a:endParaRPr lang="en-US" dirty="0"/>
          </a:p>
          <a:p>
            <a:r>
              <a:rPr dirty="0"/>
              <a:t>Das mag </a:t>
            </a:r>
            <a:r>
              <a:rPr dirty="0" err="1"/>
              <a:t>unspektakulär</a:t>
            </a:r>
            <a:r>
              <a:rPr dirty="0"/>
              <a:t> </a:t>
            </a:r>
            <a:r>
              <a:rPr dirty="0" err="1"/>
              <a:t>aussehen</a:t>
            </a:r>
            <a:r>
              <a:rPr dirty="0"/>
              <a:t>, </a:t>
            </a:r>
            <a:r>
              <a:rPr dirty="0" err="1"/>
              <a:t>ist</a:t>
            </a:r>
            <a:r>
              <a:rPr dirty="0"/>
              <a:t> </a:t>
            </a:r>
            <a:r>
              <a:rPr dirty="0" err="1"/>
              <a:t>aber</a:t>
            </a:r>
            <a:r>
              <a:rPr dirty="0"/>
              <a:t> </a:t>
            </a:r>
            <a:r>
              <a:rPr dirty="0" err="1"/>
              <a:t>ein</a:t>
            </a:r>
            <a:r>
              <a:rPr dirty="0"/>
              <a:t> </a:t>
            </a:r>
            <a:r>
              <a:rPr dirty="0" err="1"/>
              <a:t>Kernstück</a:t>
            </a:r>
            <a:r>
              <a:rPr dirty="0"/>
              <a:t>: </a:t>
            </a:r>
            <a:endParaRPr lang="de-CH" dirty="0"/>
          </a:p>
          <a:p>
            <a:r>
              <a:rPr dirty="0" err="1"/>
              <a:t>Diese</a:t>
            </a:r>
            <a:r>
              <a:rPr dirty="0"/>
              <a:t> </a:t>
            </a:r>
            <a:r>
              <a:rPr dirty="0" err="1"/>
              <a:t>aufbereitete</a:t>
            </a:r>
            <a:r>
              <a:rPr dirty="0"/>
              <a:t> </a:t>
            </a:r>
            <a:r>
              <a:rPr dirty="0" err="1"/>
              <a:t>historische</a:t>
            </a:r>
            <a:r>
              <a:rPr dirty="0"/>
              <a:t> </a:t>
            </a:r>
            <a:r>
              <a:rPr dirty="0" err="1"/>
              <a:t>Datenreihe</a:t>
            </a:r>
            <a:r>
              <a:rPr dirty="0"/>
              <a:t> gab es </a:t>
            </a:r>
            <a:r>
              <a:rPr dirty="0" err="1"/>
              <a:t>vorher</a:t>
            </a:r>
            <a:r>
              <a:rPr dirty="0"/>
              <a:t> </a:t>
            </a:r>
            <a:r>
              <a:rPr dirty="0" err="1"/>
              <a:t>schlicht</a:t>
            </a:r>
            <a:r>
              <a:rPr dirty="0"/>
              <a:t> nicht, </a:t>
            </a:r>
            <a:r>
              <a:rPr dirty="0" err="1"/>
              <a:t>sie</a:t>
            </a:r>
            <a:r>
              <a:rPr dirty="0"/>
              <a:t> lag </a:t>
            </a:r>
            <a:r>
              <a:rPr dirty="0" err="1"/>
              <a:t>höchstens</a:t>
            </a:r>
            <a:r>
              <a:rPr dirty="0"/>
              <a:t> </a:t>
            </a:r>
            <a:r>
              <a:rPr dirty="0" err="1"/>
              <a:t>verstreut</a:t>
            </a:r>
            <a:r>
              <a:rPr dirty="0"/>
              <a:t> in </a:t>
            </a:r>
            <a:r>
              <a:rPr dirty="0" err="1"/>
              <a:t>alten</a:t>
            </a:r>
            <a:r>
              <a:rPr dirty="0"/>
              <a:t> Excel-</a:t>
            </a:r>
            <a:r>
              <a:rPr dirty="0" err="1"/>
              <a:t>Dateien</a:t>
            </a:r>
            <a:r>
              <a:rPr dirty="0"/>
              <a:t>. </a:t>
            </a:r>
            <a:endParaRPr lang="de-CH" dirty="0"/>
          </a:p>
          <a:p>
            <a:endParaRPr lang="en-US" dirty="0"/>
          </a:p>
          <a:p>
            <a:r>
              <a:rPr dirty="0"/>
              <a:t>Auf </a:t>
            </a:r>
            <a:r>
              <a:rPr dirty="0" err="1"/>
              <a:t>genau</a:t>
            </a:r>
            <a:r>
              <a:rPr dirty="0"/>
              <a:t> </a:t>
            </a:r>
            <a:r>
              <a:rPr dirty="0" err="1"/>
              <a:t>dieser</a:t>
            </a:r>
            <a:r>
              <a:rPr dirty="0"/>
              <a:t> Basis </a:t>
            </a:r>
            <a:r>
              <a:rPr dirty="0" err="1"/>
              <a:t>rechnen</a:t>
            </a:r>
            <a:r>
              <a:rPr dirty="0"/>
              <a:t> die Story-Point-</a:t>
            </a:r>
            <a:r>
              <a:rPr dirty="0" err="1"/>
              <a:t>Empfehlung</a:t>
            </a:r>
            <a:r>
              <a:rPr dirty="0"/>
              <a:t> und der Forecast. </a:t>
            </a:r>
            <a:r>
              <a:rPr dirty="0" err="1"/>
              <a:t>Ohne</a:t>
            </a:r>
            <a:r>
              <a:rPr dirty="0"/>
              <a:t> </a:t>
            </a:r>
            <a:r>
              <a:rPr dirty="0" err="1"/>
              <a:t>diese</a:t>
            </a:r>
            <a:r>
              <a:rPr dirty="0"/>
              <a:t> </a:t>
            </a:r>
            <a:r>
              <a:rPr dirty="0" err="1"/>
              <a:t>Historie</a:t>
            </a:r>
            <a:r>
              <a:rPr dirty="0"/>
              <a:t> </a:t>
            </a:r>
            <a:r>
              <a:rPr dirty="0" err="1"/>
              <a:t>wäre</a:t>
            </a:r>
            <a:r>
              <a:rPr dirty="0"/>
              <a:t> </a:t>
            </a:r>
            <a:r>
              <a:rPr dirty="0" err="1"/>
              <a:t>alles</a:t>
            </a:r>
            <a:r>
              <a:rPr dirty="0"/>
              <a:t> </a:t>
            </a:r>
            <a:r>
              <a:rPr dirty="0" err="1"/>
              <a:t>andere</a:t>
            </a:r>
            <a:r>
              <a:rPr dirty="0"/>
              <a:t> </a:t>
            </a:r>
            <a:r>
              <a:rPr dirty="0" err="1"/>
              <a:t>nur</a:t>
            </a:r>
            <a:r>
              <a:rPr dirty="0"/>
              <a:t> </a:t>
            </a:r>
            <a:r>
              <a:rPr dirty="0" err="1"/>
              <a:t>geschätzt</a:t>
            </a:r>
            <a:r>
              <a:rPr dirty="0"/>
              <a:t>.</a:t>
            </a:r>
          </a:p>
        </p:txBody>
      </p:sp>
      <p:sp>
        <p:nvSpPr>
          <p:cNvPr id="4" name="Slide Number Placeholder 3">
            <a:extLst>
              <a:ext uri="{FF2B5EF4-FFF2-40B4-BE49-F238E27FC236}">
                <a16:creationId xmlns:a16="http://schemas.microsoft.com/office/drawing/2014/main" id="{811612DA-A2FC-C6AF-242B-D3618832C421}"/>
              </a:ext>
            </a:extLst>
          </p:cNvPr>
          <p:cNvSpPr>
            <a:spLocks noGrp="1"/>
          </p:cNvSpPr>
          <p:nvPr>
            <p:ph type="sldNum" sz="quarter" idx="5"/>
          </p:nvPr>
        </p:nvSpPr>
        <p:spPr/>
      </p:sp>
    </p:spTree>
    <p:extLst>
      <p:ext uri="{BB962C8B-B14F-4D97-AF65-F5344CB8AC3E}">
        <p14:creationId xmlns:p14="http://schemas.microsoft.com/office/powerpoint/2010/main" val="29754214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A40D7-2B10-00B8-BE60-461A14BA5F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D46D34-A7EF-606D-CB27-45194E80BDC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7B70AF0-842F-8B4E-199E-CD8710B2388F}"/>
              </a:ext>
            </a:extLst>
          </p:cNvPr>
          <p:cNvSpPr>
            <a:spLocks noGrp="1"/>
          </p:cNvSpPr>
          <p:nvPr>
            <p:ph type="body" sz="quarter" idx="3"/>
          </p:nvPr>
        </p:nvSpPr>
        <p:spPr/>
        <p:txBody>
          <a:bodyPr/>
          <a:lstStyle/>
          <a:p>
            <a:r>
              <a:rPr dirty="0"/>
              <a:t>Das </a:t>
            </a:r>
            <a:r>
              <a:rPr dirty="0" err="1"/>
              <a:t>ist</a:t>
            </a:r>
            <a:r>
              <a:rPr dirty="0"/>
              <a:t> die </a:t>
            </a:r>
            <a:r>
              <a:rPr dirty="0" err="1"/>
              <a:t>Kapazitätsplanung</a:t>
            </a:r>
            <a:r>
              <a:rPr dirty="0"/>
              <a:t> in Aktion –</a:t>
            </a:r>
            <a:endParaRPr lang="de-CH" dirty="0"/>
          </a:p>
          <a:p>
            <a:endParaRPr lang="en-US" dirty="0"/>
          </a:p>
          <a:p>
            <a:r>
              <a:rPr dirty="0"/>
              <a:t>das </a:t>
            </a:r>
            <a:r>
              <a:rPr dirty="0" err="1"/>
              <a:t>Herzstück</a:t>
            </a:r>
            <a:r>
              <a:rPr dirty="0"/>
              <a:t>, </a:t>
            </a:r>
            <a:r>
              <a:rPr dirty="0" err="1"/>
              <a:t>jetzt</a:t>
            </a:r>
            <a:r>
              <a:rPr dirty="0"/>
              <a:t> </a:t>
            </a:r>
            <a:r>
              <a:rPr dirty="0" err="1"/>
              <a:t>mit</a:t>
            </a:r>
            <a:r>
              <a:rPr dirty="0"/>
              <a:t> </a:t>
            </a:r>
            <a:r>
              <a:rPr dirty="0" err="1"/>
              <a:t>echten</a:t>
            </a:r>
            <a:r>
              <a:rPr dirty="0"/>
              <a:t> </a:t>
            </a:r>
            <a:r>
              <a:rPr dirty="0" err="1"/>
              <a:t>Daten</a:t>
            </a:r>
            <a:r>
              <a:rPr dirty="0"/>
              <a:t>. </a:t>
            </a:r>
            <a:endParaRPr lang="de-CH" dirty="0"/>
          </a:p>
          <a:p>
            <a:r>
              <a:rPr dirty="0"/>
              <a:t>Oben die </a:t>
            </a:r>
            <a:r>
              <a:rPr dirty="0" err="1"/>
              <a:t>aggregierten</a:t>
            </a:r>
            <a:r>
              <a:rPr dirty="0"/>
              <a:t> Zahlen: </a:t>
            </a:r>
            <a:r>
              <a:rPr dirty="0" err="1"/>
              <a:t>Gesamtkapazität</a:t>
            </a:r>
            <a:r>
              <a:rPr dirty="0"/>
              <a:t>, </a:t>
            </a:r>
            <a:r>
              <a:rPr dirty="0" err="1"/>
              <a:t>Anzahl</a:t>
            </a:r>
            <a:r>
              <a:rPr dirty="0"/>
              <a:t> </a:t>
            </a:r>
            <a:r>
              <a:rPr dirty="0" err="1"/>
              <a:t>aktive</a:t>
            </a:r>
            <a:r>
              <a:rPr dirty="0"/>
              <a:t> </a:t>
            </a:r>
            <a:r>
              <a:rPr dirty="0" err="1"/>
              <a:t>Mitglieder</a:t>
            </a:r>
            <a:r>
              <a:rPr dirty="0"/>
              <a:t>, </a:t>
            </a:r>
            <a:r>
              <a:rPr dirty="0" err="1"/>
              <a:t>Durchschnitt</a:t>
            </a:r>
            <a:r>
              <a:rPr dirty="0"/>
              <a:t> pro Person und Sprint-Dauer. </a:t>
            </a:r>
            <a:endParaRPr lang="de-CH" dirty="0"/>
          </a:p>
          <a:p>
            <a:endParaRPr lang="en-US" dirty="0"/>
          </a:p>
          <a:p>
            <a:r>
              <a:rPr dirty="0"/>
              <a:t>In der Mitte, </a:t>
            </a:r>
            <a:r>
              <a:rPr dirty="0" err="1"/>
              <a:t>hervorgehoben</a:t>
            </a:r>
            <a:r>
              <a:rPr dirty="0"/>
              <a:t>, die </a:t>
            </a:r>
            <a:r>
              <a:rPr dirty="0" err="1"/>
              <a:t>konkrete</a:t>
            </a:r>
            <a:r>
              <a:rPr dirty="0"/>
              <a:t> </a:t>
            </a:r>
            <a:r>
              <a:rPr dirty="0" err="1"/>
              <a:t>Empfehlung</a:t>
            </a:r>
            <a:r>
              <a:rPr dirty="0"/>
              <a:t>: </a:t>
            </a:r>
            <a:r>
              <a:rPr dirty="0" err="1"/>
              <a:t>neunzehn</a:t>
            </a:r>
            <a:r>
              <a:rPr dirty="0"/>
              <a:t> Story Points. </a:t>
            </a:r>
            <a:endParaRPr lang="de-CH" dirty="0"/>
          </a:p>
          <a:p>
            <a:endParaRPr lang="en-US" dirty="0"/>
          </a:p>
          <a:p>
            <a:r>
              <a:rPr dirty="0"/>
              <a:t>Und Sie </a:t>
            </a:r>
            <a:r>
              <a:rPr dirty="0" err="1"/>
              <a:t>sehen</a:t>
            </a:r>
            <a:r>
              <a:rPr dirty="0"/>
              <a:t> </a:t>
            </a:r>
            <a:r>
              <a:rPr dirty="0" err="1"/>
              <a:t>direkt</a:t>
            </a:r>
            <a:r>
              <a:rPr dirty="0"/>
              <a:t> </a:t>
            </a:r>
            <a:r>
              <a:rPr dirty="0" err="1"/>
              <a:t>darunter</a:t>
            </a:r>
            <a:r>
              <a:rPr dirty="0"/>
              <a:t> die </a:t>
            </a:r>
            <a:r>
              <a:rPr dirty="0" err="1"/>
              <a:t>Herleitung</a:t>
            </a:r>
            <a:r>
              <a:rPr dirty="0"/>
              <a:t> – </a:t>
            </a:r>
            <a:r>
              <a:rPr dirty="0" err="1"/>
              <a:t>durchschnittliche</a:t>
            </a:r>
            <a:r>
              <a:rPr dirty="0"/>
              <a:t> Velocity mal </a:t>
            </a:r>
            <a:r>
              <a:rPr dirty="0" err="1"/>
              <a:t>Kapazitätsfaktor</a:t>
            </a:r>
            <a:r>
              <a:rPr dirty="0"/>
              <a:t> 0.92, </a:t>
            </a:r>
            <a:r>
              <a:rPr dirty="0" err="1"/>
              <a:t>mit</a:t>
            </a:r>
            <a:r>
              <a:rPr dirty="0"/>
              <a:t> der </a:t>
            </a:r>
            <a:r>
              <a:rPr dirty="0" err="1"/>
              <a:t>aktuellen</a:t>
            </a:r>
            <a:r>
              <a:rPr dirty="0"/>
              <a:t> und der </a:t>
            </a:r>
            <a:r>
              <a:rPr dirty="0" err="1"/>
              <a:t>historischen</a:t>
            </a:r>
            <a:r>
              <a:rPr dirty="0"/>
              <a:t> </a:t>
            </a:r>
            <a:r>
              <a:rPr dirty="0" err="1"/>
              <a:t>Kapazität</a:t>
            </a:r>
            <a:r>
              <a:rPr dirty="0"/>
              <a:t> </a:t>
            </a:r>
            <a:r>
              <a:rPr dirty="0" err="1"/>
              <a:t>daneben</a:t>
            </a:r>
            <a:r>
              <a:rPr dirty="0"/>
              <a:t>. </a:t>
            </a:r>
            <a:endParaRPr lang="de-CH" dirty="0"/>
          </a:p>
          <a:p>
            <a:endParaRPr lang="en-US" dirty="0"/>
          </a:p>
          <a:p>
            <a:r>
              <a:rPr dirty="0"/>
              <a:t>Es </a:t>
            </a:r>
            <a:r>
              <a:rPr dirty="0" err="1"/>
              <a:t>bleibt</a:t>
            </a:r>
            <a:r>
              <a:rPr dirty="0"/>
              <a:t> also </a:t>
            </a:r>
            <a:r>
              <a:rPr dirty="0" err="1"/>
              <a:t>nachvollziehbar</a:t>
            </a:r>
            <a:r>
              <a:rPr dirty="0"/>
              <a:t>, </a:t>
            </a:r>
            <a:r>
              <a:rPr dirty="0" err="1"/>
              <a:t>wie</a:t>
            </a:r>
            <a:r>
              <a:rPr dirty="0"/>
              <a:t> die Zahl </a:t>
            </a:r>
            <a:r>
              <a:rPr dirty="0" err="1"/>
              <a:t>zustande</a:t>
            </a:r>
            <a:r>
              <a:rPr dirty="0"/>
              <a:t> </a:t>
            </a:r>
            <a:r>
              <a:rPr dirty="0" err="1"/>
              <a:t>kommt</a:t>
            </a:r>
            <a:r>
              <a:rPr dirty="0"/>
              <a:t>, es </a:t>
            </a:r>
            <a:r>
              <a:rPr dirty="0" err="1"/>
              <a:t>ist</a:t>
            </a:r>
            <a:r>
              <a:rPr dirty="0"/>
              <a:t> </a:t>
            </a:r>
            <a:r>
              <a:rPr dirty="0" err="1"/>
              <a:t>keine</a:t>
            </a:r>
            <a:r>
              <a:rPr dirty="0"/>
              <a:t> Blackbox. </a:t>
            </a:r>
            <a:endParaRPr lang="de-CH" dirty="0"/>
          </a:p>
          <a:p>
            <a:r>
              <a:rPr dirty="0" err="1"/>
              <a:t>Darunter</a:t>
            </a:r>
            <a:r>
              <a:rPr dirty="0"/>
              <a:t> die </a:t>
            </a:r>
            <a:r>
              <a:rPr dirty="0" err="1"/>
              <a:t>Aufteilung</a:t>
            </a:r>
            <a:r>
              <a:rPr dirty="0"/>
              <a:t> </a:t>
            </a:r>
            <a:r>
              <a:rPr dirty="0" err="1"/>
              <a:t>nach</a:t>
            </a:r>
            <a:r>
              <a:rPr dirty="0"/>
              <a:t> den vier </a:t>
            </a:r>
            <a:r>
              <a:rPr dirty="0" err="1"/>
              <a:t>Kategorien</a:t>
            </a:r>
            <a:r>
              <a:rPr dirty="0"/>
              <a:t>, und </a:t>
            </a:r>
            <a:r>
              <a:rPr dirty="0" err="1"/>
              <a:t>ganz</a:t>
            </a:r>
            <a:r>
              <a:rPr dirty="0"/>
              <a:t> </a:t>
            </a:r>
            <a:r>
              <a:rPr dirty="0" err="1"/>
              <a:t>unten</a:t>
            </a:r>
            <a:r>
              <a:rPr dirty="0"/>
              <a:t> die </a:t>
            </a:r>
            <a:r>
              <a:rPr dirty="0" err="1"/>
              <a:t>individuellen</a:t>
            </a:r>
            <a:r>
              <a:rPr dirty="0"/>
              <a:t> </a:t>
            </a:r>
            <a:r>
              <a:rPr dirty="0" err="1"/>
              <a:t>Wochenpläne</a:t>
            </a:r>
            <a:r>
              <a:rPr dirty="0"/>
              <a:t> pro Person – </a:t>
            </a:r>
            <a:endParaRPr lang="de-CH" dirty="0"/>
          </a:p>
          <a:p>
            <a:endParaRPr lang="en-US" dirty="0"/>
          </a:p>
          <a:p>
            <a:r>
              <a:rPr dirty="0"/>
              <a:t>die Namen </a:t>
            </a:r>
            <a:r>
              <a:rPr dirty="0" err="1"/>
              <a:t>sind</a:t>
            </a:r>
            <a:r>
              <a:rPr dirty="0"/>
              <a:t> </a:t>
            </a:r>
            <a:r>
              <a:rPr dirty="0" err="1"/>
              <a:t>ausgeblendet</a:t>
            </a:r>
            <a:r>
              <a:rPr dirty="0"/>
              <a:t>, das </a:t>
            </a:r>
            <a:r>
              <a:rPr dirty="0" err="1"/>
              <a:t>Stundenraster</a:t>
            </a:r>
            <a:r>
              <a:rPr dirty="0"/>
              <a:t> </a:t>
            </a:r>
            <a:r>
              <a:rPr dirty="0" err="1"/>
              <a:t>mit</a:t>
            </a:r>
            <a:r>
              <a:rPr dirty="0"/>
              <a:t> den </a:t>
            </a:r>
            <a:r>
              <a:rPr dirty="0" err="1"/>
              <a:t>Kategorien</a:t>
            </a:r>
            <a:r>
              <a:rPr dirty="0"/>
              <a:t> pro </a:t>
            </a:r>
            <a:r>
              <a:rPr dirty="0" err="1"/>
              <a:t>Woche</a:t>
            </a:r>
            <a:r>
              <a:rPr dirty="0"/>
              <a:t> </a:t>
            </a:r>
            <a:r>
              <a:rPr dirty="0" err="1"/>
              <a:t>sehen</a:t>
            </a:r>
            <a:r>
              <a:rPr dirty="0"/>
              <a:t> Sie. Das </a:t>
            </a:r>
            <a:r>
              <a:rPr dirty="0" err="1"/>
              <a:t>ist</a:t>
            </a:r>
            <a:r>
              <a:rPr dirty="0"/>
              <a:t> der </a:t>
            </a:r>
            <a:r>
              <a:rPr dirty="0" err="1"/>
              <a:t>Punkt</a:t>
            </a:r>
            <a:r>
              <a:rPr dirty="0"/>
              <a:t>, an dem </a:t>
            </a:r>
            <a:r>
              <a:rPr dirty="0" err="1"/>
              <a:t>alles</a:t>
            </a:r>
            <a:r>
              <a:rPr dirty="0"/>
              <a:t> </a:t>
            </a:r>
            <a:r>
              <a:rPr dirty="0" err="1"/>
              <a:t>zusammenläuft</a:t>
            </a:r>
            <a:r>
              <a:rPr dirty="0"/>
              <a:t>.</a:t>
            </a:r>
          </a:p>
        </p:txBody>
      </p:sp>
      <p:sp>
        <p:nvSpPr>
          <p:cNvPr id="4" name="Slide Number Placeholder 3">
            <a:extLst>
              <a:ext uri="{FF2B5EF4-FFF2-40B4-BE49-F238E27FC236}">
                <a16:creationId xmlns:a16="http://schemas.microsoft.com/office/drawing/2014/main" id="{AB9C6D1B-3D13-9E9D-45C3-8A8583ABF0FA}"/>
              </a:ext>
            </a:extLst>
          </p:cNvPr>
          <p:cNvSpPr>
            <a:spLocks noGrp="1"/>
          </p:cNvSpPr>
          <p:nvPr>
            <p:ph type="sldNum" sz="quarter" idx="5"/>
          </p:nvPr>
        </p:nvSpPr>
        <p:spPr/>
      </p:sp>
    </p:spTree>
    <p:extLst>
      <p:ext uri="{BB962C8B-B14F-4D97-AF65-F5344CB8AC3E}">
        <p14:creationId xmlns:p14="http://schemas.microsoft.com/office/powerpoint/2010/main" val="7615256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53DF9-E46C-77C0-7A4B-89C9D046E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8D600A-DD33-9388-339D-D2AFAEDA9C8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3B6B9B9-0B00-E9B1-019B-471CBD29B2F0}"/>
              </a:ext>
            </a:extLst>
          </p:cNvPr>
          <p:cNvSpPr>
            <a:spLocks noGrp="1"/>
          </p:cNvSpPr>
          <p:nvPr>
            <p:ph type="body" sz="quarter" idx="3"/>
          </p:nvPr>
        </p:nvSpPr>
        <p:spPr/>
        <p:txBody>
          <a:bodyPr/>
          <a:lstStyle/>
          <a:p>
            <a:r>
              <a:rPr dirty="0"/>
              <a:t>Als </a:t>
            </a:r>
            <a:r>
              <a:rPr dirty="0" err="1"/>
              <a:t>bewusst</a:t>
            </a:r>
            <a:r>
              <a:rPr dirty="0"/>
              <a:t> </a:t>
            </a:r>
            <a:r>
              <a:rPr dirty="0" err="1"/>
              <a:t>schlank</a:t>
            </a:r>
            <a:r>
              <a:rPr dirty="0"/>
              <a:t> </a:t>
            </a:r>
            <a:r>
              <a:rPr dirty="0" err="1"/>
              <a:t>gehaltene</a:t>
            </a:r>
            <a:r>
              <a:rPr dirty="0"/>
              <a:t> </a:t>
            </a:r>
            <a:r>
              <a:rPr dirty="0" err="1"/>
              <a:t>Nebenfunktion</a:t>
            </a:r>
            <a:r>
              <a:rPr dirty="0"/>
              <a:t> </a:t>
            </a:r>
            <a:r>
              <a:rPr dirty="0" err="1"/>
              <a:t>gibt</a:t>
            </a:r>
            <a:r>
              <a:rPr dirty="0"/>
              <a:t> es </a:t>
            </a:r>
            <a:r>
              <a:rPr dirty="0" err="1"/>
              <a:t>ein</a:t>
            </a:r>
            <a:r>
              <a:rPr dirty="0"/>
              <a:t> </a:t>
            </a:r>
            <a:r>
              <a:rPr dirty="0" err="1"/>
              <a:t>Retrospektiven</a:t>
            </a:r>
            <a:r>
              <a:rPr dirty="0"/>
              <a:t>-Modul. </a:t>
            </a:r>
            <a:endParaRPr lang="de-CH" dirty="0"/>
          </a:p>
          <a:p>
            <a:endParaRPr lang="en-US" dirty="0"/>
          </a:p>
          <a:p>
            <a:r>
              <a:rPr dirty="0"/>
              <a:t>Pro Sprint </a:t>
            </a:r>
            <a:r>
              <a:rPr dirty="0" err="1"/>
              <a:t>können</a:t>
            </a:r>
            <a:r>
              <a:rPr dirty="0"/>
              <a:t> die </a:t>
            </a:r>
            <a:r>
              <a:rPr dirty="0" err="1"/>
              <a:t>Teammitglieder</a:t>
            </a:r>
            <a:r>
              <a:rPr dirty="0"/>
              <a:t> </a:t>
            </a:r>
            <a:r>
              <a:rPr dirty="0" err="1"/>
              <a:t>festhalten</a:t>
            </a:r>
            <a:r>
              <a:rPr dirty="0"/>
              <a:t>, was gut lief, was </a:t>
            </a:r>
            <a:r>
              <a:rPr dirty="0" err="1"/>
              <a:t>verbessert</a:t>
            </a:r>
            <a:r>
              <a:rPr dirty="0"/>
              <a:t> </a:t>
            </a:r>
            <a:r>
              <a:rPr dirty="0" err="1"/>
              <a:t>werden</a:t>
            </a:r>
            <a:r>
              <a:rPr dirty="0"/>
              <a:t> </a:t>
            </a:r>
            <a:r>
              <a:rPr dirty="0" err="1"/>
              <a:t>soll</a:t>
            </a:r>
            <a:r>
              <a:rPr dirty="0"/>
              <a:t> und </a:t>
            </a:r>
            <a:r>
              <a:rPr dirty="0" err="1"/>
              <a:t>welche</a:t>
            </a:r>
            <a:r>
              <a:rPr dirty="0"/>
              <a:t> </a:t>
            </a:r>
            <a:r>
              <a:rPr dirty="0" err="1"/>
              <a:t>konkreten</a:t>
            </a:r>
            <a:r>
              <a:rPr dirty="0"/>
              <a:t> Action Items </a:t>
            </a:r>
            <a:r>
              <a:rPr dirty="0" err="1"/>
              <a:t>daraus</a:t>
            </a:r>
            <a:r>
              <a:rPr dirty="0"/>
              <a:t> </a:t>
            </a:r>
            <a:r>
              <a:rPr dirty="0" err="1"/>
              <a:t>folgen</a:t>
            </a:r>
            <a:r>
              <a:rPr dirty="0"/>
              <a:t>. </a:t>
            </a:r>
            <a:endParaRPr lang="de-CH" dirty="0"/>
          </a:p>
          <a:p>
            <a:endParaRPr lang="en-US" dirty="0"/>
          </a:p>
          <a:p>
            <a:r>
              <a:rPr dirty="0"/>
              <a:t>Ich </a:t>
            </a:r>
            <a:r>
              <a:rPr dirty="0" err="1"/>
              <a:t>habe</a:t>
            </a:r>
            <a:r>
              <a:rPr dirty="0"/>
              <a:t> das </a:t>
            </a:r>
            <a:r>
              <a:rPr dirty="0" err="1"/>
              <a:t>ganz</a:t>
            </a:r>
            <a:r>
              <a:rPr dirty="0"/>
              <a:t> </a:t>
            </a:r>
            <a:r>
              <a:rPr dirty="0" err="1"/>
              <a:t>bewusst</a:t>
            </a:r>
            <a:r>
              <a:rPr dirty="0"/>
              <a:t> </a:t>
            </a:r>
            <a:r>
              <a:rPr dirty="0" err="1"/>
              <a:t>einfach</a:t>
            </a:r>
            <a:r>
              <a:rPr dirty="0"/>
              <a:t> </a:t>
            </a:r>
            <a:r>
              <a:rPr dirty="0" err="1"/>
              <a:t>gehalten</a:t>
            </a:r>
            <a:r>
              <a:rPr dirty="0"/>
              <a:t> – es </a:t>
            </a:r>
            <a:r>
              <a:rPr dirty="0" err="1"/>
              <a:t>soll</a:t>
            </a:r>
            <a:r>
              <a:rPr dirty="0"/>
              <a:t> </a:t>
            </a:r>
            <a:r>
              <a:rPr dirty="0" err="1"/>
              <a:t>keine</a:t>
            </a:r>
            <a:r>
              <a:rPr dirty="0"/>
              <a:t> </a:t>
            </a:r>
            <a:r>
              <a:rPr dirty="0" err="1"/>
              <a:t>spezialisierten</a:t>
            </a:r>
            <a:r>
              <a:rPr dirty="0"/>
              <a:t> Retro-Tools </a:t>
            </a:r>
            <a:r>
              <a:rPr dirty="0" err="1"/>
              <a:t>ersetzen</a:t>
            </a:r>
            <a:r>
              <a:rPr dirty="0"/>
              <a:t>, </a:t>
            </a:r>
            <a:r>
              <a:rPr dirty="0" err="1"/>
              <a:t>sondern</a:t>
            </a:r>
            <a:r>
              <a:rPr dirty="0"/>
              <a:t> </a:t>
            </a:r>
            <a:r>
              <a:rPr dirty="0" err="1"/>
              <a:t>eine</a:t>
            </a:r>
            <a:r>
              <a:rPr dirty="0"/>
              <a:t> Basis-</a:t>
            </a:r>
            <a:r>
              <a:rPr dirty="0" err="1"/>
              <a:t>Dokumentation</a:t>
            </a:r>
            <a:r>
              <a:rPr dirty="0"/>
              <a:t> </a:t>
            </a:r>
            <a:r>
              <a:rPr dirty="0" err="1"/>
              <a:t>genau</a:t>
            </a:r>
            <a:r>
              <a:rPr dirty="0"/>
              <a:t> an der Stelle </a:t>
            </a:r>
            <a:r>
              <a:rPr dirty="0" err="1"/>
              <a:t>anbieten</a:t>
            </a:r>
            <a:r>
              <a:rPr dirty="0"/>
              <a:t>, an der das Team </a:t>
            </a:r>
            <a:r>
              <a:rPr dirty="0" err="1"/>
              <a:t>ohnehin</a:t>
            </a:r>
            <a:r>
              <a:rPr dirty="0"/>
              <a:t> auf seine Sprint-</a:t>
            </a:r>
            <a:r>
              <a:rPr dirty="0" err="1"/>
              <a:t>Daten</a:t>
            </a:r>
            <a:r>
              <a:rPr dirty="0"/>
              <a:t> </a:t>
            </a:r>
            <a:r>
              <a:rPr dirty="0" err="1"/>
              <a:t>schaut</a:t>
            </a:r>
            <a:r>
              <a:rPr dirty="0"/>
              <a:t>. </a:t>
            </a:r>
            <a:endParaRPr lang="de-CH" dirty="0"/>
          </a:p>
          <a:p>
            <a:r>
              <a:rPr dirty="0"/>
              <a:t>So </a:t>
            </a:r>
            <a:r>
              <a:rPr dirty="0" err="1"/>
              <a:t>bleibt</a:t>
            </a:r>
            <a:r>
              <a:rPr dirty="0"/>
              <a:t> </a:t>
            </a:r>
            <a:r>
              <a:rPr dirty="0" err="1"/>
              <a:t>nachvollziehbar</a:t>
            </a:r>
            <a:r>
              <a:rPr dirty="0"/>
              <a:t>, </a:t>
            </a:r>
            <a:r>
              <a:rPr dirty="0" err="1"/>
              <a:t>welche</a:t>
            </a:r>
            <a:r>
              <a:rPr dirty="0"/>
              <a:t> </a:t>
            </a:r>
            <a:r>
              <a:rPr dirty="0" err="1"/>
              <a:t>Verbesserungen</a:t>
            </a:r>
            <a:r>
              <a:rPr dirty="0"/>
              <a:t> </a:t>
            </a:r>
            <a:r>
              <a:rPr dirty="0" err="1"/>
              <a:t>wann</a:t>
            </a:r>
            <a:r>
              <a:rPr dirty="0"/>
              <a:t> </a:t>
            </a:r>
            <a:r>
              <a:rPr dirty="0" err="1"/>
              <a:t>beschlossen</a:t>
            </a:r>
            <a:r>
              <a:rPr dirty="0"/>
              <a:t> </a:t>
            </a:r>
            <a:r>
              <a:rPr dirty="0" err="1"/>
              <a:t>wurden</a:t>
            </a:r>
            <a:r>
              <a:rPr dirty="0"/>
              <a:t>.</a:t>
            </a:r>
          </a:p>
        </p:txBody>
      </p:sp>
      <p:sp>
        <p:nvSpPr>
          <p:cNvPr id="4" name="Slide Number Placeholder 3">
            <a:extLst>
              <a:ext uri="{FF2B5EF4-FFF2-40B4-BE49-F238E27FC236}">
                <a16:creationId xmlns:a16="http://schemas.microsoft.com/office/drawing/2014/main" id="{DFEBACCC-9A65-0D03-D730-F6BCF8E00585}"/>
              </a:ext>
            </a:extLst>
          </p:cNvPr>
          <p:cNvSpPr>
            <a:spLocks noGrp="1"/>
          </p:cNvSpPr>
          <p:nvPr>
            <p:ph type="sldNum" sz="quarter" idx="5"/>
          </p:nvPr>
        </p:nvSpPr>
        <p:spPr/>
      </p:sp>
    </p:spTree>
    <p:extLst>
      <p:ext uri="{BB962C8B-B14F-4D97-AF65-F5344CB8AC3E}">
        <p14:creationId xmlns:p14="http://schemas.microsoft.com/office/powerpoint/2010/main" val="38409349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1F71E-A3C8-A6E6-3AFD-0E521D88B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5816EF-26B4-EC20-F323-2E977CFB95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91B1368-57C5-C740-EB81-939A20F45441}"/>
              </a:ext>
            </a:extLst>
          </p:cNvPr>
          <p:cNvSpPr>
            <a:spLocks noGrp="1"/>
          </p:cNvSpPr>
          <p:nvPr>
            <p:ph type="body" sz="quarter" idx="3"/>
          </p:nvPr>
        </p:nvSpPr>
        <p:spPr/>
        <p:txBody>
          <a:bodyPr/>
          <a:lstStyle/>
          <a:p>
            <a:r>
              <a:rPr dirty="0"/>
              <a:t>Die </a:t>
            </a:r>
            <a:r>
              <a:rPr dirty="0" err="1"/>
              <a:t>Teamverwaltung</a:t>
            </a:r>
            <a:r>
              <a:rPr dirty="0"/>
              <a:t>. </a:t>
            </a:r>
            <a:endParaRPr lang="de-CH" dirty="0"/>
          </a:p>
          <a:p>
            <a:endParaRPr lang="en-US" dirty="0"/>
          </a:p>
          <a:p>
            <a:r>
              <a:rPr dirty="0"/>
              <a:t>Hier </a:t>
            </a:r>
            <a:r>
              <a:rPr dirty="0" err="1"/>
              <a:t>werden</a:t>
            </a:r>
            <a:r>
              <a:rPr dirty="0"/>
              <a:t> die </a:t>
            </a:r>
            <a:r>
              <a:rPr dirty="0" err="1"/>
              <a:t>Mitglieder</a:t>
            </a:r>
            <a:r>
              <a:rPr dirty="0"/>
              <a:t> </a:t>
            </a:r>
            <a:r>
              <a:rPr dirty="0" err="1"/>
              <a:t>mit</a:t>
            </a:r>
            <a:r>
              <a:rPr dirty="0"/>
              <a:t> </a:t>
            </a:r>
            <a:r>
              <a:rPr dirty="0" err="1"/>
              <a:t>ihren</a:t>
            </a:r>
            <a:r>
              <a:rPr dirty="0"/>
              <a:t> </a:t>
            </a:r>
            <a:r>
              <a:rPr dirty="0" err="1"/>
              <a:t>jeweiligen</a:t>
            </a:r>
            <a:r>
              <a:rPr dirty="0"/>
              <a:t> Rollen </a:t>
            </a:r>
            <a:r>
              <a:rPr dirty="0" err="1"/>
              <a:t>verwaltet</a:t>
            </a:r>
            <a:endParaRPr lang="de-CH" dirty="0"/>
          </a:p>
          <a:p>
            <a:endParaRPr lang="en-US" dirty="0"/>
          </a:p>
          <a:p>
            <a:r>
              <a:rPr dirty="0"/>
              <a:t> Admin, Member </a:t>
            </a:r>
            <a:r>
              <a:rPr dirty="0" err="1"/>
              <a:t>oder</a:t>
            </a:r>
            <a:r>
              <a:rPr dirty="0"/>
              <a:t> Viewer. Admins </a:t>
            </a:r>
            <a:r>
              <a:rPr dirty="0" err="1"/>
              <a:t>können</a:t>
            </a:r>
            <a:r>
              <a:rPr dirty="0"/>
              <a:t> Projekte und </a:t>
            </a:r>
            <a:r>
              <a:rPr dirty="0" err="1"/>
              <a:t>Benutzer</a:t>
            </a:r>
            <a:r>
              <a:rPr dirty="0"/>
              <a:t> </a:t>
            </a:r>
            <a:r>
              <a:rPr dirty="0" err="1"/>
              <a:t>verwalten</a:t>
            </a:r>
            <a:r>
              <a:rPr dirty="0"/>
              <a:t>, </a:t>
            </a:r>
            <a:endParaRPr lang="de-CH" dirty="0"/>
          </a:p>
          <a:p>
            <a:endParaRPr lang="en-US" dirty="0"/>
          </a:p>
          <a:p>
            <a:r>
              <a:rPr dirty="0"/>
              <a:t>Viewer </a:t>
            </a:r>
            <a:r>
              <a:rPr dirty="0" err="1"/>
              <a:t>haben</a:t>
            </a:r>
            <a:r>
              <a:rPr dirty="0"/>
              <a:t> </a:t>
            </a:r>
            <a:r>
              <a:rPr dirty="0" err="1"/>
              <a:t>ausschliesslich</a:t>
            </a:r>
            <a:r>
              <a:rPr dirty="0"/>
              <a:t> </a:t>
            </a:r>
            <a:r>
              <a:rPr dirty="0" err="1"/>
              <a:t>Lesezugriff</a:t>
            </a:r>
            <a:r>
              <a:rPr dirty="0"/>
              <a:t>. Namen und E-Mail-</a:t>
            </a:r>
            <a:r>
              <a:rPr dirty="0" err="1"/>
              <a:t>Adressen</a:t>
            </a:r>
            <a:r>
              <a:rPr dirty="0"/>
              <a:t> </a:t>
            </a:r>
            <a:r>
              <a:rPr dirty="0" err="1"/>
              <a:t>habe</a:t>
            </a:r>
            <a:r>
              <a:rPr dirty="0"/>
              <a:t> ich </a:t>
            </a:r>
            <a:r>
              <a:rPr dirty="0" err="1"/>
              <a:t>hier</a:t>
            </a:r>
            <a:r>
              <a:rPr dirty="0"/>
              <a:t> </a:t>
            </a:r>
            <a:r>
              <a:rPr dirty="0" err="1"/>
              <a:t>natürlich</a:t>
            </a:r>
            <a:r>
              <a:rPr dirty="0"/>
              <a:t> </a:t>
            </a:r>
            <a:r>
              <a:rPr dirty="0" err="1"/>
              <a:t>anonymisiert</a:t>
            </a:r>
            <a:r>
              <a:rPr dirty="0"/>
              <a:t>, </a:t>
            </a:r>
            <a:r>
              <a:rPr dirty="0" err="1"/>
              <a:t>weil</a:t>
            </a:r>
            <a:r>
              <a:rPr dirty="0"/>
              <a:t> es </a:t>
            </a:r>
            <a:r>
              <a:rPr dirty="0" err="1"/>
              <a:t>sich</a:t>
            </a:r>
            <a:r>
              <a:rPr dirty="0"/>
              <a:t> um </a:t>
            </a:r>
            <a:r>
              <a:rPr dirty="0" err="1"/>
              <a:t>echte</a:t>
            </a:r>
            <a:r>
              <a:rPr dirty="0"/>
              <a:t> </a:t>
            </a:r>
            <a:r>
              <a:rPr dirty="0" err="1"/>
              <a:t>Kolleginnen</a:t>
            </a:r>
            <a:r>
              <a:rPr dirty="0"/>
              <a:t> und </a:t>
            </a:r>
            <a:r>
              <a:rPr dirty="0" err="1"/>
              <a:t>Kollegen</a:t>
            </a:r>
            <a:r>
              <a:rPr dirty="0"/>
              <a:t> </a:t>
            </a:r>
            <a:r>
              <a:rPr dirty="0" err="1"/>
              <a:t>handelt</a:t>
            </a:r>
            <a:r>
              <a:rPr dirty="0"/>
              <a:t>.</a:t>
            </a:r>
          </a:p>
        </p:txBody>
      </p:sp>
      <p:sp>
        <p:nvSpPr>
          <p:cNvPr id="4" name="Slide Number Placeholder 3">
            <a:extLst>
              <a:ext uri="{FF2B5EF4-FFF2-40B4-BE49-F238E27FC236}">
                <a16:creationId xmlns:a16="http://schemas.microsoft.com/office/drawing/2014/main" id="{16936857-3028-100C-699A-C31FC884B6C4}"/>
              </a:ext>
            </a:extLst>
          </p:cNvPr>
          <p:cNvSpPr>
            <a:spLocks noGrp="1"/>
          </p:cNvSpPr>
          <p:nvPr>
            <p:ph type="sldNum" sz="quarter" idx="5"/>
          </p:nvPr>
        </p:nvSpPr>
        <p:spPr/>
      </p:sp>
    </p:spTree>
    <p:extLst>
      <p:ext uri="{BB962C8B-B14F-4D97-AF65-F5344CB8AC3E}">
        <p14:creationId xmlns:p14="http://schemas.microsoft.com/office/powerpoint/2010/main" val="2647887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E5A85-50E7-BC0C-1FAC-5D520AC7E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F56820-D3F0-644B-C3BB-F178E3F0EB7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2909D3D-EA78-9846-9655-F7E98CF0C2E1}"/>
              </a:ext>
            </a:extLst>
          </p:cNvPr>
          <p:cNvSpPr>
            <a:spLocks noGrp="1"/>
          </p:cNvSpPr>
          <p:nvPr>
            <p:ph type="body" sz="quarter" idx="3"/>
          </p:nvPr>
        </p:nvSpPr>
        <p:spPr/>
        <p:txBody>
          <a:bodyPr/>
          <a:lstStyle/>
          <a:p>
            <a:r>
              <a:rPr dirty="0"/>
              <a:t>Die </a:t>
            </a:r>
            <a:r>
              <a:rPr dirty="0" err="1"/>
              <a:t>Projektübersicht</a:t>
            </a:r>
            <a:r>
              <a:rPr dirty="0"/>
              <a:t>. E</a:t>
            </a:r>
            <a:endParaRPr lang="de-CH" dirty="0"/>
          </a:p>
          <a:p>
            <a:endParaRPr lang="en-US" dirty="0"/>
          </a:p>
          <a:p>
            <a:r>
              <a:rPr dirty="0"/>
              <a:t>in </a:t>
            </a:r>
            <a:r>
              <a:rPr dirty="0" err="1"/>
              <a:t>wichtiges</a:t>
            </a:r>
            <a:r>
              <a:rPr dirty="0"/>
              <a:t> Detail </a:t>
            </a:r>
            <a:r>
              <a:rPr dirty="0" err="1"/>
              <a:t>hier</a:t>
            </a:r>
            <a:r>
              <a:rPr dirty="0"/>
              <a:t>: </a:t>
            </a:r>
            <a:r>
              <a:rPr dirty="0" err="1"/>
              <a:t>Jedes</a:t>
            </a:r>
            <a:r>
              <a:rPr dirty="0"/>
              <a:t> Projekt hat seine </a:t>
            </a:r>
            <a:r>
              <a:rPr dirty="0" err="1"/>
              <a:t>eigene</a:t>
            </a:r>
            <a:r>
              <a:rPr dirty="0"/>
              <a:t>, separate Jira-Integration. </a:t>
            </a:r>
            <a:endParaRPr lang="de-CH" dirty="0"/>
          </a:p>
          <a:p>
            <a:endParaRPr lang="en-US" dirty="0"/>
          </a:p>
          <a:p>
            <a:r>
              <a:rPr dirty="0"/>
              <a:t>Das war </a:t>
            </a:r>
            <a:r>
              <a:rPr dirty="0" err="1"/>
              <a:t>eine</a:t>
            </a:r>
            <a:r>
              <a:rPr dirty="0"/>
              <a:t> </a:t>
            </a:r>
            <a:r>
              <a:rPr dirty="0" err="1"/>
              <a:t>bewusste</a:t>
            </a:r>
            <a:r>
              <a:rPr dirty="0"/>
              <a:t> </a:t>
            </a:r>
            <a:r>
              <a:rPr dirty="0" err="1"/>
              <a:t>Anforderung</a:t>
            </a:r>
            <a:r>
              <a:rPr dirty="0"/>
              <a:t>, </a:t>
            </a:r>
            <a:r>
              <a:rPr dirty="0" err="1"/>
              <a:t>weil</a:t>
            </a:r>
            <a:r>
              <a:rPr dirty="0"/>
              <a:t> </a:t>
            </a:r>
            <a:r>
              <a:rPr dirty="0" err="1"/>
              <a:t>unsere</a:t>
            </a:r>
            <a:r>
              <a:rPr dirty="0"/>
              <a:t> Team</a:t>
            </a:r>
            <a:r>
              <a:rPr lang="de-CH" dirty="0"/>
              <a:t>s</a:t>
            </a:r>
            <a:r>
              <a:rPr dirty="0"/>
              <a:t> </a:t>
            </a:r>
            <a:r>
              <a:rPr dirty="0" err="1"/>
              <a:t>wie</a:t>
            </a:r>
            <a:r>
              <a:rPr dirty="0"/>
              <a:t> </a:t>
            </a:r>
            <a:r>
              <a:rPr dirty="0" err="1"/>
              <a:t>eingangs</a:t>
            </a:r>
            <a:r>
              <a:rPr dirty="0"/>
              <a:t> </a:t>
            </a:r>
            <a:r>
              <a:rPr dirty="0" err="1"/>
              <a:t>erwähnt</a:t>
            </a:r>
            <a:r>
              <a:rPr dirty="0"/>
              <a:t> – </a:t>
            </a:r>
            <a:r>
              <a:rPr dirty="0" err="1"/>
              <a:t>unterschiedliche</a:t>
            </a:r>
            <a:r>
              <a:rPr dirty="0"/>
              <a:t> Jira-</a:t>
            </a:r>
            <a:r>
              <a:rPr dirty="0" err="1"/>
              <a:t>Instanzen</a:t>
            </a:r>
            <a:r>
              <a:rPr dirty="0"/>
              <a:t> und -</a:t>
            </a:r>
            <a:r>
              <a:rPr dirty="0" err="1"/>
              <a:t>Konfigurationen</a:t>
            </a:r>
            <a:r>
              <a:rPr dirty="0"/>
              <a:t> </a:t>
            </a:r>
            <a:r>
              <a:rPr dirty="0" err="1"/>
              <a:t>nutzen</a:t>
            </a:r>
            <a:r>
              <a:rPr dirty="0"/>
              <a:t>. </a:t>
            </a:r>
            <a:endParaRPr lang="de-CH" dirty="0"/>
          </a:p>
          <a:p>
            <a:endParaRPr lang="en-US" dirty="0"/>
          </a:p>
          <a:p>
            <a:r>
              <a:rPr dirty="0"/>
              <a:t>Von </a:t>
            </a:r>
            <a:r>
              <a:rPr dirty="0" err="1"/>
              <a:t>dieser</a:t>
            </a:r>
            <a:r>
              <a:rPr dirty="0"/>
              <a:t> </a:t>
            </a:r>
            <a:r>
              <a:rPr dirty="0" err="1"/>
              <a:t>Ansicht</a:t>
            </a:r>
            <a:r>
              <a:rPr dirty="0"/>
              <a:t> </a:t>
            </a:r>
            <a:r>
              <a:rPr dirty="0" err="1"/>
              <a:t>aus</a:t>
            </a:r>
            <a:r>
              <a:rPr dirty="0"/>
              <a:t> </a:t>
            </a:r>
            <a:r>
              <a:rPr dirty="0" err="1"/>
              <a:t>lässt</a:t>
            </a:r>
            <a:r>
              <a:rPr dirty="0"/>
              <a:t> </a:t>
            </a:r>
            <a:r>
              <a:rPr dirty="0" err="1"/>
              <a:t>sich</a:t>
            </a:r>
            <a:r>
              <a:rPr dirty="0"/>
              <a:t> die </a:t>
            </a:r>
            <a:r>
              <a:rPr dirty="0" err="1"/>
              <a:t>Synchronisation</a:t>
            </a:r>
            <a:r>
              <a:rPr dirty="0"/>
              <a:t> </a:t>
            </a:r>
            <a:r>
              <a:rPr dirty="0" err="1"/>
              <a:t>direkt</a:t>
            </a:r>
            <a:r>
              <a:rPr dirty="0"/>
              <a:t> </a:t>
            </a:r>
            <a:r>
              <a:rPr dirty="0" err="1"/>
              <a:t>anstossen</a:t>
            </a:r>
            <a:r>
              <a:rPr dirty="0"/>
              <a:t> </a:t>
            </a:r>
            <a:r>
              <a:rPr dirty="0" err="1"/>
              <a:t>oder</a:t>
            </a:r>
            <a:r>
              <a:rPr dirty="0"/>
              <a:t> man </a:t>
            </a:r>
            <a:r>
              <a:rPr dirty="0" err="1"/>
              <a:t>wechselt</a:t>
            </a:r>
            <a:r>
              <a:rPr dirty="0"/>
              <a:t> in die Projekt-</a:t>
            </a:r>
            <a:r>
              <a:rPr dirty="0" err="1"/>
              <a:t>Einstellungen</a:t>
            </a:r>
            <a:r>
              <a:rPr dirty="0"/>
              <a:t>.</a:t>
            </a:r>
          </a:p>
        </p:txBody>
      </p:sp>
      <p:sp>
        <p:nvSpPr>
          <p:cNvPr id="4" name="Slide Number Placeholder 3">
            <a:extLst>
              <a:ext uri="{FF2B5EF4-FFF2-40B4-BE49-F238E27FC236}">
                <a16:creationId xmlns:a16="http://schemas.microsoft.com/office/drawing/2014/main" id="{846ECA6F-04C3-9E2B-50F7-62EFEF63CC42}"/>
              </a:ext>
            </a:extLst>
          </p:cNvPr>
          <p:cNvSpPr>
            <a:spLocks noGrp="1"/>
          </p:cNvSpPr>
          <p:nvPr>
            <p:ph type="sldNum" sz="quarter" idx="5"/>
          </p:nvPr>
        </p:nvSpPr>
        <p:spPr/>
      </p:sp>
    </p:spTree>
    <p:extLst>
      <p:ext uri="{BB962C8B-B14F-4D97-AF65-F5344CB8AC3E}">
        <p14:creationId xmlns:p14="http://schemas.microsoft.com/office/powerpoint/2010/main" val="40756096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7EA25-0CEB-A367-545A-E1938E2075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6F7D10-E20D-B069-E915-7420B672591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C662C31-4407-0E95-2043-B25BABBDF9D7}"/>
              </a:ext>
            </a:extLst>
          </p:cNvPr>
          <p:cNvSpPr>
            <a:spLocks noGrp="1"/>
          </p:cNvSpPr>
          <p:nvPr>
            <p:ph type="body" sz="quarter" idx="3"/>
          </p:nvPr>
        </p:nvSpPr>
        <p:spPr/>
        <p:txBody>
          <a:bodyPr/>
          <a:lstStyle/>
          <a:p>
            <a:r>
              <a:rPr dirty="0"/>
              <a:t>Und </a:t>
            </a:r>
            <a:r>
              <a:rPr dirty="0" err="1"/>
              <a:t>zuletzt</a:t>
            </a:r>
            <a:r>
              <a:rPr dirty="0"/>
              <a:t> die Projekt-</a:t>
            </a:r>
            <a:r>
              <a:rPr dirty="0" err="1"/>
              <a:t>Einstellungen</a:t>
            </a:r>
            <a:r>
              <a:rPr dirty="0"/>
              <a:t>, </a:t>
            </a:r>
            <a:endParaRPr lang="de-CH" dirty="0"/>
          </a:p>
          <a:p>
            <a:endParaRPr lang="en-US" dirty="0"/>
          </a:p>
          <a:p>
            <a:r>
              <a:rPr dirty="0"/>
              <a:t>wo die </a:t>
            </a:r>
            <a:r>
              <a:rPr dirty="0" err="1"/>
              <a:t>eigentliche</a:t>
            </a:r>
            <a:r>
              <a:rPr dirty="0"/>
              <a:t> Jira-</a:t>
            </a:r>
            <a:r>
              <a:rPr dirty="0" err="1"/>
              <a:t>Anbindung</a:t>
            </a:r>
            <a:r>
              <a:rPr dirty="0"/>
              <a:t> </a:t>
            </a:r>
            <a:r>
              <a:rPr dirty="0" err="1"/>
              <a:t>konfiguriert</a:t>
            </a:r>
            <a:r>
              <a:rPr dirty="0"/>
              <a:t> </a:t>
            </a:r>
            <a:r>
              <a:rPr dirty="0" err="1"/>
              <a:t>wird</a:t>
            </a:r>
            <a:r>
              <a:rPr dirty="0"/>
              <a:t>: Server-URL, </a:t>
            </a:r>
            <a:r>
              <a:rPr dirty="0" err="1"/>
              <a:t>Zugangsdaten</a:t>
            </a:r>
            <a:r>
              <a:rPr dirty="0"/>
              <a:t>, der Project Key und optional die Board-ID. </a:t>
            </a:r>
            <a:endParaRPr lang="de-CH" dirty="0"/>
          </a:p>
          <a:p>
            <a:endParaRPr lang="en-US" dirty="0"/>
          </a:p>
          <a:p>
            <a:r>
              <a:rPr dirty="0"/>
              <a:t>Man </a:t>
            </a:r>
            <a:r>
              <a:rPr dirty="0" err="1"/>
              <a:t>kann</a:t>
            </a:r>
            <a:r>
              <a:rPr dirty="0"/>
              <a:t> die </a:t>
            </a:r>
            <a:r>
              <a:rPr dirty="0" err="1"/>
              <a:t>Verbindung</a:t>
            </a:r>
            <a:r>
              <a:rPr dirty="0"/>
              <a:t> </a:t>
            </a:r>
            <a:r>
              <a:rPr dirty="0" err="1"/>
              <a:t>testen</a:t>
            </a:r>
            <a:r>
              <a:rPr dirty="0"/>
              <a:t>, bevor man </a:t>
            </a:r>
            <a:r>
              <a:rPr dirty="0" err="1"/>
              <a:t>speichert</a:t>
            </a:r>
            <a:r>
              <a:rPr dirty="0"/>
              <a:t>, </a:t>
            </a:r>
            <a:r>
              <a:rPr dirty="0" err="1"/>
              <a:t>einen</a:t>
            </a:r>
            <a:r>
              <a:rPr dirty="0"/>
              <a:t> </a:t>
            </a:r>
            <a:r>
              <a:rPr dirty="0" err="1"/>
              <a:t>vollständigen</a:t>
            </a:r>
            <a:r>
              <a:rPr dirty="0"/>
              <a:t> Sync </a:t>
            </a:r>
            <a:r>
              <a:rPr dirty="0" err="1"/>
              <a:t>manuell</a:t>
            </a:r>
            <a:r>
              <a:rPr dirty="0"/>
              <a:t> </a:t>
            </a:r>
            <a:r>
              <a:rPr dirty="0" err="1"/>
              <a:t>auslösen</a:t>
            </a:r>
            <a:r>
              <a:rPr dirty="0"/>
              <a:t> und den </a:t>
            </a:r>
            <a:r>
              <a:rPr dirty="0" err="1"/>
              <a:t>aktuellen</a:t>
            </a:r>
            <a:r>
              <a:rPr dirty="0"/>
              <a:t> Sync-Status </a:t>
            </a:r>
            <a:r>
              <a:rPr dirty="0" err="1"/>
              <a:t>samt</a:t>
            </a:r>
            <a:r>
              <a:rPr dirty="0"/>
              <a:t> </a:t>
            </a:r>
            <a:r>
              <a:rPr dirty="0" err="1"/>
              <a:t>Zeitpunkt</a:t>
            </a:r>
            <a:r>
              <a:rPr dirty="0"/>
              <a:t> </a:t>
            </a:r>
            <a:r>
              <a:rPr dirty="0" err="1"/>
              <a:t>einsehen</a:t>
            </a:r>
            <a:r>
              <a:rPr dirty="0"/>
              <a:t>. </a:t>
            </a:r>
            <a:endParaRPr lang="de-CH" dirty="0"/>
          </a:p>
          <a:p>
            <a:endParaRPr lang="en-US" dirty="0"/>
          </a:p>
          <a:p>
            <a:r>
              <a:rPr dirty="0"/>
              <a:t>Die </a:t>
            </a:r>
            <a:r>
              <a:rPr dirty="0" err="1"/>
              <a:t>konkrete</a:t>
            </a:r>
            <a:r>
              <a:rPr dirty="0"/>
              <a:t> URL und der </a:t>
            </a:r>
            <a:r>
              <a:rPr dirty="0" err="1"/>
              <a:t>hinterlegte</a:t>
            </a:r>
            <a:r>
              <a:rPr dirty="0"/>
              <a:t> </a:t>
            </a:r>
            <a:r>
              <a:rPr dirty="0" err="1"/>
              <a:t>Benutzer</a:t>
            </a:r>
            <a:r>
              <a:rPr dirty="0"/>
              <a:t> </a:t>
            </a:r>
            <a:r>
              <a:rPr dirty="0" err="1"/>
              <a:t>sind</a:t>
            </a:r>
            <a:r>
              <a:rPr dirty="0"/>
              <a:t> </a:t>
            </a:r>
            <a:r>
              <a:rPr dirty="0" err="1"/>
              <a:t>hier</a:t>
            </a:r>
            <a:r>
              <a:rPr dirty="0"/>
              <a:t> </a:t>
            </a:r>
            <a:r>
              <a:rPr dirty="0" err="1"/>
              <a:t>ausgeblendet</a:t>
            </a:r>
            <a:r>
              <a:rPr dirty="0"/>
              <a:t>. Damit </a:t>
            </a:r>
            <a:r>
              <a:rPr dirty="0" err="1"/>
              <a:t>haben</a:t>
            </a:r>
            <a:r>
              <a:rPr dirty="0"/>
              <a:t> Sie </a:t>
            </a:r>
            <a:r>
              <a:rPr dirty="0" err="1"/>
              <a:t>einen</a:t>
            </a:r>
            <a:r>
              <a:rPr dirty="0"/>
              <a:t> </a:t>
            </a:r>
            <a:r>
              <a:rPr dirty="0" err="1"/>
              <a:t>vollständigen</a:t>
            </a:r>
            <a:r>
              <a:rPr dirty="0"/>
              <a:t> </a:t>
            </a:r>
            <a:r>
              <a:rPr dirty="0" err="1"/>
              <a:t>Rundgang</a:t>
            </a:r>
            <a:r>
              <a:rPr dirty="0"/>
              <a:t> </a:t>
            </a:r>
            <a:r>
              <a:rPr dirty="0" err="1"/>
              <a:t>durch</a:t>
            </a:r>
            <a:r>
              <a:rPr dirty="0"/>
              <a:t> die </a:t>
            </a:r>
            <a:r>
              <a:rPr dirty="0" err="1"/>
              <a:t>Anwendung</a:t>
            </a:r>
            <a:r>
              <a:rPr dirty="0"/>
              <a:t> </a:t>
            </a:r>
            <a:r>
              <a:rPr dirty="0" err="1"/>
              <a:t>gesehen</a:t>
            </a:r>
            <a:r>
              <a:rPr dirty="0"/>
              <a:t>.</a:t>
            </a:r>
          </a:p>
        </p:txBody>
      </p:sp>
      <p:sp>
        <p:nvSpPr>
          <p:cNvPr id="4" name="Slide Number Placeholder 3">
            <a:extLst>
              <a:ext uri="{FF2B5EF4-FFF2-40B4-BE49-F238E27FC236}">
                <a16:creationId xmlns:a16="http://schemas.microsoft.com/office/drawing/2014/main" id="{0FB2AAD0-E4C7-2BE4-6C49-7E49BAA99567}"/>
              </a:ext>
            </a:extLst>
          </p:cNvPr>
          <p:cNvSpPr>
            <a:spLocks noGrp="1"/>
          </p:cNvSpPr>
          <p:nvPr>
            <p:ph type="sldNum" sz="quarter" idx="5"/>
          </p:nvPr>
        </p:nvSpPr>
        <p:spPr/>
      </p:sp>
    </p:spTree>
    <p:extLst>
      <p:ext uri="{BB962C8B-B14F-4D97-AF65-F5344CB8AC3E}">
        <p14:creationId xmlns:p14="http://schemas.microsoft.com/office/powerpoint/2010/main" val="2580230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Kommen</a:t>
            </a:r>
            <a:r>
              <a:rPr dirty="0"/>
              <a:t> </a:t>
            </a:r>
            <a:r>
              <a:rPr dirty="0" err="1"/>
              <a:t>wir</a:t>
            </a:r>
            <a:r>
              <a:rPr dirty="0"/>
              <a:t> </a:t>
            </a:r>
            <a:r>
              <a:rPr dirty="0" err="1"/>
              <a:t>zur</a:t>
            </a:r>
            <a:r>
              <a:rPr dirty="0"/>
              <a:t> </a:t>
            </a:r>
            <a:r>
              <a:rPr dirty="0" err="1"/>
              <a:t>kritischen</a:t>
            </a:r>
            <a:r>
              <a:rPr dirty="0"/>
              <a:t> </a:t>
            </a:r>
            <a:r>
              <a:rPr dirty="0" err="1"/>
              <a:t>Würdigung</a:t>
            </a:r>
            <a:endParaRPr lang="de-CH" dirty="0"/>
          </a:p>
          <a:p>
            <a:endParaRPr lang="en-US" dirty="0"/>
          </a:p>
          <a:p>
            <a:r>
              <a:rPr dirty="0"/>
              <a:t>Was </a:t>
            </a:r>
            <a:r>
              <a:rPr dirty="0" err="1"/>
              <a:t>ist</a:t>
            </a:r>
            <a:r>
              <a:rPr dirty="0"/>
              <a:t> gut </a:t>
            </a:r>
            <a:r>
              <a:rPr dirty="0" err="1"/>
              <a:t>gelaufen</a:t>
            </a:r>
            <a:r>
              <a:rPr dirty="0"/>
              <a:t>? </a:t>
            </a:r>
            <a:endParaRPr lang="de-CH" dirty="0"/>
          </a:p>
          <a:p>
            <a:r>
              <a:rPr dirty="0"/>
              <a:t>Das iterative </a:t>
            </a:r>
            <a:r>
              <a:rPr dirty="0" err="1"/>
              <a:t>Vorgehen</a:t>
            </a:r>
            <a:r>
              <a:rPr dirty="0"/>
              <a:t> hat </a:t>
            </a:r>
            <a:r>
              <a:rPr dirty="0" err="1"/>
              <a:t>sich</a:t>
            </a:r>
            <a:r>
              <a:rPr dirty="0"/>
              <a:t> </a:t>
            </a:r>
            <a:r>
              <a:rPr dirty="0" err="1"/>
              <a:t>klar</a:t>
            </a:r>
            <a:r>
              <a:rPr dirty="0"/>
              <a:t> </a:t>
            </a:r>
            <a:r>
              <a:rPr dirty="0" err="1"/>
              <a:t>bewährt</a:t>
            </a:r>
            <a:r>
              <a:rPr dirty="0"/>
              <a:t>, </a:t>
            </a:r>
            <a:r>
              <a:rPr dirty="0" err="1"/>
              <a:t>gerade</a:t>
            </a:r>
            <a:r>
              <a:rPr dirty="0"/>
              <a:t> </a:t>
            </a:r>
            <a:r>
              <a:rPr dirty="0" err="1"/>
              <a:t>weil</a:t>
            </a:r>
            <a:r>
              <a:rPr dirty="0"/>
              <a:t> </a:t>
            </a:r>
            <a:r>
              <a:rPr dirty="0" err="1"/>
              <a:t>sich</a:t>
            </a:r>
            <a:r>
              <a:rPr dirty="0"/>
              <a:t> </a:t>
            </a:r>
            <a:r>
              <a:rPr dirty="0" err="1"/>
              <a:t>Anforderungen</a:t>
            </a:r>
            <a:r>
              <a:rPr dirty="0"/>
              <a:t> </a:t>
            </a:r>
            <a:r>
              <a:rPr dirty="0" err="1"/>
              <a:t>unterwegs</a:t>
            </a:r>
            <a:r>
              <a:rPr dirty="0"/>
              <a:t> </a:t>
            </a:r>
            <a:r>
              <a:rPr dirty="0" err="1"/>
              <a:t>geändert</a:t>
            </a:r>
            <a:r>
              <a:rPr dirty="0"/>
              <a:t> </a:t>
            </a:r>
            <a:r>
              <a:rPr dirty="0" err="1"/>
              <a:t>haben</a:t>
            </a:r>
            <a:r>
              <a:rPr dirty="0"/>
              <a:t>. </a:t>
            </a:r>
            <a:endParaRPr lang="de-CH" dirty="0"/>
          </a:p>
          <a:p>
            <a:r>
              <a:rPr dirty="0"/>
              <a:t>Die </a:t>
            </a:r>
            <a:r>
              <a:rPr dirty="0" err="1"/>
              <a:t>Anwendung</a:t>
            </a:r>
            <a:r>
              <a:rPr dirty="0"/>
              <a:t> </a:t>
            </a:r>
            <a:r>
              <a:rPr dirty="0" err="1"/>
              <a:t>läuft</a:t>
            </a:r>
            <a:r>
              <a:rPr dirty="0"/>
              <a:t> </a:t>
            </a:r>
            <a:r>
              <a:rPr dirty="0" err="1"/>
              <a:t>heute</a:t>
            </a:r>
            <a:r>
              <a:rPr dirty="0"/>
              <a:t> </a:t>
            </a:r>
            <a:r>
              <a:rPr dirty="0" err="1"/>
              <a:t>produktiv</a:t>
            </a:r>
            <a:r>
              <a:rPr dirty="0"/>
              <a:t> </a:t>
            </a:r>
            <a:r>
              <a:rPr dirty="0" err="1"/>
              <a:t>mit</a:t>
            </a:r>
            <a:r>
              <a:rPr dirty="0"/>
              <a:t> </a:t>
            </a:r>
            <a:r>
              <a:rPr dirty="0" err="1"/>
              <a:t>echten</a:t>
            </a:r>
            <a:r>
              <a:rPr dirty="0"/>
              <a:t> </a:t>
            </a:r>
            <a:r>
              <a:rPr dirty="0" err="1"/>
              <a:t>Daten</a:t>
            </a:r>
            <a:r>
              <a:rPr dirty="0"/>
              <a:t>, und die </a:t>
            </a:r>
            <a:r>
              <a:rPr dirty="0" err="1"/>
              <a:t>Ergebnisse</a:t>
            </a:r>
            <a:r>
              <a:rPr dirty="0"/>
              <a:t> </a:t>
            </a:r>
            <a:r>
              <a:rPr dirty="0" err="1"/>
              <a:t>stimmen</a:t>
            </a:r>
            <a:r>
              <a:rPr dirty="0"/>
              <a:t>. </a:t>
            </a:r>
            <a:endParaRPr lang="de-CH" dirty="0"/>
          </a:p>
          <a:p>
            <a:r>
              <a:rPr dirty="0"/>
              <a:t>Die Story-Point-</a:t>
            </a:r>
            <a:r>
              <a:rPr dirty="0" err="1"/>
              <a:t>Empfehlung</a:t>
            </a:r>
            <a:r>
              <a:rPr dirty="0"/>
              <a:t> </a:t>
            </a:r>
            <a:r>
              <a:rPr dirty="0" err="1"/>
              <a:t>als</a:t>
            </a:r>
            <a:r>
              <a:rPr dirty="0"/>
              <a:t> </a:t>
            </a:r>
            <a:r>
              <a:rPr dirty="0" err="1"/>
              <a:t>Kombination</a:t>
            </a:r>
            <a:r>
              <a:rPr dirty="0"/>
              <a:t> </a:t>
            </a:r>
            <a:r>
              <a:rPr dirty="0" err="1"/>
              <a:t>aus</a:t>
            </a:r>
            <a:r>
              <a:rPr dirty="0"/>
              <a:t> </a:t>
            </a:r>
            <a:r>
              <a:rPr dirty="0" err="1"/>
              <a:t>Kapazität</a:t>
            </a:r>
            <a:r>
              <a:rPr dirty="0"/>
              <a:t> und Velocity </a:t>
            </a:r>
            <a:r>
              <a:rPr dirty="0" err="1"/>
              <a:t>ist</a:t>
            </a:r>
            <a:r>
              <a:rPr dirty="0"/>
              <a:t>, </a:t>
            </a:r>
            <a:r>
              <a:rPr dirty="0" err="1"/>
              <a:t>soweit</a:t>
            </a:r>
            <a:r>
              <a:rPr dirty="0"/>
              <a:t> ich das </a:t>
            </a:r>
            <a:r>
              <a:rPr dirty="0" err="1"/>
              <a:t>im</a:t>
            </a:r>
            <a:r>
              <a:rPr dirty="0"/>
              <a:t> Markt </a:t>
            </a:r>
            <a:r>
              <a:rPr dirty="0" err="1"/>
              <a:t>gesehen</a:t>
            </a:r>
            <a:r>
              <a:rPr dirty="0"/>
              <a:t> </a:t>
            </a:r>
            <a:r>
              <a:rPr dirty="0" err="1"/>
              <a:t>habe</a:t>
            </a:r>
            <a:r>
              <a:rPr dirty="0"/>
              <a:t>, </a:t>
            </a:r>
            <a:r>
              <a:rPr dirty="0" err="1"/>
              <a:t>ein</a:t>
            </a:r>
            <a:r>
              <a:rPr dirty="0"/>
              <a:t> </a:t>
            </a:r>
            <a:r>
              <a:rPr dirty="0" err="1"/>
              <a:t>echtes</a:t>
            </a:r>
            <a:r>
              <a:rPr dirty="0"/>
              <a:t> </a:t>
            </a:r>
            <a:r>
              <a:rPr dirty="0" err="1"/>
              <a:t>Alleinstellungsmerkmal</a:t>
            </a:r>
            <a:r>
              <a:rPr dirty="0"/>
              <a:t>. </a:t>
            </a:r>
            <a:endParaRPr lang="de-CH" dirty="0"/>
          </a:p>
          <a:p>
            <a:r>
              <a:rPr dirty="0"/>
              <a:t>Und </a:t>
            </a:r>
            <a:r>
              <a:rPr dirty="0" err="1"/>
              <a:t>auch</a:t>
            </a:r>
            <a:r>
              <a:rPr dirty="0"/>
              <a:t> der KI-</a:t>
            </a:r>
            <a:r>
              <a:rPr dirty="0" err="1"/>
              <a:t>Einsatz</a:t>
            </a:r>
            <a:r>
              <a:rPr dirty="0"/>
              <a:t> hat </a:t>
            </a:r>
            <a:r>
              <a:rPr dirty="0" err="1"/>
              <a:t>mich</a:t>
            </a:r>
            <a:r>
              <a:rPr dirty="0"/>
              <a:t> </a:t>
            </a:r>
            <a:r>
              <a:rPr dirty="0" err="1"/>
              <a:t>spürbar</a:t>
            </a:r>
            <a:r>
              <a:rPr dirty="0"/>
              <a:t> </a:t>
            </a:r>
            <a:r>
              <a:rPr dirty="0" err="1"/>
              <a:t>beschleunigt</a:t>
            </a:r>
            <a:r>
              <a:rPr dirty="0"/>
              <a:t> – </a:t>
            </a:r>
            <a:endParaRPr lang="de-CH" dirty="0"/>
          </a:p>
          <a:p>
            <a:endParaRPr lang="en-US" dirty="0"/>
          </a:p>
          <a:p>
            <a:r>
              <a:rPr dirty="0" err="1"/>
              <a:t>aber</a:t>
            </a:r>
            <a:r>
              <a:rPr dirty="0"/>
              <a:t>, und das </a:t>
            </a:r>
            <a:r>
              <a:rPr dirty="0" err="1"/>
              <a:t>gehört</a:t>
            </a:r>
            <a:r>
              <a:rPr dirty="0"/>
              <a:t> </a:t>
            </a:r>
            <a:r>
              <a:rPr dirty="0" err="1"/>
              <a:t>zur</a:t>
            </a:r>
            <a:r>
              <a:rPr dirty="0"/>
              <a:t> </a:t>
            </a:r>
            <a:r>
              <a:rPr dirty="0" err="1"/>
              <a:t>Ehrlichkeit</a:t>
            </a:r>
            <a:r>
              <a:rPr dirty="0"/>
              <a:t> </a:t>
            </a:r>
            <a:r>
              <a:rPr dirty="0" err="1"/>
              <a:t>dazu</a:t>
            </a:r>
            <a:r>
              <a:rPr dirty="0"/>
              <a:t>, </a:t>
            </a:r>
            <a:r>
              <a:rPr dirty="0" err="1"/>
              <a:t>nur</a:t>
            </a:r>
            <a:r>
              <a:rPr dirty="0"/>
              <a:t> </a:t>
            </a:r>
            <a:r>
              <a:rPr dirty="0" err="1"/>
              <a:t>weil</a:t>
            </a:r>
            <a:r>
              <a:rPr dirty="0"/>
              <a:t> ich </a:t>
            </a:r>
            <a:r>
              <a:rPr dirty="0" err="1"/>
              <a:t>jeden</a:t>
            </a:r>
            <a:r>
              <a:rPr dirty="0"/>
              <a:t> </a:t>
            </a:r>
            <a:r>
              <a:rPr dirty="0" err="1"/>
              <a:t>Vorschlag</a:t>
            </a:r>
            <a:r>
              <a:rPr dirty="0"/>
              <a:t> </a:t>
            </a:r>
            <a:r>
              <a:rPr dirty="0" err="1"/>
              <a:t>konsequent</a:t>
            </a:r>
            <a:r>
              <a:rPr dirty="0"/>
              <a:t> </a:t>
            </a:r>
            <a:r>
              <a:rPr dirty="0" err="1"/>
              <a:t>manuell</a:t>
            </a:r>
            <a:r>
              <a:rPr dirty="0"/>
              <a:t> </a:t>
            </a:r>
            <a:r>
              <a:rPr dirty="0" err="1"/>
              <a:t>reviewt</a:t>
            </a:r>
            <a:r>
              <a:rPr dirty="0"/>
              <a:t> </a:t>
            </a:r>
            <a:r>
              <a:rPr dirty="0" err="1"/>
              <a:t>habe</a:t>
            </a:r>
            <a:r>
              <a:rPr dirty="0"/>
              <a:t>. </a:t>
            </a:r>
            <a:endParaRPr lang="de-CH" dirty="0"/>
          </a:p>
          <a:p>
            <a:r>
              <a:rPr dirty="0"/>
              <a:t>Was </a:t>
            </a:r>
            <a:r>
              <a:rPr dirty="0" err="1"/>
              <a:t>würde</a:t>
            </a:r>
            <a:r>
              <a:rPr dirty="0"/>
              <a:t> ich </a:t>
            </a:r>
            <a:r>
              <a:rPr dirty="0" err="1"/>
              <a:t>anders</a:t>
            </a:r>
            <a:r>
              <a:rPr dirty="0"/>
              <a:t> </a:t>
            </a:r>
            <a:r>
              <a:rPr dirty="0" err="1"/>
              <a:t>machen</a:t>
            </a:r>
            <a:r>
              <a:rPr dirty="0"/>
              <a:t>? </a:t>
            </a:r>
            <a:endParaRPr lang="de-CH" dirty="0"/>
          </a:p>
          <a:p>
            <a:r>
              <a:rPr dirty="0" err="1"/>
              <a:t>Erstens</a:t>
            </a:r>
            <a:r>
              <a:rPr dirty="0"/>
              <a:t> </a:t>
            </a:r>
            <a:r>
              <a:rPr dirty="0" err="1"/>
              <a:t>habe</a:t>
            </a:r>
            <a:r>
              <a:rPr dirty="0"/>
              <a:t> ich die </a:t>
            </a:r>
            <a:r>
              <a:rPr dirty="0" err="1"/>
              <a:t>schiere</a:t>
            </a:r>
            <a:r>
              <a:rPr dirty="0"/>
              <a:t> </a:t>
            </a:r>
            <a:r>
              <a:rPr dirty="0" err="1"/>
              <a:t>Vielfalt</a:t>
            </a:r>
            <a:r>
              <a:rPr dirty="0"/>
              <a:t> der Jira-</a:t>
            </a:r>
            <a:r>
              <a:rPr dirty="0" err="1"/>
              <a:t>Konfigurationen</a:t>
            </a:r>
            <a:r>
              <a:rPr dirty="0"/>
              <a:t> </a:t>
            </a:r>
            <a:r>
              <a:rPr dirty="0" err="1"/>
              <a:t>deutlich</a:t>
            </a:r>
            <a:r>
              <a:rPr dirty="0"/>
              <a:t> </a:t>
            </a:r>
            <a:r>
              <a:rPr dirty="0" err="1"/>
              <a:t>unterschätzt</a:t>
            </a:r>
            <a:r>
              <a:rPr dirty="0"/>
              <a:t>. </a:t>
            </a:r>
            <a:endParaRPr lang="de-CH" dirty="0"/>
          </a:p>
          <a:p>
            <a:r>
              <a:rPr dirty="0"/>
              <a:t>Ein </a:t>
            </a:r>
            <a:r>
              <a:rPr dirty="0" err="1"/>
              <a:t>kurzer</a:t>
            </a:r>
            <a:r>
              <a:rPr dirty="0"/>
              <a:t> </a:t>
            </a:r>
            <a:r>
              <a:rPr dirty="0" err="1"/>
              <a:t>technischer</a:t>
            </a:r>
            <a:r>
              <a:rPr dirty="0"/>
              <a:t> Spike </a:t>
            </a:r>
            <a:r>
              <a:rPr dirty="0" err="1"/>
              <a:t>ganz</a:t>
            </a:r>
            <a:r>
              <a:rPr dirty="0"/>
              <a:t> </a:t>
            </a:r>
            <a:r>
              <a:rPr dirty="0" err="1"/>
              <a:t>zu</a:t>
            </a:r>
            <a:r>
              <a:rPr dirty="0"/>
              <a:t> </a:t>
            </a:r>
            <a:r>
              <a:rPr dirty="0" err="1"/>
              <a:t>Beginn</a:t>
            </a:r>
            <a:r>
              <a:rPr dirty="0"/>
              <a:t> – </a:t>
            </a:r>
            <a:r>
              <a:rPr dirty="0" err="1"/>
              <a:t>ein</a:t>
            </a:r>
            <a:r>
              <a:rPr dirty="0"/>
              <a:t> </a:t>
            </a:r>
            <a:r>
              <a:rPr dirty="0" err="1"/>
              <a:t>Wegwerf-Prototyp</a:t>
            </a:r>
            <a:r>
              <a:rPr dirty="0"/>
              <a:t> </a:t>
            </a:r>
            <a:r>
              <a:rPr dirty="0" err="1"/>
              <a:t>nur</a:t>
            </a:r>
            <a:r>
              <a:rPr dirty="0"/>
              <a:t> für die Jira-</a:t>
            </a:r>
            <a:r>
              <a:rPr dirty="0" err="1"/>
              <a:t>Anbindung</a:t>
            </a:r>
            <a:r>
              <a:rPr dirty="0"/>
              <a:t> – </a:t>
            </a:r>
            <a:r>
              <a:rPr dirty="0" err="1"/>
              <a:t>hätte</a:t>
            </a:r>
            <a:r>
              <a:rPr dirty="0"/>
              <a:t> mir den </a:t>
            </a:r>
            <a:r>
              <a:rPr dirty="0" err="1"/>
              <a:t>Aufwand</a:t>
            </a:r>
            <a:r>
              <a:rPr dirty="0"/>
              <a:t> </a:t>
            </a:r>
            <a:r>
              <a:rPr dirty="0" err="1"/>
              <a:t>realistischer</a:t>
            </a:r>
            <a:r>
              <a:rPr dirty="0"/>
              <a:t> </a:t>
            </a:r>
            <a:r>
              <a:rPr dirty="0" err="1"/>
              <a:t>gezeigt</a:t>
            </a:r>
            <a:r>
              <a:rPr dirty="0"/>
              <a:t> und </a:t>
            </a:r>
            <a:r>
              <a:rPr dirty="0" err="1"/>
              <a:t>einiges</a:t>
            </a:r>
            <a:r>
              <a:rPr dirty="0"/>
              <a:t> an </a:t>
            </a:r>
            <a:r>
              <a:rPr dirty="0" err="1"/>
              <a:t>Nacharbeit</a:t>
            </a:r>
            <a:r>
              <a:rPr dirty="0"/>
              <a:t> </a:t>
            </a:r>
            <a:r>
              <a:rPr dirty="0" err="1"/>
              <a:t>erspart</a:t>
            </a:r>
            <a:r>
              <a:rPr dirty="0"/>
              <a:t>. </a:t>
            </a:r>
            <a:endParaRPr lang="de-CH" dirty="0"/>
          </a:p>
          <a:p>
            <a:endParaRPr lang="en-US" dirty="0"/>
          </a:p>
          <a:p>
            <a:r>
              <a:rPr dirty="0" err="1"/>
              <a:t>Zweitens</a:t>
            </a:r>
            <a:r>
              <a:rPr dirty="0"/>
              <a:t> </a:t>
            </a:r>
            <a:r>
              <a:rPr dirty="0" err="1"/>
              <a:t>habe</a:t>
            </a:r>
            <a:r>
              <a:rPr dirty="0"/>
              <a:t> ich </a:t>
            </a:r>
            <a:r>
              <a:rPr dirty="0" err="1"/>
              <a:t>automatisierte</a:t>
            </a:r>
            <a:r>
              <a:rPr dirty="0"/>
              <a:t> Tests </a:t>
            </a:r>
            <a:r>
              <a:rPr dirty="0" err="1"/>
              <a:t>aus</a:t>
            </a:r>
            <a:r>
              <a:rPr dirty="0"/>
              <a:t> </a:t>
            </a:r>
            <a:r>
              <a:rPr dirty="0" err="1"/>
              <a:t>Zeitgründen</a:t>
            </a:r>
            <a:r>
              <a:rPr dirty="0"/>
              <a:t> </a:t>
            </a:r>
            <a:r>
              <a:rPr dirty="0" err="1"/>
              <a:t>nur</a:t>
            </a:r>
            <a:r>
              <a:rPr dirty="0"/>
              <a:t> </a:t>
            </a:r>
            <a:r>
              <a:rPr dirty="0" err="1"/>
              <a:t>punktuell</a:t>
            </a:r>
            <a:r>
              <a:rPr dirty="0"/>
              <a:t> </a:t>
            </a:r>
            <a:r>
              <a:rPr dirty="0" err="1"/>
              <a:t>geschrieben</a:t>
            </a:r>
            <a:r>
              <a:rPr dirty="0"/>
              <a:t>; das </a:t>
            </a:r>
            <a:r>
              <a:rPr dirty="0" err="1"/>
              <a:t>ist</a:t>
            </a:r>
            <a:r>
              <a:rPr dirty="0"/>
              <a:t> </a:t>
            </a:r>
            <a:r>
              <a:rPr dirty="0" err="1"/>
              <a:t>eine</a:t>
            </a:r>
            <a:r>
              <a:rPr dirty="0"/>
              <a:t> </a:t>
            </a:r>
            <a:r>
              <a:rPr dirty="0" err="1"/>
              <a:t>Schwäche</a:t>
            </a:r>
            <a:r>
              <a:rPr dirty="0"/>
              <a:t>, die die </a:t>
            </a:r>
            <a:r>
              <a:rPr dirty="0" err="1"/>
              <a:t>Wartbarkeit</a:t>
            </a:r>
            <a:r>
              <a:rPr dirty="0"/>
              <a:t> </a:t>
            </a:r>
            <a:r>
              <a:rPr dirty="0" err="1"/>
              <a:t>betrifft</a:t>
            </a:r>
            <a:r>
              <a:rPr dirty="0"/>
              <a:t>. </a:t>
            </a:r>
            <a:endParaRPr lang="de-CH" dirty="0"/>
          </a:p>
          <a:p>
            <a:endParaRPr lang="en-US" dirty="0"/>
          </a:p>
          <a:p>
            <a:r>
              <a:rPr dirty="0"/>
              <a:t>Und </a:t>
            </a:r>
            <a:r>
              <a:rPr dirty="0" err="1"/>
              <a:t>drittens</a:t>
            </a:r>
            <a:r>
              <a:rPr dirty="0"/>
              <a:t> </a:t>
            </a:r>
            <a:r>
              <a:rPr dirty="0" err="1"/>
              <a:t>ist</a:t>
            </a:r>
            <a:r>
              <a:rPr dirty="0"/>
              <a:t> die Single-Tenant-</a:t>
            </a:r>
            <a:r>
              <a:rPr dirty="0" err="1"/>
              <a:t>Architektur</a:t>
            </a:r>
            <a:r>
              <a:rPr dirty="0"/>
              <a:t> </a:t>
            </a:r>
            <a:r>
              <a:rPr dirty="0" err="1"/>
              <a:t>eine</a:t>
            </a:r>
            <a:r>
              <a:rPr dirty="0"/>
              <a:t> </a:t>
            </a:r>
            <a:r>
              <a:rPr dirty="0" err="1"/>
              <a:t>bewusste</a:t>
            </a:r>
            <a:r>
              <a:rPr dirty="0"/>
              <a:t> </a:t>
            </a:r>
            <a:r>
              <a:rPr dirty="0" err="1"/>
              <a:t>Einschränkung</a:t>
            </a:r>
            <a:r>
              <a:rPr dirty="0"/>
              <a:t> – für die </a:t>
            </a:r>
            <a:r>
              <a:rPr dirty="0" err="1"/>
              <a:t>Netcloud</a:t>
            </a:r>
            <a:r>
              <a:rPr dirty="0"/>
              <a:t> </a:t>
            </a:r>
            <a:r>
              <a:rPr dirty="0" err="1"/>
              <a:t>reicht</a:t>
            </a:r>
            <a:r>
              <a:rPr dirty="0"/>
              <a:t> </a:t>
            </a:r>
            <a:r>
              <a:rPr dirty="0" err="1"/>
              <a:t>sie</a:t>
            </a:r>
            <a:r>
              <a:rPr dirty="0"/>
              <a:t>, für </a:t>
            </a:r>
            <a:r>
              <a:rPr dirty="0" err="1"/>
              <a:t>einen</a:t>
            </a:r>
            <a:r>
              <a:rPr dirty="0"/>
              <a:t> </a:t>
            </a:r>
            <a:r>
              <a:rPr dirty="0" err="1"/>
              <a:t>Einsatz</a:t>
            </a:r>
            <a:r>
              <a:rPr dirty="0"/>
              <a:t> </a:t>
            </a:r>
            <a:r>
              <a:rPr dirty="0" err="1"/>
              <a:t>bei</a:t>
            </a:r>
            <a:r>
              <a:rPr dirty="0"/>
              <a:t> </a:t>
            </a:r>
            <a:r>
              <a:rPr dirty="0" err="1"/>
              <a:t>mehreren</a:t>
            </a:r>
            <a:r>
              <a:rPr dirty="0"/>
              <a:t> </a:t>
            </a:r>
            <a:r>
              <a:rPr dirty="0" err="1"/>
              <a:t>Organisationen</a:t>
            </a:r>
            <a:r>
              <a:rPr dirty="0"/>
              <a:t> </a:t>
            </a:r>
            <a:r>
              <a:rPr dirty="0" err="1"/>
              <a:t>bräuchte</a:t>
            </a:r>
            <a:r>
              <a:rPr dirty="0"/>
              <a:t> es </a:t>
            </a:r>
            <a:r>
              <a:rPr dirty="0" err="1"/>
              <a:t>eine</a:t>
            </a:r>
            <a:r>
              <a:rPr dirty="0"/>
              <a:t> </a:t>
            </a:r>
            <a:r>
              <a:rPr dirty="0" err="1"/>
              <a:t>Mandantentrennung</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Zur </a:t>
            </a:r>
            <a:r>
              <a:rPr dirty="0" err="1"/>
              <a:t>persönlichen</a:t>
            </a:r>
            <a:r>
              <a:rPr dirty="0"/>
              <a:t> </a:t>
            </a:r>
            <a:r>
              <a:rPr dirty="0" err="1"/>
              <a:t>Reflexion</a:t>
            </a:r>
            <a:r>
              <a:rPr dirty="0"/>
              <a:t> – </a:t>
            </a:r>
            <a:endParaRPr lang="de-CH" dirty="0"/>
          </a:p>
          <a:p>
            <a:endParaRPr lang="en-US" dirty="0"/>
          </a:p>
          <a:p>
            <a:r>
              <a:rPr dirty="0"/>
              <a:t>was ich </a:t>
            </a:r>
            <a:r>
              <a:rPr dirty="0" err="1"/>
              <a:t>aus</a:t>
            </a:r>
            <a:r>
              <a:rPr dirty="0"/>
              <a:t> </a:t>
            </a:r>
            <a:r>
              <a:rPr dirty="0" err="1"/>
              <a:t>diesem</a:t>
            </a:r>
            <a:r>
              <a:rPr dirty="0"/>
              <a:t> Projekt für </a:t>
            </a:r>
            <a:r>
              <a:rPr dirty="0" err="1"/>
              <a:t>meine</a:t>
            </a:r>
            <a:r>
              <a:rPr dirty="0"/>
              <a:t> </a:t>
            </a:r>
            <a:r>
              <a:rPr dirty="0" err="1"/>
              <a:t>berufliche</a:t>
            </a:r>
            <a:r>
              <a:rPr dirty="0"/>
              <a:t> Praxis </a:t>
            </a:r>
            <a:r>
              <a:rPr dirty="0" err="1"/>
              <a:t>mitnehme</a:t>
            </a:r>
            <a:r>
              <a:rPr dirty="0"/>
              <a:t>. </a:t>
            </a:r>
            <a:endParaRPr lang="de-CH" dirty="0"/>
          </a:p>
          <a:p>
            <a:r>
              <a:rPr dirty="0"/>
              <a:t>Die </a:t>
            </a:r>
            <a:r>
              <a:rPr dirty="0" err="1"/>
              <a:t>vielleicht</a:t>
            </a:r>
            <a:r>
              <a:rPr dirty="0"/>
              <a:t> </a:t>
            </a:r>
            <a:r>
              <a:rPr dirty="0" err="1"/>
              <a:t>wichtigste</a:t>
            </a:r>
            <a:r>
              <a:rPr dirty="0"/>
              <a:t> </a:t>
            </a:r>
            <a:r>
              <a:rPr dirty="0" err="1"/>
              <a:t>Erkenntnis</a:t>
            </a:r>
            <a:r>
              <a:rPr dirty="0"/>
              <a:t>: Bei </a:t>
            </a:r>
            <a:r>
              <a:rPr dirty="0" err="1"/>
              <a:t>Integrationsprojekten</a:t>
            </a:r>
            <a:r>
              <a:rPr dirty="0"/>
              <a:t> </a:t>
            </a:r>
            <a:r>
              <a:rPr dirty="0" err="1"/>
              <a:t>steckt</a:t>
            </a:r>
            <a:r>
              <a:rPr dirty="0"/>
              <a:t> die </a:t>
            </a:r>
            <a:r>
              <a:rPr dirty="0" err="1"/>
              <a:t>grösste</a:t>
            </a:r>
            <a:r>
              <a:rPr dirty="0"/>
              <a:t> </a:t>
            </a:r>
            <a:r>
              <a:rPr dirty="0" err="1"/>
              <a:t>Herausforderung</a:t>
            </a:r>
            <a:r>
              <a:rPr dirty="0"/>
              <a:t> </a:t>
            </a:r>
            <a:r>
              <a:rPr dirty="0" err="1"/>
              <a:t>selten</a:t>
            </a:r>
            <a:r>
              <a:rPr dirty="0"/>
              <a:t> in der </a:t>
            </a:r>
            <a:r>
              <a:rPr dirty="0" err="1"/>
              <a:t>eigenen</a:t>
            </a:r>
            <a:r>
              <a:rPr dirty="0"/>
              <a:t> </a:t>
            </a:r>
            <a:r>
              <a:rPr dirty="0" err="1"/>
              <a:t>Codebasis</a:t>
            </a:r>
            <a:r>
              <a:rPr dirty="0"/>
              <a:t>, </a:t>
            </a:r>
            <a:endParaRPr lang="de-CH" dirty="0"/>
          </a:p>
          <a:p>
            <a:r>
              <a:rPr dirty="0" err="1"/>
              <a:t>sondern</a:t>
            </a:r>
            <a:r>
              <a:rPr dirty="0"/>
              <a:t> in den </a:t>
            </a:r>
            <a:r>
              <a:rPr dirty="0" err="1"/>
              <a:t>Eigenheiten</a:t>
            </a:r>
            <a:r>
              <a:rPr dirty="0"/>
              <a:t> und </a:t>
            </a:r>
            <a:r>
              <a:rPr dirty="0" err="1"/>
              <a:t>Inkonsistenzen</a:t>
            </a:r>
            <a:r>
              <a:rPr dirty="0"/>
              <a:t> des Systems, an das man </a:t>
            </a:r>
            <a:r>
              <a:rPr dirty="0" err="1"/>
              <a:t>anbindet</a:t>
            </a:r>
            <a:r>
              <a:rPr dirty="0"/>
              <a:t>. Das </a:t>
            </a:r>
            <a:r>
              <a:rPr dirty="0" err="1"/>
              <a:t>werde</a:t>
            </a:r>
            <a:r>
              <a:rPr dirty="0"/>
              <a:t> ich in Zukunft von Anfang an </a:t>
            </a:r>
            <a:r>
              <a:rPr dirty="0" err="1"/>
              <a:t>einplanen</a:t>
            </a:r>
            <a:r>
              <a:rPr dirty="0"/>
              <a:t>. </a:t>
            </a:r>
            <a:endParaRPr lang="de-CH" dirty="0"/>
          </a:p>
          <a:p>
            <a:endParaRPr lang="en-US" dirty="0"/>
          </a:p>
          <a:p>
            <a:r>
              <a:rPr dirty="0"/>
              <a:t>Das Projekt </a:t>
            </a:r>
            <a:r>
              <a:rPr dirty="0" err="1"/>
              <a:t>allein</a:t>
            </a:r>
            <a:r>
              <a:rPr dirty="0"/>
              <a:t> </a:t>
            </a:r>
            <a:r>
              <a:rPr dirty="0" err="1"/>
              <a:t>umzusetzen</a:t>
            </a:r>
            <a:r>
              <a:rPr dirty="0"/>
              <a:t> </a:t>
            </a:r>
            <a:r>
              <a:rPr dirty="0" err="1"/>
              <a:t>hatte</a:t>
            </a:r>
            <a:r>
              <a:rPr dirty="0"/>
              <a:t> </a:t>
            </a:r>
            <a:r>
              <a:rPr dirty="0" err="1"/>
              <a:t>zwei</a:t>
            </a:r>
            <a:r>
              <a:rPr dirty="0"/>
              <a:t> Seiten: </a:t>
            </a:r>
            <a:endParaRPr lang="de-CH" dirty="0"/>
          </a:p>
          <a:p>
            <a:r>
              <a:rPr dirty="0"/>
              <a:t>Ich </a:t>
            </a:r>
            <a:r>
              <a:rPr dirty="0" err="1"/>
              <a:t>konnte</a:t>
            </a:r>
            <a:r>
              <a:rPr dirty="0"/>
              <a:t> </a:t>
            </a:r>
            <a:r>
              <a:rPr dirty="0" err="1"/>
              <a:t>Entscheidungen</a:t>
            </a:r>
            <a:r>
              <a:rPr dirty="0"/>
              <a:t> schnell </a:t>
            </a:r>
            <a:r>
              <a:rPr dirty="0" err="1"/>
              <a:t>treffen</a:t>
            </a:r>
            <a:r>
              <a:rPr dirty="0"/>
              <a:t> und </a:t>
            </a:r>
            <a:r>
              <a:rPr dirty="0" err="1"/>
              <a:t>musste</a:t>
            </a:r>
            <a:r>
              <a:rPr dirty="0"/>
              <a:t> </a:t>
            </a:r>
            <a:r>
              <a:rPr dirty="0" err="1"/>
              <a:t>mich</a:t>
            </a:r>
            <a:r>
              <a:rPr dirty="0"/>
              <a:t> </a:t>
            </a:r>
            <a:r>
              <a:rPr dirty="0" err="1"/>
              <a:t>mit</a:t>
            </a:r>
            <a:r>
              <a:rPr dirty="0"/>
              <a:t> </a:t>
            </a:r>
            <a:r>
              <a:rPr dirty="0" err="1"/>
              <a:t>niemandem</a:t>
            </a:r>
            <a:r>
              <a:rPr dirty="0"/>
              <a:t> </a:t>
            </a:r>
            <a:r>
              <a:rPr dirty="0" err="1"/>
              <a:t>abstimmen</a:t>
            </a:r>
            <a:r>
              <a:rPr dirty="0"/>
              <a:t> – </a:t>
            </a:r>
            <a:endParaRPr lang="de-CH" dirty="0"/>
          </a:p>
          <a:p>
            <a:r>
              <a:rPr dirty="0" err="1"/>
              <a:t>aber</a:t>
            </a:r>
            <a:r>
              <a:rPr dirty="0"/>
              <a:t> mir </a:t>
            </a:r>
            <a:r>
              <a:rPr dirty="0" err="1"/>
              <a:t>fehlte</a:t>
            </a:r>
            <a:r>
              <a:rPr dirty="0"/>
              <a:t> das </a:t>
            </a:r>
            <a:r>
              <a:rPr dirty="0" err="1"/>
              <a:t>zweite</a:t>
            </a:r>
            <a:r>
              <a:rPr dirty="0"/>
              <a:t> Paar Augen, die Code-Reviews, die man </a:t>
            </a:r>
            <a:r>
              <a:rPr dirty="0" err="1"/>
              <a:t>im</a:t>
            </a:r>
            <a:r>
              <a:rPr dirty="0"/>
              <a:t> Team hat. </a:t>
            </a:r>
            <a:r>
              <a:rPr dirty="0" err="1"/>
              <a:t>Ohne</a:t>
            </a:r>
            <a:r>
              <a:rPr dirty="0"/>
              <a:t> die </a:t>
            </a:r>
            <a:r>
              <a:rPr dirty="0" err="1"/>
              <a:t>schleichen</a:t>
            </a:r>
            <a:r>
              <a:rPr dirty="0"/>
              <a:t> </a:t>
            </a:r>
            <a:r>
              <a:rPr dirty="0" err="1"/>
              <a:t>sich</a:t>
            </a:r>
            <a:r>
              <a:rPr dirty="0"/>
              <a:t> Fehler </a:t>
            </a:r>
            <a:r>
              <a:rPr dirty="0" err="1"/>
              <a:t>ein</a:t>
            </a:r>
            <a:r>
              <a:rPr dirty="0"/>
              <a:t>, die man </a:t>
            </a:r>
            <a:r>
              <a:rPr dirty="0" err="1"/>
              <a:t>selbst</a:t>
            </a:r>
            <a:r>
              <a:rPr dirty="0"/>
              <a:t> nicht </a:t>
            </a:r>
            <a:r>
              <a:rPr dirty="0" err="1"/>
              <a:t>sieht</a:t>
            </a:r>
            <a:r>
              <a:rPr dirty="0"/>
              <a:t>. </a:t>
            </a:r>
            <a:endParaRPr lang="de-CH" dirty="0"/>
          </a:p>
          <a:p>
            <a:endParaRPr lang="en-US" dirty="0"/>
          </a:p>
          <a:p>
            <a:r>
              <a:rPr dirty="0" err="1"/>
              <a:t>Fachlich</a:t>
            </a:r>
            <a:r>
              <a:rPr dirty="0"/>
              <a:t> </a:t>
            </a:r>
            <a:r>
              <a:rPr dirty="0" err="1"/>
              <a:t>habe</a:t>
            </a:r>
            <a:r>
              <a:rPr dirty="0"/>
              <a:t> ich </a:t>
            </a:r>
            <a:r>
              <a:rPr dirty="0" err="1"/>
              <a:t>viel</a:t>
            </a:r>
            <a:r>
              <a:rPr dirty="0"/>
              <a:t> </a:t>
            </a:r>
            <a:r>
              <a:rPr dirty="0" err="1"/>
              <a:t>dazugelernt</a:t>
            </a:r>
            <a:r>
              <a:rPr dirty="0"/>
              <a:t>: </a:t>
            </a:r>
            <a:r>
              <a:rPr dirty="0" err="1"/>
              <a:t>Vorher</a:t>
            </a:r>
            <a:r>
              <a:rPr dirty="0"/>
              <a:t> lag </a:t>
            </a:r>
            <a:r>
              <a:rPr dirty="0" err="1"/>
              <a:t>mein</a:t>
            </a:r>
            <a:r>
              <a:rPr dirty="0"/>
              <a:t> </a:t>
            </a:r>
            <a:r>
              <a:rPr dirty="0" err="1"/>
              <a:t>Schwerpunkt</a:t>
            </a:r>
            <a:r>
              <a:rPr dirty="0"/>
              <a:t> auf Frontend und </a:t>
            </a:r>
            <a:r>
              <a:rPr dirty="0" err="1"/>
              <a:t>Infrastruktur</a:t>
            </a:r>
            <a:r>
              <a:rPr dirty="0"/>
              <a:t>, </a:t>
            </a:r>
            <a:r>
              <a:rPr dirty="0" err="1"/>
              <a:t>durch</a:t>
            </a:r>
            <a:r>
              <a:rPr dirty="0"/>
              <a:t> dieses Projekt </a:t>
            </a:r>
            <a:r>
              <a:rPr dirty="0" err="1"/>
              <a:t>habe</a:t>
            </a:r>
            <a:r>
              <a:rPr dirty="0"/>
              <a:t> ich </a:t>
            </a:r>
            <a:r>
              <a:rPr dirty="0" err="1"/>
              <a:t>fundierte</a:t>
            </a:r>
            <a:r>
              <a:rPr dirty="0"/>
              <a:t> Backend-</a:t>
            </a:r>
            <a:r>
              <a:rPr dirty="0" err="1"/>
              <a:t>Erfahrung</a:t>
            </a:r>
            <a:r>
              <a:rPr dirty="0"/>
              <a:t> </a:t>
            </a:r>
            <a:r>
              <a:rPr dirty="0" err="1"/>
              <a:t>gewonnen</a:t>
            </a:r>
            <a:r>
              <a:rPr dirty="0"/>
              <a:t>. </a:t>
            </a:r>
            <a:endParaRPr lang="de-CH" dirty="0"/>
          </a:p>
          <a:p>
            <a:endParaRPr lang="en-US" dirty="0"/>
          </a:p>
          <a:p>
            <a:r>
              <a:rPr dirty="0"/>
              <a:t>Drei </a:t>
            </a:r>
            <a:r>
              <a:rPr dirty="0" err="1"/>
              <a:t>konkrete</a:t>
            </a:r>
            <a:r>
              <a:rPr dirty="0"/>
              <a:t> Dinge </a:t>
            </a:r>
            <a:r>
              <a:rPr dirty="0" err="1"/>
              <a:t>nehme</a:t>
            </a:r>
            <a:r>
              <a:rPr dirty="0"/>
              <a:t> ich </a:t>
            </a:r>
            <a:r>
              <a:rPr dirty="0" err="1"/>
              <a:t>mit</a:t>
            </a:r>
            <a:r>
              <a:rPr dirty="0"/>
              <a:t>: </a:t>
            </a:r>
            <a:endParaRPr lang="de-CH" dirty="0"/>
          </a:p>
          <a:p>
            <a:r>
              <a:rPr dirty="0" err="1"/>
              <a:t>Integrationen</a:t>
            </a:r>
            <a:r>
              <a:rPr dirty="0"/>
              <a:t> immer </a:t>
            </a:r>
            <a:r>
              <a:rPr dirty="0" err="1"/>
              <a:t>mit</a:t>
            </a:r>
            <a:r>
              <a:rPr dirty="0"/>
              <a:t> </a:t>
            </a:r>
            <a:r>
              <a:rPr dirty="0" err="1"/>
              <a:t>einem</a:t>
            </a:r>
            <a:r>
              <a:rPr dirty="0"/>
              <a:t> Spike </a:t>
            </a:r>
            <a:r>
              <a:rPr dirty="0" err="1"/>
              <a:t>beginnen</a:t>
            </a:r>
            <a:r>
              <a:rPr dirty="0"/>
              <a:t>, </a:t>
            </a:r>
            <a:r>
              <a:rPr dirty="0" err="1"/>
              <a:t>automatisierte</a:t>
            </a:r>
            <a:r>
              <a:rPr dirty="0"/>
              <a:t> Tests von Anfang an </a:t>
            </a:r>
            <a:r>
              <a:rPr dirty="0" err="1"/>
              <a:t>schreiben</a:t>
            </a:r>
            <a:r>
              <a:rPr dirty="0"/>
              <a:t>, und </a:t>
            </a:r>
            <a:r>
              <a:rPr dirty="0" err="1"/>
              <a:t>auch</a:t>
            </a:r>
            <a:r>
              <a:rPr dirty="0"/>
              <a:t> </a:t>
            </a:r>
            <a:r>
              <a:rPr dirty="0" err="1"/>
              <a:t>als</a:t>
            </a:r>
            <a:r>
              <a:rPr dirty="0"/>
              <a:t> Solo-</a:t>
            </a:r>
            <a:r>
              <a:rPr dirty="0" err="1"/>
              <a:t>Entwickler</a:t>
            </a:r>
            <a:r>
              <a:rPr dirty="0"/>
              <a:t> Code-Reviews </a:t>
            </a:r>
            <a:r>
              <a:rPr dirty="0" err="1"/>
              <a:t>zumindest</a:t>
            </a:r>
            <a:r>
              <a:rPr dirty="0"/>
              <a:t> </a:t>
            </a:r>
            <a:r>
              <a:rPr dirty="0" err="1"/>
              <a:t>simulieren</a:t>
            </a:r>
            <a:r>
              <a:rPr dirty="0"/>
              <a:t>. </a:t>
            </a:r>
            <a:endParaRPr lang="de-CH" dirty="0"/>
          </a:p>
          <a:p>
            <a:endParaRPr lang="en-US" dirty="0"/>
          </a:p>
          <a:p>
            <a:r>
              <a:rPr dirty="0"/>
              <a:t>Und </a:t>
            </a:r>
            <a:r>
              <a:rPr dirty="0" err="1"/>
              <a:t>zum</a:t>
            </a:r>
            <a:r>
              <a:rPr dirty="0"/>
              <a:t> KI-</a:t>
            </a:r>
            <a:r>
              <a:rPr dirty="0" err="1"/>
              <a:t>Einsatz</a:t>
            </a:r>
            <a:r>
              <a:rPr dirty="0"/>
              <a:t> </a:t>
            </a:r>
            <a:r>
              <a:rPr dirty="0" err="1"/>
              <a:t>meine</a:t>
            </a:r>
            <a:r>
              <a:rPr dirty="0"/>
              <a:t> </a:t>
            </a:r>
            <a:r>
              <a:rPr dirty="0" err="1"/>
              <a:t>zentrale</a:t>
            </a:r>
            <a:r>
              <a:rPr dirty="0"/>
              <a:t> </a:t>
            </a:r>
            <a:r>
              <a:rPr dirty="0" err="1"/>
              <a:t>Lehre</a:t>
            </a:r>
            <a:r>
              <a:rPr dirty="0"/>
              <a:t>: </a:t>
            </a:r>
            <a:endParaRPr lang="de-CH" dirty="0"/>
          </a:p>
          <a:p>
            <a:r>
              <a:rPr dirty="0"/>
              <a:t>Generative KI </a:t>
            </a:r>
            <a:r>
              <a:rPr dirty="0" err="1"/>
              <a:t>beschleunigt</a:t>
            </a:r>
            <a:r>
              <a:rPr dirty="0"/>
              <a:t> </a:t>
            </a:r>
            <a:r>
              <a:rPr dirty="0" err="1"/>
              <a:t>einen</a:t>
            </a:r>
            <a:r>
              <a:rPr dirty="0"/>
              <a:t> </a:t>
            </a:r>
            <a:r>
              <a:rPr dirty="0" err="1"/>
              <a:t>erfahrenen</a:t>
            </a:r>
            <a:r>
              <a:rPr dirty="0"/>
              <a:t> </a:t>
            </a:r>
            <a:r>
              <a:rPr dirty="0" err="1"/>
              <a:t>Entwickler</a:t>
            </a:r>
            <a:r>
              <a:rPr dirty="0"/>
              <a:t> </a:t>
            </a:r>
            <a:r>
              <a:rPr dirty="0" err="1"/>
              <a:t>erheblich</a:t>
            </a:r>
            <a:r>
              <a:rPr dirty="0"/>
              <a:t>, </a:t>
            </a:r>
            <a:r>
              <a:rPr dirty="0" err="1"/>
              <a:t>aber</a:t>
            </a:r>
            <a:r>
              <a:rPr dirty="0"/>
              <a:t> </a:t>
            </a:r>
            <a:r>
              <a:rPr dirty="0" err="1"/>
              <a:t>sie</a:t>
            </a:r>
            <a:r>
              <a:rPr dirty="0"/>
              <a:t> </a:t>
            </a:r>
            <a:r>
              <a:rPr dirty="0" err="1"/>
              <a:t>ersetzt</a:t>
            </a:r>
            <a:r>
              <a:rPr dirty="0"/>
              <a:t> </a:t>
            </a:r>
            <a:r>
              <a:rPr dirty="0" err="1"/>
              <a:t>Fachkompetenz</a:t>
            </a:r>
            <a:r>
              <a:rPr dirty="0"/>
              <a:t> nicht. </a:t>
            </a:r>
            <a:endParaRPr lang="de-CH" dirty="0"/>
          </a:p>
          <a:p>
            <a:r>
              <a:rPr dirty="0" err="1"/>
              <a:t>Wer</a:t>
            </a:r>
            <a:r>
              <a:rPr dirty="0"/>
              <a:t> </a:t>
            </a:r>
            <a:r>
              <a:rPr dirty="0" err="1"/>
              <a:t>Vorschläge</a:t>
            </a:r>
            <a:r>
              <a:rPr dirty="0"/>
              <a:t> </a:t>
            </a:r>
            <a:r>
              <a:rPr dirty="0" err="1"/>
              <a:t>ungeprüft</a:t>
            </a:r>
            <a:r>
              <a:rPr dirty="0"/>
              <a:t> </a:t>
            </a:r>
            <a:r>
              <a:rPr dirty="0" err="1"/>
              <a:t>übernimmt</a:t>
            </a:r>
            <a:r>
              <a:rPr dirty="0"/>
              <a:t>, </a:t>
            </a:r>
            <a:r>
              <a:rPr dirty="0" err="1"/>
              <a:t>baut</a:t>
            </a:r>
            <a:r>
              <a:rPr dirty="0"/>
              <a:t> </a:t>
            </a:r>
            <a:r>
              <a:rPr dirty="0" err="1"/>
              <a:t>sich</a:t>
            </a:r>
            <a:r>
              <a:rPr dirty="0"/>
              <a:t> </a:t>
            </a:r>
            <a:r>
              <a:rPr dirty="0" err="1"/>
              <a:t>Inkonsistenzen</a:t>
            </a:r>
            <a:r>
              <a:rPr dirty="0"/>
              <a:t>, </a:t>
            </a:r>
            <a:r>
              <a:rPr dirty="0" err="1"/>
              <a:t>Sicherheitslücken</a:t>
            </a:r>
            <a:r>
              <a:rPr dirty="0"/>
              <a:t> </a:t>
            </a:r>
            <a:r>
              <a:rPr dirty="0" err="1"/>
              <a:t>oder</a:t>
            </a:r>
            <a:r>
              <a:rPr dirty="0"/>
              <a:t> </a:t>
            </a:r>
            <a:r>
              <a:rPr dirty="0" err="1"/>
              <a:t>erfundene</a:t>
            </a:r>
            <a:r>
              <a:rPr dirty="0"/>
              <a:t> </a:t>
            </a:r>
            <a:r>
              <a:rPr dirty="0" err="1"/>
              <a:t>Funktionen</a:t>
            </a:r>
            <a:r>
              <a:rPr dirty="0"/>
              <a:t> </a:t>
            </a:r>
            <a:r>
              <a:rPr dirty="0" err="1"/>
              <a:t>ein</a:t>
            </a:r>
            <a:r>
              <a:rPr dirty="0"/>
              <a:t>. </a:t>
            </a:r>
            <a:endParaRPr lang="de-CH" dirty="0"/>
          </a:p>
          <a:p>
            <a:endParaRPr lang="en-US" dirty="0"/>
          </a:p>
          <a:p>
            <a:r>
              <a:rPr dirty="0" err="1"/>
              <a:t>Genau</a:t>
            </a:r>
            <a:r>
              <a:rPr dirty="0"/>
              <a:t> </a:t>
            </a:r>
            <a:r>
              <a:rPr dirty="0" err="1"/>
              <a:t>deshalb</a:t>
            </a:r>
            <a:r>
              <a:rPr dirty="0"/>
              <a:t> war die </a:t>
            </a:r>
            <a:r>
              <a:rPr dirty="0" err="1"/>
              <a:t>manuelle</a:t>
            </a:r>
            <a:r>
              <a:rPr dirty="0"/>
              <a:t> Review-Phase </a:t>
            </a:r>
            <a:r>
              <a:rPr dirty="0" err="1"/>
              <a:t>nach</a:t>
            </a:r>
            <a:r>
              <a:rPr dirty="0"/>
              <a:t> </a:t>
            </a:r>
            <a:r>
              <a:rPr dirty="0" err="1"/>
              <a:t>jedem</a:t>
            </a:r>
            <a:r>
              <a:rPr dirty="0"/>
              <a:t> Output für </a:t>
            </a:r>
            <a:r>
              <a:rPr dirty="0" err="1"/>
              <a:t>mich</a:t>
            </a:r>
            <a:r>
              <a:rPr dirty="0"/>
              <a:t> der </a:t>
            </a:r>
            <a:r>
              <a:rPr dirty="0" err="1"/>
              <a:t>entscheidende</a:t>
            </a:r>
            <a:r>
              <a:rPr dirty="0"/>
              <a:t> Schritt.</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Bevor ich </a:t>
            </a:r>
            <a:r>
              <a:rPr dirty="0" err="1"/>
              <a:t>zur</a:t>
            </a:r>
            <a:r>
              <a:rPr dirty="0"/>
              <a:t> </a:t>
            </a:r>
            <a:r>
              <a:rPr dirty="0" err="1"/>
              <a:t>Empfehlung</a:t>
            </a:r>
            <a:r>
              <a:rPr dirty="0"/>
              <a:t> </a:t>
            </a:r>
            <a:r>
              <a:rPr dirty="0" err="1"/>
              <a:t>komme</a:t>
            </a:r>
            <a:r>
              <a:rPr dirty="0"/>
              <a:t>, </a:t>
            </a:r>
            <a:r>
              <a:rPr dirty="0" err="1"/>
              <a:t>ein</a:t>
            </a:r>
            <a:r>
              <a:rPr dirty="0"/>
              <a:t> Blick auf die </a:t>
            </a:r>
            <a:r>
              <a:rPr dirty="0" err="1"/>
              <a:t>Wirtschaftlichkeit</a:t>
            </a:r>
            <a:endParaRPr lang="de-CH" dirty="0"/>
          </a:p>
          <a:p>
            <a:endParaRPr lang="en-US" dirty="0"/>
          </a:p>
          <a:p>
            <a:r>
              <a:rPr dirty="0" err="1"/>
              <a:t>denn</a:t>
            </a:r>
            <a:r>
              <a:rPr dirty="0"/>
              <a:t> </a:t>
            </a:r>
            <a:r>
              <a:rPr dirty="0" err="1"/>
              <a:t>eine</a:t>
            </a:r>
            <a:r>
              <a:rPr dirty="0"/>
              <a:t> </a:t>
            </a:r>
            <a:r>
              <a:rPr dirty="0" err="1"/>
              <a:t>Lösung</a:t>
            </a:r>
            <a:r>
              <a:rPr dirty="0"/>
              <a:t> muss </a:t>
            </a:r>
            <a:r>
              <a:rPr dirty="0" err="1"/>
              <a:t>sich</a:t>
            </a:r>
            <a:r>
              <a:rPr dirty="0"/>
              <a:t> am Ende </a:t>
            </a:r>
            <a:r>
              <a:rPr dirty="0" err="1"/>
              <a:t>rechnen</a:t>
            </a:r>
            <a:r>
              <a:rPr dirty="0"/>
              <a:t>. </a:t>
            </a:r>
            <a:endParaRPr lang="de-CH" dirty="0"/>
          </a:p>
          <a:p>
            <a:endParaRPr lang="en-US" dirty="0"/>
          </a:p>
          <a:p>
            <a:r>
              <a:rPr dirty="0"/>
              <a:t>Auf der </a:t>
            </a:r>
            <a:r>
              <a:rPr dirty="0" err="1"/>
              <a:t>Kostenseite</a:t>
            </a:r>
            <a:r>
              <a:rPr dirty="0"/>
              <a:t>: Der </a:t>
            </a:r>
            <a:r>
              <a:rPr dirty="0" err="1"/>
              <a:t>Betrieb</a:t>
            </a:r>
            <a:r>
              <a:rPr dirty="0"/>
              <a:t> von </a:t>
            </a:r>
            <a:r>
              <a:rPr dirty="0" err="1"/>
              <a:t>Sprintify</a:t>
            </a:r>
            <a:r>
              <a:rPr dirty="0"/>
              <a:t> </a:t>
            </a:r>
            <a:r>
              <a:rPr dirty="0" err="1"/>
              <a:t>kostet</a:t>
            </a:r>
            <a:r>
              <a:rPr dirty="0"/>
              <a:t> </a:t>
            </a:r>
            <a:r>
              <a:rPr dirty="0" err="1"/>
              <a:t>rund</a:t>
            </a:r>
            <a:r>
              <a:rPr dirty="0"/>
              <a:t> 630 Franken pro Jahr, </a:t>
            </a:r>
            <a:r>
              <a:rPr dirty="0" err="1"/>
              <a:t>im</a:t>
            </a:r>
            <a:r>
              <a:rPr dirty="0"/>
              <a:t> </a:t>
            </a:r>
            <a:r>
              <a:rPr dirty="0" err="1"/>
              <a:t>Wesentlichen</a:t>
            </a:r>
            <a:r>
              <a:rPr dirty="0"/>
              <a:t> die Azure-</a:t>
            </a:r>
            <a:r>
              <a:rPr dirty="0" err="1"/>
              <a:t>Ressourcen</a:t>
            </a:r>
            <a:r>
              <a:rPr dirty="0"/>
              <a:t>, </a:t>
            </a:r>
            <a:r>
              <a:rPr dirty="0" err="1"/>
              <a:t>weil</a:t>
            </a:r>
            <a:r>
              <a:rPr dirty="0"/>
              <a:t> es auf </a:t>
            </a:r>
            <a:r>
              <a:rPr dirty="0" err="1"/>
              <a:t>unserer</a:t>
            </a:r>
            <a:r>
              <a:rPr dirty="0"/>
              <a:t> </a:t>
            </a:r>
            <a:r>
              <a:rPr dirty="0" err="1"/>
              <a:t>bestehenden</a:t>
            </a:r>
            <a:r>
              <a:rPr dirty="0"/>
              <a:t> </a:t>
            </a:r>
            <a:r>
              <a:rPr dirty="0" err="1"/>
              <a:t>Infrastruktur</a:t>
            </a:r>
            <a:r>
              <a:rPr dirty="0"/>
              <a:t> </a:t>
            </a:r>
            <a:r>
              <a:rPr dirty="0" err="1"/>
              <a:t>mitläuft</a:t>
            </a:r>
            <a:r>
              <a:rPr dirty="0"/>
              <a:t>. </a:t>
            </a:r>
            <a:endParaRPr lang="de-CH" dirty="0"/>
          </a:p>
          <a:p>
            <a:endParaRPr lang="en-US" dirty="0"/>
          </a:p>
          <a:p>
            <a:r>
              <a:rPr dirty="0"/>
              <a:t>Zum </a:t>
            </a:r>
            <a:r>
              <a:rPr dirty="0" err="1"/>
              <a:t>Vergleich</a:t>
            </a:r>
            <a:r>
              <a:rPr dirty="0"/>
              <a:t> </a:t>
            </a:r>
            <a:r>
              <a:rPr dirty="0" err="1"/>
              <a:t>habe</a:t>
            </a:r>
            <a:r>
              <a:rPr dirty="0"/>
              <a:t> ich die </a:t>
            </a:r>
            <a:r>
              <a:rPr dirty="0" err="1"/>
              <a:t>kommerziellen</a:t>
            </a:r>
            <a:r>
              <a:rPr dirty="0"/>
              <a:t> </a:t>
            </a:r>
            <a:r>
              <a:rPr dirty="0" err="1"/>
              <a:t>Alternativen</a:t>
            </a:r>
            <a:r>
              <a:rPr dirty="0"/>
              <a:t> </a:t>
            </a:r>
            <a:r>
              <a:rPr dirty="0" err="1"/>
              <a:t>gerechnet</a:t>
            </a:r>
            <a:r>
              <a:rPr dirty="0"/>
              <a:t>: </a:t>
            </a:r>
            <a:endParaRPr lang="de-CH" dirty="0"/>
          </a:p>
          <a:p>
            <a:endParaRPr lang="en-US" dirty="0"/>
          </a:p>
          <a:p>
            <a:r>
              <a:rPr dirty="0"/>
              <a:t>Tempo Timesheets </a:t>
            </a:r>
            <a:r>
              <a:rPr dirty="0" err="1"/>
              <a:t>liegt</a:t>
            </a:r>
            <a:r>
              <a:rPr dirty="0"/>
              <a:t> </a:t>
            </a:r>
            <a:r>
              <a:rPr dirty="0" err="1"/>
              <a:t>bei</a:t>
            </a:r>
            <a:r>
              <a:rPr dirty="0"/>
              <a:t> </a:t>
            </a:r>
            <a:r>
              <a:rPr dirty="0" err="1"/>
              <a:t>rund</a:t>
            </a:r>
            <a:r>
              <a:rPr dirty="0"/>
              <a:t> 960 Franken pro Jahr, </a:t>
            </a:r>
            <a:endParaRPr lang="de-CH" dirty="0"/>
          </a:p>
          <a:p>
            <a:r>
              <a:rPr dirty="0"/>
              <a:t>Jira Advanced Roadmaps </a:t>
            </a:r>
            <a:r>
              <a:rPr dirty="0" err="1"/>
              <a:t>bei</a:t>
            </a:r>
            <a:r>
              <a:rPr dirty="0"/>
              <a:t> </a:t>
            </a:r>
            <a:r>
              <a:rPr dirty="0" err="1"/>
              <a:t>über</a:t>
            </a:r>
            <a:r>
              <a:rPr dirty="0"/>
              <a:t> 1500 Franken – und das </a:t>
            </a:r>
            <a:r>
              <a:rPr dirty="0" err="1"/>
              <a:t>bei</a:t>
            </a:r>
            <a:r>
              <a:rPr dirty="0"/>
              <a:t> </a:t>
            </a:r>
            <a:r>
              <a:rPr dirty="0" err="1"/>
              <a:t>geringerem</a:t>
            </a:r>
            <a:r>
              <a:rPr dirty="0"/>
              <a:t> </a:t>
            </a:r>
            <a:r>
              <a:rPr dirty="0" err="1"/>
              <a:t>Funktionsumfang</a:t>
            </a:r>
            <a:r>
              <a:rPr dirty="0"/>
              <a:t> </a:t>
            </a:r>
            <a:r>
              <a:rPr dirty="0" err="1"/>
              <a:t>im</a:t>
            </a:r>
            <a:r>
              <a:rPr dirty="0"/>
              <a:t> </a:t>
            </a:r>
            <a:r>
              <a:rPr dirty="0" err="1"/>
              <a:t>Bereich</a:t>
            </a:r>
            <a:r>
              <a:rPr dirty="0"/>
              <a:t> </a:t>
            </a:r>
            <a:r>
              <a:rPr dirty="0" err="1"/>
              <a:t>Kapazitätsplanung</a:t>
            </a:r>
            <a:r>
              <a:rPr dirty="0"/>
              <a:t>. </a:t>
            </a:r>
            <a:endParaRPr lang="de-CH" dirty="0"/>
          </a:p>
          <a:p>
            <a:endParaRPr lang="en-US" dirty="0"/>
          </a:p>
          <a:p>
            <a:r>
              <a:rPr dirty="0" err="1"/>
              <a:t>Sprintify</a:t>
            </a:r>
            <a:r>
              <a:rPr dirty="0"/>
              <a:t> </a:t>
            </a:r>
            <a:r>
              <a:rPr dirty="0" err="1"/>
              <a:t>ist</a:t>
            </a:r>
            <a:r>
              <a:rPr dirty="0"/>
              <a:t> also nicht </a:t>
            </a:r>
            <a:r>
              <a:rPr dirty="0" err="1"/>
              <a:t>nur</a:t>
            </a:r>
            <a:r>
              <a:rPr dirty="0"/>
              <a:t> </a:t>
            </a:r>
            <a:r>
              <a:rPr dirty="0" err="1"/>
              <a:t>günstiger</a:t>
            </a:r>
            <a:r>
              <a:rPr dirty="0"/>
              <a:t>, </a:t>
            </a:r>
            <a:r>
              <a:rPr dirty="0" err="1"/>
              <a:t>sondern</a:t>
            </a:r>
            <a:r>
              <a:rPr dirty="0"/>
              <a:t> für </a:t>
            </a:r>
            <a:r>
              <a:rPr dirty="0" err="1"/>
              <a:t>unseren</a:t>
            </a:r>
            <a:r>
              <a:rPr dirty="0"/>
              <a:t> </a:t>
            </a:r>
            <a:r>
              <a:rPr dirty="0" err="1"/>
              <a:t>konkreten</a:t>
            </a:r>
            <a:r>
              <a:rPr dirty="0"/>
              <a:t> Zweck </a:t>
            </a:r>
            <a:r>
              <a:rPr dirty="0" err="1"/>
              <a:t>auch</a:t>
            </a:r>
            <a:r>
              <a:rPr dirty="0"/>
              <a:t> </a:t>
            </a:r>
            <a:r>
              <a:rPr dirty="0" err="1"/>
              <a:t>besser</a:t>
            </a:r>
            <a:r>
              <a:rPr dirty="0"/>
              <a:t> </a:t>
            </a:r>
            <a:r>
              <a:rPr dirty="0" err="1"/>
              <a:t>zugeschnitten</a:t>
            </a:r>
            <a:r>
              <a:rPr dirty="0"/>
              <a:t>. </a:t>
            </a:r>
            <a:endParaRPr lang="de-CH" dirty="0"/>
          </a:p>
          <a:p>
            <a:endParaRPr lang="en-US" dirty="0"/>
          </a:p>
          <a:p>
            <a:r>
              <a:rPr dirty="0"/>
              <a:t>Auf der </a:t>
            </a:r>
            <a:r>
              <a:rPr dirty="0" err="1"/>
              <a:t>Nutzenseite</a:t>
            </a:r>
            <a:r>
              <a:rPr dirty="0"/>
              <a:t>: Ich </a:t>
            </a:r>
            <a:r>
              <a:rPr dirty="0" err="1"/>
              <a:t>schätze</a:t>
            </a:r>
            <a:r>
              <a:rPr dirty="0"/>
              <a:t> die </a:t>
            </a:r>
            <a:r>
              <a:rPr dirty="0" err="1"/>
              <a:t>Zeitersparnis</a:t>
            </a:r>
            <a:r>
              <a:rPr dirty="0"/>
              <a:t> </a:t>
            </a:r>
            <a:r>
              <a:rPr dirty="0" err="1"/>
              <a:t>konservativ</a:t>
            </a:r>
            <a:r>
              <a:rPr dirty="0"/>
              <a:t> auf 80 bis 120 </a:t>
            </a:r>
            <a:r>
              <a:rPr dirty="0" err="1"/>
              <a:t>Stunden</a:t>
            </a:r>
            <a:r>
              <a:rPr dirty="0"/>
              <a:t> pro Jahr, </a:t>
            </a:r>
            <a:r>
              <a:rPr dirty="0" err="1"/>
              <a:t>allein</a:t>
            </a:r>
            <a:r>
              <a:rPr dirty="0"/>
              <a:t> </a:t>
            </a:r>
            <a:r>
              <a:rPr dirty="0" err="1"/>
              <a:t>bei</a:t>
            </a:r>
            <a:r>
              <a:rPr dirty="0"/>
              <a:t> der </a:t>
            </a:r>
            <a:r>
              <a:rPr dirty="0" err="1"/>
              <a:t>Datenerhebung</a:t>
            </a:r>
            <a:r>
              <a:rPr dirty="0"/>
              <a:t> und der Re-</a:t>
            </a:r>
            <a:r>
              <a:rPr dirty="0" err="1"/>
              <a:t>Planung</a:t>
            </a:r>
            <a:r>
              <a:rPr dirty="0"/>
              <a:t>, die </a:t>
            </a:r>
            <a:r>
              <a:rPr dirty="0" err="1"/>
              <a:t>heute</a:t>
            </a:r>
            <a:r>
              <a:rPr dirty="0"/>
              <a:t> </a:t>
            </a:r>
            <a:r>
              <a:rPr dirty="0" err="1"/>
              <a:t>manuell</a:t>
            </a:r>
            <a:r>
              <a:rPr dirty="0"/>
              <a:t> </a:t>
            </a:r>
            <a:r>
              <a:rPr dirty="0" err="1"/>
              <a:t>laufen</a:t>
            </a:r>
            <a:r>
              <a:rPr dirty="0"/>
              <a:t>. </a:t>
            </a:r>
            <a:endParaRPr lang="de-CH" dirty="0"/>
          </a:p>
          <a:p>
            <a:endParaRPr lang="en-US" dirty="0"/>
          </a:p>
          <a:p>
            <a:r>
              <a:rPr dirty="0"/>
              <a:t>Bei </a:t>
            </a:r>
            <a:r>
              <a:rPr dirty="0" err="1"/>
              <a:t>einem</a:t>
            </a:r>
            <a:r>
              <a:rPr dirty="0"/>
              <a:t> </a:t>
            </a:r>
            <a:r>
              <a:rPr dirty="0" err="1"/>
              <a:t>internen</a:t>
            </a:r>
            <a:r>
              <a:rPr dirty="0"/>
              <a:t> </a:t>
            </a:r>
            <a:r>
              <a:rPr dirty="0" err="1"/>
              <a:t>Stundensatz</a:t>
            </a:r>
            <a:r>
              <a:rPr dirty="0"/>
              <a:t> von 120 Franken </a:t>
            </a:r>
            <a:r>
              <a:rPr dirty="0" err="1"/>
              <a:t>entspricht</a:t>
            </a:r>
            <a:r>
              <a:rPr dirty="0"/>
              <a:t> das </a:t>
            </a:r>
            <a:r>
              <a:rPr dirty="0" err="1"/>
              <a:t>einer</a:t>
            </a:r>
            <a:r>
              <a:rPr dirty="0"/>
              <a:t> </a:t>
            </a:r>
            <a:r>
              <a:rPr dirty="0" err="1"/>
              <a:t>jährlichen</a:t>
            </a:r>
            <a:r>
              <a:rPr dirty="0"/>
              <a:t> </a:t>
            </a:r>
            <a:r>
              <a:rPr dirty="0" err="1"/>
              <a:t>Einsparung</a:t>
            </a:r>
            <a:r>
              <a:rPr dirty="0"/>
              <a:t> von </a:t>
            </a:r>
            <a:r>
              <a:rPr dirty="0" err="1"/>
              <a:t>rund</a:t>
            </a:r>
            <a:r>
              <a:rPr dirty="0"/>
              <a:t> 9600 bis 14400 Franken. </a:t>
            </a:r>
            <a:endParaRPr lang="de-CH" dirty="0"/>
          </a:p>
          <a:p>
            <a:endParaRPr lang="en-US" dirty="0"/>
          </a:p>
          <a:p>
            <a:r>
              <a:rPr dirty="0"/>
              <a:t>Der Return on Investment </a:t>
            </a:r>
            <a:r>
              <a:rPr dirty="0" err="1"/>
              <a:t>ist</a:t>
            </a:r>
            <a:r>
              <a:rPr dirty="0"/>
              <a:t> </a:t>
            </a:r>
            <a:r>
              <a:rPr dirty="0" err="1"/>
              <a:t>damit</a:t>
            </a:r>
            <a:r>
              <a:rPr dirty="0"/>
              <a:t> </a:t>
            </a:r>
            <a:r>
              <a:rPr dirty="0" err="1"/>
              <a:t>schon</a:t>
            </a:r>
            <a:r>
              <a:rPr dirty="0"/>
              <a:t> ab dem </a:t>
            </a:r>
            <a:r>
              <a:rPr dirty="0" err="1"/>
              <a:t>ersten</a:t>
            </a:r>
            <a:r>
              <a:rPr dirty="0"/>
              <a:t> Jahr </a:t>
            </a:r>
            <a:r>
              <a:rPr dirty="0" err="1"/>
              <a:t>deutlich</a:t>
            </a:r>
            <a:r>
              <a:rPr dirty="0"/>
              <a:t> </a:t>
            </a:r>
            <a:r>
              <a:rPr dirty="0" err="1"/>
              <a:t>positiv</a:t>
            </a:r>
            <a:r>
              <a:rPr dirty="0"/>
              <a:t> – und das </a:t>
            </a:r>
            <a:r>
              <a:rPr dirty="0" err="1"/>
              <a:t>ist</a:t>
            </a:r>
            <a:r>
              <a:rPr dirty="0"/>
              <a:t> die </a:t>
            </a:r>
            <a:r>
              <a:rPr dirty="0" err="1"/>
              <a:t>betriebswirtschaftliche</a:t>
            </a:r>
            <a:r>
              <a:rPr dirty="0"/>
              <a:t> </a:t>
            </a:r>
            <a:r>
              <a:rPr dirty="0" err="1"/>
              <a:t>Begründung</a:t>
            </a:r>
            <a:r>
              <a:rPr dirty="0"/>
              <a:t> für den </a:t>
            </a:r>
            <a:r>
              <a:rPr dirty="0" err="1"/>
              <a:t>produktiven</a:t>
            </a:r>
            <a:r>
              <a:rPr dirty="0"/>
              <a:t> </a:t>
            </a:r>
            <a:r>
              <a:rPr dirty="0" err="1"/>
              <a:t>Einsatz</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Damit </a:t>
            </a:r>
            <a:r>
              <a:rPr dirty="0" err="1"/>
              <a:t>komme</a:t>
            </a:r>
            <a:r>
              <a:rPr dirty="0"/>
              <a:t> ich </a:t>
            </a:r>
            <a:r>
              <a:rPr dirty="0" err="1"/>
              <a:t>zu</a:t>
            </a:r>
            <a:r>
              <a:rPr dirty="0"/>
              <a:t> </a:t>
            </a:r>
            <a:r>
              <a:rPr dirty="0" err="1"/>
              <a:t>meiner</a:t>
            </a:r>
            <a:r>
              <a:rPr dirty="0"/>
              <a:t> </a:t>
            </a:r>
            <a:r>
              <a:rPr dirty="0" err="1"/>
              <a:t>Empfehlung</a:t>
            </a:r>
            <a:r>
              <a:rPr dirty="0"/>
              <a:t>. </a:t>
            </a:r>
            <a:endParaRPr lang="de-CH" dirty="0"/>
          </a:p>
          <a:p>
            <a:endParaRPr lang="en-US" dirty="0"/>
          </a:p>
          <a:p>
            <a:r>
              <a:rPr dirty="0"/>
              <a:t>Ich </a:t>
            </a:r>
            <a:r>
              <a:rPr dirty="0" err="1"/>
              <a:t>empfehle</a:t>
            </a:r>
            <a:r>
              <a:rPr dirty="0"/>
              <a:t> </a:t>
            </a:r>
            <a:r>
              <a:rPr dirty="0" err="1"/>
              <a:t>klar</a:t>
            </a:r>
            <a:r>
              <a:rPr dirty="0"/>
              <a:t>, </a:t>
            </a:r>
            <a:r>
              <a:rPr dirty="0" err="1"/>
              <a:t>Sprintify</a:t>
            </a:r>
            <a:r>
              <a:rPr dirty="0"/>
              <a:t> in der </a:t>
            </a:r>
            <a:r>
              <a:rPr dirty="0" err="1"/>
              <a:t>Abteilung</a:t>
            </a:r>
            <a:r>
              <a:rPr dirty="0"/>
              <a:t> Public Cloud Solutions </a:t>
            </a:r>
            <a:r>
              <a:rPr dirty="0" err="1"/>
              <a:t>produktiv</a:t>
            </a:r>
            <a:r>
              <a:rPr dirty="0"/>
              <a:t> </a:t>
            </a:r>
            <a:r>
              <a:rPr dirty="0" err="1"/>
              <a:t>einzusetzen</a:t>
            </a:r>
            <a:r>
              <a:rPr dirty="0"/>
              <a:t> – </a:t>
            </a:r>
            <a:endParaRPr lang="de-CH" dirty="0"/>
          </a:p>
          <a:p>
            <a:endParaRPr lang="en-US" dirty="0"/>
          </a:p>
          <a:p>
            <a:r>
              <a:rPr dirty="0"/>
              <a:t>die </a:t>
            </a:r>
            <a:r>
              <a:rPr dirty="0" err="1"/>
              <a:t>Anwendung</a:t>
            </a:r>
            <a:r>
              <a:rPr dirty="0"/>
              <a:t> </a:t>
            </a:r>
            <a:r>
              <a:rPr dirty="0" err="1"/>
              <a:t>erfüllt</a:t>
            </a:r>
            <a:r>
              <a:rPr dirty="0"/>
              <a:t> die </a:t>
            </a:r>
            <a:r>
              <a:rPr dirty="0" err="1"/>
              <a:t>definierten</a:t>
            </a:r>
            <a:r>
              <a:rPr dirty="0"/>
              <a:t> </a:t>
            </a:r>
            <a:r>
              <a:rPr dirty="0" err="1"/>
              <a:t>Anforderungen</a:t>
            </a:r>
            <a:r>
              <a:rPr dirty="0"/>
              <a:t> und </a:t>
            </a:r>
            <a:r>
              <a:rPr dirty="0" err="1"/>
              <a:t>läuft</a:t>
            </a:r>
            <a:r>
              <a:rPr dirty="0"/>
              <a:t> </a:t>
            </a:r>
            <a:r>
              <a:rPr dirty="0" err="1"/>
              <a:t>stabil</a:t>
            </a:r>
            <a:r>
              <a:rPr dirty="0"/>
              <a:t> </a:t>
            </a:r>
            <a:r>
              <a:rPr dirty="0" err="1"/>
              <a:t>mit</a:t>
            </a:r>
            <a:r>
              <a:rPr dirty="0"/>
              <a:t> </a:t>
            </a:r>
            <a:r>
              <a:rPr dirty="0" err="1"/>
              <a:t>echten</a:t>
            </a:r>
            <a:r>
              <a:rPr dirty="0"/>
              <a:t> </a:t>
            </a:r>
            <a:r>
              <a:rPr dirty="0" err="1"/>
              <a:t>Daten</a:t>
            </a:r>
            <a:r>
              <a:rPr dirty="0"/>
              <a:t>. </a:t>
            </a:r>
            <a:endParaRPr lang="de-CH" dirty="0"/>
          </a:p>
          <a:p>
            <a:endParaRPr lang="en-US" dirty="0"/>
          </a:p>
          <a:p>
            <a:r>
              <a:rPr dirty="0"/>
              <a:t>Für den </a:t>
            </a:r>
            <a:r>
              <a:rPr dirty="0" err="1"/>
              <a:t>laufenden</a:t>
            </a:r>
            <a:r>
              <a:rPr dirty="0"/>
              <a:t> </a:t>
            </a:r>
            <a:r>
              <a:rPr dirty="0" err="1"/>
              <a:t>Betrieb</a:t>
            </a:r>
            <a:r>
              <a:rPr dirty="0"/>
              <a:t> </a:t>
            </a:r>
            <a:r>
              <a:rPr dirty="0" err="1"/>
              <a:t>schlage</a:t>
            </a:r>
            <a:r>
              <a:rPr dirty="0"/>
              <a:t> ich </a:t>
            </a:r>
            <a:r>
              <a:rPr dirty="0" err="1"/>
              <a:t>fünf</a:t>
            </a:r>
            <a:r>
              <a:rPr dirty="0"/>
              <a:t> </a:t>
            </a:r>
            <a:r>
              <a:rPr dirty="0" err="1"/>
              <a:t>konkrete</a:t>
            </a:r>
            <a:r>
              <a:rPr dirty="0"/>
              <a:t> </a:t>
            </a:r>
            <a:r>
              <a:rPr dirty="0" err="1"/>
              <a:t>nächste</a:t>
            </a:r>
            <a:r>
              <a:rPr dirty="0"/>
              <a:t> </a:t>
            </a:r>
            <a:r>
              <a:rPr dirty="0" err="1"/>
              <a:t>Schritte</a:t>
            </a:r>
            <a:r>
              <a:rPr dirty="0"/>
              <a:t> </a:t>
            </a:r>
            <a:r>
              <a:rPr dirty="0" err="1"/>
              <a:t>vor</a:t>
            </a:r>
            <a:r>
              <a:rPr dirty="0"/>
              <a:t>: </a:t>
            </a:r>
            <a:r>
              <a:rPr dirty="0" err="1"/>
              <a:t>Erstens</a:t>
            </a:r>
            <a:r>
              <a:rPr dirty="0"/>
              <a:t> die </a:t>
            </a:r>
            <a:r>
              <a:rPr dirty="0" err="1"/>
              <a:t>produktive</a:t>
            </a:r>
            <a:r>
              <a:rPr dirty="0"/>
              <a:t> Jira-</a:t>
            </a:r>
            <a:r>
              <a:rPr dirty="0" err="1"/>
              <a:t>Anbindung</a:t>
            </a:r>
            <a:r>
              <a:rPr dirty="0"/>
              <a:t> </a:t>
            </a:r>
            <a:r>
              <a:rPr dirty="0" err="1"/>
              <a:t>über</a:t>
            </a:r>
            <a:r>
              <a:rPr dirty="0"/>
              <a:t> </a:t>
            </a:r>
            <a:r>
              <a:rPr dirty="0" err="1"/>
              <a:t>einen</a:t>
            </a:r>
            <a:r>
              <a:rPr dirty="0"/>
              <a:t> </a:t>
            </a:r>
            <a:r>
              <a:rPr dirty="0" err="1"/>
              <a:t>schreibgeschützten</a:t>
            </a:r>
            <a:r>
              <a:rPr dirty="0"/>
              <a:t> Service-Account </a:t>
            </a:r>
            <a:r>
              <a:rPr dirty="0" err="1"/>
              <a:t>laufen</a:t>
            </a:r>
            <a:r>
              <a:rPr dirty="0"/>
              <a:t> </a:t>
            </a:r>
            <a:r>
              <a:rPr dirty="0" err="1"/>
              <a:t>lassen</a:t>
            </a:r>
            <a:r>
              <a:rPr dirty="0"/>
              <a:t>, </a:t>
            </a:r>
            <a:r>
              <a:rPr dirty="0" err="1"/>
              <a:t>damit</a:t>
            </a:r>
            <a:r>
              <a:rPr dirty="0"/>
              <a:t> </a:t>
            </a:r>
            <a:r>
              <a:rPr dirty="0" err="1"/>
              <a:t>keine</a:t>
            </a:r>
            <a:r>
              <a:rPr dirty="0"/>
              <a:t> </a:t>
            </a:r>
            <a:r>
              <a:rPr dirty="0" err="1"/>
              <a:t>persönlichen</a:t>
            </a:r>
            <a:r>
              <a:rPr dirty="0"/>
              <a:t> </a:t>
            </a:r>
            <a:r>
              <a:rPr dirty="0" err="1"/>
              <a:t>Zugangsdaten</a:t>
            </a:r>
            <a:r>
              <a:rPr dirty="0"/>
              <a:t> </a:t>
            </a:r>
            <a:r>
              <a:rPr dirty="0" err="1"/>
              <a:t>hinterlegt</a:t>
            </a:r>
            <a:r>
              <a:rPr dirty="0"/>
              <a:t> </a:t>
            </a:r>
            <a:r>
              <a:rPr dirty="0" err="1"/>
              <a:t>werden</a:t>
            </a:r>
            <a:r>
              <a:rPr dirty="0"/>
              <a:t> </a:t>
            </a:r>
            <a:r>
              <a:rPr dirty="0" err="1"/>
              <a:t>müssen</a:t>
            </a:r>
            <a:r>
              <a:rPr dirty="0"/>
              <a:t>. </a:t>
            </a:r>
            <a:endParaRPr lang="de-CH" dirty="0"/>
          </a:p>
          <a:p>
            <a:endParaRPr lang="en-US" dirty="0"/>
          </a:p>
          <a:p>
            <a:r>
              <a:rPr dirty="0" err="1"/>
              <a:t>Drittens</a:t>
            </a:r>
            <a:r>
              <a:rPr dirty="0"/>
              <a:t> in den </a:t>
            </a:r>
            <a:r>
              <a:rPr dirty="0" err="1"/>
              <a:t>ersten</a:t>
            </a:r>
            <a:r>
              <a:rPr dirty="0"/>
              <a:t> </a:t>
            </a:r>
            <a:r>
              <a:rPr dirty="0" err="1"/>
              <a:t>drei</a:t>
            </a:r>
            <a:r>
              <a:rPr dirty="0"/>
              <a:t> Sprints </a:t>
            </a:r>
            <a:r>
              <a:rPr dirty="0" err="1"/>
              <a:t>gezielt</a:t>
            </a:r>
            <a:r>
              <a:rPr dirty="0"/>
              <a:t> Feedback </a:t>
            </a:r>
            <a:r>
              <a:rPr dirty="0" err="1"/>
              <a:t>sammeln</a:t>
            </a:r>
            <a:r>
              <a:rPr dirty="0"/>
              <a:t> und </a:t>
            </a:r>
            <a:r>
              <a:rPr dirty="0" err="1"/>
              <a:t>einfliessen</a:t>
            </a:r>
            <a:r>
              <a:rPr dirty="0"/>
              <a:t> </a:t>
            </a:r>
            <a:r>
              <a:rPr dirty="0" err="1"/>
              <a:t>lassen</a:t>
            </a:r>
            <a:r>
              <a:rPr dirty="0"/>
              <a:t>.</a:t>
            </a:r>
            <a:endParaRPr lang="de-CH" dirty="0"/>
          </a:p>
          <a:p>
            <a:endParaRPr lang="en-US" dirty="0"/>
          </a:p>
          <a:p>
            <a:r>
              <a:rPr dirty="0"/>
              <a:t> </a:t>
            </a:r>
            <a:r>
              <a:rPr dirty="0" err="1"/>
              <a:t>Viertens</a:t>
            </a:r>
            <a:r>
              <a:rPr dirty="0"/>
              <a:t> die </a:t>
            </a:r>
            <a:r>
              <a:rPr dirty="0" err="1"/>
              <a:t>automatisierten</a:t>
            </a:r>
            <a:r>
              <a:rPr dirty="0"/>
              <a:t> Tests </a:t>
            </a:r>
            <a:r>
              <a:rPr dirty="0" err="1"/>
              <a:t>ausbauen</a:t>
            </a:r>
            <a:r>
              <a:rPr dirty="0"/>
              <a:t>, um die </a:t>
            </a:r>
            <a:r>
              <a:rPr dirty="0" err="1"/>
              <a:t>Wartbarkeit</a:t>
            </a:r>
            <a:r>
              <a:rPr dirty="0"/>
              <a:t> </a:t>
            </a:r>
            <a:r>
              <a:rPr dirty="0" err="1"/>
              <a:t>zu</a:t>
            </a:r>
            <a:r>
              <a:rPr dirty="0"/>
              <a:t> </a:t>
            </a:r>
            <a:r>
              <a:rPr dirty="0" err="1"/>
              <a:t>sichern</a:t>
            </a:r>
            <a:r>
              <a:rPr dirty="0"/>
              <a:t>. </a:t>
            </a:r>
            <a:endParaRPr lang="de-CH" dirty="0"/>
          </a:p>
          <a:p>
            <a:endParaRPr lang="en-US" dirty="0"/>
          </a:p>
          <a:p>
            <a:r>
              <a:rPr dirty="0"/>
              <a:t>Und </a:t>
            </a:r>
            <a:r>
              <a:rPr dirty="0" err="1"/>
              <a:t>fünftens</a:t>
            </a:r>
            <a:r>
              <a:rPr dirty="0"/>
              <a:t> </a:t>
            </a:r>
            <a:r>
              <a:rPr dirty="0" err="1"/>
              <a:t>mittelfristig</a:t>
            </a:r>
            <a:r>
              <a:rPr dirty="0"/>
              <a:t> </a:t>
            </a:r>
            <a:r>
              <a:rPr dirty="0" err="1"/>
              <a:t>eine</a:t>
            </a:r>
            <a:r>
              <a:rPr dirty="0"/>
              <a:t> mobile </a:t>
            </a:r>
            <a:r>
              <a:rPr dirty="0" err="1"/>
              <a:t>Ansicht</a:t>
            </a:r>
            <a:r>
              <a:rPr dirty="0"/>
              <a:t> </a:t>
            </a:r>
            <a:r>
              <a:rPr dirty="0" err="1"/>
              <a:t>ergänzen</a:t>
            </a:r>
            <a:r>
              <a:rPr dirty="0"/>
              <a:t>, </a:t>
            </a:r>
            <a:r>
              <a:rPr dirty="0" err="1"/>
              <a:t>damit</a:t>
            </a:r>
            <a:r>
              <a:rPr dirty="0"/>
              <a:t> das Tool </a:t>
            </a:r>
            <a:r>
              <a:rPr dirty="0" err="1"/>
              <a:t>auch</a:t>
            </a:r>
            <a:r>
              <a:rPr dirty="0"/>
              <a:t> </a:t>
            </a:r>
            <a:r>
              <a:rPr dirty="0" err="1"/>
              <a:t>während</a:t>
            </a:r>
            <a:r>
              <a:rPr dirty="0"/>
              <a:t> der Stand-ups am Handy </a:t>
            </a:r>
            <a:r>
              <a:rPr dirty="0" err="1"/>
              <a:t>nutzbar</a:t>
            </a:r>
            <a:r>
              <a:rPr dirty="0"/>
              <a:t> </a:t>
            </a:r>
            <a:r>
              <a:rPr dirty="0" err="1"/>
              <a:t>ist</a:t>
            </a:r>
            <a:r>
              <a:rPr dirty="0"/>
              <a:t>. </a:t>
            </a:r>
            <a:endParaRPr lang="de-CH" dirty="0"/>
          </a:p>
          <a:p>
            <a:endParaRPr lang="en-US" dirty="0"/>
          </a:p>
          <a:p>
            <a:r>
              <a:rPr dirty="0"/>
              <a:t>Was </a:t>
            </a:r>
            <a:r>
              <a:rPr dirty="0" err="1"/>
              <a:t>passiert</a:t>
            </a:r>
            <a:r>
              <a:rPr dirty="0"/>
              <a:t>, </a:t>
            </a:r>
            <a:r>
              <a:rPr dirty="0" err="1"/>
              <a:t>wenn</a:t>
            </a:r>
            <a:r>
              <a:rPr dirty="0"/>
              <a:t> </a:t>
            </a:r>
            <a:r>
              <a:rPr dirty="0" err="1"/>
              <a:t>wir</a:t>
            </a:r>
            <a:r>
              <a:rPr dirty="0"/>
              <a:t> es nicht </a:t>
            </a:r>
            <a:r>
              <a:rPr dirty="0" err="1"/>
              <a:t>einsetzen</a:t>
            </a:r>
            <a:r>
              <a:rPr dirty="0"/>
              <a:t>? </a:t>
            </a:r>
            <a:endParaRPr lang="de-CH" dirty="0"/>
          </a:p>
          <a:p>
            <a:endParaRPr lang="en-US" dirty="0"/>
          </a:p>
          <a:p>
            <a:r>
              <a:rPr dirty="0"/>
              <a:t>Dann </a:t>
            </a:r>
            <a:r>
              <a:rPr dirty="0" err="1"/>
              <a:t>bleibt</a:t>
            </a:r>
            <a:r>
              <a:rPr dirty="0"/>
              <a:t> die </a:t>
            </a:r>
            <a:r>
              <a:rPr dirty="0" err="1"/>
              <a:t>Kapazitätsplanung</a:t>
            </a:r>
            <a:r>
              <a:rPr dirty="0"/>
              <a:t> auf </a:t>
            </a:r>
            <a:r>
              <a:rPr dirty="0" err="1"/>
              <a:t>verteilte</a:t>
            </a:r>
            <a:r>
              <a:rPr dirty="0"/>
              <a:t> Excel-Listen </a:t>
            </a:r>
            <a:r>
              <a:rPr dirty="0" err="1"/>
              <a:t>angewiesen</a:t>
            </a:r>
            <a:r>
              <a:rPr dirty="0"/>
              <a:t>, und die Sprint-</a:t>
            </a:r>
            <a:r>
              <a:rPr dirty="0" err="1"/>
              <a:t>Schätzungen</a:t>
            </a:r>
            <a:r>
              <a:rPr dirty="0"/>
              <a:t> </a:t>
            </a:r>
            <a:r>
              <a:rPr dirty="0" err="1"/>
              <a:t>basieren</a:t>
            </a:r>
            <a:r>
              <a:rPr dirty="0"/>
              <a:t> </a:t>
            </a:r>
            <a:r>
              <a:rPr dirty="0" err="1"/>
              <a:t>weiterhin</a:t>
            </a:r>
            <a:r>
              <a:rPr dirty="0"/>
              <a:t> auf </a:t>
            </a:r>
            <a:r>
              <a:rPr dirty="0" err="1"/>
              <a:t>Erfahrungswerten</a:t>
            </a:r>
            <a:r>
              <a:rPr dirty="0"/>
              <a:t> </a:t>
            </a:r>
            <a:r>
              <a:rPr dirty="0" err="1"/>
              <a:t>statt</a:t>
            </a:r>
            <a:r>
              <a:rPr dirty="0"/>
              <a:t> auf </a:t>
            </a:r>
            <a:r>
              <a:rPr dirty="0" err="1"/>
              <a:t>Daten</a:t>
            </a:r>
            <a:r>
              <a:rPr dirty="0"/>
              <a:t> – </a:t>
            </a:r>
            <a:r>
              <a:rPr dirty="0" err="1"/>
              <a:t>mit</a:t>
            </a:r>
            <a:r>
              <a:rPr dirty="0"/>
              <a:t> </a:t>
            </a:r>
            <a:r>
              <a:rPr dirty="0" err="1"/>
              <a:t>allen</a:t>
            </a:r>
            <a:r>
              <a:rPr dirty="0"/>
              <a:t> </a:t>
            </a:r>
            <a:r>
              <a:rPr dirty="0" err="1"/>
              <a:t>Nachteilen</a:t>
            </a:r>
            <a:r>
              <a:rPr dirty="0"/>
              <a:t>, die ich </a:t>
            </a:r>
            <a:r>
              <a:rPr dirty="0" err="1"/>
              <a:t>eingangs</a:t>
            </a:r>
            <a:r>
              <a:rPr dirty="0"/>
              <a:t> </a:t>
            </a:r>
            <a:r>
              <a:rPr dirty="0" err="1"/>
              <a:t>geschildert</a:t>
            </a:r>
            <a:r>
              <a:rPr dirty="0"/>
              <a:t> </a:t>
            </a:r>
            <a:r>
              <a:rPr dirty="0" err="1"/>
              <a:t>habe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Damit bin ich am Ende meiner Präsentation. Lassen Sie mich mit dem Satz schliessen, mit dem ich angefangen habe: Sprintify gibt dem Team eine datenbasierte Antwort auf die Frage, wie viele Story Points wir im nächsten Sprint realistisch schaffen. Aus einem Bauchgefühl ist eine nachvollziehbare, datengestützte Empfehlung geworden. Ich danke Ihnen herzlich für Ihre Aufmerksamkeit und freue mich jetzt auf Ihre Fragen.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F1B7889D-365F-4755-68D8-797BCC574BDA}"/>
              </a:ext>
            </a:extLst>
          </p:cNvPr>
          <p:cNvPicPr>
            <a:picLocks noChangeAspect="1"/>
          </p:cNvPicPr>
          <p:nvPr/>
        </p:nvPicPr>
        <p:blipFill>
          <a:blip r:embed="rId3"/>
          <a:stretch>
            <a:fillRect/>
          </a:stretch>
        </p:blipFill>
        <p:spPr>
          <a:xfrm>
            <a:off x="0" y="-2168702"/>
            <a:ext cx="12192000" cy="111954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A90C4-7271-E007-F716-675FB31AF16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7F5115D-C245-31E5-39D9-C72C7CC1E29F}"/>
              </a:ext>
            </a:extLst>
          </p:cNvPr>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FA8BA17-6CF1-0521-E13D-DD94D3C782BD}"/>
              </a:ext>
            </a:extLst>
          </p:cNvPr>
          <p:cNvSpPr txBox="1"/>
          <p:nvPr/>
        </p:nvSpPr>
        <p:spPr>
          <a:xfrm>
            <a:off x="457200" y="2286000"/>
            <a:ext cx="11277295" cy="1371600"/>
          </a:xfrm>
          <a:prstGeom prst="rect">
            <a:avLst/>
          </a:prstGeom>
          <a:noFill/>
        </p:spPr>
        <p:txBody>
          <a:bodyPr wrap="square">
            <a:spAutoFit/>
          </a:bodyPr>
          <a:lstStyle/>
          <a:p>
            <a:pPr algn="ctr">
              <a:defRPr sz="4400" b="1">
                <a:solidFill>
                  <a:srgbClr val="FFFFFF"/>
                </a:solidFill>
              </a:defRPr>
            </a:pPr>
            <a:r>
              <a:rPr dirty="0" err="1"/>
              <a:t>Sprintify</a:t>
            </a:r>
            <a:endParaRPr dirty="0"/>
          </a:p>
          <a:p>
            <a:pPr algn="ctr">
              <a:spcBef>
                <a:spcPts val="2000"/>
              </a:spcBef>
              <a:defRPr sz="2400">
                <a:solidFill>
                  <a:srgbClr val="94A3B8"/>
                </a:solidFill>
              </a:defRPr>
            </a:pPr>
            <a:r>
              <a:rPr dirty="0" err="1"/>
              <a:t>Entwicklung</a:t>
            </a:r>
            <a:r>
              <a:rPr dirty="0"/>
              <a:t> </a:t>
            </a:r>
            <a:r>
              <a:rPr dirty="0" err="1"/>
              <a:t>eines</a:t>
            </a:r>
            <a:r>
              <a:rPr dirty="0"/>
              <a:t> Capacity-Planning-Tools </a:t>
            </a:r>
            <a:r>
              <a:rPr dirty="0" err="1"/>
              <a:t>mit</a:t>
            </a:r>
            <a:r>
              <a:rPr dirty="0"/>
              <a:t> Jira-Integration</a:t>
            </a:r>
            <a:br>
              <a:rPr dirty="0"/>
            </a:br>
            <a:br>
              <a:rPr dirty="0"/>
            </a:br>
            <a:r>
              <a:rPr dirty="0"/>
              <a:t>Timo Haldi | HF ICT 2023 F | Coach: Ardin Ibraimi</a:t>
            </a:r>
          </a:p>
        </p:txBody>
      </p:sp>
      <p:pic>
        <p:nvPicPr>
          <p:cNvPr id="5" name="Graphic 4">
            <a:extLst>
              <a:ext uri="{FF2B5EF4-FFF2-40B4-BE49-F238E27FC236}">
                <a16:creationId xmlns:a16="http://schemas.microsoft.com/office/drawing/2014/main" id="{D826DA5F-8593-18F7-942D-D6C4830818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Tree>
    <p:extLst>
      <p:ext uri="{BB962C8B-B14F-4D97-AF65-F5344CB8AC3E}">
        <p14:creationId xmlns:p14="http://schemas.microsoft.com/office/powerpoint/2010/main" val="471373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1"/>
            <a:ext cx="12192000" cy="345988"/>
          </a:xfrm>
          <a:prstGeom prst="rect">
            <a:avLst/>
          </a:prstGeom>
          <a:solidFill>
            <a:srgbClr val="10172A"/>
          </a:solidFill>
          <a:ln>
            <a:noFill/>
          </a:ln>
          <a:effectLst/>
        </p:spPr>
        <p:txBody>
          <a:bodyPr rtlCol="0" anchor="ctr"/>
          <a:lstStyle/>
          <a:p>
            <a:pPr algn="ctr"/>
            <a:endParaRPr/>
          </a:p>
        </p:txBody>
      </p:sp>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rPr dirty="0"/>
              <a:t>Agenda</a:t>
            </a:r>
          </a:p>
        </p:txBody>
      </p:sp>
      <p:sp>
        <p:nvSpPr>
          <p:cNvPr id="4" name="TextBox 3"/>
          <p:cNvSpPr txBox="1"/>
          <p:nvPr/>
        </p:nvSpPr>
        <p:spPr>
          <a:xfrm>
            <a:off x="685801" y="1371600"/>
            <a:ext cx="8136924" cy="4555093"/>
          </a:xfrm>
          <a:prstGeom prst="rect">
            <a:avLst/>
          </a:prstGeom>
          <a:noFill/>
        </p:spPr>
        <p:txBody>
          <a:bodyPr wrap="square">
            <a:spAutoFit/>
          </a:bodyPr>
          <a:lstStyle/>
          <a:p>
            <a:pPr>
              <a:spcBef>
                <a:spcPts val="800"/>
              </a:spcBef>
              <a:spcAft>
                <a:spcPts val="400"/>
              </a:spcAft>
              <a:defRPr sz="2000">
                <a:solidFill>
                  <a:srgbClr val="334155"/>
                </a:solidFill>
              </a:defRPr>
            </a:pPr>
            <a:r>
              <a:rPr dirty="0"/>
              <a:t>1. Vorstellung und Kontext</a:t>
            </a:r>
          </a:p>
          <a:p>
            <a:pPr>
              <a:spcBef>
                <a:spcPts val="800"/>
              </a:spcBef>
              <a:spcAft>
                <a:spcPts val="400"/>
              </a:spcAft>
              <a:defRPr sz="2000">
                <a:solidFill>
                  <a:srgbClr val="334155"/>
                </a:solidFill>
              </a:defRPr>
            </a:pPr>
            <a:r>
              <a:rPr dirty="0"/>
              <a:t>2. Problemstellung und Auftrag</a:t>
            </a:r>
          </a:p>
          <a:p>
            <a:pPr>
              <a:spcBef>
                <a:spcPts val="800"/>
              </a:spcBef>
              <a:spcAft>
                <a:spcPts val="400"/>
              </a:spcAft>
              <a:defRPr sz="2000">
                <a:solidFill>
                  <a:srgbClr val="334155"/>
                </a:solidFill>
              </a:defRPr>
            </a:pPr>
            <a:r>
              <a:rPr dirty="0"/>
              <a:t>3. Vorgehen und Projektplanung</a:t>
            </a:r>
          </a:p>
          <a:p>
            <a:pPr>
              <a:spcBef>
                <a:spcPts val="800"/>
              </a:spcBef>
              <a:spcAft>
                <a:spcPts val="400"/>
              </a:spcAft>
              <a:defRPr sz="2000">
                <a:solidFill>
                  <a:srgbClr val="334155"/>
                </a:solidFill>
              </a:defRPr>
            </a:pPr>
            <a:r>
              <a:rPr dirty="0"/>
              <a:t>4. KI als Co-Engineer</a:t>
            </a:r>
          </a:p>
          <a:p>
            <a:pPr>
              <a:spcBef>
                <a:spcPts val="800"/>
              </a:spcBef>
              <a:spcAft>
                <a:spcPts val="400"/>
              </a:spcAft>
              <a:defRPr sz="2000">
                <a:solidFill>
                  <a:srgbClr val="334155"/>
                </a:solidFill>
              </a:defRPr>
            </a:pPr>
            <a:r>
              <a:rPr dirty="0"/>
              <a:t>5. Architektur und Technologieentscheidungen</a:t>
            </a:r>
          </a:p>
          <a:p>
            <a:pPr>
              <a:spcBef>
                <a:spcPts val="800"/>
              </a:spcBef>
              <a:spcAft>
                <a:spcPts val="400"/>
              </a:spcAft>
              <a:defRPr sz="2000">
                <a:solidFill>
                  <a:srgbClr val="334155"/>
                </a:solidFill>
              </a:defRPr>
            </a:pPr>
            <a:r>
              <a:rPr dirty="0"/>
              <a:t>6. Ergebnisse: Die Module im Detail</a:t>
            </a:r>
          </a:p>
          <a:p>
            <a:pPr>
              <a:spcBef>
                <a:spcPts val="800"/>
              </a:spcBef>
              <a:spcAft>
                <a:spcPts val="400"/>
              </a:spcAft>
              <a:defRPr sz="2000">
                <a:solidFill>
                  <a:srgbClr val="334155"/>
                </a:solidFill>
              </a:defRPr>
            </a:pPr>
            <a:r>
              <a:rPr dirty="0"/>
              <a:t>7. Sprints und Entwicklungsprozess</a:t>
            </a:r>
          </a:p>
          <a:p>
            <a:pPr>
              <a:spcBef>
                <a:spcPts val="800"/>
              </a:spcBef>
              <a:spcAft>
                <a:spcPts val="400"/>
              </a:spcAft>
              <a:defRPr sz="2000">
                <a:solidFill>
                  <a:srgbClr val="334155"/>
                </a:solidFill>
              </a:defRPr>
            </a:pPr>
            <a:r>
              <a:rPr dirty="0"/>
              <a:t>8. Sprintify im Einsatz</a:t>
            </a:r>
          </a:p>
          <a:p>
            <a:pPr>
              <a:spcBef>
                <a:spcPts val="800"/>
              </a:spcBef>
              <a:spcAft>
                <a:spcPts val="400"/>
              </a:spcAft>
              <a:defRPr sz="2000">
                <a:solidFill>
                  <a:srgbClr val="334155"/>
                </a:solidFill>
              </a:defRPr>
            </a:pPr>
            <a:r>
              <a:rPr dirty="0"/>
              <a:t>9. Kritische Würdigung</a:t>
            </a:r>
          </a:p>
          <a:p>
            <a:pPr>
              <a:spcBef>
                <a:spcPts val="800"/>
              </a:spcBef>
              <a:spcAft>
                <a:spcPts val="400"/>
              </a:spcAft>
              <a:defRPr sz="2000">
                <a:solidFill>
                  <a:srgbClr val="334155"/>
                </a:solidFill>
              </a:defRPr>
            </a:pPr>
            <a:r>
              <a:rPr dirty="0"/>
              <a:t>10. Persönliche Reflexion</a:t>
            </a:r>
          </a:p>
          <a:p>
            <a:pPr>
              <a:spcBef>
                <a:spcPts val="800"/>
              </a:spcBef>
              <a:spcAft>
                <a:spcPts val="400"/>
              </a:spcAft>
              <a:defRPr sz="2000">
                <a:solidFill>
                  <a:srgbClr val="334155"/>
                </a:solidFill>
              </a:defRPr>
            </a:pPr>
            <a:r>
              <a:rPr dirty="0"/>
              <a:t>11. Fazit und Empfehlung</a:t>
            </a:r>
          </a:p>
        </p:txBody>
      </p:sp>
      <p:pic>
        <p:nvPicPr>
          <p:cNvPr id="7" name="Graphic 6">
            <a:extLst>
              <a:ext uri="{FF2B5EF4-FFF2-40B4-BE49-F238E27FC236}">
                <a16:creationId xmlns:a16="http://schemas.microsoft.com/office/drawing/2014/main" id="{DB08D814-4837-0020-7E16-B7BB9E26E9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8" name="TextBox 7"/>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Vorstellung und Kontext</a:t>
            </a:r>
          </a:p>
        </p:txBody>
      </p:sp>
      <p:sp>
        <p:nvSpPr>
          <p:cNvPr id="4" name="TextBox 3"/>
          <p:cNvSpPr txBox="1"/>
          <p:nvPr/>
        </p:nvSpPr>
        <p:spPr>
          <a:xfrm>
            <a:off x="685800" y="1280160"/>
            <a:ext cx="1642950" cy="430887"/>
          </a:xfrm>
          <a:prstGeom prst="rect">
            <a:avLst/>
          </a:prstGeom>
          <a:noFill/>
        </p:spPr>
        <p:txBody>
          <a:bodyPr wrap="none">
            <a:spAutoFit/>
          </a:bodyPr>
          <a:lstStyle/>
          <a:p>
            <a:pPr>
              <a:defRPr sz="2200" b="1">
                <a:solidFill>
                  <a:srgbClr val="3A04FF"/>
                </a:solidFill>
              </a:defRPr>
            </a:pPr>
            <a:r>
              <a:rPr dirty="0" err="1">
                <a:solidFill>
                  <a:srgbClr val="3B2EFF"/>
                </a:solidFill>
              </a:rPr>
              <a:t>Wer</a:t>
            </a:r>
            <a:r>
              <a:rPr dirty="0">
                <a:solidFill>
                  <a:srgbClr val="3B2EFF"/>
                </a:solidFill>
              </a:rPr>
              <a:t> bin ich?</a:t>
            </a:r>
          </a:p>
        </p:txBody>
      </p:sp>
      <p:sp>
        <p:nvSpPr>
          <p:cNvPr id="5" name="TextBox 4"/>
          <p:cNvSpPr txBox="1"/>
          <p:nvPr/>
        </p:nvSpPr>
        <p:spPr>
          <a:xfrm>
            <a:off x="685800" y="1737360"/>
            <a:ext cx="5029200" cy="4572000"/>
          </a:xfrm>
          <a:prstGeom prst="rect">
            <a:avLst/>
          </a:prstGeom>
          <a:noFill/>
        </p:spPr>
        <p:txBody>
          <a:bodyPr wrap="square">
            <a:spAutoFit/>
          </a:bodyPr>
          <a:lstStyle/>
          <a:p>
            <a:pPr marL="285750" indent="-285750">
              <a:spcBef>
                <a:spcPts val="600"/>
              </a:spcBef>
              <a:defRPr sz="1800">
                <a:solidFill>
                  <a:srgbClr val="334155"/>
                </a:solidFill>
              </a:defRPr>
            </a:pPr>
            <a:r>
              <a:rPr dirty="0"/>
              <a:t>Cloud Engineer </a:t>
            </a:r>
            <a:r>
              <a:rPr dirty="0" err="1"/>
              <a:t>bei</a:t>
            </a:r>
            <a:r>
              <a:rPr dirty="0"/>
              <a:t> der </a:t>
            </a:r>
            <a:r>
              <a:rPr dirty="0" err="1"/>
              <a:t>Netcloud</a:t>
            </a:r>
            <a:r>
              <a:rPr dirty="0"/>
              <a:t> AG</a:t>
            </a:r>
          </a:p>
          <a:p>
            <a:pPr marL="285750" indent="-285750">
              <a:spcBef>
                <a:spcPts val="600"/>
              </a:spcBef>
              <a:defRPr sz="1800">
                <a:solidFill>
                  <a:srgbClr val="334155"/>
                </a:solidFill>
              </a:defRPr>
            </a:pPr>
            <a:r>
              <a:rPr dirty="0" err="1"/>
              <a:t>Abteilung</a:t>
            </a:r>
            <a:r>
              <a:rPr dirty="0"/>
              <a:t> Public Cloud Solutions</a:t>
            </a:r>
          </a:p>
          <a:p>
            <a:pPr marL="285750" indent="-285750">
              <a:spcBef>
                <a:spcPts val="600"/>
              </a:spcBef>
              <a:defRPr sz="1800">
                <a:solidFill>
                  <a:srgbClr val="334155"/>
                </a:solidFill>
              </a:defRPr>
            </a:pPr>
            <a:r>
              <a:rPr dirty="0" err="1"/>
              <a:t>Tagesgeschäft</a:t>
            </a:r>
            <a:r>
              <a:rPr dirty="0"/>
              <a:t>: Azure-</a:t>
            </a:r>
            <a:r>
              <a:rPr dirty="0" err="1"/>
              <a:t>Kundenprojekte</a:t>
            </a:r>
            <a:endParaRPr dirty="0"/>
          </a:p>
          <a:p>
            <a:pPr marL="285750" indent="-285750">
              <a:spcBef>
                <a:spcPts val="600"/>
              </a:spcBef>
              <a:defRPr sz="1800">
                <a:solidFill>
                  <a:srgbClr val="334155"/>
                </a:solidFill>
              </a:defRPr>
            </a:pPr>
            <a:r>
              <a:rPr dirty="0"/>
              <a:t>Team </a:t>
            </a:r>
            <a:r>
              <a:rPr dirty="0" err="1"/>
              <a:t>arbeitet</a:t>
            </a:r>
            <a:r>
              <a:rPr dirty="0"/>
              <a:t> </a:t>
            </a:r>
            <a:r>
              <a:rPr dirty="0" err="1"/>
              <a:t>nach</a:t>
            </a:r>
            <a:r>
              <a:rPr dirty="0"/>
              <a:t> Scrum</a:t>
            </a:r>
          </a:p>
          <a:p>
            <a:pPr marL="285750" indent="-285750">
              <a:spcBef>
                <a:spcPts val="600"/>
              </a:spcBef>
              <a:defRPr sz="1800">
                <a:solidFill>
                  <a:srgbClr val="334155"/>
                </a:solidFill>
              </a:defRPr>
            </a:pPr>
            <a:r>
              <a:rPr dirty="0" err="1"/>
              <a:t>Zweiwöchige</a:t>
            </a:r>
            <a:r>
              <a:rPr dirty="0"/>
              <a:t> Sprints</a:t>
            </a:r>
          </a:p>
        </p:txBody>
      </p:sp>
      <p:sp>
        <p:nvSpPr>
          <p:cNvPr id="6" name="TextBox 5"/>
          <p:cNvSpPr txBox="1"/>
          <p:nvPr/>
        </p:nvSpPr>
        <p:spPr>
          <a:xfrm>
            <a:off x="6400800" y="1280160"/>
            <a:ext cx="3575531" cy="430887"/>
          </a:xfrm>
          <a:prstGeom prst="rect">
            <a:avLst/>
          </a:prstGeom>
          <a:noFill/>
        </p:spPr>
        <p:txBody>
          <a:bodyPr wrap="none">
            <a:spAutoFit/>
          </a:bodyPr>
          <a:lstStyle/>
          <a:p>
            <a:pPr>
              <a:defRPr sz="2200" b="1">
                <a:solidFill>
                  <a:srgbClr val="3A04FF"/>
                </a:solidFill>
              </a:defRPr>
            </a:pPr>
            <a:r>
              <a:rPr dirty="0">
                <a:solidFill>
                  <a:srgbClr val="3B2EFF"/>
                </a:solidFill>
              </a:rPr>
              <a:t>Was </a:t>
            </a:r>
            <a:r>
              <a:rPr dirty="0" err="1">
                <a:solidFill>
                  <a:srgbClr val="3B2EFF"/>
                </a:solidFill>
              </a:rPr>
              <a:t>macht</a:t>
            </a:r>
            <a:r>
              <a:rPr dirty="0">
                <a:solidFill>
                  <a:srgbClr val="3B2EFF"/>
                </a:solidFill>
              </a:rPr>
              <a:t> die </a:t>
            </a:r>
            <a:r>
              <a:rPr dirty="0" err="1">
                <a:solidFill>
                  <a:srgbClr val="3B2EFF"/>
                </a:solidFill>
              </a:rPr>
              <a:t>Netcloud</a:t>
            </a:r>
            <a:r>
              <a:rPr dirty="0">
                <a:solidFill>
                  <a:srgbClr val="3B2EFF"/>
                </a:solidFill>
              </a:rPr>
              <a:t> AG?</a:t>
            </a:r>
          </a:p>
        </p:txBody>
      </p:sp>
      <p:sp>
        <p:nvSpPr>
          <p:cNvPr id="7" name="TextBox 6"/>
          <p:cNvSpPr txBox="1"/>
          <p:nvPr/>
        </p:nvSpPr>
        <p:spPr>
          <a:xfrm>
            <a:off x="6400800" y="1737360"/>
            <a:ext cx="5029200" cy="1077218"/>
          </a:xfrm>
          <a:prstGeom prst="rect">
            <a:avLst/>
          </a:prstGeom>
          <a:noFill/>
        </p:spPr>
        <p:txBody>
          <a:bodyPr wrap="square">
            <a:spAutoFit/>
          </a:bodyPr>
          <a:lstStyle/>
          <a:p>
            <a:pPr marL="285750" indent="-285750">
              <a:spcBef>
                <a:spcPts val="600"/>
              </a:spcBef>
              <a:defRPr sz="1800">
                <a:solidFill>
                  <a:srgbClr val="334155"/>
                </a:solidFill>
              </a:defRPr>
            </a:pPr>
            <a:r>
              <a:rPr dirty="0"/>
              <a:t>Schweizer IT-</a:t>
            </a:r>
            <a:r>
              <a:rPr dirty="0" err="1"/>
              <a:t>Dienstleister</a:t>
            </a:r>
            <a:endParaRPr dirty="0"/>
          </a:p>
          <a:p>
            <a:pPr marL="285750" indent="-285750">
              <a:spcBef>
                <a:spcPts val="600"/>
              </a:spcBef>
              <a:defRPr sz="1800">
                <a:solidFill>
                  <a:srgbClr val="334155"/>
                </a:solidFill>
              </a:defRPr>
            </a:pPr>
            <a:r>
              <a:rPr dirty="0" err="1"/>
              <a:t>Fokus</a:t>
            </a:r>
            <a:r>
              <a:rPr dirty="0"/>
              <a:t> auf Cloud-</a:t>
            </a:r>
            <a:r>
              <a:rPr dirty="0" err="1"/>
              <a:t>Infrastruktur</a:t>
            </a:r>
            <a:endParaRPr dirty="0"/>
          </a:p>
          <a:p>
            <a:pPr marL="285750" indent="-285750">
              <a:spcBef>
                <a:spcPts val="600"/>
              </a:spcBef>
              <a:defRPr sz="1800">
                <a:solidFill>
                  <a:srgbClr val="334155"/>
                </a:solidFill>
              </a:defRPr>
            </a:pPr>
            <a:r>
              <a:rPr dirty="0"/>
              <a:t>Kunden </a:t>
            </a:r>
            <a:r>
              <a:rPr dirty="0" err="1"/>
              <a:t>aus</a:t>
            </a:r>
            <a:r>
              <a:rPr dirty="0"/>
              <a:t> </a:t>
            </a:r>
            <a:r>
              <a:rPr dirty="0" err="1"/>
              <a:t>verschiedenen</a:t>
            </a:r>
            <a:r>
              <a:rPr dirty="0"/>
              <a:t> </a:t>
            </a:r>
            <a:r>
              <a:rPr dirty="0" err="1"/>
              <a:t>Branchen</a:t>
            </a:r>
            <a:endParaRPr dirty="0"/>
          </a:p>
        </p:txBody>
      </p:sp>
      <p:sp>
        <p:nvSpPr>
          <p:cNvPr id="8" name="Rectangle 7">
            <a:extLst>
              <a:ext uri="{FF2B5EF4-FFF2-40B4-BE49-F238E27FC236}">
                <a16:creationId xmlns:a16="http://schemas.microsoft.com/office/drawing/2014/main" id="{B5160B72-785C-39D9-308F-414E1C4AC791}"/>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10" name="Graphic 9">
            <a:extLst>
              <a:ext uri="{FF2B5EF4-FFF2-40B4-BE49-F238E27FC236}">
                <a16:creationId xmlns:a16="http://schemas.microsoft.com/office/drawing/2014/main" id="{80F87AB5-0649-73C1-C420-37E4A44F41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11" name="TextBox 10"/>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rPr dirty="0" err="1"/>
              <a:t>Problemstellung</a:t>
            </a:r>
            <a:endParaRPr dirty="0"/>
          </a:p>
        </p:txBody>
      </p:sp>
      <p:sp>
        <p:nvSpPr>
          <p:cNvPr id="4" name="TextBox 3"/>
          <p:cNvSpPr txBox="1"/>
          <p:nvPr/>
        </p:nvSpPr>
        <p:spPr>
          <a:xfrm>
            <a:off x="685800" y="1303819"/>
            <a:ext cx="10820095" cy="5262979"/>
          </a:xfrm>
          <a:prstGeom prst="rect">
            <a:avLst/>
          </a:prstGeom>
          <a:noFill/>
        </p:spPr>
        <p:txBody>
          <a:bodyPr wrap="square">
            <a:spAutoFit/>
          </a:bodyPr>
          <a:lstStyle/>
          <a:p>
            <a:pPr>
              <a:spcBef>
                <a:spcPts val="800"/>
              </a:spcBef>
              <a:spcAft>
                <a:spcPts val="400"/>
              </a:spcAft>
              <a:defRPr sz="2000">
                <a:solidFill>
                  <a:srgbClr val="334155"/>
                </a:solidFill>
              </a:defRPr>
            </a:pPr>
            <a:r>
              <a:rPr b="1" dirty="0"/>
              <a:t>Sprint-</a:t>
            </a:r>
            <a:r>
              <a:rPr b="1" dirty="0" err="1"/>
              <a:t>Planung</a:t>
            </a:r>
            <a:r>
              <a:rPr b="1" dirty="0"/>
              <a:t> </a:t>
            </a:r>
            <a:r>
              <a:rPr b="1" dirty="0" err="1"/>
              <a:t>vor</a:t>
            </a:r>
            <a:r>
              <a:rPr b="1" dirty="0"/>
              <a:t> </a:t>
            </a:r>
            <a:r>
              <a:rPr b="1" dirty="0" err="1"/>
              <a:t>Sprintify</a:t>
            </a:r>
            <a:r>
              <a:rPr b="1" dirty="0"/>
              <a:t>:</a:t>
            </a:r>
          </a:p>
          <a:p>
            <a:pPr marL="285750" lvl="1" indent="-285750">
              <a:spcBef>
                <a:spcPts val="800"/>
              </a:spcBef>
              <a:spcAft>
                <a:spcPts val="400"/>
              </a:spcAft>
              <a:defRPr sz="1800">
                <a:solidFill>
                  <a:srgbClr val="334155"/>
                </a:solidFill>
              </a:defRPr>
            </a:pPr>
            <a:r>
              <a:rPr dirty="0" err="1"/>
              <a:t>Kapazitätsplanung</a:t>
            </a:r>
            <a:r>
              <a:rPr dirty="0"/>
              <a:t> via Excel-</a:t>
            </a:r>
            <a:r>
              <a:rPr dirty="0" err="1"/>
              <a:t>Tabellen</a:t>
            </a:r>
            <a:endParaRPr dirty="0"/>
          </a:p>
          <a:p>
            <a:pPr marL="285750" lvl="1" indent="-285750">
              <a:spcBef>
                <a:spcPts val="800"/>
              </a:spcBef>
              <a:spcAft>
                <a:spcPts val="400"/>
              </a:spcAft>
              <a:defRPr sz="1800">
                <a:solidFill>
                  <a:srgbClr val="334155"/>
                </a:solidFill>
              </a:defRPr>
            </a:pPr>
            <a:r>
              <a:rPr dirty="0" err="1"/>
              <a:t>Verstreut</a:t>
            </a:r>
            <a:r>
              <a:rPr dirty="0"/>
              <a:t> </a:t>
            </a:r>
            <a:r>
              <a:rPr dirty="0" err="1"/>
              <a:t>über</a:t>
            </a:r>
            <a:r>
              <a:rPr dirty="0"/>
              <a:t> SharePoint-Ordner</a:t>
            </a:r>
          </a:p>
          <a:p>
            <a:pPr marL="285750" lvl="1" indent="-285750">
              <a:spcBef>
                <a:spcPts val="800"/>
              </a:spcBef>
              <a:spcAft>
                <a:spcPts val="400"/>
              </a:spcAft>
              <a:defRPr sz="1800">
                <a:solidFill>
                  <a:srgbClr val="334155"/>
                </a:solidFill>
              </a:defRPr>
            </a:pPr>
            <a:r>
              <a:rPr dirty="0"/>
              <a:t>Kein </a:t>
            </a:r>
            <a:r>
              <a:rPr dirty="0" err="1"/>
              <a:t>zentraler</a:t>
            </a:r>
            <a:r>
              <a:rPr dirty="0"/>
              <a:t> Ort für </a:t>
            </a:r>
            <a:r>
              <a:rPr dirty="0" err="1"/>
              <a:t>historische</a:t>
            </a:r>
            <a:r>
              <a:rPr dirty="0"/>
              <a:t> Velocity-</a:t>
            </a:r>
            <a:r>
              <a:rPr dirty="0" err="1"/>
              <a:t>Daten</a:t>
            </a:r>
            <a:endParaRPr dirty="0"/>
          </a:p>
          <a:p>
            <a:pPr marL="285750" lvl="1" indent="-285750">
              <a:spcBef>
                <a:spcPts val="800"/>
              </a:spcBef>
              <a:spcAft>
                <a:spcPts val="400"/>
              </a:spcAft>
              <a:defRPr sz="1800">
                <a:solidFill>
                  <a:srgbClr val="334155"/>
                </a:solidFill>
              </a:defRPr>
            </a:pPr>
            <a:r>
              <a:rPr dirty="0" err="1"/>
              <a:t>Abwesenheiten</a:t>
            </a:r>
            <a:r>
              <a:rPr dirty="0"/>
              <a:t> </a:t>
            </a:r>
            <a:r>
              <a:rPr dirty="0" err="1"/>
              <a:t>fliessen</a:t>
            </a:r>
            <a:r>
              <a:rPr dirty="0"/>
              <a:t> </a:t>
            </a:r>
            <a:r>
              <a:rPr dirty="0" err="1"/>
              <a:t>nur</a:t>
            </a:r>
            <a:r>
              <a:rPr dirty="0"/>
              <a:t> </a:t>
            </a:r>
            <a:r>
              <a:rPr dirty="0" err="1"/>
              <a:t>informell</a:t>
            </a:r>
            <a:r>
              <a:rPr dirty="0"/>
              <a:t> in die </a:t>
            </a:r>
            <a:r>
              <a:rPr dirty="0" err="1"/>
              <a:t>Planung</a:t>
            </a:r>
            <a:r>
              <a:rPr dirty="0"/>
              <a:t> </a:t>
            </a:r>
            <a:r>
              <a:rPr dirty="0" err="1"/>
              <a:t>ein</a:t>
            </a:r>
            <a:endParaRPr dirty="0"/>
          </a:p>
          <a:p>
            <a:pPr>
              <a:spcBef>
                <a:spcPts val="800"/>
              </a:spcBef>
              <a:spcAft>
                <a:spcPts val="400"/>
              </a:spcAft>
              <a:defRPr sz="2000">
                <a:solidFill>
                  <a:srgbClr val="334155"/>
                </a:solidFill>
              </a:defRPr>
            </a:pPr>
            <a:endParaRPr dirty="0"/>
          </a:p>
          <a:p>
            <a:pPr>
              <a:spcBef>
                <a:spcPts val="800"/>
              </a:spcBef>
              <a:spcAft>
                <a:spcPts val="400"/>
              </a:spcAft>
              <a:defRPr sz="2000">
                <a:solidFill>
                  <a:srgbClr val="334155"/>
                </a:solidFill>
              </a:defRPr>
            </a:pPr>
            <a:r>
              <a:rPr dirty="0"/>
              <a:t>Die Frage "Wie </a:t>
            </a:r>
            <a:r>
              <a:rPr dirty="0" err="1"/>
              <a:t>viele</a:t>
            </a:r>
            <a:r>
              <a:rPr dirty="0"/>
              <a:t> Story Points </a:t>
            </a:r>
            <a:r>
              <a:rPr dirty="0" err="1"/>
              <a:t>schaffen</a:t>
            </a:r>
            <a:r>
              <a:rPr dirty="0"/>
              <a:t> </a:t>
            </a:r>
            <a:r>
              <a:rPr dirty="0" err="1"/>
              <a:t>wir</a:t>
            </a:r>
            <a:r>
              <a:rPr dirty="0"/>
              <a:t>?" </a:t>
            </a:r>
            <a:r>
              <a:rPr dirty="0" err="1"/>
              <a:t>konnte</a:t>
            </a:r>
            <a:r>
              <a:rPr dirty="0"/>
              <a:t> </a:t>
            </a:r>
            <a:r>
              <a:rPr dirty="0" err="1"/>
              <a:t>niemand</a:t>
            </a:r>
            <a:r>
              <a:rPr dirty="0"/>
              <a:t> </a:t>
            </a:r>
            <a:r>
              <a:rPr dirty="0" err="1"/>
              <a:t>datenbasiert</a:t>
            </a:r>
            <a:r>
              <a:rPr dirty="0"/>
              <a:t> </a:t>
            </a:r>
            <a:r>
              <a:rPr dirty="0" err="1"/>
              <a:t>beantworten</a:t>
            </a:r>
            <a:endParaRPr dirty="0"/>
          </a:p>
          <a:p>
            <a:pPr>
              <a:spcBef>
                <a:spcPts val="800"/>
              </a:spcBef>
              <a:spcAft>
                <a:spcPts val="400"/>
              </a:spcAft>
              <a:defRPr sz="2000">
                <a:solidFill>
                  <a:srgbClr val="334155"/>
                </a:solidFill>
              </a:defRPr>
            </a:pPr>
            <a:endParaRPr dirty="0"/>
          </a:p>
          <a:p>
            <a:pPr>
              <a:spcBef>
                <a:spcPts val="800"/>
              </a:spcBef>
              <a:spcAft>
                <a:spcPts val="400"/>
              </a:spcAft>
              <a:defRPr sz="2000">
                <a:solidFill>
                  <a:srgbClr val="334155"/>
                </a:solidFill>
              </a:defRPr>
            </a:pPr>
            <a:r>
              <a:rPr b="1" dirty="0" err="1"/>
              <a:t>Konsequenzen</a:t>
            </a:r>
            <a:r>
              <a:rPr b="1" dirty="0"/>
              <a:t>:</a:t>
            </a:r>
          </a:p>
          <a:p>
            <a:pPr marL="285750" lvl="1" indent="-285750">
              <a:spcBef>
                <a:spcPts val="800"/>
              </a:spcBef>
              <a:spcAft>
                <a:spcPts val="400"/>
              </a:spcAft>
              <a:defRPr sz="1800">
                <a:solidFill>
                  <a:srgbClr val="334155"/>
                </a:solidFill>
              </a:defRPr>
            </a:pPr>
            <a:r>
              <a:rPr dirty="0" err="1"/>
              <a:t>Regelmässig</a:t>
            </a:r>
            <a:r>
              <a:rPr dirty="0"/>
              <a:t> </a:t>
            </a:r>
            <a:r>
              <a:rPr dirty="0" err="1"/>
              <a:t>zu</a:t>
            </a:r>
            <a:r>
              <a:rPr dirty="0"/>
              <a:t> </a:t>
            </a:r>
            <a:r>
              <a:rPr dirty="0" err="1"/>
              <a:t>viel</a:t>
            </a:r>
            <a:r>
              <a:rPr dirty="0"/>
              <a:t> </a:t>
            </a:r>
            <a:r>
              <a:rPr dirty="0" err="1"/>
              <a:t>oder</a:t>
            </a:r>
            <a:r>
              <a:rPr dirty="0"/>
              <a:t> </a:t>
            </a:r>
            <a:r>
              <a:rPr dirty="0" err="1"/>
              <a:t>zu</a:t>
            </a:r>
            <a:r>
              <a:rPr dirty="0"/>
              <a:t> </a:t>
            </a:r>
            <a:r>
              <a:rPr dirty="0" err="1"/>
              <a:t>wenig</a:t>
            </a:r>
            <a:r>
              <a:rPr dirty="0"/>
              <a:t> </a:t>
            </a:r>
            <a:r>
              <a:rPr dirty="0" err="1"/>
              <a:t>eingeplant</a:t>
            </a:r>
            <a:endParaRPr dirty="0"/>
          </a:p>
          <a:p>
            <a:pPr marL="285750" lvl="1" indent="-285750">
              <a:spcBef>
                <a:spcPts val="800"/>
              </a:spcBef>
              <a:spcAft>
                <a:spcPts val="400"/>
              </a:spcAft>
              <a:defRPr sz="1800">
                <a:solidFill>
                  <a:srgbClr val="334155"/>
                </a:solidFill>
              </a:defRPr>
            </a:pPr>
            <a:r>
              <a:rPr dirty="0"/>
              <a:t>Sprint-</a:t>
            </a:r>
            <a:r>
              <a:rPr dirty="0" err="1"/>
              <a:t>Ziele</a:t>
            </a:r>
            <a:r>
              <a:rPr dirty="0"/>
              <a:t> </a:t>
            </a:r>
            <a:r>
              <a:rPr dirty="0" err="1"/>
              <a:t>verfehlt</a:t>
            </a:r>
            <a:endParaRPr dirty="0"/>
          </a:p>
          <a:p>
            <a:pPr marL="285750" lvl="1" indent="-285750">
              <a:spcBef>
                <a:spcPts val="800"/>
              </a:spcBef>
              <a:spcAft>
                <a:spcPts val="400"/>
              </a:spcAft>
              <a:defRPr sz="1800">
                <a:solidFill>
                  <a:srgbClr val="334155"/>
                </a:solidFill>
              </a:defRPr>
            </a:pPr>
            <a:r>
              <a:rPr dirty="0"/>
              <a:t>Mehr </a:t>
            </a:r>
            <a:r>
              <a:rPr dirty="0" err="1"/>
              <a:t>Abstimmungsaufwand</a:t>
            </a:r>
            <a:r>
              <a:rPr dirty="0"/>
              <a:t>, </a:t>
            </a:r>
            <a:r>
              <a:rPr dirty="0" err="1"/>
              <a:t>weniger</a:t>
            </a:r>
            <a:r>
              <a:rPr dirty="0"/>
              <a:t> </a:t>
            </a:r>
            <a:r>
              <a:rPr dirty="0" err="1"/>
              <a:t>Planungssicherheit</a:t>
            </a:r>
            <a:endParaRPr dirty="0"/>
          </a:p>
        </p:txBody>
      </p:sp>
      <p:sp>
        <p:nvSpPr>
          <p:cNvPr id="5" name="Rectangle 4">
            <a:extLst>
              <a:ext uri="{FF2B5EF4-FFF2-40B4-BE49-F238E27FC236}">
                <a16:creationId xmlns:a16="http://schemas.microsoft.com/office/drawing/2014/main" id="{9FECF2D2-1619-E517-5450-BB226FCAC47C}"/>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7" name="Graphic 6">
            <a:extLst>
              <a:ext uri="{FF2B5EF4-FFF2-40B4-BE49-F238E27FC236}">
                <a16:creationId xmlns:a16="http://schemas.microsoft.com/office/drawing/2014/main" id="{25FDD4D0-900A-BE37-DD38-632ED0722E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8" name="TextBox 7"/>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Auftrag</a:t>
            </a:r>
          </a:p>
        </p:txBody>
      </p:sp>
      <p:sp>
        <p:nvSpPr>
          <p:cNvPr id="4" name="TextBox 3"/>
          <p:cNvSpPr txBox="1"/>
          <p:nvPr/>
        </p:nvSpPr>
        <p:spPr>
          <a:xfrm>
            <a:off x="685800" y="1371600"/>
            <a:ext cx="10820095" cy="4770537"/>
          </a:xfrm>
          <a:prstGeom prst="rect">
            <a:avLst/>
          </a:prstGeom>
          <a:noFill/>
        </p:spPr>
        <p:txBody>
          <a:bodyPr wrap="square">
            <a:spAutoFit/>
          </a:bodyPr>
          <a:lstStyle/>
          <a:p>
            <a:pPr>
              <a:spcBef>
                <a:spcPts val="800"/>
              </a:spcBef>
              <a:spcAft>
                <a:spcPts val="400"/>
              </a:spcAft>
              <a:defRPr sz="2000">
                <a:solidFill>
                  <a:srgbClr val="334155"/>
                </a:solidFill>
              </a:defRPr>
            </a:pPr>
            <a:r>
              <a:rPr b="1" dirty="0"/>
              <a:t>Was </a:t>
            </a:r>
            <a:r>
              <a:rPr b="1" dirty="0" err="1"/>
              <a:t>sollte</a:t>
            </a:r>
            <a:r>
              <a:rPr b="1" dirty="0"/>
              <a:t> </a:t>
            </a:r>
            <a:r>
              <a:rPr b="1" dirty="0" err="1"/>
              <a:t>Sprintify</a:t>
            </a:r>
            <a:r>
              <a:rPr b="1" dirty="0"/>
              <a:t> </a:t>
            </a:r>
            <a:r>
              <a:rPr b="1" dirty="0" err="1"/>
              <a:t>leisten</a:t>
            </a:r>
            <a:r>
              <a:rPr b="1" dirty="0"/>
              <a:t>?</a:t>
            </a:r>
          </a:p>
          <a:p>
            <a:pPr marL="285750" lvl="1" indent="-285750">
              <a:spcBef>
                <a:spcPts val="800"/>
              </a:spcBef>
              <a:spcAft>
                <a:spcPts val="400"/>
              </a:spcAft>
              <a:buFont typeface="Arial" panose="020B0604020202020204" pitchFamily="34" charset="0"/>
              <a:buChar char="•"/>
              <a:defRPr sz="1800">
                <a:solidFill>
                  <a:srgbClr val="334155"/>
                </a:solidFill>
              </a:defRPr>
            </a:pPr>
            <a:r>
              <a:rPr dirty="0"/>
              <a:t>Sprints, User Stories und </a:t>
            </a:r>
            <a:r>
              <a:rPr dirty="0" err="1"/>
              <a:t>Teammitglieder</a:t>
            </a:r>
            <a:r>
              <a:rPr dirty="0"/>
              <a:t> </a:t>
            </a:r>
            <a:r>
              <a:rPr dirty="0" err="1"/>
              <a:t>aus</a:t>
            </a:r>
            <a:r>
              <a:rPr dirty="0"/>
              <a:t> Jira </a:t>
            </a:r>
            <a:r>
              <a:rPr dirty="0" err="1"/>
              <a:t>übernehmen</a:t>
            </a:r>
            <a:endParaRPr dirty="0"/>
          </a:p>
          <a:p>
            <a:pPr marL="285750" lvl="1" indent="-285750">
              <a:spcBef>
                <a:spcPts val="800"/>
              </a:spcBef>
              <a:spcAft>
                <a:spcPts val="400"/>
              </a:spcAft>
              <a:buFont typeface="Arial" panose="020B0604020202020204" pitchFamily="34" charset="0"/>
              <a:buChar char="•"/>
              <a:defRPr sz="1800">
                <a:solidFill>
                  <a:srgbClr val="334155"/>
                </a:solidFill>
              </a:defRPr>
            </a:pPr>
            <a:r>
              <a:rPr dirty="0" err="1"/>
              <a:t>Kapazitätsplanung</a:t>
            </a:r>
            <a:r>
              <a:rPr dirty="0"/>
              <a:t> pro Person und Sprint (</a:t>
            </a:r>
            <a:r>
              <a:rPr dirty="0" err="1"/>
              <a:t>wochenweise</a:t>
            </a:r>
            <a:r>
              <a:rPr dirty="0"/>
              <a:t>)</a:t>
            </a:r>
          </a:p>
          <a:p>
            <a:pPr marL="285750" lvl="1" indent="-285750">
              <a:spcBef>
                <a:spcPts val="800"/>
              </a:spcBef>
              <a:spcAft>
                <a:spcPts val="400"/>
              </a:spcAft>
              <a:buFont typeface="Arial" panose="020B0604020202020204" pitchFamily="34" charset="0"/>
              <a:buChar char="•"/>
              <a:defRPr sz="1800">
                <a:solidFill>
                  <a:srgbClr val="334155"/>
                </a:solidFill>
              </a:defRPr>
            </a:pPr>
            <a:r>
              <a:rPr dirty="0"/>
              <a:t>Sprint Analytics: Burndown, Velocity, Scope-Changes</a:t>
            </a:r>
          </a:p>
          <a:p>
            <a:pPr marL="285750" lvl="1" indent="-285750">
              <a:spcBef>
                <a:spcPts val="800"/>
              </a:spcBef>
              <a:spcAft>
                <a:spcPts val="400"/>
              </a:spcAft>
              <a:buFont typeface="Arial" panose="020B0604020202020204" pitchFamily="34" charset="0"/>
              <a:buChar char="•"/>
              <a:defRPr sz="1800">
                <a:solidFill>
                  <a:srgbClr val="334155"/>
                </a:solidFill>
              </a:defRPr>
            </a:pPr>
            <a:r>
              <a:rPr dirty="0"/>
              <a:t>SP-</a:t>
            </a:r>
            <a:r>
              <a:rPr dirty="0" err="1"/>
              <a:t>Empfehlung</a:t>
            </a:r>
            <a:r>
              <a:rPr dirty="0"/>
              <a:t> </a:t>
            </a:r>
            <a:r>
              <a:rPr dirty="0" err="1"/>
              <a:t>basierend</a:t>
            </a:r>
            <a:r>
              <a:rPr dirty="0"/>
              <a:t> auf </a:t>
            </a:r>
            <a:r>
              <a:rPr dirty="0" err="1"/>
              <a:t>Kapazität</a:t>
            </a:r>
            <a:r>
              <a:rPr dirty="0"/>
              <a:t> und Velocity</a:t>
            </a:r>
          </a:p>
          <a:p>
            <a:pPr marL="285750" lvl="1" indent="-285750">
              <a:spcBef>
                <a:spcPts val="800"/>
              </a:spcBef>
              <a:spcAft>
                <a:spcPts val="400"/>
              </a:spcAft>
              <a:buFont typeface="Arial" panose="020B0604020202020204" pitchFamily="34" charset="0"/>
              <a:buChar char="•"/>
              <a:defRPr sz="1800">
                <a:solidFill>
                  <a:srgbClr val="334155"/>
                </a:solidFill>
              </a:defRPr>
            </a:pPr>
            <a:r>
              <a:rPr dirty="0" err="1"/>
              <a:t>Rollenbasierte</a:t>
            </a:r>
            <a:r>
              <a:rPr dirty="0"/>
              <a:t> </a:t>
            </a:r>
            <a:r>
              <a:rPr dirty="0" err="1"/>
              <a:t>Zugriffskontrolle</a:t>
            </a:r>
            <a:endParaRPr dirty="0"/>
          </a:p>
          <a:p>
            <a:pPr>
              <a:spcBef>
                <a:spcPts val="800"/>
              </a:spcBef>
              <a:spcAft>
                <a:spcPts val="400"/>
              </a:spcAft>
              <a:defRPr sz="2000">
                <a:solidFill>
                  <a:srgbClr val="334155"/>
                </a:solidFill>
              </a:defRPr>
            </a:pPr>
            <a:endParaRPr dirty="0"/>
          </a:p>
          <a:p>
            <a:pPr>
              <a:spcBef>
                <a:spcPts val="800"/>
              </a:spcBef>
              <a:spcAft>
                <a:spcPts val="400"/>
              </a:spcAft>
              <a:defRPr sz="2000">
                <a:solidFill>
                  <a:srgbClr val="334155"/>
                </a:solidFill>
              </a:defRPr>
            </a:pPr>
            <a:r>
              <a:rPr b="1" dirty="0" err="1"/>
              <a:t>Rahmenbedingungen</a:t>
            </a:r>
            <a:r>
              <a:rPr b="1" dirty="0"/>
              <a:t>:</a:t>
            </a:r>
          </a:p>
          <a:p>
            <a:pPr marL="285750" lvl="1" indent="-285750">
              <a:spcBef>
                <a:spcPts val="800"/>
              </a:spcBef>
              <a:spcAft>
                <a:spcPts val="400"/>
              </a:spcAft>
              <a:buFont typeface="Arial" panose="020B0604020202020204" pitchFamily="34" charset="0"/>
              <a:buChar char="•"/>
              <a:defRPr sz="1800">
                <a:solidFill>
                  <a:srgbClr val="334155"/>
                </a:solidFill>
              </a:defRPr>
            </a:pPr>
            <a:r>
              <a:rPr dirty="0"/>
              <a:t>Deployment auf Azure App Service</a:t>
            </a:r>
          </a:p>
          <a:p>
            <a:pPr marL="285750" lvl="1" indent="-285750">
              <a:spcBef>
                <a:spcPts val="800"/>
              </a:spcBef>
              <a:spcAft>
                <a:spcPts val="400"/>
              </a:spcAft>
              <a:buFont typeface="Arial" panose="020B0604020202020204" pitchFamily="34" charset="0"/>
              <a:buChar char="•"/>
              <a:defRPr sz="1800">
                <a:solidFill>
                  <a:srgbClr val="334155"/>
                </a:solidFill>
              </a:defRPr>
            </a:pPr>
            <a:r>
              <a:rPr dirty="0"/>
              <a:t>Ein-Mann-Projekt</a:t>
            </a:r>
          </a:p>
          <a:p>
            <a:pPr marL="285750" lvl="1" indent="-285750">
              <a:spcBef>
                <a:spcPts val="800"/>
              </a:spcBef>
              <a:spcAft>
                <a:spcPts val="400"/>
              </a:spcAft>
              <a:buFont typeface="Arial" panose="020B0604020202020204" pitchFamily="34" charset="0"/>
              <a:buChar char="•"/>
              <a:defRPr sz="1800">
                <a:solidFill>
                  <a:srgbClr val="334155"/>
                </a:solidFill>
              </a:defRPr>
            </a:pPr>
            <a:r>
              <a:rPr dirty="0"/>
              <a:t>8 </a:t>
            </a:r>
            <a:r>
              <a:rPr dirty="0" err="1"/>
              <a:t>Monate</a:t>
            </a:r>
            <a:r>
              <a:rPr dirty="0"/>
              <a:t> </a:t>
            </a:r>
            <a:r>
              <a:rPr dirty="0" err="1"/>
              <a:t>Projektlaufzeit</a:t>
            </a:r>
            <a:endParaRPr dirty="0"/>
          </a:p>
        </p:txBody>
      </p:sp>
      <p:sp>
        <p:nvSpPr>
          <p:cNvPr id="5" name="Rectangle 4">
            <a:extLst>
              <a:ext uri="{FF2B5EF4-FFF2-40B4-BE49-F238E27FC236}">
                <a16:creationId xmlns:a16="http://schemas.microsoft.com/office/drawing/2014/main" id="{AD4C9CFC-B7AF-045C-6004-FE2F3D34C0C8}"/>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7" name="Graphic 6">
            <a:extLst>
              <a:ext uri="{FF2B5EF4-FFF2-40B4-BE49-F238E27FC236}">
                <a16:creationId xmlns:a16="http://schemas.microsoft.com/office/drawing/2014/main" id="{97E4E46E-E4EE-CA2A-30B4-8602521514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8" name="TextBox 7"/>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Marktanalyse</a:t>
            </a:r>
          </a:p>
        </p:txBody>
      </p:sp>
      <p:sp>
        <p:nvSpPr>
          <p:cNvPr id="4" name="TextBox 3"/>
          <p:cNvSpPr txBox="1"/>
          <p:nvPr/>
        </p:nvSpPr>
        <p:spPr>
          <a:xfrm>
            <a:off x="685800" y="1234440"/>
            <a:ext cx="10820095" cy="4524315"/>
          </a:xfrm>
          <a:prstGeom prst="rect">
            <a:avLst/>
          </a:prstGeom>
          <a:noFill/>
        </p:spPr>
        <p:txBody>
          <a:bodyPr wrap="square">
            <a:spAutoFit/>
          </a:bodyPr>
          <a:lstStyle/>
          <a:p>
            <a:pPr>
              <a:spcBef>
                <a:spcPts val="300"/>
              </a:spcBef>
              <a:spcAft>
                <a:spcPts val="200"/>
              </a:spcAft>
              <a:defRPr sz="2000">
                <a:solidFill>
                  <a:srgbClr val="334155"/>
                </a:solidFill>
              </a:defRPr>
            </a:pPr>
            <a:r>
              <a:rPr b="1" dirty="0"/>
              <a:t>Tempo Timesheets</a:t>
            </a:r>
          </a:p>
          <a:p>
            <a:pPr marL="285750" lvl="1" indent="-285750">
              <a:spcBef>
                <a:spcPts val="300"/>
              </a:spcBef>
              <a:defRPr sz="1800">
                <a:solidFill>
                  <a:srgbClr val="334155"/>
                </a:solidFill>
              </a:defRPr>
            </a:pPr>
            <a:r>
              <a:rPr b="1" dirty="0">
                <a:solidFill>
                  <a:srgbClr val="15803D"/>
                </a:solidFill>
              </a:rPr>
              <a:t>+  </a:t>
            </a:r>
            <a:r>
              <a:rPr sz="1800" dirty="0" err="1">
                <a:solidFill>
                  <a:srgbClr val="334155"/>
                </a:solidFill>
                <a:latin typeface="Arial"/>
              </a:rPr>
              <a:t>Zeiterfassung</a:t>
            </a:r>
            <a:r>
              <a:rPr sz="1800" dirty="0">
                <a:solidFill>
                  <a:srgbClr val="334155"/>
                </a:solidFill>
                <a:latin typeface="Arial"/>
              </a:rPr>
              <a:t>, Jira-Plugin</a:t>
            </a:r>
          </a:p>
          <a:p>
            <a:pPr marL="285750" lvl="1" indent="-285750">
              <a:spcBef>
                <a:spcPts val="300"/>
              </a:spcBef>
              <a:defRPr sz="1800">
                <a:solidFill>
                  <a:srgbClr val="334155"/>
                </a:solidFill>
              </a:defRPr>
            </a:pPr>
            <a:r>
              <a:rPr b="1" dirty="0">
                <a:solidFill>
                  <a:srgbClr val="B91C1C"/>
                </a:solidFill>
              </a:rPr>
              <a:t>–  </a:t>
            </a:r>
            <a:r>
              <a:rPr sz="1800" dirty="0">
                <a:solidFill>
                  <a:srgbClr val="334155"/>
                </a:solidFill>
                <a:latin typeface="Arial"/>
              </a:rPr>
              <a:t>Keine </a:t>
            </a:r>
            <a:r>
              <a:rPr sz="1800" dirty="0" err="1">
                <a:solidFill>
                  <a:srgbClr val="334155"/>
                </a:solidFill>
                <a:latin typeface="Arial"/>
              </a:rPr>
              <a:t>wochenbasierte</a:t>
            </a:r>
            <a:r>
              <a:rPr sz="1800" dirty="0">
                <a:solidFill>
                  <a:srgbClr val="334155"/>
                </a:solidFill>
                <a:latin typeface="Arial"/>
              </a:rPr>
              <a:t> </a:t>
            </a:r>
            <a:r>
              <a:rPr sz="1800" dirty="0" err="1">
                <a:solidFill>
                  <a:srgbClr val="334155"/>
                </a:solidFill>
                <a:latin typeface="Arial"/>
              </a:rPr>
              <a:t>Kapazitätsplanung</a:t>
            </a:r>
            <a:endParaRPr dirty="0"/>
          </a:p>
          <a:p>
            <a:pPr>
              <a:spcBef>
                <a:spcPts val="300"/>
              </a:spcBef>
              <a:spcAft>
                <a:spcPts val="200"/>
              </a:spcAft>
              <a:defRPr sz="2000">
                <a:solidFill>
                  <a:srgbClr val="334155"/>
                </a:solidFill>
              </a:defRPr>
            </a:pPr>
            <a:endParaRPr dirty="0"/>
          </a:p>
          <a:p>
            <a:pPr>
              <a:spcBef>
                <a:spcPts val="300"/>
              </a:spcBef>
              <a:spcAft>
                <a:spcPts val="200"/>
              </a:spcAft>
              <a:defRPr sz="2000">
                <a:solidFill>
                  <a:srgbClr val="334155"/>
                </a:solidFill>
              </a:defRPr>
            </a:pPr>
            <a:r>
              <a:rPr b="1" dirty="0"/>
              <a:t>Jira Advanced Roadmaps</a:t>
            </a:r>
          </a:p>
          <a:p>
            <a:pPr marL="285750" lvl="1" indent="-285750">
              <a:spcBef>
                <a:spcPts val="300"/>
              </a:spcBef>
              <a:defRPr sz="1800">
                <a:solidFill>
                  <a:srgbClr val="334155"/>
                </a:solidFill>
              </a:defRPr>
            </a:pPr>
            <a:r>
              <a:rPr b="1" dirty="0">
                <a:solidFill>
                  <a:srgbClr val="15803D"/>
                </a:solidFill>
              </a:rPr>
              <a:t>+  </a:t>
            </a:r>
            <a:r>
              <a:rPr sz="1800" dirty="0">
                <a:solidFill>
                  <a:srgbClr val="334155"/>
                </a:solidFill>
                <a:latin typeface="Arial"/>
              </a:rPr>
              <a:t>Portfolio-</a:t>
            </a:r>
            <a:r>
              <a:rPr sz="1800" dirty="0" err="1">
                <a:solidFill>
                  <a:srgbClr val="334155"/>
                </a:solidFill>
                <a:latin typeface="Arial"/>
              </a:rPr>
              <a:t>Planung</a:t>
            </a:r>
            <a:endParaRPr dirty="0"/>
          </a:p>
          <a:p>
            <a:pPr marL="285750" lvl="1" indent="-285750">
              <a:spcBef>
                <a:spcPts val="300"/>
              </a:spcBef>
              <a:defRPr sz="1800">
                <a:solidFill>
                  <a:srgbClr val="334155"/>
                </a:solidFill>
              </a:defRPr>
            </a:pPr>
            <a:r>
              <a:rPr b="1" dirty="0">
                <a:solidFill>
                  <a:srgbClr val="B91C1C"/>
                </a:solidFill>
              </a:rPr>
              <a:t>–  </a:t>
            </a:r>
            <a:r>
              <a:rPr sz="1800" dirty="0" err="1">
                <a:solidFill>
                  <a:srgbClr val="334155"/>
                </a:solidFill>
                <a:latin typeface="Arial"/>
              </a:rPr>
              <a:t>Teuer</a:t>
            </a:r>
            <a:r>
              <a:rPr sz="1800" dirty="0">
                <a:solidFill>
                  <a:srgbClr val="334155"/>
                </a:solidFill>
                <a:latin typeface="Arial"/>
              </a:rPr>
              <a:t>, </a:t>
            </a:r>
            <a:r>
              <a:rPr sz="1800" dirty="0" err="1">
                <a:solidFill>
                  <a:srgbClr val="334155"/>
                </a:solidFill>
                <a:latin typeface="Arial"/>
              </a:rPr>
              <a:t>komplex</a:t>
            </a:r>
            <a:r>
              <a:rPr sz="1800" dirty="0">
                <a:solidFill>
                  <a:srgbClr val="334155"/>
                </a:solidFill>
                <a:latin typeface="Arial"/>
              </a:rPr>
              <a:t>, </a:t>
            </a:r>
            <a:r>
              <a:rPr sz="1800" dirty="0" err="1">
                <a:solidFill>
                  <a:srgbClr val="334155"/>
                </a:solidFill>
                <a:latin typeface="Arial"/>
              </a:rPr>
              <a:t>keine</a:t>
            </a:r>
            <a:r>
              <a:rPr sz="1800" dirty="0">
                <a:solidFill>
                  <a:srgbClr val="334155"/>
                </a:solidFill>
                <a:latin typeface="Arial"/>
              </a:rPr>
              <a:t> Team-</a:t>
            </a:r>
            <a:r>
              <a:rPr sz="1800" dirty="0" err="1">
                <a:solidFill>
                  <a:srgbClr val="334155"/>
                </a:solidFill>
                <a:latin typeface="Arial"/>
              </a:rPr>
              <a:t>Kapazitätsansicht</a:t>
            </a:r>
            <a:endParaRPr dirty="0"/>
          </a:p>
          <a:p>
            <a:pPr>
              <a:spcBef>
                <a:spcPts val="300"/>
              </a:spcBef>
              <a:spcAft>
                <a:spcPts val="200"/>
              </a:spcAft>
              <a:defRPr sz="2000">
                <a:solidFill>
                  <a:srgbClr val="334155"/>
                </a:solidFill>
              </a:defRPr>
            </a:pPr>
            <a:endParaRPr dirty="0"/>
          </a:p>
          <a:p>
            <a:pPr>
              <a:spcBef>
                <a:spcPts val="300"/>
              </a:spcBef>
              <a:spcAft>
                <a:spcPts val="200"/>
              </a:spcAft>
              <a:defRPr sz="2000">
                <a:solidFill>
                  <a:srgbClr val="334155"/>
                </a:solidFill>
              </a:defRPr>
            </a:pPr>
            <a:r>
              <a:rPr b="1" dirty="0" err="1"/>
              <a:t>Forecast.app</a:t>
            </a:r>
            <a:endParaRPr b="1" dirty="0"/>
          </a:p>
          <a:p>
            <a:pPr marL="285750" lvl="1" indent="-285750">
              <a:spcBef>
                <a:spcPts val="300"/>
              </a:spcBef>
              <a:defRPr sz="1800">
                <a:solidFill>
                  <a:srgbClr val="334155"/>
                </a:solidFill>
              </a:defRPr>
            </a:pPr>
            <a:r>
              <a:rPr b="1" dirty="0">
                <a:solidFill>
                  <a:srgbClr val="15803D"/>
                </a:solidFill>
              </a:rPr>
              <a:t>+  </a:t>
            </a:r>
            <a:r>
              <a:rPr sz="1800" dirty="0" err="1">
                <a:solidFill>
                  <a:srgbClr val="334155"/>
                </a:solidFill>
                <a:latin typeface="Arial"/>
              </a:rPr>
              <a:t>Projektplanung</a:t>
            </a:r>
            <a:endParaRPr dirty="0"/>
          </a:p>
          <a:p>
            <a:pPr marL="285750" lvl="1" indent="-285750">
              <a:spcBef>
                <a:spcPts val="300"/>
              </a:spcBef>
              <a:defRPr sz="1800">
                <a:solidFill>
                  <a:srgbClr val="334155"/>
                </a:solidFill>
              </a:defRPr>
            </a:pPr>
            <a:r>
              <a:rPr b="1" dirty="0">
                <a:solidFill>
                  <a:srgbClr val="B91C1C"/>
                </a:solidFill>
              </a:rPr>
              <a:t>–  </a:t>
            </a:r>
            <a:r>
              <a:rPr sz="1800" dirty="0">
                <a:solidFill>
                  <a:srgbClr val="334155"/>
                </a:solidFill>
                <a:latin typeface="Arial"/>
              </a:rPr>
              <a:t>Keine </a:t>
            </a:r>
            <a:r>
              <a:rPr sz="1800" dirty="0" err="1">
                <a:solidFill>
                  <a:srgbClr val="334155"/>
                </a:solidFill>
                <a:latin typeface="Arial"/>
              </a:rPr>
              <a:t>direkte</a:t>
            </a:r>
            <a:r>
              <a:rPr sz="1800" dirty="0">
                <a:solidFill>
                  <a:srgbClr val="334155"/>
                </a:solidFill>
                <a:latin typeface="Arial"/>
              </a:rPr>
              <a:t> Jira-Sync, </a:t>
            </a:r>
            <a:r>
              <a:rPr sz="1800" dirty="0" err="1">
                <a:solidFill>
                  <a:srgbClr val="334155"/>
                </a:solidFill>
                <a:latin typeface="Arial"/>
              </a:rPr>
              <a:t>keine</a:t>
            </a:r>
            <a:r>
              <a:rPr sz="1800" dirty="0">
                <a:solidFill>
                  <a:srgbClr val="334155"/>
                </a:solidFill>
                <a:latin typeface="Arial"/>
              </a:rPr>
              <a:t> SP-</a:t>
            </a:r>
            <a:r>
              <a:rPr sz="1800" dirty="0" err="1">
                <a:solidFill>
                  <a:srgbClr val="334155"/>
                </a:solidFill>
                <a:latin typeface="Arial"/>
              </a:rPr>
              <a:t>Empfehlung</a:t>
            </a:r>
            <a:endParaRPr dirty="0"/>
          </a:p>
          <a:p>
            <a:pPr>
              <a:spcBef>
                <a:spcPts val="300"/>
              </a:spcBef>
              <a:spcAft>
                <a:spcPts val="200"/>
              </a:spcAft>
              <a:defRPr sz="2000">
                <a:solidFill>
                  <a:srgbClr val="334155"/>
                </a:solidFill>
              </a:defRPr>
            </a:pPr>
            <a:endParaRPr dirty="0"/>
          </a:p>
          <a:p>
            <a:pPr>
              <a:spcBef>
                <a:spcPts val="300"/>
              </a:spcBef>
              <a:spcAft>
                <a:spcPts val="200"/>
              </a:spcAft>
              <a:defRPr sz="2000">
                <a:solidFill>
                  <a:srgbClr val="334155"/>
                </a:solidFill>
              </a:defRPr>
            </a:pPr>
            <a:r>
              <a:rPr dirty="0" err="1"/>
              <a:t>Keines</a:t>
            </a:r>
            <a:r>
              <a:rPr dirty="0"/>
              <a:t> </a:t>
            </a:r>
            <a:r>
              <a:rPr dirty="0" err="1"/>
              <a:t>verbindet</a:t>
            </a:r>
            <a:r>
              <a:rPr dirty="0"/>
              <a:t> </a:t>
            </a:r>
            <a:r>
              <a:rPr dirty="0" err="1"/>
              <a:t>Kapazitätsplanung</a:t>
            </a:r>
            <a:r>
              <a:rPr dirty="0"/>
              <a:t> + Jira-Sync + Sprint Analytics</a:t>
            </a:r>
          </a:p>
        </p:txBody>
      </p:sp>
      <p:sp>
        <p:nvSpPr>
          <p:cNvPr id="5" name="Rectangle 4">
            <a:extLst>
              <a:ext uri="{FF2B5EF4-FFF2-40B4-BE49-F238E27FC236}">
                <a16:creationId xmlns:a16="http://schemas.microsoft.com/office/drawing/2014/main" id="{A56A5171-1D1B-0972-A588-823BD81FE36A}"/>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7" name="Graphic 6">
            <a:extLst>
              <a:ext uri="{FF2B5EF4-FFF2-40B4-BE49-F238E27FC236}">
                <a16:creationId xmlns:a16="http://schemas.microsoft.com/office/drawing/2014/main" id="{A357D678-07E9-00DF-E5E5-7FF5E5A37B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8" name="TextBox 7"/>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Vorgehen</a:t>
            </a:r>
          </a:p>
        </p:txBody>
      </p:sp>
      <p:sp>
        <p:nvSpPr>
          <p:cNvPr id="4" name="TextBox 3"/>
          <p:cNvSpPr txBox="1"/>
          <p:nvPr/>
        </p:nvSpPr>
        <p:spPr>
          <a:xfrm>
            <a:off x="685800" y="1371600"/>
            <a:ext cx="10820095" cy="4370427"/>
          </a:xfrm>
          <a:prstGeom prst="rect">
            <a:avLst/>
          </a:prstGeom>
          <a:noFill/>
        </p:spPr>
        <p:txBody>
          <a:bodyPr wrap="square">
            <a:spAutoFit/>
          </a:bodyPr>
          <a:lstStyle/>
          <a:p>
            <a:pPr>
              <a:spcBef>
                <a:spcPts val="800"/>
              </a:spcBef>
              <a:spcAft>
                <a:spcPts val="400"/>
              </a:spcAft>
              <a:defRPr sz="2000">
                <a:solidFill>
                  <a:srgbClr val="334155"/>
                </a:solidFill>
              </a:defRPr>
            </a:pPr>
            <a:r>
              <a:rPr b="1" dirty="0" err="1"/>
              <a:t>Methodik</a:t>
            </a:r>
            <a:r>
              <a:rPr b="1" dirty="0"/>
              <a:t>: </a:t>
            </a:r>
            <a:endParaRPr lang="de-CH" b="1" dirty="0"/>
          </a:p>
          <a:p>
            <a:pPr>
              <a:spcBef>
                <a:spcPts val="800"/>
              </a:spcBef>
              <a:spcAft>
                <a:spcPts val="400"/>
              </a:spcAft>
              <a:defRPr sz="2000">
                <a:solidFill>
                  <a:srgbClr val="334155"/>
                </a:solidFill>
              </a:defRPr>
            </a:pPr>
            <a:r>
              <a:rPr dirty="0"/>
              <a:t>Iteratives </a:t>
            </a:r>
            <a:r>
              <a:rPr dirty="0" err="1"/>
              <a:t>Vorgehen</a:t>
            </a:r>
            <a:r>
              <a:rPr dirty="0"/>
              <a:t> (</a:t>
            </a:r>
            <a:r>
              <a:rPr dirty="0" err="1"/>
              <a:t>angelehnt</a:t>
            </a:r>
            <a:r>
              <a:rPr dirty="0"/>
              <a:t> an Scrum)</a:t>
            </a:r>
          </a:p>
          <a:p>
            <a:pPr marL="285750" lvl="1" indent="-285750">
              <a:spcBef>
                <a:spcPts val="800"/>
              </a:spcBef>
              <a:spcAft>
                <a:spcPts val="400"/>
              </a:spcAft>
              <a:defRPr sz="1800">
                <a:solidFill>
                  <a:srgbClr val="334155"/>
                </a:solidFill>
              </a:defRPr>
            </a:pPr>
            <a:r>
              <a:rPr dirty="0" err="1"/>
              <a:t>Zweiwöchige</a:t>
            </a:r>
            <a:r>
              <a:rPr dirty="0"/>
              <a:t> </a:t>
            </a:r>
            <a:r>
              <a:rPr dirty="0" err="1"/>
              <a:t>Iterationen</a:t>
            </a:r>
            <a:r>
              <a:rPr dirty="0"/>
              <a:t> </a:t>
            </a:r>
            <a:r>
              <a:rPr dirty="0" err="1"/>
              <a:t>mit</a:t>
            </a:r>
            <a:r>
              <a:rPr dirty="0"/>
              <a:t> </a:t>
            </a:r>
            <a:r>
              <a:rPr dirty="0" err="1"/>
              <a:t>definierten</a:t>
            </a:r>
            <a:r>
              <a:rPr dirty="0"/>
              <a:t> Zielen</a:t>
            </a:r>
          </a:p>
          <a:p>
            <a:pPr marL="285750" lvl="1" indent="-285750">
              <a:spcBef>
                <a:spcPts val="800"/>
              </a:spcBef>
              <a:spcAft>
                <a:spcPts val="400"/>
              </a:spcAft>
              <a:defRPr sz="1800">
                <a:solidFill>
                  <a:srgbClr val="334155"/>
                </a:solidFill>
              </a:defRPr>
            </a:pPr>
            <a:r>
              <a:rPr dirty="0" err="1"/>
              <a:t>Regelmässige</a:t>
            </a:r>
            <a:r>
              <a:rPr dirty="0"/>
              <a:t> </a:t>
            </a:r>
            <a:r>
              <a:rPr dirty="0" err="1"/>
              <a:t>Besprechung</a:t>
            </a:r>
            <a:r>
              <a:rPr dirty="0"/>
              <a:t> </a:t>
            </a:r>
            <a:r>
              <a:rPr dirty="0" err="1"/>
              <a:t>mit</a:t>
            </a:r>
            <a:r>
              <a:rPr dirty="0"/>
              <a:t> dem </a:t>
            </a:r>
            <a:r>
              <a:rPr dirty="0" err="1"/>
              <a:t>Auftraggeber</a:t>
            </a:r>
            <a:endParaRPr dirty="0"/>
          </a:p>
          <a:p>
            <a:pPr>
              <a:spcBef>
                <a:spcPts val="800"/>
              </a:spcBef>
              <a:spcAft>
                <a:spcPts val="400"/>
              </a:spcAft>
              <a:defRPr sz="2000">
                <a:solidFill>
                  <a:srgbClr val="334155"/>
                </a:solidFill>
              </a:defRPr>
            </a:pPr>
            <a:endParaRPr dirty="0"/>
          </a:p>
          <a:p>
            <a:pPr>
              <a:spcBef>
                <a:spcPts val="800"/>
              </a:spcBef>
              <a:spcAft>
                <a:spcPts val="400"/>
              </a:spcAft>
              <a:defRPr sz="2000">
                <a:solidFill>
                  <a:srgbClr val="334155"/>
                </a:solidFill>
              </a:defRPr>
            </a:pPr>
            <a:r>
              <a:rPr b="1" dirty="0"/>
              <a:t>Vier </a:t>
            </a:r>
            <a:r>
              <a:rPr b="1" dirty="0" err="1"/>
              <a:t>Projektphasen</a:t>
            </a:r>
            <a:r>
              <a:rPr b="1" dirty="0"/>
              <a:t>:</a:t>
            </a:r>
          </a:p>
          <a:p>
            <a:pPr marL="285750" lvl="1" indent="-285750">
              <a:spcBef>
                <a:spcPts val="800"/>
              </a:spcBef>
              <a:spcAft>
                <a:spcPts val="400"/>
              </a:spcAft>
              <a:defRPr sz="1800">
                <a:solidFill>
                  <a:srgbClr val="334155"/>
                </a:solidFill>
              </a:defRPr>
            </a:pPr>
            <a:r>
              <a:rPr lang="de-CH" dirty="0"/>
              <a:t>Epic 1</a:t>
            </a:r>
            <a:r>
              <a:rPr dirty="0"/>
              <a:t>: </a:t>
            </a:r>
            <a:r>
              <a:rPr dirty="0" err="1"/>
              <a:t>Analyse</a:t>
            </a:r>
            <a:r>
              <a:rPr dirty="0"/>
              <a:t> &amp; </a:t>
            </a:r>
            <a:r>
              <a:rPr dirty="0" err="1"/>
              <a:t>Konzeption</a:t>
            </a:r>
            <a:endParaRPr dirty="0"/>
          </a:p>
          <a:p>
            <a:pPr marL="285750" lvl="1" indent="-285750">
              <a:spcBef>
                <a:spcPts val="800"/>
              </a:spcBef>
              <a:spcAft>
                <a:spcPts val="400"/>
              </a:spcAft>
              <a:defRPr sz="1800">
                <a:solidFill>
                  <a:srgbClr val="334155"/>
                </a:solidFill>
              </a:defRPr>
            </a:pPr>
            <a:r>
              <a:rPr lang="de-CH" dirty="0"/>
              <a:t>Epic</a:t>
            </a:r>
            <a:r>
              <a:rPr dirty="0"/>
              <a:t> 2: Backend-</a:t>
            </a:r>
            <a:r>
              <a:rPr dirty="0" err="1"/>
              <a:t>Entwicklung</a:t>
            </a:r>
            <a:endParaRPr dirty="0"/>
          </a:p>
          <a:p>
            <a:pPr marL="285750" lvl="1" indent="-285750">
              <a:spcBef>
                <a:spcPts val="800"/>
              </a:spcBef>
              <a:spcAft>
                <a:spcPts val="400"/>
              </a:spcAft>
              <a:defRPr sz="1800">
                <a:solidFill>
                  <a:srgbClr val="334155"/>
                </a:solidFill>
              </a:defRPr>
            </a:pPr>
            <a:r>
              <a:rPr lang="de-CH" dirty="0"/>
              <a:t>Epic</a:t>
            </a:r>
            <a:r>
              <a:rPr dirty="0"/>
              <a:t> 3: Frontend-</a:t>
            </a:r>
            <a:r>
              <a:rPr dirty="0" err="1"/>
              <a:t>Entwicklung</a:t>
            </a:r>
            <a:endParaRPr dirty="0"/>
          </a:p>
          <a:p>
            <a:pPr marL="285750" lvl="1" indent="-285750">
              <a:spcBef>
                <a:spcPts val="800"/>
              </a:spcBef>
              <a:spcAft>
                <a:spcPts val="400"/>
              </a:spcAft>
              <a:defRPr sz="1800">
                <a:solidFill>
                  <a:srgbClr val="334155"/>
                </a:solidFill>
              </a:defRPr>
            </a:pPr>
            <a:r>
              <a:rPr lang="de-CH" dirty="0"/>
              <a:t>Epic</a:t>
            </a:r>
            <a:r>
              <a:rPr dirty="0"/>
              <a:t> 4</a:t>
            </a:r>
            <a:r>
              <a:rPr lang="de-CH" dirty="0"/>
              <a:t>: </a:t>
            </a:r>
            <a:r>
              <a:rPr dirty="0"/>
              <a:t>Integration &amp; Deployment</a:t>
            </a:r>
          </a:p>
        </p:txBody>
      </p:sp>
      <p:sp>
        <p:nvSpPr>
          <p:cNvPr id="5" name="Rectangle 4">
            <a:extLst>
              <a:ext uri="{FF2B5EF4-FFF2-40B4-BE49-F238E27FC236}">
                <a16:creationId xmlns:a16="http://schemas.microsoft.com/office/drawing/2014/main" id="{595533DE-1E3A-7B0A-93FC-C674590C1B60}"/>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7" name="Graphic 6">
            <a:extLst>
              <a:ext uri="{FF2B5EF4-FFF2-40B4-BE49-F238E27FC236}">
                <a16:creationId xmlns:a16="http://schemas.microsoft.com/office/drawing/2014/main" id="{B2DF8846-0566-CB0A-959A-1E039B82DC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8" name="TextBox 7"/>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KI als Co-Engineer</a:t>
            </a:r>
          </a:p>
        </p:txBody>
      </p:sp>
      <p:sp>
        <p:nvSpPr>
          <p:cNvPr id="4" name="TextBox 3"/>
          <p:cNvSpPr txBox="1"/>
          <p:nvPr/>
        </p:nvSpPr>
        <p:spPr>
          <a:xfrm>
            <a:off x="685800" y="1371600"/>
            <a:ext cx="10820095" cy="4370427"/>
          </a:xfrm>
          <a:prstGeom prst="rect">
            <a:avLst/>
          </a:prstGeom>
          <a:noFill/>
        </p:spPr>
        <p:txBody>
          <a:bodyPr wrap="square">
            <a:spAutoFit/>
          </a:bodyPr>
          <a:lstStyle/>
          <a:p>
            <a:pPr>
              <a:spcBef>
                <a:spcPts val="800"/>
              </a:spcBef>
              <a:spcAft>
                <a:spcPts val="400"/>
              </a:spcAft>
              <a:defRPr sz="2000">
                <a:solidFill>
                  <a:srgbClr val="334155"/>
                </a:solidFill>
              </a:defRPr>
            </a:pPr>
            <a:r>
              <a:rPr b="1" dirty="0" err="1"/>
              <a:t>Methodische</a:t>
            </a:r>
            <a:r>
              <a:rPr b="1" dirty="0"/>
              <a:t> Wahl: </a:t>
            </a:r>
            <a:endParaRPr lang="de-CH" b="1" dirty="0"/>
          </a:p>
          <a:p>
            <a:pPr>
              <a:spcBef>
                <a:spcPts val="800"/>
              </a:spcBef>
              <a:spcAft>
                <a:spcPts val="400"/>
              </a:spcAft>
              <a:defRPr sz="2000">
                <a:solidFill>
                  <a:srgbClr val="334155"/>
                </a:solidFill>
              </a:defRPr>
            </a:pPr>
            <a:r>
              <a:rPr dirty="0"/>
              <a:t>KI-</a:t>
            </a:r>
            <a:r>
              <a:rPr dirty="0" err="1"/>
              <a:t>gestützte</a:t>
            </a:r>
            <a:r>
              <a:rPr dirty="0"/>
              <a:t> </a:t>
            </a:r>
            <a:r>
              <a:rPr dirty="0" err="1"/>
              <a:t>Entwicklung</a:t>
            </a:r>
            <a:r>
              <a:rPr dirty="0"/>
              <a:t> </a:t>
            </a:r>
            <a:r>
              <a:rPr dirty="0" err="1"/>
              <a:t>mit</a:t>
            </a:r>
            <a:r>
              <a:rPr dirty="0"/>
              <a:t> Claude Code (Anthropic)</a:t>
            </a:r>
          </a:p>
          <a:p>
            <a:pPr marL="285750" lvl="1" indent="-285750">
              <a:spcBef>
                <a:spcPts val="800"/>
              </a:spcBef>
              <a:spcAft>
                <a:spcPts val="400"/>
              </a:spcAft>
              <a:defRPr sz="1800">
                <a:solidFill>
                  <a:srgbClr val="334155"/>
                </a:solidFill>
              </a:defRPr>
            </a:pPr>
            <a:r>
              <a:rPr dirty="0"/>
              <a:t>Cloud-Engineer-</a:t>
            </a:r>
            <a:r>
              <a:rPr dirty="0" err="1"/>
              <a:t>Hintergrund</a:t>
            </a:r>
            <a:r>
              <a:rPr dirty="0"/>
              <a:t> </a:t>
            </a:r>
            <a:r>
              <a:rPr dirty="0" err="1"/>
              <a:t>erlaubt</a:t>
            </a:r>
            <a:r>
              <a:rPr dirty="0"/>
              <a:t> </a:t>
            </a:r>
            <a:r>
              <a:rPr dirty="0" err="1"/>
              <a:t>fachliche</a:t>
            </a:r>
            <a:r>
              <a:rPr dirty="0"/>
              <a:t> </a:t>
            </a:r>
            <a:r>
              <a:rPr dirty="0" err="1"/>
              <a:t>Prüfung</a:t>
            </a:r>
            <a:r>
              <a:rPr dirty="0"/>
              <a:t> der </a:t>
            </a:r>
            <a:r>
              <a:rPr dirty="0" err="1"/>
              <a:t>Vorschläge</a:t>
            </a:r>
            <a:endParaRPr dirty="0"/>
          </a:p>
          <a:p>
            <a:pPr marL="285750" lvl="1" indent="-285750">
              <a:spcBef>
                <a:spcPts val="800"/>
              </a:spcBef>
              <a:spcAft>
                <a:spcPts val="400"/>
              </a:spcAft>
              <a:defRPr sz="1800">
                <a:solidFill>
                  <a:srgbClr val="334155"/>
                </a:solidFill>
              </a:defRPr>
            </a:pPr>
            <a:r>
              <a:rPr dirty="0" err="1"/>
              <a:t>Einsatz</a:t>
            </a:r>
            <a:r>
              <a:rPr dirty="0"/>
              <a:t> für Boilerplate, UI-</a:t>
            </a:r>
            <a:r>
              <a:rPr dirty="0" err="1"/>
              <a:t>Komponenten</a:t>
            </a:r>
            <a:r>
              <a:rPr dirty="0"/>
              <a:t>, </a:t>
            </a:r>
            <a:r>
              <a:rPr dirty="0" err="1"/>
              <a:t>Dokumentations-Entwürfe</a:t>
            </a:r>
            <a:r>
              <a:rPr dirty="0"/>
              <a:t>, Sparring</a:t>
            </a:r>
          </a:p>
          <a:p>
            <a:pPr>
              <a:spcBef>
                <a:spcPts val="800"/>
              </a:spcBef>
              <a:spcAft>
                <a:spcPts val="400"/>
              </a:spcAft>
              <a:defRPr sz="2000">
                <a:solidFill>
                  <a:srgbClr val="334155"/>
                </a:solidFill>
              </a:defRPr>
            </a:pPr>
            <a:endParaRPr dirty="0"/>
          </a:p>
          <a:p>
            <a:pPr>
              <a:spcBef>
                <a:spcPts val="800"/>
              </a:spcBef>
              <a:spcAft>
                <a:spcPts val="400"/>
              </a:spcAft>
              <a:defRPr sz="2000">
                <a:solidFill>
                  <a:srgbClr val="334155"/>
                </a:solidFill>
              </a:defRPr>
            </a:pPr>
            <a:r>
              <a:rPr b="1" dirty="0"/>
              <a:t>Mein </a:t>
            </a:r>
            <a:r>
              <a:rPr b="1" dirty="0" err="1"/>
              <a:t>Arbeitszyklus</a:t>
            </a:r>
            <a:r>
              <a:rPr b="1" dirty="0"/>
              <a:t>:</a:t>
            </a:r>
          </a:p>
          <a:p>
            <a:pPr marL="285750" lvl="1" indent="-285750">
              <a:spcBef>
                <a:spcPts val="800"/>
              </a:spcBef>
              <a:spcAft>
                <a:spcPts val="400"/>
              </a:spcAft>
              <a:buFont typeface="Arial" panose="020B0604020202020204" pitchFamily="34" charset="0"/>
              <a:buChar char="•"/>
              <a:defRPr sz="1800">
                <a:solidFill>
                  <a:srgbClr val="334155"/>
                </a:solidFill>
              </a:defRPr>
            </a:pPr>
            <a:r>
              <a:rPr dirty="0" err="1"/>
              <a:t>Anforderung</a:t>
            </a:r>
            <a:r>
              <a:rPr dirty="0"/>
              <a:t> </a:t>
            </a:r>
            <a:r>
              <a:rPr dirty="0" err="1"/>
              <a:t>präzise</a:t>
            </a:r>
            <a:r>
              <a:rPr dirty="0"/>
              <a:t> </a:t>
            </a:r>
            <a:r>
              <a:rPr dirty="0" err="1"/>
              <a:t>formulieren</a:t>
            </a:r>
            <a:endParaRPr dirty="0"/>
          </a:p>
          <a:p>
            <a:pPr marL="285750" lvl="1" indent="-285750">
              <a:spcBef>
                <a:spcPts val="800"/>
              </a:spcBef>
              <a:spcAft>
                <a:spcPts val="400"/>
              </a:spcAft>
              <a:buFont typeface="Arial" panose="020B0604020202020204" pitchFamily="34" charset="0"/>
              <a:buChar char="•"/>
              <a:defRPr sz="1800">
                <a:solidFill>
                  <a:srgbClr val="334155"/>
                </a:solidFill>
              </a:defRPr>
            </a:pPr>
            <a:r>
              <a:rPr dirty="0" err="1"/>
              <a:t>Architektur</a:t>
            </a:r>
            <a:r>
              <a:rPr dirty="0"/>
              <a:t> und </a:t>
            </a:r>
            <a:r>
              <a:rPr dirty="0" err="1"/>
              <a:t>Kontext</a:t>
            </a:r>
            <a:r>
              <a:rPr dirty="0"/>
              <a:t> </a:t>
            </a:r>
            <a:r>
              <a:rPr dirty="0" err="1"/>
              <a:t>bereitstellen</a:t>
            </a:r>
            <a:endParaRPr dirty="0"/>
          </a:p>
          <a:p>
            <a:pPr marL="285750" lvl="1" indent="-285750">
              <a:spcBef>
                <a:spcPts val="800"/>
              </a:spcBef>
              <a:spcAft>
                <a:spcPts val="400"/>
              </a:spcAft>
              <a:buFont typeface="Arial" panose="020B0604020202020204" pitchFamily="34" charset="0"/>
              <a:buChar char="•"/>
              <a:defRPr sz="1800">
                <a:solidFill>
                  <a:srgbClr val="334155"/>
                </a:solidFill>
              </a:defRPr>
            </a:pPr>
            <a:r>
              <a:rPr dirty="0"/>
              <a:t>KI </a:t>
            </a:r>
            <a:r>
              <a:rPr dirty="0" err="1"/>
              <a:t>generiert</a:t>
            </a:r>
            <a:r>
              <a:rPr dirty="0"/>
              <a:t> </a:t>
            </a:r>
            <a:r>
              <a:rPr dirty="0" err="1"/>
              <a:t>Vorschlag</a:t>
            </a:r>
            <a:endParaRPr lang="de-CH" dirty="0"/>
          </a:p>
          <a:p>
            <a:pPr marL="285750" lvl="1" indent="-285750">
              <a:spcBef>
                <a:spcPts val="800"/>
              </a:spcBef>
              <a:spcAft>
                <a:spcPts val="400"/>
              </a:spcAft>
              <a:buFont typeface="Arial" panose="020B0604020202020204" pitchFamily="34" charset="0"/>
              <a:buChar char="•"/>
              <a:defRPr sz="1800">
                <a:solidFill>
                  <a:srgbClr val="334155"/>
                </a:solidFill>
              </a:defRPr>
            </a:pPr>
            <a:r>
              <a:rPr dirty="0"/>
              <a:t>Code-Review Zeile für Zeile, </a:t>
            </a:r>
            <a:r>
              <a:rPr dirty="0" err="1"/>
              <a:t>manuell</a:t>
            </a:r>
            <a:r>
              <a:rPr dirty="0"/>
              <a:t> </a:t>
            </a:r>
            <a:r>
              <a:rPr dirty="0" err="1"/>
              <a:t>anpassen</a:t>
            </a:r>
            <a:r>
              <a:rPr dirty="0"/>
              <a:t>, </a:t>
            </a:r>
            <a:r>
              <a:rPr dirty="0" err="1"/>
              <a:t>gegen</a:t>
            </a:r>
            <a:r>
              <a:rPr dirty="0"/>
              <a:t> </a:t>
            </a:r>
            <a:r>
              <a:rPr dirty="0" err="1"/>
              <a:t>echte</a:t>
            </a:r>
            <a:r>
              <a:rPr dirty="0"/>
              <a:t> </a:t>
            </a:r>
            <a:r>
              <a:rPr dirty="0" err="1"/>
              <a:t>Daten</a:t>
            </a:r>
            <a:r>
              <a:rPr dirty="0"/>
              <a:t> </a:t>
            </a:r>
            <a:r>
              <a:rPr dirty="0" err="1"/>
              <a:t>validieren</a:t>
            </a:r>
            <a:endParaRPr dirty="0"/>
          </a:p>
        </p:txBody>
      </p:sp>
      <p:sp>
        <p:nvSpPr>
          <p:cNvPr id="5" name="Rectangle 4">
            <a:extLst>
              <a:ext uri="{FF2B5EF4-FFF2-40B4-BE49-F238E27FC236}">
                <a16:creationId xmlns:a16="http://schemas.microsoft.com/office/drawing/2014/main" id="{595533DE-1E3A-7B0A-93FC-C674590C1B60}"/>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7" name="Graphic 6">
            <a:extLst>
              <a:ext uri="{FF2B5EF4-FFF2-40B4-BE49-F238E27FC236}">
                <a16:creationId xmlns:a16="http://schemas.microsoft.com/office/drawing/2014/main" id="{B2DF8846-0566-CB0A-959A-1E039B82DCE3}"/>
              </a:ext>
            </a:extLst>
          </p:cNvPr>
          <p:cNvPicPr>
            <a:picLocks noChangeAspect="1"/>
          </p:cNvPicPr>
          <p:nvPr/>
        </p:nvPicPr>
        <p:blipFill>
          <a:blip/>
          <a:stretch>
            <a:fillRect/>
          </a:stretch>
        </p:blipFill>
        <p:spPr>
          <a:xfrm>
            <a:off x="11423401" y="6438385"/>
            <a:ext cx="490837" cy="283175"/>
          </a:xfrm>
          <a:prstGeom prst="rect">
            <a:avLst/>
          </a:prstGeom>
        </p:spPr>
      </p:pic>
      <p:sp>
        <p:nvSpPr>
          <p:cNvPr id="8" name="TextBox 7"/>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72A"/>
          </a:solidFill>
          <a:ln>
            <a:noFill/>
          </a:ln>
        </p:spPr>
        <p:txBody>
          <a:bodyPr rtlCol="0" anchor="ctr"/>
          <a:lstStyle/>
          <a:p>
            <a:pPr algn="ctr"/>
            <a:endParaRPr/>
          </a:p>
        </p:txBody>
      </p:sp>
      <p:sp>
        <p:nvSpPr>
          <p:cNvPr id="3" name="TextBox 2"/>
          <p:cNvSpPr txBox="1"/>
          <p:nvPr/>
        </p:nvSpPr>
        <p:spPr>
          <a:xfrm>
            <a:off x="457199" y="3429000"/>
            <a:ext cx="11277295" cy="1371600"/>
          </a:xfrm>
          <a:prstGeom prst="rect">
            <a:avLst/>
          </a:prstGeom>
          <a:noFill/>
        </p:spPr>
        <p:txBody>
          <a:bodyPr wrap="none">
            <a:spAutoFit/>
          </a:bodyPr>
          <a:lstStyle/>
          <a:p>
            <a:pPr algn="ctr">
              <a:defRPr sz="4800" b="1">
                <a:solidFill>
                  <a:srgbClr val="FFFFFF"/>
                </a:solidFill>
              </a:defRPr>
            </a:pPr>
            <a:r>
              <a:rPr dirty="0" err="1"/>
              <a:t>Architektur</a:t>
            </a:r>
            <a:endParaRPr dirty="0"/>
          </a:p>
        </p:txBody>
      </p:sp>
      <p:pic>
        <p:nvPicPr>
          <p:cNvPr id="4" name="Graphic 3">
            <a:extLst>
              <a:ext uri="{FF2B5EF4-FFF2-40B4-BE49-F238E27FC236}">
                <a16:creationId xmlns:a16="http://schemas.microsoft.com/office/drawing/2014/main" id="{DAD7570C-B3A7-B69B-2965-32524B7CEE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6444" y="2841229"/>
            <a:ext cx="1018804" cy="587771"/>
          </a:xfrm>
          <a:prstGeom prst="rect">
            <a:avLst/>
          </a:prstGeom>
        </p:spPr>
      </p:pic>
      <p:sp>
        <p:nvSpPr>
          <p:cNvPr id="5" name="TextBox 4"/>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Architekturübersicht</a:t>
            </a:r>
          </a:p>
        </p:txBody>
      </p:sp>
      <p:sp>
        <p:nvSpPr>
          <p:cNvPr id="5" name="Rectangle 4">
            <a:extLst>
              <a:ext uri="{FF2B5EF4-FFF2-40B4-BE49-F238E27FC236}">
                <a16:creationId xmlns:a16="http://schemas.microsoft.com/office/drawing/2014/main" id="{6FC7C153-1786-82B4-6C36-A7178FBC44B3}"/>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7" name="Graphic 6">
            <a:extLst>
              <a:ext uri="{FF2B5EF4-FFF2-40B4-BE49-F238E27FC236}">
                <a16:creationId xmlns:a16="http://schemas.microsoft.com/office/drawing/2014/main" id="{3874DD9D-DEBD-F5E8-08C6-0B9EFDB95C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8" name="TextBox 7"/>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11</a:t>
            </a:r>
          </a:p>
        </p:txBody>
      </p:sp>
      <p:sp>
        <p:nvSpPr>
          <p:cNvPr id="9" name="Rounded Rectangle 8"/>
          <p:cNvSpPr/>
          <p:nvPr/>
        </p:nvSpPr>
        <p:spPr>
          <a:xfrm>
            <a:off x="914400" y="1645920"/>
            <a:ext cx="4297680" cy="1051560"/>
          </a:xfrm>
          <a:prstGeom prst="roundRect">
            <a:avLst>
              <a:gd name="adj" fmla="val 8000"/>
            </a:avLst>
          </a:prstGeom>
          <a:solidFill>
            <a:srgbClr val="FFFFFF"/>
          </a:solidFill>
          <a:ln w="19050">
            <a:solidFill>
              <a:srgbClr val="10172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r>
              <a:rPr sz="1500" b="1">
                <a:solidFill>
                  <a:srgbClr val="1E293B"/>
                </a:solidFill>
                <a:latin typeface="Arial"/>
              </a:rPr>
              <a:t>Frontend</a:t>
            </a:r>
          </a:p>
          <a:p>
            <a:pPr algn="ctr">
              <a:spcBef>
                <a:spcPts val="200"/>
              </a:spcBef>
            </a:pPr>
            <a:r>
              <a:rPr sz="1050">
                <a:solidFill>
                  <a:srgbClr val="64748B"/>
                </a:solidFill>
                <a:latin typeface="Arial"/>
              </a:rPr>
              <a:t>React 19 SPA · TypeScript · Vite · Tailwind</a:t>
            </a:r>
          </a:p>
        </p:txBody>
      </p:sp>
      <p:sp>
        <p:nvSpPr>
          <p:cNvPr id="10" name="Rounded Rectangle 9"/>
          <p:cNvSpPr/>
          <p:nvPr/>
        </p:nvSpPr>
        <p:spPr>
          <a:xfrm>
            <a:off x="914400" y="3063240"/>
            <a:ext cx="4297680" cy="1188720"/>
          </a:xfrm>
          <a:prstGeom prst="roundRect">
            <a:avLst>
              <a:gd name="adj" fmla="val 8000"/>
            </a:avLst>
          </a:prstGeom>
          <a:solidFill>
            <a:srgbClr val="10172A"/>
          </a:solidFill>
          <a:ln w="19050">
            <a:solidFill>
              <a:srgbClr val="10172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r>
              <a:rPr sz="1500" b="1">
                <a:solidFill>
                  <a:srgbClr val="FFFFFF"/>
                </a:solidFill>
                <a:latin typeface="Arial"/>
              </a:rPr>
              <a:t>Backend</a:t>
            </a:r>
          </a:p>
          <a:p>
            <a:pPr algn="ctr">
              <a:spcBef>
                <a:spcPts val="200"/>
              </a:spcBef>
            </a:pPr>
            <a:r>
              <a:rPr sz="1050">
                <a:solidFill>
                  <a:srgbClr val="CBD5E1"/>
                </a:solidFill>
                <a:latin typeface="Arial"/>
              </a:rPr>
              <a:t>Node.js · Express.js · 10 Route-Module · Sequelize ORM</a:t>
            </a:r>
          </a:p>
        </p:txBody>
      </p:sp>
      <p:sp>
        <p:nvSpPr>
          <p:cNvPr id="11" name="Rounded Rectangle 10"/>
          <p:cNvSpPr/>
          <p:nvPr/>
        </p:nvSpPr>
        <p:spPr>
          <a:xfrm>
            <a:off x="914400" y="4617720"/>
            <a:ext cx="4297680" cy="960120"/>
          </a:xfrm>
          <a:prstGeom prst="roundRect">
            <a:avLst>
              <a:gd name="adj" fmla="val 8000"/>
            </a:avLst>
          </a:prstGeom>
          <a:solidFill>
            <a:srgbClr val="FFFFFF"/>
          </a:solidFill>
          <a:ln w="19050">
            <a:solidFill>
              <a:srgbClr val="10172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r>
              <a:rPr sz="1500" b="1">
                <a:solidFill>
                  <a:srgbClr val="1E293B"/>
                </a:solidFill>
                <a:latin typeface="Arial"/>
              </a:rPr>
              <a:t>PostgreSQL</a:t>
            </a:r>
          </a:p>
          <a:p>
            <a:pPr algn="ctr">
              <a:spcBef>
                <a:spcPts val="200"/>
              </a:spcBef>
            </a:pPr>
            <a:r>
              <a:rPr sz="1050">
                <a:solidFill>
                  <a:srgbClr val="64748B"/>
                </a:solidFill>
                <a:latin typeface="Arial"/>
              </a:rPr>
              <a:t>Azure Managed Database</a:t>
            </a:r>
          </a:p>
        </p:txBody>
      </p:sp>
      <p:sp>
        <p:nvSpPr>
          <p:cNvPr id="12" name="Rounded Rectangle 11"/>
          <p:cNvSpPr/>
          <p:nvPr/>
        </p:nvSpPr>
        <p:spPr>
          <a:xfrm>
            <a:off x="6858000" y="1783080"/>
            <a:ext cx="4434840" cy="960120"/>
          </a:xfrm>
          <a:prstGeom prst="roundRect">
            <a:avLst>
              <a:gd name="adj" fmla="val 8000"/>
            </a:avLst>
          </a:prstGeom>
          <a:solidFill>
            <a:srgbClr val="EEF0FF"/>
          </a:solidFill>
          <a:ln w="19050">
            <a:solidFill>
              <a:srgbClr val="3B2EFF"/>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r>
              <a:rPr sz="1500" b="1">
                <a:solidFill>
                  <a:srgbClr val="1E293B"/>
                </a:solidFill>
                <a:latin typeface="Arial"/>
              </a:rPr>
              <a:t>Microsoft Entra ID</a:t>
            </a:r>
          </a:p>
          <a:p>
            <a:pPr algn="ctr">
              <a:spcBef>
                <a:spcPts val="200"/>
              </a:spcBef>
            </a:pPr>
            <a:r>
              <a:rPr sz="1050">
                <a:solidFill>
                  <a:srgbClr val="64748B"/>
                </a:solidFill>
                <a:latin typeface="Arial"/>
              </a:rPr>
              <a:t>MSAL · OAuth 2.0 / OIDC</a:t>
            </a:r>
          </a:p>
        </p:txBody>
      </p:sp>
      <p:sp>
        <p:nvSpPr>
          <p:cNvPr id="13" name="Rounded Rectangle 12"/>
          <p:cNvSpPr/>
          <p:nvPr/>
        </p:nvSpPr>
        <p:spPr>
          <a:xfrm>
            <a:off x="6858000" y="3246120"/>
            <a:ext cx="4434840" cy="1051560"/>
          </a:xfrm>
          <a:prstGeom prst="roundRect">
            <a:avLst>
              <a:gd name="adj" fmla="val 8000"/>
            </a:avLst>
          </a:prstGeom>
          <a:solidFill>
            <a:srgbClr val="EEF0FF"/>
          </a:solidFill>
          <a:ln w="19050">
            <a:solidFill>
              <a:srgbClr val="3B2EFF"/>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r>
              <a:rPr sz="1500" b="1">
                <a:solidFill>
                  <a:srgbClr val="1E293B"/>
                </a:solidFill>
                <a:latin typeface="Arial"/>
              </a:rPr>
              <a:t>Jira Cloud</a:t>
            </a:r>
          </a:p>
          <a:p>
            <a:pPr algn="ctr">
              <a:spcBef>
                <a:spcPts val="200"/>
              </a:spcBef>
            </a:pPr>
            <a:r>
              <a:rPr sz="1050">
                <a:solidFill>
                  <a:srgbClr val="64748B"/>
                </a:solidFill>
                <a:latin typeface="Arial"/>
              </a:rPr>
              <a:t>REST API v2 · Agile API v1.0</a:t>
            </a:r>
          </a:p>
        </p:txBody>
      </p:sp>
      <p:cxnSp>
        <p:nvCxnSpPr>
          <p:cNvPr id="14" name="Connector 13"/>
          <p:cNvCxnSpPr/>
          <p:nvPr/>
        </p:nvCxnSpPr>
        <p:spPr>
          <a:xfrm>
            <a:off x="3063240" y="2697480"/>
            <a:ext cx="0" cy="365760"/>
          </a:xfrm>
          <a:prstGeom prst="line">
            <a:avLst/>
          </a:prstGeom>
          <a:ln w="22225">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246120" y="2724912"/>
            <a:ext cx="2377440" cy="274320"/>
          </a:xfrm>
          <a:prstGeom prst="rect">
            <a:avLst/>
          </a:prstGeom>
          <a:noFill/>
        </p:spPr>
        <p:txBody>
          <a:bodyPr wrap="none" lIns="0" tIns="0" rIns="0" bIns="0">
            <a:spAutoFit/>
          </a:bodyPr>
          <a:lstStyle/>
          <a:p>
            <a:pPr algn="l"/>
            <a:r>
              <a:rPr sz="900" b="0">
                <a:solidFill>
                  <a:srgbClr val="64748B"/>
                </a:solidFill>
                <a:latin typeface="Arial"/>
              </a:rPr>
              <a:t>REST / JSON · JWT</a:t>
            </a:r>
          </a:p>
        </p:txBody>
      </p:sp>
      <p:cxnSp>
        <p:nvCxnSpPr>
          <p:cNvPr id="16" name="Connector 15"/>
          <p:cNvCxnSpPr/>
          <p:nvPr/>
        </p:nvCxnSpPr>
        <p:spPr>
          <a:xfrm>
            <a:off x="3063240" y="4251960"/>
            <a:ext cx="0" cy="365760"/>
          </a:xfrm>
          <a:prstGeom prst="line">
            <a:avLst/>
          </a:prstGeom>
          <a:ln w="22225">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46120" y="4279392"/>
            <a:ext cx="1828800" cy="274320"/>
          </a:xfrm>
          <a:prstGeom prst="rect">
            <a:avLst/>
          </a:prstGeom>
          <a:noFill/>
        </p:spPr>
        <p:txBody>
          <a:bodyPr wrap="none" lIns="0" tIns="0" rIns="0" bIns="0">
            <a:spAutoFit/>
          </a:bodyPr>
          <a:lstStyle/>
          <a:p>
            <a:pPr algn="l"/>
            <a:r>
              <a:rPr sz="900" b="0">
                <a:solidFill>
                  <a:srgbClr val="64748B"/>
                </a:solidFill>
                <a:latin typeface="Arial"/>
              </a:rPr>
              <a:t>Sequelize / SQL</a:t>
            </a:r>
          </a:p>
        </p:txBody>
      </p:sp>
      <p:cxnSp>
        <p:nvCxnSpPr>
          <p:cNvPr id="18" name="Connector 17"/>
          <p:cNvCxnSpPr/>
          <p:nvPr/>
        </p:nvCxnSpPr>
        <p:spPr>
          <a:xfrm>
            <a:off x="5212080" y="2194560"/>
            <a:ext cx="1645920" cy="45720"/>
          </a:xfrm>
          <a:prstGeom prst="line">
            <a:avLst/>
          </a:prstGeom>
          <a:ln w="22225">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257800" y="1920240"/>
            <a:ext cx="1645920" cy="274320"/>
          </a:xfrm>
          <a:prstGeom prst="rect">
            <a:avLst/>
          </a:prstGeom>
          <a:noFill/>
        </p:spPr>
        <p:txBody>
          <a:bodyPr wrap="none" lIns="0" tIns="0" rIns="0" bIns="0">
            <a:spAutoFit/>
          </a:bodyPr>
          <a:lstStyle/>
          <a:p>
            <a:pPr algn="ctr"/>
            <a:r>
              <a:rPr sz="900" b="0">
                <a:solidFill>
                  <a:srgbClr val="64748B"/>
                </a:solidFill>
                <a:latin typeface="Arial"/>
              </a:rPr>
              <a:t>Login</a:t>
            </a:r>
          </a:p>
        </p:txBody>
      </p:sp>
      <p:cxnSp>
        <p:nvCxnSpPr>
          <p:cNvPr id="20" name="Connector 19"/>
          <p:cNvCxnSpPr/>
          <p:nvPr/>
        </p:nvCxnSpPr>
        <p:spPr>
          <a:xfrm>
            <a:off x="5212080" y="3703320"/>
            <a:ext cx="1645920" cy="45719"/>
          </a:xfrm>
          <a:prstGeom prst="line">
            <a:avLst/>
          </a:prstGeom>
          <a:ln w="22225">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166360" y="3803904"/>
            <a:ext cx="1783080" cy="274320"/>
          </a:xfrm>
          <a:prstGeom prst="rect">
            <a:avLst/>
          </a:prstGeom>
          <a:noFill/>
        </p:spPr>
        <p:txBody>
          <a:bodyPr wrap="none" lIns="0" tIns="0" rIns="0" bIns="0">
            <a:spAutoFit/>
          </a:bodyPr>
          <a:lstStyle/>
          <a:p>
            <a:pPr algn="ctr"/>
            <a:r>
              <a:rPr sz="900" b="0">
                <a:solidFill>
                  <a:srgbClr val="64748B"/>
                </a:solidFill>
                <a:latin typeface="Arial"/>
              </a:rPr>
              <a:t>Sync alle 15 Min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 y="1"/>
            <a:ext cx="12192000" cy="345988"/>
          </a:xfrm>
          <a:prstGeom prst="rect">
            <a:avLst/>
          </a:prstGeom>
          <a:solidFill>
            <a:srgbClr val="10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Datenmodell</a:t>
            </a:r>
          </a:p>
        </p:txBody>
      </p:sp>
      <p:sp>
        <p:nvSpPr>
          <p:cNvPr id="8" name="TextBox 7"/>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12</a:t>
            </a:r>
          </a:p>
        </p:txBody>
      </p:sp>
      <p:pic>
        <p:nvPicPr>
          <p:cNvPr id="10" name="Picture 9" descr="image.png"/>
          <p:cNvPicPr>
            <a:picLocks noChangeAspect="1"/>
          </p:cNvPicPr>
          <p:nvPr/>
        </p:nvPicPr>
        <p:blipFill>
          <a:blip r:embed="rId3"/>
          <a:stretch>
            <a:fillRect/>
          </a:stretch>
        </p:blipFill>
        <p:spPr>
          <a:xfrm>
            <a:off x="11423401" y="6438385"/>
            <a:ext cx="490837" cy="283175"/>
          </a:xfrm>
          <a:prstGeom prst="rect">
            <a:avLst/>
          </a:prstGeom>
        </p:spPr>
      </p:pic>
      <p:sp>
        <p:nvSpPr>
          <p:cNvPr id="11" name="Rounded Rectangle 10"/>
          <p:cNvSpPr/>
          <p:nvPr/>
        </p:nvSpPr>
        <p:spPr>
          <a:xfrm>
            <a:off x="640080" y="1600200"/>
            <a:ext cx="2286000" cy="658368"/>
          </a:xfrm>
          <a:prstGeom prst="roundRect">
            <a:avLst>
              <a:gd name="adj" fmla="val 9000"/>
            </a:avLst>
          </a:prstGeom>
          <a:solidFill>
            <a:srgbClr val="FFFFFF"/>
          </a:solidFill>
          <a:ln w="19050">
            <a:solidFill>
              <a:srgbClr val="10172A"/>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1E293B"/>
                </a:solidFill>
                <a:latin typeface="Arial"/>
              </a:rPr>
              <a:t>Project</a:t>
            </a:r>
          </a:p>
        </p:txBody>
      </p:sp>
      <p:sp>
        <p:nvSpPr>
          <p:cNvPr id="12" name="Rounded Rectangle 11"/>
          <p:cNvSpPr/>
          <p:nvPr/>
        </p:nvSpPr>
        <p:spPr>
          <a:xfrm>
            <a:off x="4114800" y="1600200"/>
            <a:ext cx="2286000" cy="658368"/>
          </a:xfrm>
          <a:prstGeom prst="roundRect">
            <a:avLst>
              <a:gd name="adj" fmla="val 9000"/>
            </a:avLst>
          </a:prstGeom>
          <a:solidFill>
            <a:srgbClr val="FFFFFF"/>
          </a:solidFill>
          <a:ln w="19050">
            <a:solidFill>
              <a:srgbClr val="10172A"/>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1E293B"/>
                </a:solidFill>
                <a:latin typeface="Arial"/>
              </a:rPr>
              <a:t>Sprint</a:t>
            </a:r>
          </a:p>
        </p:txBody>
      </p:sp>
      <p:sp>
        <p:nvSpPr>
          <p:cNvPr id="13" name="Rounded Rectangle 12"/>
          <p:cNvSpPr/>
          <p:nvPr/>
        </p:nvSpPr>
        <p:spPr>
          <a:xfrm>
            <a:off x="7589520" y="1600200"/>
            <a:ext cx="2286000" cy="658368"/>
          </a:xfrm>
          <a:prstGeom prst="roundRect">
            <a:avLst>
              <a:gd name="adj" fmla="val 9000"/>
            </a:avLst>
          </a:prstGeom>
          <a:solidFill>
            <a:srgbClr val="FFFFFF"/>
          </a:solidFill>
          <a:ln w="19050">
            <a:solidFill>
              <a:srgbClr val="10172A"/>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1E293B"/>
                </a:solidFill>
                <a:latin typeface="Arial"/>
              </a:rPr>
              <a:t>UserStory</a:t>
            </a:r>
          </a:p>
        </p:txBody>
      </p:sp>
      <p:sp>
        <p:nvSpPr>
          <p:cNvPr id="14" name="Rounded Rectangle 13"/>
          <p:cNvSpPr/>
          <p:nvPr/>
        </p:nvSpPr>
        <p:spPr>
          <a:xfrm>
            <a:off x="2148840" y="3611880"/>
            <a:ext cx="2286000" cy="658368"/>
          </a:xfrm>
          <a:prstGeom prst="roundRect">
            <a:avLst>
              <a:gd name="adj" fmla="val 9000"/>
            </a:avLst>
          </a:prstGeom>
          <a:solidFill>
            <a:srgbClr val="EEF0FF"/>
          </a:solidFill>
          <a:ln w="19050">
            <a:solidFill>
              <a:srgbClr val="3B2EFF"/>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dirty="0" err="1">
                <a:solidFill>
                  <a:srgbClr val="1E293B"/>
                </a:solidFill>
                <a:latin typeface="Arial"/>
              </a:rPr>
              <a:t>ProjectUser</a:t>
            </a:r>
            <a:endParaRPr sz="1300" b="1" dirty="0">
              <a:solidFill>
                <a:srgbClr val="1E293B"/>
              </a:solidFill>
              <a:latin typeface="Arial"/>
            </a:endParaRPr>
          </a:p>
          <a:p>
            <a:pPr algn="ctr">
              <a:spcBef>
                <a:spcPts val="100"/>
              </a:spcBef>
            </a:pPr>
            <a:r>
              <a:rPr sz="850" dirty="0">
                <a:solidFill>
                  <a:srgbClr val="3B2EFF"/>
                </a:solidFill>
                <a:latin typeface="Arial"/>
              </a:rPr>
              <a:t>M:N · Rolle</a:t>
            </a:r>
          </a:p>
        </p:txBody>
      </p:sp>
      <p:sp>
        <p:nvSpPr>
          <p:cNvPr id="15" name="Rounded Rectangle 14"/>
          <p:cNvSpPr/>
          <p:nvPr/>
        </p:nvSpPr>
        <p:spPr>
          <a:xfrm>
            <a:off x="5989320" y="3611880"/>
            <a:ext cx="2286000" cy="658368"/>
          </a:xfrm>
          <a:prstGeom prst="roundRect">
            <a:avLst>
              <a:gd name="adj" fmla="val 9000"/>
            </a:avLst>
          </a:prstGeom>
          <a:solidFill>
            <a:srgbClr val="EEF0FF"/>
          </a:solidFill>
          <a:ln w="19050">
            <a:solidFill>
              <a:srgbClr val="3B2EFF"/>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1E293B"/>
                </a:solidFill>
                <a:latin typeface="Arial"/>
              </a:rPr>
              <a:t>CapacityPlan</a:t>
            </a:r>
          </a:p>
          <a:p>
            <a:pPr algn="ctr">
              <a:spcBef>
                <a:spcPts val="100"/>
              </a:spcBef>
            </a:pPr>
            <a:r>
              <a:rPr sz="850">
                <a:solidFill>
                  <a:srgbClr val="3B2EFF"/>
                </a:solidFill>
                <a:latin typeface="Arial"/>
              </a:rPr>
              <a:t>je User &amp; Sprint</a:t>
            </a:r>
          </a:p>
        </p:txBody>
      </p:sp>
      <p:sp>
        <p:nvSpPr>
          <p:cNvPr id="16" name="Rounded Rectangle 15"/>
          <p:cNvSpPr/>
          <p:nvPr/>
        </p:nvSpPr>
        <p:spPr>
          <a:xfrm>
            <a:off x="9418320" y="3611880"/>
            <a:ext cx="2286000" cy="658368"/>
          </a:xfrm>
          <a:prstGeom prst="roundRect">
            <a:avLst>
              <a:gd name="adj" fmla="val 9000"/>
            </a:avLst>
          </a:prstGeom>
          <a:solidFill>
            <a:srgbClr val="FFFFFF"/>
          </a:solidFill>
          <a:ln w="19050">
            <a:solidFill>
              <a:srgbClr val="10172A"/>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1E293B"/>
                </a:solidFill>
                <a:latin typeface="Arial"/>
              </a:rPr>
              <a:t>Retrospective</a:t>
            </a:r>
          </a:p>
        </p:txBody>
      </p:sp>
      <p:sp>
        <p:nvSpPr>
          <p:cNvPr id="17" name="Rounded Rectangle 16"/>
          <p:cNvSpPr/>
          <p:nvPr/>
        </p:nvSpPr>
        <p:spPr>
          <a:xfrm>
            <a:off x="4114800" y="5440680"/>
            <a:ext cx="2286000" cy="658368"/>
          </a:xfrm>
          <a:prstGeom prst="roundRect">
            <a:avLst>
              <a:gd name="adj" fmla="val 9000"/>
            </a:avLst>
          </a:prstGeom>
          <a:solidFill>
            <a:srgbClr val="FFFFFF"/>
          </a:solidFill>
          <a:ln w="19050">
            <a:solidFill>
              <a:srgbClr val="10172A"/>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ctr"/>
            <a:r>
              <a:rPr sz="1300" b="1">
                <a:solidFill>
                  <a:srgbClr val="1E293B"/>
                </a:solidFill>
                <a:latin typeface="Arial"/>
              </a:rPr>
              <a:t>User</a:t>
            </a:r>
          </a:p>
        </p:txBody>
      </p:sp>
      <p:cxnSp>
        <p:nvCxnSpPr>
          <p:cNvPr id="18" name="Connector 17"/>
          <p:cNvCxnSpPr/>
          <p:nvPr/>
        </p:nvCxnSpPr>
        <p:spPr>
          <a:xfrm>
            <a:off x="2926080" y="1929384"/>
            <a:ext cx="1188720" cy="0"/>
          </a:xfrm>
          <a:prstGeom prst="line">
            <a:avLst/>
          </a:prstGeom>
          <a:ln w="1905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154680" y="1673351"/>
            <a:ext cx="731520" cy="219456"/>
          </a:xfrm>
          <a:prstGeom prst="rect">
            <a:avLst/>
          </a:prstGeom>
          <a:noFill/>
        </p:spPr>
        <p:txBody>
          <a:bodyPr wrap="none" lIns="0" tIns="0" rIns="0" bIns="0">
            <a:spAutoFit/>
          </a:bodyPr>
          <a:lstStyle/>
          <a:p>
            <a:pPr algn="ctr"/>
            <a:r>
              <a:rPr sz="1000" b="1">
                <a:solidFill>
                  <a:srgbClr val="3B2EFF"/>
                </a:solidFill>
                <a:latin typeface="Arial"/>
              </a:rPr>
              <a:t>1 : n</a:t>
            </a:r>
          </a:p>
        </p:txBody>
      </p:sp>
      <p:cxnSp>
        <p:nvCxnSpPr>
          <p:cNvPr id="20" name="Connector 19"/>
          <p:cNvCxnSpPr/>
          <p:nvPr/>
        </p:nvCxnSpPr>
        <p:spPr>
          <a:xfrm>
            <a:off x="6400800" y="1929384"/>
            <a:ext cx="1188720" cy="0"/>
          </a:xfrm>
          <a:prstGeom prst="line">
            <a:avLst/>
          </a:prstGeom>
          <a:ln w="1905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629400" y="1673351"/>
            <a:ext cx="731520" cy="219456"/>
          </a:xfrm>
          <a:prstGeom prst="rect">
            <a:avLst/>
          </a:prstGeom>
          <a:noFill/>
        </p:spPr>
        <p:txBody>
          <a:bodyPr wrap="none" lIns="0" tIns="0" rIns="0" bIns="0">
            <a:spAutoFit/>
          </a:bodyPr>
          <a:lstStyle/>
          <a:p>
            <a:pPr algn="ctr"/>
            <a:r>
              <a:rPr sz="1000" b="1">
                <a:solidFill>
                  <a:srgbClr val="3B2EFF"/>
                </a:solidFill>
                <a:latin typeface="Arial"/>
              </a:rPr>
              <a:t>1 : n</a:t>
            </a:r>
          </a:p>
        </p:txBody>
      </p:sp>
      <p:cxnSp>
        <p:nvCxnSpPr>
          <p:cNvPr id="22" name="Connector 21"/>
          <p:cNvCxnSpPr/>
          <p:nvPr/>
        </p:nvCxnSpPr>
        <p:spPr>
          <a:xfrm>
            <a:off x="1783080" y="2258568"/>
            <a:ext cx="1508760" cy="1353312"/>
          </a:xfrm>
          <a:prstGeom prst="line">
            <a:avLst/>
          </a:prstGeom>
          <a:ln w="1905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034540" y="2679191"/>
            <a:ext cx="731520" cy="219456"/>
          </a:xfrm>
          <a:prstGeom prst="rect">
            <a:avLst/>
          </a:prstGeom>
          <a:noFill/>
        </p:spPr>
        <p:txBody>
          <a:bodyPr wrap="none" lIns="0" tIns="0" rIns="0" bIns="0">
            <a:spAutoFit/>
          </a:bodyPr>
          <a:lstStyle/>
          <a:p>
            <a:pPr algn="ctr"/>
            <a:r>
              <a:rPr sz="1000" b="1">
                <a:solidFill>
                  <a:srgbClr val="3B2EFF"/>
                </a:solidFill>
                <a:latin typeface="Arial"/>
              </a:rPr>
              <a:t>1 : n</a:t>
            </a:r>
          </a:p>
        </p:txBody>
      </p:sp>
      <p:cxnSp>
        <p:nvCxnSpPr>
          <p:cNvPr id="24" name="Connector 23"/>
          <p:cNvCxnSpPr/>
          <p:nvPr/>
        </p:nvCxnSpPr>
        <p:spPr>
          <a:xfrm>
            <a:off x="5257800" y="2258568"/>
            <a:ext cx="1874520" cy="1353312"/>
          </a:xfrm>
          <a:prstGeom prst="line">
            <a:avLst/>
          </a:prstGeom>
          <a:ln w="1905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737860" y="2679191"/>
            <a:ext cx="731520" cy="219456"/>
          </a:xfrm>
          <a:prstGeom prst="rect">
            <a:avLst/>
          </a:prstGeom>
          <a:noFill/>
        </p:spPr>
        <p:txBody>
          <a:bodyPr wrap="none" lIns="0" tIns="0" rIns="0" bIns="0">
            <a:spAutoFit/>
          </a:bodyPr>
          <a:lstStyle/>
          <a:p>
            <a:pPr algn="ctr"/>
            <a:r>
              <a:rPr sz="1000" b="1">
                <a:solidFill>
                  <a:srgbClr val="3B2EFF"/>
                </a:solidFill>
                <a:latin typeface="Arial"/>
              </a:rPr>
              <a:t>1 : n</a:t>
            </a:r>
          </a:p>
        </p:txBody>
      </p:sp>
      <p:cxnSp>
        <p:nvCxnSpPr>
          <p:cNvPr id="26" name="Connector 25"/>
          <p:cNvCxnSpPr/>
          <p:nvPr/>
        </p:nvCxnSpPr>
        <p:spPr>
          <a:xfrm>
            <a:off x="6400800" y="1929384"/>
            <a:ext cx="3017520" cy="2011680"/>
          </a:xfrm>
          <a:prstGeom prst="line">
            <a:avLst/>
          </a:prstGeom>
          <a:ln w="1905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543800" y="2660904"/>
            <a:ext cx="731520" cy="219456"/>
          </a:xfrm>
          <a:prstGeom prst="rect">
            <a:avLst/>
          </a:prstGeom>
          <a:noFill/>
        </p:spPr>
        <p:txBody>
          <a:bodyPr wrap="none" lIns="0" tIns="0" rIns="0" bIns="0">
            <a:spAutoFit/>
          </a:bodyPr>
          <a:lstStyle/>
          <a:p>
            <a:pPr algn="ctr"/>
            <a:r>
              <a:rPr sz="1000" b="1">
                <a:solidFill>
                  <a:srgbClr val="3B2EFF"/>
                </a:solidFill>
                <a:latin typeface="Arial"/>
              </a:rPr>
              <a:t>1 : 1</a:t>
            </a:r>
          </a:p>
        </p:txBody>
      </p:sp>
      <p:cxnSp>
        <p:nvCxnSpPr>
          <p:cNvPr id="28" name="Connector 27"/>
          <p:cNvCxnSpPr/>
          <p:nvPr/>
        </p:nvCxnSpPr>
        <p:spPr>
          <a:xfrm flipH="1" flipV="1">
            <a:off x="3291840" y="4270248"/>
            <a:ext cx="1965960" cy="1170432"/>
          </a:xfrm>
          <a:prstGeom prst="line">
            <a:avLst/>
          </a:prstGeom>
          <a:ln w="1905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771899" y="4809744"/>
            <a:ext cx="731520" cy="219456"/>
          </a:xfrm>
          <a:prstGeom prst="rect">
            <a:avLst/>
          </a:prstGeom>
          <a:noFill/>
        </p:spPr>
        <p:txBody>
          <a:bodyPr wrap="none" lIns="0" tIns="0" rIns="0" bIns="0">
            <a:spAutoFit/>
          </a:bodyPr>
          <a:lstStyle/>
          <a:p>
            <a:pPr algn="ctr"/>
            <a:r>
              <a:rPr sz="1000" b="1">
                <a:solidFill>
                  <a:srgbClr val="3B2EFF"/>
                </a:solidFill>
                <a:latin typeface="Arial"/>
              </a:rPr>
              <a:t>1 : n</a:t>
            </a:r>
          </a:p>
        </p:txBody>
      </p:sp>
      <p:cxnSp>
        <p:nvCxnSpPr>
          <p:cNvPr id="30" name="Connector 29"/>
          <p:cNvCxnSpPr/>
          <p:nvPr/>
        </p:nvCxnSpPr>
        <p:spPr>
          <a:xfrm flipV="1">
            <a:off x="5257800" y="4270248"/>
            <a:ext cx="1874520" cy="1170432"/>
          </a:xfrm>
          <a:prstGeom prst="line">
            <a:avLst/>
          </a:prstGeom>
          <a:ln w="1905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20740" y="4809744"/>
            <a:ext cx="731520" cy="219456"/>
          </a:xfrm>
          <a:prstGeom prst="rect">
            <a:avLst/>
          </a:prstGeom>
          <a:noFill/>
        </p:spPr>
        <p:txBody>
          <a:bodyPr wrap="none" lIns="0" tIns="0" rIns="0" bIns="0">
            <a:spAutoFit/>
          </a:bodyPr>
          <a:lstStyle/>
          <a:p>
            <a:pPr algn="ctr"/>
            <a:r>
              <a:rPr sz="1000" b="1">
                <a:solidFill>
                  <a:srgbClr val="3B2EFF"/>
                </a:solidFill>
                <a:latin typeface="Arial"/>
              </a:rPr>
              <a:t>1 : n</a:t>
            </a:r>
          </a:p>
        </p:txBody>
      </p:sp>
      <p:sp>
        <p:nvSpPr>
          <p:cNvPr id="32" name="TextBox 31"/>
          <p:cNvSpPr txBox="1"/>
          <p:nvPr/>
        </p:nvSpPr>
        <p:spPr>
          <a:xfrm>
            <a:off x="640080" y="6355080"/>
            <a:ext cx="10058400" cy="274320"/>
          </a:xfrm>
          <a:prstGeom prst="rect">
            <a:avLst/>
          </a:prstGeom>
          <a:noFill/>
        </p:spPr>
        <p:txBody>
          <a:bodyPr wrap="none">
            <a:spAutoFit/>
          </a:bodyPr>
          <a:lstStyle/>
          <a:p>
            <a:r>
              <a:rPr sz="1050" i="1">
                <a:solidFill>
                  <a:srgbClr val="64748B"/>
                </a:solidFill>
                <a:latin typeface="Arial"/>
              </a:rPr>
              <a:t>ProjectUser und CapacityPlan sind Verknüpfungstabellen (M:N) — ProjectUser trägt die Rolle (admin / member / viewer).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Sicherheit und Zugriffskontrolle</a:t>
            </a:r>
          </a:p>
        </p:txBody>
      </p:sp>
      <p:sp>
        <p:nvSpPr>
          <p:cNvPr id="4" name="TextBox 3"/>
          <p:cNvSpPr txBox="1"/>
          <p:nvPr/>
        </p:nvSpPr>
        <p:spPr>
          <a:xfrm>
            <a:off x="685800" y="1280160"/>
            <a:ext cx="2230675" cy="430887"/>
          </a:xfrm>
          <a:prstGeom prst="rect">
            <a:avLst/>
          </a:prstGeom>
          <a:noFill/>
        </p:spPr>
        <p:txBody>
          <a:bodyPr wrap="none">
            <a:spAutoFit/>
          </a:bodyPr>
          <a:lstStyle/>
          <a:p>
            <a:pPr>
              <a:defRPr sz="2200" b="1">
                <a:solidFill>
                  <a:srgbClr val="3A04FF"/>
                </a:solidFill>
              </a:defRPr>
            </a:pPr>
            <a:r>
              <a:rPr dirty="0" err="1">
                <a:solidFill>
                  <a:srgbClr val="3B2EFF"/>
                </a:solidFill>
              </a:rPr>
              <a:t>Authentifizierung</a:t>
            </a:r>
            <a:endParaRPr dirty="0">
              <a:solidFill>
                <a:srgbClr val="3B2EFF"/>
              </a:solidFill>
            </a:endParaRPr>
          </a:p>
        </p:txBody>
      </p:sp>
      <p:sp>
        <p:nvSpPr>
          <p:cNvPr id="5" name="TextBox 4"/>
          <p:cNvSpPr txBox="1"/>
          <p:nvPr/>
        </p:nvSpPr>
        <p:spPr>
          <a:xfrm>
            <a:off x="685800" y="1737360"/>
            <a:ext cx="5029200" cy="4572000"/>
          </a:xfrm>
          <a:prstGeom prst="rect">
            <a:avLst/>
          </a:prstGeom>
          <a:noFill/>
        </p:spPr>
        <p:txBody>
          <a:bodyPr wrap="square">
            <a:spAutoFit/>
          </a:bodyPr>
          <a:lstStyle/>
          <a:p>
            <a:pPr marL="285750" indent="-285750">
              <a:spcBef>
                <a:spcPts val="600"/>
              </a:spcBef>
              <a:defRPr sz="1800">
                <a:solidFill>
                  <a:srgbClr val="334155"/>
                </a:solidFill>
              </a:defRPr>
            </a:pPr>
            <a:r>
              <a:t>Microsoft Entra ID mit MSAL</a:t>
            </a:r>
          </a:p>
          <a:p>
            <a:pPr marL="285750" indent="-285750">
              <a:spcBef>
                <a:spcPts val="600"/>
              </a:spcBef>
              <a:defRPr sz="1800">
                <a:solidFill>
                  <a:srgbClr val="334155"/>
                </a:solidFill>
              </a:defRPr>
            </a:pPr>
            <a:r>
              <a:t>OAuth 2.0 Authorization Code Flow</a:t>
            </a:r>
          </a:p>
          <a:p>
            <a:pPr marL="285750" indent="-285750">
              <a:spcBef>
                <a:spcPts val="600"/>
              </a:spcBef>
              <a:defRPr sz="1800">
                <a:solidFill>
                  <a:srgbClr val="334155"/>
                </a:solidFill>
              </a:defRPr>
            </a:pPr>
            <a:r>
              <a:t>Fallback: lokale JWT-Authentifizierung</a:t>
            </a:r>
          </a:p>
          <a:p>
            <a:pPr marL="285750" indent="-285750">
              <a:spcBef>
                <a:spcPts val="600"/>
              </a:spcBef>
              <a:defRPr sz="1800">
                <a:solidFill>
                  <a:srgbClr val="334155"/>
                </a:solidFill>
              </a:defRPr>
            </a:pPr>
            <a:r>
              <a:t>Tokens in HTTP-only Cookies</a:t>
            </a:r>
          </a:p>
        </p:txBody>
      </p:sp>
      <p:sp>
        <p:nvSpPr>
          <p:cNvPr id="6" name="TextBox 5"/>
          <p:cNvSpPr txBox="1"/>
          <p:nvPr/>
        </p:nvSpPr>
        <p:spPr>
          <a:xfrm>
            <a:off x="6400800" y="1280160"/>
            <a:ext cx="1783309" cy="430887"/>
          </a:xfrm>
          <a:prstGeom prst="rect">
            <a:avLst/>
          </a:prstGeom>
          <a:noFill/>
        </p:spPr>
        <p:txBody>
          <a:bodyPr wrap="none">
            <a:spAutoFit/>
          </a:bodyPr>
          <a:lstStyle/>
          <a:p>
            <a:pPr>
              <a:defRPr sz="2200" b="1">
                <a:solidFill>
                  <a:srgbClr val="3A04FF"/>
                </a:solidFill>
              </a:defRPr>
            </a:pPr>
            <a:r>
              <a:rPr dirty="0" err="1">
                <a:solidFill>
                  <a:srgbClr val="3B2EFF"/>
                </a:solidFill>
              </a:rPr>
              <a:t>Autorisierung</a:t>
            </a:r>
            <a:endParaRPr dirty="0">
              <a:solidFill>
                <a:srgbClr val="3B2EFF"/>
              </a:solidFill>
            </a:endParaRPr>
          </a:p>
        </p:txBody>
      </p:sp>
      <p:sp>
        <p:nvSpPr>
          <p:cNvPr id="7" name="TextBox 6"/>
          <p:cNvSpPr txBox="1"/>
          <p:nvPr/>
        </p:nvSpPr>
        <p:spPr>
          <a:xfrm>
            <a:off x="6400800" y="1737360"/>
            <a:ext cx="5029200" cy="4572000"/>
          </a:xfrm>
          <a:prstGeom prst="rect">
            <a:avLst/>
          </a:prstGeom>
          <a:noFill/>
        </p:spPr>
        <p:txBody>
          <a:bodyPr wrap="square">
            <a:spAutoFit/>
          </a:bodyPr>
          <a:lstStyle/>
          <a:p>
            <a:pPr marL="285750" indent="-285750">
              <a:spcBef>
                <a:spcPts val="600"/>
              </a:spcBef>
              <a:defRPr sz="1800">
                <a:solidFill>
                  <a:srgbClr val="334155"/>
                </a:solidFill>
              </a:defRPr>
            </a:pPr>
            <a:r>
              <a:t>Global: Admin, Member</a:t>
            </a:r>
          </a:p>
          <a:p>
            <a:pPr marL="285750" indent="-285750">
              <a:spcBef>
                <a:spcPts val="600"/>
              </a:spcBef>
              <a:defRPr sz="1800">
                <a:solidFill>
                  <a:srgbClr val="334155"/>
                </a:solidFill>
              </a:defRPr>
            </a:pPr>
            <a:r>
              <a:t>Pro Projekt: Admin, Member, Viewer</a:t>
            </a:r>
          </a:p>
          <a:p>
            <a:pPr>
              <a:spcBef>
                <a:spcPts val="600"/>
              </a:spcBef>
              <a:defRPr sz="1800">
                <a:solidFill>
                  <a:srgbClr val="334155"/>
                </a:solidFill>
              </a:defRPr>
            </a:pPr>
            <a:endParaRPr/>
          </a:p>
          <a:p>
            <a:pPr>
              <a:spcBef>
                <a:spcPts val="600"/>
              </a:spcBef>
              <a:defRPr sz="1800">
                <a:solidFill>
                  <a:srgbClr val="334155"/>
                </a:solidFill>
              </a:defRPr>
            </a:pPr>
            <a:r>
              <a:t>Sicherheits-Baseline:</a:t>
            </a:r>
          </a:p>
          <a:p>
            <a:pPr marL="285750" indent="-285750">
              <a:spcBef>
                <a:spcPts val="600"/>
              </a:spcBef>
              <a:defRPr sz="1800">
                <a:solidFill>
                  <a:srgbClr val="334155"/>
                </a:solidFill>
              </a:defRPr>
            </a:pPr>
            <a:r>
              <a:t>Helmet (HTTP-Security-Headers)</a:t>
            </a:r>
          </a:p>
          <a:p>
            <a:pPr marL="285750" indent="-285750">
              <a:spcBef>
                <a:spcPts val="600"/>
              </a:spcBef>
              <a:defRPr sz="1800">
                <a:solidFill>
                  <a:srgbClr val="334155"/>
                </a:solidFill>
              </a:defRPr>
            </a:pPr>
            <a:r>
              <a:t>CORS mit konfigurierbarem Origin</a:t>
            </a:r>
          </a:p>
          <a:p>
            <a:pPr marL="285750" indent="-285750">
              <a:spcBef>
                <a:spcPts val="600"/>
              </a:spcBef>
              <a:defRPr sz="1800">
                <a:solidFill>
                  <a:srgbClr val="334155"/>
                </a:solidFill>
              </a:defRPr>
            </a:pPr>
            <a:r>
              <a:t>Geplant: CSRF, Rate Limiting, Sanitisierung</a:t>
            </a:r>
          </a:p>
        </p:txBody>
      </p:sp>
      <p:sp>
        <p:nvSpPr>
          <p:cNvPr id="8" name="Rectangle 7">
            <a:extLst>
              <a:ext uri="{FF2B5EF4-FFF2-40B4-BE49-F238E27FC236}">
                <a16:creationId xmlns:a16="http://schemas.microsoft.com/office/drawing/2014/main" id="{2364AA51-D370-0427-802E-FA65421B6507}"/>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10" name="Graphic 9">
            <a:extLst>
              <a:ext uri="{FF2B5EF4-FFF2-40B4-BE49-F238E27FC236}">
                <a16:creationId xmlns:a16="http://schemas.microsoft.com/office/drawing/2014/main" id="{85699E7D-FCF0-1241-6BF8-03E39C0390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11" name="TextBox 10"/>
          <p:cNvSpPr txBox="1"/>
          <p:nvPr/>
        </p:nvSpPr>
        <p:spPr>
          <a:xfrm>
            <a:off x="457200" y="6580000"/>
            <a:ext cx="1200000" cy="250000"/>
          </a:xfrm>
          <a:prstGeom prst="rect">
            <a:avLst/>
          </a:prstGeom>
          <a:noFill/>
        </p:spPr>
        <p:txBody>
          <a:bodyPr wrap="none">
            <a:spAutoFit/>
          </a:bodyPr>
          <a:lstStyle/>
          <a:p>
            <a:pPr>
              <a:buNone/>
            </a:pPr>
            <a:r>
              <a:rPr sz="1100">
                <a:solidFill>
                  <a:srgbClr val="94A3B8"/>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72A"/>
          </a:solidFill>
          <a:ln>
            <a:noFill/>
          </a:ln>
        </p:spPr>
        <p:txBody>
          <a:bodyPr rtlCol="0" anchor="ctr"/>
          <a:lstStyle/>
          <a:p>
            <a:pPr algn="ctr"/>
            <a:endParaRPr/>
          </a:p>
        </p:txBody>
      </p:sp>
      <p:sp>
        <p:nvSpPr>
          <p:cNvPr id="4" name="TextBox 3">
            <a:extLst>
              <a:ext uri="{FF2B5EF4-FFF2-40B4-BE49-F238E27FC236}">
                <a16:creationId xmlns:a16="http://schemas.microsoft.com/office/drawing/2014/main" id="{3A8097E3-A316-CFDC-1CBC-62D4A8CAEFF8}"/>
              </a:ext>
            </a:extLst>
          </p:cNvPr>
          <p:cNvSpPr txBox="1"/>
          <p:nvPr/>
        </p:nvSpPr>
        <p:spPr>
          <a:xfrm>
            <a:off x="3851037" y="3429000"/>
            <a:ext cx="4489627" cy="830997"/>
          </a:xfrm>
          <a:prstGeom prst="rect">
            <a:avLst/>
          </a:prstGeom>
          <a:noFill/>
        </p:spPr>
        <p:txBody>
          <a:bodyPr wrap="none">
            <a:spAutoFit/>
          </a:bodyPr>
          <a:lstStyle/>
          <a:p>
            <a:pPr algn="ctr">
              <a:defRPr sz="4800" b="1">
                <a:solidFill>
                  <a:srgbClr val="FFFFFF"/>
                </a:solidFill>
              </a:defRPr>
            </a:pPr>
            <a:r>
              <a:rPr lang="de-CH" dirty="0"/>
              <a:t>Jira-</a:t>
            </a:r>
            <a:r>
              <a:rPr lang="de-CH" dirty="0" err="1"/>
              <a:t>Integration</a:t>
            </a:r>
            <a:endParaRPr dirty="0"/>
          </a:p>
        </p:txBody>
      </p:sp>
      <p:pic>
        <p:nvPicPr>
          <p:cNvPr id="5" name="Graphic 4">
            <a:extLst>
              <a:ext uri="{FF2B5EF4-FFF2-40B4-BE49-F238E27FC236}">
                <a16:creationId xmlns:a16="http://schemas.microsoft.com/office/drawing/2014/main" id="{6479A674-AD08-08CD-DD6A-5B1D64E4EC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6444" y="2841229"/>
            <a:ext cx="1018804" cy="587771"/>
          </a:xfrm>
          <a:prstGeom prst="rect">
            <a:avLst/>
          </a:prstGeom>
        </p:spPr>
      </p:pic>
      <p:sp>
        <p:nvSpPr>
          <p:cNvPr id="6" name="TextBox 5"/>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Jira-Integration</a:t>
            </a:r>
          </a:p>
        </p:txBody>
      </p:sp>
      <p:sp>
        <p:nvSpPr>
          <p:cNvPr id="4" name="TextBox 3"/>
          <p:cNvSpPr txBox="1"/>
          <p:nvPr/>
        </p:nvSpPr>
        <p:spPr>
          <a:xfrm>
            <a:off x="685800" y="1115568"/>
            <a:ext cx="10820095" cy="5522024"/>
          </a:xfrm>
          <a:prstGeom prst="rect">
            <a:avLst/>
          </a:prstGeom>
          <a:noFill/>
        </p:spPr>
        <p:txBody>
          <a:bodyPr wrap="square">
            <a:spAutoFit/>
          </a:bodyPr>
          <a:lstStyle/>
          <a:p>
            <a:pPr>
              <a:spcBef>
                <a:spcPts val="200"/>
              </a:spcBef>
              <a:spcAft>
                <a:spcPts val="100"/>
              </a:spcAft>
              <a:defRPr sz="2000">
                <a:solidFill>
                  <a:srgbClr val="334155"/>
                </a:solidFill>
              </a:defRPr>
            </a:pPr>
            <a:r>
              <a:rPr dirty="0"/>
              <a:t>Die </a:t>
            </a:r>
            <a:r>
              <a:rPr dirty="0" err="1"/>
              <a:t>grösste</a:t>
            </a:r>
            <a:r>
              <a:rPr dirty="0"/>
              <a:t> </a:t>
            </a:r>
            <a:r>
              <a:rPr dirty="0" err="1"/>
              <a:t>technische</a:t>
            </a:r>
            <a:r>
              <a:rPr dirty="0"/>
              <a:t> </a:t>
            </a:r>
            <a:r>
              <a:rPr dirty="0" err="1"/>
              <a:t>Herausforderung</a:t>
            </a:r>
            <a:endParaRPr dirty="0"/>
          </a:p>
          <a:p>
            <a:pPr>
              <a:spcBef>
                <a:spcPts val="0"/>
              </a:spcBef>
              <a:spcAft>
                <a:spcPts val="0"/>
              </a:spcAft>
              <a:defRPr sz="2000">
                <a:solidFill>
                  <a:srgbClr val="334155"/>
                </a:solidFill>
              </a:defRPr>
            </a:pPr>
            <a:endParaRPr dirty="0"/>
          </a:p>
          <a:p>
            <a:pPr>
              <a:spcBef>
                <a:spcPts val="200"/>
              </a:spcBef>
              <a:spcAft>
                <a:spcPts val="100"/>
              </a:spcAft>
              <a:defRPr sz="2000">
                <a:solidFill>
                  <a:srgbClr val="334155"/>
                </a:solidFill>
              </a:defRPr>
            </a:pPr>
            <a:r>
              <a:rPr b="1" dirty="0"/>
              <a:t>Zwei APIs:</a:t>
            </a:r>
          </a:p>
          <a:p>
            <a:pPr marL="285750" lvl="1" indent="-285750">
              <a:defRPr sz="1800">
                <a:solidFill>
                  <a:srgbClr val="334155"/>
                </a:solidFill>
              </a:defRPr>
            </a:pPr>
            <a:r>
              <a:rPr dirty="0"/>
              <a:t>REST API v2: Issues (User Stories)</a:t>
            </a:r>
          </a:p>
          <a:p>
            <a:pPr marL="285750" lvl="1" indent="-285750">
              <a:defRPr sz="1800">
                <a:solidFill>
                  <a:srgbClr val="334155"/>
                </a:solidFill>
              </a:defRPr>
            </a:pPr>
            <a:r>
              <a:rPr dirty="0"/>
              <a:t>Agile API v1.0: Boards und Sprints</a:t>
            </a:r>
          </a:p>
          <a:p>
            <a:pPr>
              <a:spcBef>
                <a:spcPts val="0"/>
              </a:spcBef>
              <a:spcAft>
                <a:spcPts val="0"/>
              </a:spcAft>
              <a:defRPr sz="2000">
                <a:solidFill>
                  <a:srgbClr val="334155"/>
                </a:solidFill>
              </a:defRPr>
            </a:pPr>
            <a:endParaRPr dirty="0"/>
          </a:p>
          <a:p>
            <a:pPr>
              <a:spcBef>
                <a:spcPts val="200"/>
              </a:spcBef>
              <a:spcAft>
                <a:spcPts val="100"/>
              </a:spcAft>
              <a:defRPr sz="2000">
                <a:solidFill>
                  <a:srgbClr val="334155"/>
                </a:solidFill>
              </a:defRPr>
            </a:pPr>
            <a:r>
              <a:rPr b="1" dirty="0" err="1"/>
              <a:t>Synchronisation</a:t>
            </a:r>
            <a:r>
              <a:rPr b="1" dirty="0"/>
              <a:t> in </a:t>
            </a:r>
            <a:r>
              <a:rPr b="1" dirty="0" err="1"/>
              <a:t>drei</a:t>
            </a:r>
            <a:r>
              <a:rPr b="1" dirty="0"/>
              <a:t> </a:t>
            </a:r>
            <a:r>
              <a:rPr b="1" dirty="0" err="1"/>
              <a:t>Schritten</a:t>
            </a:r>
            <a:r>
              <a:rPr b="1" dirty="0"/>
              <a:t>:</a:t>
            </a:r>
          </a:p>
          <a:p>
            <a:pPr marL="285750" lvl="1" indent="-285750">
              <a:defRPr sz="1800">
                <a:solidFill>
                  <a:srgbClr val="334155"/>
                </a:solidFill>
              </a:defRPr>
            </a:pPr>
            <a:r>
              <a:rPr dirty="0"/>
              <a:t>Boards und Sprints </a:t>
            </a:r>
            <a:r>
              <a:rPr dirty="0" err="1"/>
              <a:t>abrufen</a:t>
            </a:r>
            <a:endParaRPr dirty="0"/>
          </a:p>
          <a:p>
            <a:pPr marL="285750" lvl="1" indent="-285750">
              <a:defRPr sz="1800">
                <a:solidFill>
                  <a:srgbClr val="334155"/>
                </a:solidFill>
              </a:defRPr>
            </a:pPr>
            <a:r>
              <a:rPr dirty="0"/>
              <a:t>Issues pro Sprint </a:t>
            </a:r>
            <a:r>
              <a:rPr dirty="0" err="1"/>
              <a:t>synchronisieren</a:t>
            </a:r>
            <a:endParaRPr dirty="0"/>
          </a:p>
          <a:p>
            <a:pPr marL="285750" lvl="1" indent="-285750">
              <a:defRPr sz="1800">
                <a:solidFill>
                  <a:srgbClr val="334155"/>
                </a:solidFill>
              </a:defRPr>
            </a:pPr>
            <a:r>
              <a:rPr dirty="0"/>
              <a:t>Jira-</a:t>
            </a:r>
            <a:r>
              <a:rPr dirty="0" err="1"/>
              <a:t>Benutzer</a:t>
            </a:r>
            <a:r>
              <a:rPr dirty="0"/>
              <a:t> </a:t>
            </a:r>
            <a:r>
              <a:rPr dirty="0" err="1"/>
              <a:t>mit</a:t>
            </a:r>
            <a:r>
              <a:rPr dirty="0"/>
              <a:t> </a:t>
            </a:r>
            <a:r>
              <a:rPr dirty="0" err="1"/>
              <a:t>lokalen</a:t>
            </a:r>
            <a:r>
              <a:rPr dirty="0"/>
              <a:t> </a:t>
            </a:r>
            <a:r>
              <a:rPr dirty="0" err="1"/>
              <a:t>Benutzern</a:t>
            </a:r>
            <a:r>
              <a:rPr dirty="0"/>
              <a:t> </a:t>
            </a:r>
            <a:r>
              <a:rPr dirty="0" err="1"/>
              <a:t>verknüpfen</a:t>
            </a:r>
            <a:endParaRPr dirty="0"/>
          </a:p>
          <a:p>
            <a:pPr>
              <a:spcBef>
                <a:spcPts val="0"/>
              </a:spcBef>
              <a:spcAft>
                <a:spcPts val="0"/>
              </a:spcAft>
              <a:defRPr sz="2000">
                <a:solidFill>
                  <a:srgbClr val="334155"/>
                </a:solidFill>
              </a:defRPr>
            </a:pPr>
            <a:endParaRPr dirty="0"/>
          </a:p>
          <a:p>
            <a:pPr>
              <a:spcBef>
                <a:spcPts val="200"/>
              </a:spcBef>
              <a:spcAft>
                <a:spcPts val="100"/>
              </a:spcAft>
              <a:defRPr sz="2000">
                <a:solidFill>
                  <a:srgbClr val="334155"/>
                </a:solidFill>
              </a:defRPr>
            </a:pPr>
            <a:r>
              <a:rPr b="1" dirty="0" err="1"/>
              <a:t>Besonderheiten</a:t>
            </a:r>
            <a:r>
              <a:rPr b="1" dirty="0"/>
              <a:t>:</a:t>
            </a:r>
          </a:p>
          <a:p>
            <a:pPr marL="285750" lvl="1" indent="-285750">
              <a:defRPr sz="1800">
                <a:solidFill>
                  <a:srgbClr val="334155"/>
                </a:solidFill>
              </a:defRPr>
            </a:pPr>
            <a:r>
              <a:rPr dirty="0" err="1"/>
              <a:t>Konfigurierbares</a:t>
            </a:r>
            <a:r>
              <a:rPr dirty="0"/>
              <a:t> Story-Point-Feld</a:t>
            </a:r>
          </a:p>
          <a:p>
            <a:pPr marL="285750" lvl="1" indent="-285750">
              <a:defRPr sz="1800">
                <a:solidFill>
                  <a:srgbClr val="334155"/>
                </a:solidFill>
              </a:defRPr>
            </a:pPr>
            <a:r>
              <a:rPr dirty="0"/>
              <a:t>Status-Mapping auf </a:t>
            </a:r>
            <a:r>
              <a:rPr dirty="0" err="1"/>
              <a:t>einheitliches</a:t>
            </a:r>
            <a:r>
              <a:rPr dirty="0"/>
              <a:t> Schema</a:t>
            </a:r>
          </a:p>
          <a:p>
            <a:pPr marL="285750" lvl="1" indent="-285750">
              <a:defRPr sz="1800">
                <a:solidFill>
                  <a:srgbClr val="334155"/>
                </a:solidFill>
              </a:defRPr>
            </a:pPr>
            <a:r>
              <a:rPr dirty="0" err="1"/>
              <a:t>Automatische</a:t>
            </a:r>
            <a:r>
              <a:rPr dirty="0"/>
              <a:t> Sync alle 15 Minuten</a:t>
            </a:r>
          </a:p>
          <a:p>
            <a:pPr>
              <a:spcBef>
                <a:spcPts val="0"/>
              </a:spcBef>
              <a:spcAft>
                <a:spcPts val="0"/>
              </a:spcAft>
              <a:defRPr sz="2000">
                <a:solidFill>
                  <a:srgbClr val="334155"/>
                </a:solidFill>
              </a:defRPr>
            </a:pPr>
            <a:endParaRPr dirty="0"/>
          </a:p>
          <a:p>
            <a:pPr>
              <a:spcBef>
                <a:spcPts val="200"/>
              </a:spcBef>
              <a:spcAft>
                <a:spcPts val="100"/>
              </a:spcAft>
              <a:defRPr sz="2000">
                <a:solidFill>
                  <a:srgbClr val="334155"/>
                </a:solidFill>
              </a:defRPr>
            </a:pPr>
            <a:r>
              <a:rPr b="1" dirty="0" err="1"/>
              <a:t>Fallstrick</a:t>
            </a:r>
            <a:r>
              <a:rPr b="1" dirty="0"/>
              <a:t>:</a:t>
            </a:r>
          </a:p>
          <a:p>
            <a:pPr marL="285750" lvl="1" indent="-285750">
              <a:defRPr sz="1800">
                <a:solidFill>
                  <a:srgbClr val="334155"/>
                </a:solidFill>
              </a:defRPr>
            </a:pPr>
            <a:r>
              <a:rPr dirty="0"/>
              <a:t>Sprints </a:t>
            </a:r>
            <a:r>
              <a:rPr dirty="0" err="1"/>
              <a:t>chronologisch</a:t>
            </a:r>
            <a:r>
              <a:rPr dirty="0"/>
              <a:t> </a:t>
            </a:r>
            <a:r>
              <a:rPr dirty="0" err="1"/>
              <a:t>aufsteigend</a:t>
            </a:r>
            <a:r>
              <a:rPr dirty="0"/>
              <a:t> </a:t>
            </a:r>
            <a:r>
              <a:rPr dirty="0" err="1"/>
              <a:t>synchronisieren</a:t>
            </a:r>
            <a:r>
              <a:rPr lang="de-CH" dirty="0"/>
              <a:t>,</a:t>
            </a:r>
            <a:r>
              <a:rPr dirty="0"/>
              <a:t> </a:t>
            </a:r>
            <a:r>
              <a:rPr dirty="0" err="1"/>
              <a:t>sonst</a:t>
            </a:r>
            <a:r>
              <a:rPr dirty="0"/>
              <a:t> </a:t>
            </a:r>
            <a:r>
              <a:rPr dirty="0" err="1"/>
              <a:t>landen</a:t>
            </a:r>
            <a:r>
              <a:rPr dirty="0"/>
              <a:t> Stories </a:t>
            </a:r>
            <a:r>
              <a:rPr dirty="0" err="1"/>
              <a:t>im</a:t>
            </a:r>
            <a:r>
              <a:rPr dirty="0"/>
              <a:t> </a:t>
            </a:r>
            <a:r>
              <a:rPr dirty="0" err="1"/>
              <a:t>falschen</a:t>
            </a:r>
            <a:r>
              <a:rPr dirty="0"/>
              <a:t> Sprint</a:t>
            </a:r>
          </a:p>
        </p:txBody>
      </p:sp>
      <p:sp>
        <p:nvSpPr>
          <p:cNvPr id="5" name="Rectangle 4">
            <a:extLst>
              <a:ext uri="{FF2B5EF4-FFF2-40B4-BE49-F238E27FC236}">
                <a16:creationId xmlns:a16="http://schemas.microsoft.com/office/drawing/2014/main" id="{32C90490-B980-23F0-4CC1-7641E1A3FD87}"/>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7" name="Graphic 6">
            <a:extLst>
              <a:ext uri="{FF2B5EF4-FFF2-40B4-BE49-F238E27FC236}">
                <a16:creationId xmlns:a16="http://schemas.microsoft.com/office/drawing/2014/main" id="{5A3CB33B-4CE0-774C-90F8-CE7E459532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8" name="TextBox 7"/>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72A"/>
          </a:solidFill>
          <a:ln>
            <a:noFill/>
          </a:ln>
        </p:spPr>
        <p:txBody>
          <a:bodyPr rtlCol="0" anchor="ctr"/>
          <a:lstStyle/>
          <a:p>
            <a:pPr algn="ctr"/>
            <a:endParaRPr/>
          </a:p>
        </p:txBody>
      </p:sp>
      <p:sp>
        <p:nvSpPr>
          <p:cNvPr id="4" name="TextBox 3">
            <a:extLst>
              <a:ext uri="{FF2B5EF4-FFF2-40B4-BE49-F238E27FC236}">
                <a16:creationId xmlns:a16="http://schemas.microsoft.com/office/drawing/2014/main" id="{2D072C57-9BDF-D871-8E64-32254FA6A234}"/>
              </a:ext>
            </a:extLst>
          </p:cNvPr>
          <p:cNvSpPr txBox="1"/>
          <p:nvPr/>
        </p:nvSpPr>
        <p:spPr>
          <a:xfrm>
            <a:off x="3790891" y="3429000"/>
            <a:ext cx="4609916" cy="830997"/>
          </a:xfrm>
          <a:prstGeom prst="rect">
            <a:avLst/>
          </a:prstGeom>
          <a:noFill/>
        </p:spPr>
        <p:txBody>
          <a:bodyPr wrap="none">
            <a:spAutoFit/>
          </a:bodyPr>
          <a:lstStyle/>
          <a:p>
            <a:pPr algn="ctr">
              <a:defRPr sz="4800" b="1">
                <a:solidFill>
                  <a:srgbClr val="FFFFFF"/>
                </a:solidFill>
              </a:defRPr>
            </a:pPr>
            <a:r>
              <a:rPr lang="de-CH" dirty="0"/>
              <a:t>Module im Detail</a:t>
            </a:r>
            <a:endParaRPr dirty="0"/>
          </a:p>
        </p:txBody>
      </p:sp>
      <p:pic>
        <p:nvPicPr>
          <p:cNvPr id="5" name="Graphic 4">
            <a:extLst>
              <a:ext uri="{FF2B5EF4-FFF2-40B4-BE49-F238E27FC236}">
                <a16:creationId xmlns:a16="http://schemas.microsoft.com/office/drawing/2014/main" id="{AC1B8A12-A29E-DA32-519D-0508C3F29E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6444" y="2841229"/>
            <a:ext cx="1018804" cy="587771"/>
          </a:xfrm>
          <a:prstGeom prst="rect">
            <a:avLst/>
          </a:prstGeom>
        </p:spPr>
      </p:pic>
      <p:sp>
        <p:nvSpPr>
          <p:cNvPr id="6" name="TextBox 5"/>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Modul: Capacity Planning</a:t>
            </a:r>
          </a:p>
        </p:txBody>
      </p:sp>
      <p:sp>
        <p:nvSpPr>
          <p:cNvPr id="4" name="TextBox 3"/>
          <p:cNvSpPr txBox="1"/>
          <p:nvPr/>
        </p:nvSpPr>
        <p:spPr>
          <a:xfrm>
            <a:off x="685800" y="1371600"/>
            <a:ext cx="10820095" cy="4339650"/>
          </a:xfrm>
          <a:prstGeom prst="rect">
            <a:avLst/>
          </a:prstGeom>
          <a:noFill/>
        </p:spPr>
        <p:txBody>
          <a:bodyPr wrap="square">
            <a:spAutoFit/>
          </a:bodyPr>
          <a:lstStyle/>
          <a:p>
            <a:pPr>
              <a:spcBef>
                <a:spcPts val="800"/>
              </a:spcBef>
              <a:spcAft>
                <a:spcPts val="400"/>
              </a:spcAft>
              <a:defRPr sz="2000">
                <a:solidFill>
                  <a:srgbClr val="334155"/>
                </a:solidFill>
              </a:defRPr>
            </a:pPr>
            <a:r>
              <a:rPr b="1" dirty="0" err="1"/>
              <a:t>Funktionen</a:t>
            </a:r>
            <a:r>
              <a:rPr b="1" dirty="0"/>
              <a:t>:</a:t>
            </a:r>
          </a:p>
          <a:p>
            <a:pPr marL="285750" lvl="1" indent="-285750">
              <a:spcBef>
                <a:spcPts val="800"/>
              </a:spcBef>
              <a:spcAft>
                <a:spcPts val="400"/>
              </a:spcAft>
              <a:defRPr sz="1800">
                <a:solidFill>
                  <a:srgbClr val="334155"/>
                </a:solidFill>
              </a:defRPr>
            </a:pPr>
            <a:r>
              <a:rPr dirty="0" err="1"/>
              <a:t>Wochenweise</a:t>
            </a:r>
            <a:r>
              <a:rPr dirty="0"/>
              <a:t> </a:t>
            </a:r>
            <a:r>
              <a:rPr dirty="0" err="1"/>
              <a:t>Aufschlüsselung</a:t>
            </a:r>
            <a:r>
              <a:rPr dirty="0"/>
              <a:t> pro </a:t>
            </a:r>
            <a:r>
              <a:rPr dirty="0" err="1"/>
              <a:t>Teammitglied</a:t>
            </a:r>
            <a:endParaRPr dirty="0"/>
          </a:p>
          <a:p>
            <a:pPr marL="285750" lvl="1" indent="-285750">
              <a:spcBef>
                <a:spcPts val="800"/>
              </a:spcBef>
              <a:spcAft>
                <a:spcPts val="400"/>
              </a:spcAft>
              <a:defRPr sz="1800">
                <a:solidFill>
                  <a:srgbClr val="334155"/>
                </a:solidFill>
              </a:defRPr>
            </a:pPr>
            <a:r>
              <a:rPr dirty="0"/>
              <a:t>4 </a:t>
            </a:r>
            <a:r>
              <a:rPr dirty="0" err="1"/>
              <a:t>Kategorien</a:t>
            </a:r>
            <a:r>
              <a:rPr dirty="0"/>
              <a:t>: Holiday, Customer, Internal, Other</a:t>
            </a:r>
          </a:p>
          <a:p>
            <a:pPr marL="285750" lvl="1" indent="-285750">
              <a:spcBef>
                <a:spcPts val="800"/>
              </a:spcBef>
              <a:spcAft>
                <a:spcPts val="400"/>
              </a:spcAft>
              <a:defRPr sz="1800">
                <a:solidFill>
                  <a:srgbClr val="334155"/>
                </a:solidFill>
              </a:defRPr>
            </a:pPr>
            <a:r>
              <a:rPr dirty="0" err="1"/>
              <a:t>Aggregierte</a:t>
            </a:r>
            <a:r>
              <a:rPr dirty="0"/>
              <a:t> </a:t>
            </a:r>
            <a:r>
              <a:rPr dirty="0" err="1"/>
              <a:t>Ansicht</a:t>
            </a:r>
            <a:r>
              <a:rPr dirty="0"/>
              <a:t>: </a:t>
            </a:r>
            <a:r>
              <a:rPr dirty="0" err="1"/>
              <a:t>Gesamtkapazität</a:t>
            </a:r>
            <a:r>
              <a:rPr dirty="0"/>
              <a:t>, </a:t>
            </a:r>
            <a:r>
              <a:rPr dirty="0" err="1"/>
              <a:t>Durchschnitt</a:t>
            </a:r>
            <a:endParaRPr dirty="0"/>
          </a:p>
          <a:p>
            <a:pPr marL="285750" lvl="1" indent="-285750">
              <a:spcBef>
                <a:spcPts val="800"/>
              </a:spcBef>
              <a:spcAft>
                <a:spcPts val="400"/>
              </a:spcAft>
              <a:defRPr sz="1800">
                <a:solidFill>
                  <a:srgbClr val="334155"/>
                </a:solidFill>
              </a:defRPr>
            </a:pPr>
            <a:r>
              <a:rPr dirty="0"/>
              <a:t>Inline-Editing </a:t>
            </a:r>
            <a:r>
              <a:rPr dirty="0" err="1"/>
              <a:t>direkt</a:t>
            </a:r>
            <a:r>
              <a:rPr dirty="0"/>
              <a:t> in der </a:t>
            </a:r>
            <a:r>
              <a:rPr dirty="0" err="1"/>
              <a:t>Tabelle</a:t>
            </a:r>
            <a:endParaRPr dirty="0"/>
          </a:p>
          <a:p>
            <a:pPr>
              <a:spcBef>
                <a:spcPts val="800"/>
              </a:spcBef>
              <a:spcAft>
                <a:spcPts val="400"/>
              </a:spcAft>
              <a:defRPr sz="2000">
                <a:solidFill>
                  <a:srgbClr val="334155"/>
                </a:solidFill>
              </a:defRPr>
            </a:pPr>
            <a:endParaRPr dirty="0"/>
          </a:p>
          <a:p>
            <a:pPr>
              <a:spcBef>
                <a:spcPts val="800"/>
              </a:spcBef>
              <a:spcAft>
                <a:spcPts val="400"/>
              </a:spcAft>
              <a:defRPr sz="2000">
                <a:solidFill>
                  <a:srgbClr val="334155"/>
                </a:solidFill>
              </a:defRPr>
            </a:pPr>
            <a:r>
              <a:rPr b="1" dirty="0"/>
              <a:t>SP-</a:t>
            </a:r>
            <a:r>
              <a:rPr b="1" dirty="0" err="1"/>
              <a:t>Empfehlung</a:t>
            </a:r>
            <a:r>
              <a:rPr b="1" dirty="0"/>
              <a:t>:</a:t>
            </a:r>
          </a:p>
          <a:p>
            <a:pPr marL="285750" lvl="1" indent="-285750">
              <a:spcBef>
                <a:spcPts val="800"/>
              </a:spcBef>
              <a:spcAft>
                <a:spcPts val="400"/>
              </a:spcAft>
              <a:defRPr sz="1800">
                <a:solidFill>
                  <a:srgbClr val="334155"/>
                </a:solidFill>
              </a:defRPr>
            </a:pPr>
            <a:r>
              <a:rPr dirty="0"/>
              <a:t>Formel: </a:t>
            </a:r>
            <a:r>
              <a:rPr dirty="0" err="1"/>
              <a:t>empfohlene</a:t>
            </a:r>
            <a:r>
              <a:rPr dirty="0"/>
              <a:t> SP = Avg Velocity × </a:t>
            </a:r>
            <a:r>
              <a:rPr dirty="0" err="1"/>
              <a:t>Kapazitätsfaktor</a:t>
            </a:r>
            <a:endParaRPr dirty="0"/>
          </a:p>
          <a:p>
            <a:pPr marL="285750" lvl="1" indent="-285750">
              <a:spcBef>
                <a:spcPts val="800"/>
              </a:spcBef>
              <a:spcAft>
                <a:spcPts val="400"/>
              </a:spcAft>
              <a:defRPr sz="1800">
                <a:solidFill>
                  <a:srgbClr val="334155"/>
                </a:solidFill>
              </a:defRPr>
            </a:pPr>
            <a:r>
              <a:rPr dirty="0" err="1"/>
              <a:t>Kapazitätsfaktor</a:t>
            </a:r>
            <a:r>
              <a:rPr dirty="0"/>
              <a:t> = </a:t>
            </a:r>
            <a:r>
              <a:rPr dirty="0" err="1"/>
              <a:t>aktuelle</a:t>
            </a:r>
            <a:r>
              <a:rPr dirty="0"/>
              <a:t> / </a:t>
            </a:r>
            <a:r>
              <a:rPr dirty="0" err="1"/>
              <a:t>historische</a:t>
            </a:r>
            <a:r>
              <a:rPr dirty="0"/>
              <a:t> </a:t>
            </a:r>
            <a:r>
              <a:rPr dirty="0" err="1"/>
              <a:t>Durchschnittskapazität</a:t>
            </a:r>
            <a:endParaRPr dirty="0"/>
          </a:p>
          <a:p>
            <a:pPr marL="285750" lvl="1" indent="-285750">
              <a:spcBef>
                <a:spcPts val="800"/>
              </a:spcBef>
              <a:spcAft>
                <a:spcPts val="400"/>
              </a:spcAft>
              <a:defRPr sz="1800">
                <a:solidFill>
                  <a:srgbClr val="334155"/>
                </a:solidFill>
              </a:defRPr>
            </a:pPr>
            <a:r>
              <a:rPr dirty="0"/>
              <a:t>Berücksichtigt die </a:t>
            </a:r>
            <a:r>
              <a:rPr dirty="0" err="1"/>
              <a:t>letzten</a:t>
            </a:r>
            <a:r>
              <a:rPr dirty="0"/>
              <a:t> 6 </a:t>
            </a:r>
            <a:r>
              <a:rPr dirty="0" err="1"/>
              <a:t>abgeschlossenen</a:t>
            </a:r>
            <a:r>
              <a:rPr dirty="0"/>
              <a:t> Sprints</a:t>
            </a:r>
          </a:p>
        </p:txBody>
      </p:sp>
      <p:sp>
        <p:nvSpPr>
          <p:cNvPr id="5" name="Rectangle 4">
            <a:extLst>
              <a:ext uri="{FF2B5EF4-FFF2-40B4-BE49-F238E27FC236}">
                <a16:creationId xmlns:a16="http://schemas.microsoft.com/office/drawing/2014/main" id="{381C92D7-6414-693D-079C-674A05840012}"/>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7" name="Graphic 6">
            <a:extLst>
              <a:ext uri="{FF2B5EF4-FFF2-40B4-BE49-F238E27FC236}">
                <a16:creationId xmlns:a16="http://schemas.microsoft.com/office/drawing/2014/main" id="{014BDA0E-0F3F-28BA-86AB-4CFBC5AE88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8" name="TextBox 7"/>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Modul: Sprint Analytics</a:t>
            </a:r>
          </a:p>
        </p:txBody>
      </p:sp>
      <p:sp>
        <p:nvSpPr>
          <p:cNvPr id="4" name="TextBox 3"/>
          <p:cNvSpPr txBox="1"/>
          <p:nvPr/>
        </p:nvSpPr>
        <p:spPr>
          <a:xfrm>
            <a:off x="685800" y="1207008"/>
            <a:ext cx="10820095" cy="5029200"/>
          </a:xfrm>
          <a:prstGeom prst="rect">
            <a:avLst/>
          </a:prstGeom>
          <a:noFill/>
        </p:spPr>
        <p:txBody>
          <a:bodyPr wrap="square">
            <a:spAutoFit/>
          </a:bodyPr>
          <a:lstStyle/>
          <a:p>
            <a:pPr>
              <a:spcBef>
                <a:spcPts val="300"/>
              </a:spcBef>
              <a:spcAft>
                <a:spcPts val="200"/>
              </a:spcAft>
              <a:defRPr sz="2000">
                <a:solidFill>
                  <a:srgbClr val="334155"/>
                </a:solidFill>
              </a:defRPr>
            </a:pPr>
            <a:r>
              <a:rPr dirty="0"/>
              <a:t>Vier </a:t>
            </a:r>
            <a:r>
              <a:rPr dirty="0" err="1"/>
              <a:t>Ansichten</a:t>
            </a:r>
            <a:r>
              <a:rPr dirty="0"/>
              <a:t>:</a:t>
            </a:r>
          </a:p>
          <a:p>
            <a:pPr>
              <a:spcBef>
                <a:spcPts val="300"/>
              </a:spcBef>
              <a:spcAft>
                <a:spcPts val="200"/>
              </a:spcAft>
              <a:defRPr sz="2000">
                <a:solidFill>
                  <a:srgbClr val="334155"/>
                </a:solidFill>
              </a:defRPr>
            </a:pPr>
            <a:endParaRPr dirty="0"/>
          </a:p>
          <a:p>
            <a:pPr marL="285750" lvl="1" indent="-285750">
              <a:spcBef>
                <a:spcPts val="300"/>
              </a:spcBef>
              <a:defRPr sz="1800">
                <a:solidFill>
                  <a:srgbClr val="334155"/>
                </a:solidFill>
              </a:defRPr>
            </a:pPr>
            <a:r>
              <a:rPr dirty="0"/>
              <a:t>Overview: </a:t>
            </a:r>
            <a:r>
              <a:rPr dirty="0" err="1"/>
              <a:t>Kennzahlen</a:t>
            </a:r>
            <a:r>
              <a:rPr dirty="0"/>
              <a:t> + Burndown-Chart</a:t>
            </a:r>
          </a:p>
          <a:p>
            <a:pPr marL="285750" lvl="1" indent="-285750">
              <a:spcBef>
                <a:spcPts val="300"/>
              </a:spcBef>
              <a:defRPr sz="1800">
                <a:solidFill>
                  <a:srgbClr val="334155"/>
                </a:solidFill>
              </a:defRPr>
            </a:pPr>
            <a:r>
              <a:rPr dirty="0"/>
              <a:t>→ Sind </a:t>
            </a:r>
            <a:r>
              <a:rPr dirty="0" err="1"/>
              <a:t>wir</a:t>
            </a:r>
            <a:r>
              <a:rPr dirty="0"/>
              <a:t> auf Kurs?</a:t>
            </a:r>
          </a:p>
          <a:p>
            <a:pPr>
              <a:spcBef>
                <a:spcPts val="300"/>
              </a:spcBef>
              <a:spcAft>
                <a:spcPts val="200"/>
              </a:spcAft>
              <a:defRPr sz="2000">
                <a:solidFill>
                  <a:srgbClr val="334155"/>
                </a:solidFill>
              </a:defRPr>
            </a:pPr>
            <a:endParaRPr dirty="0"/>
          </a:p>
          <a:p>
            <a:pPr marL="285750" lvl="1" indent="-285750">
              <a:spcBef>
                <a:spcPts val="300"/>
              </a:spcBef>
              <a:defRPr sz="1800">
                <a:solidFill>
                  <a:srgbClr val="334155"/>
                </a:solidFill>
              </a:defRPr>
            </a:pPr>
            <a:r>
              <a:rPr dirty="0"/>
              <a:t>Compare: Velocity vs. </a:t>
            </a:r>
            <a:r>
              <a:rPr dirty="0" err="1"/>
              <a:t>vorheriger</a:t>
            </a:r>
            <a:r>
              <a:rPr dirty="0"/>
              <a:t> Sprint</a:t>
            </a:r>
          </a:p>
          <a:p>
            <a:pPr marL="285750" lvl="1" indent="-285750">
              <a:spcBef>
                <a:spcPts val="300"/>
              </a:spcBef>
              <a:defRPr sz="1800">
                <a:solidFill>
                  <a:srgbClr val="334155"/>
                </a:solidFill>
              </a:defRPr>
            </a:pPr>
            <a:r>
              <a:rPr dirty="0"/>
              <a:t>→ Werden </a:t>
            </a:r>
            <a:r>
              <a:rPr dirty="0" err="1"/>
              <a:t>wir</a:t>
            </a:r>
            <a:r>
              <a:rPr dirty="0"/>
              <a:t> </a:t>
            </a:r>
            <a:r>
              <a:rPr dirty="0" err="1"/>
              <a:t>besser</a:t>
            </a:r>
            <a:r>
              <a:rPr dirty="0"/>
              <a:t> </a:t>
            </a:r>
            <a:r>
              <a:rPr dirty="0" err="1"/>
              <a:t>oder</a:t>
            </a:r>
            <a:r>
              <a:rPr dirty="0"/>
              <a:t> </a:t>
            </a:r>
            <a:r>
              <a:rPr dirty="0" err="1"/>
              <a:t>schlechter</a:t>
            </a:r>
            <a:r>
              <a:rPr dirty="0"/>
              <a:t>?</a:t>
            </a:r>
          </a:p>
          <a:p>
            <a:pPr>
              <a:spcBef>
                <a:spcPts val="300"/>
              </a:spcBef>
              <a:spcAft>
                <a:spcPts val="200"/>
              </a:spcAft>
              <a:defRPr sz="2000">
                <a:solidFill>
                  <a:srgbClr val="334155"/>
                </a:solidFill>
              </a:defRPr>
            </a:pPr>
            <a:endParaRPr dirty="0"/>
          </a:p>
          <a:p>
            <a:pPr marL="285750" lvl="1" indent="-285750">
              <a:spcBef>
                <a:spcPts val="300"/>
              </a:spcBef>
              <a:defRPr sz="1800">
                <a:solidFill>
                  <a:srgbClr val="334155"/>
                </a:solidFill>
              </a:defRPr>
            </a:pPr>
            <a:r>
              <a:rPr dirty="0"/>
              <a:t>Changes: Scope-</a:t>
            </a:r>
            <a:r>
              <a:rPr dirty="0" err="1"/>
              <a:t>Änderungen</a:t>
            </a:r>
            <a:r>
              <a:rPr dirty="0"/>
              <a:t> </a:t>
            </a:r>
            <a:r>
              <a:rPr dirty="0" err="1"/>
              <a:t>während</a:t>
            </a:r>
            <a:r>
              <a:rPr dirty="0"/>
              <a:t> des Sprints</a:t>
            </a:r>
          </a:p>
          <a:p>
            <a:pPr marL="285750" lvl="1" indent="-285750">
              <a:spcBef>
                <a:spcPts val="300"/>
              </a:spcBef>
              <a:defRPr sz="1800">
                <a:solidFill>
                  <a:srgbClr val="334155"/>
                </a:solidFill>
              </a:defRPr>
            </a:pPr>
            <a:r>
              <a:rPr dirty="0"/>
              <a:t>→ </a:t>
            </a:r>
            <a:r>
              <a:rPr dirty="0" err="1"/>
              <a:t>Warum</a:t>
            </a:r>
            <a:r>
              <a:rPr dirty="0"/>
              <a:t> </a:t>
            </a:r>
            <a:r>
              <a:rPr dirty="0" err="1"/>
              <a:t>haben</a:t>
            </a:r>
            <a:r>
              <a:rPr dirty="0"/>
              <a:t> </a:t>
            </a:r>
            <a:r>
              <a:rPr dirty="0" err="1"/>
              <a:t>wir</a:t>
            </a:r>
            <a:r>
              <a:rPr dirty="0"/>
              <a:t> das Ziel </a:t>
            </a:r>
            <a:r>
              <a:rPr dirty="0" err="1"/>
              <a:t>verfehlt</a:t>
            </a:r>
            <a:r>
              <a:rPr dirty="0"/>
              <a:t>?</a:t>
            </a:r>
          </a:p>
          <a:p>
            <a:pPr>
              <a:spcBef>
                <a:spcPts val="300"/>
              </a:spcBef>
              <a:spcAft>
                <a:spcPts val="200"/>
              </a:spcAft>
              <a:defRPr sz="2000">
                <a:solidFill>
                  <a:srgbClr val="334155"/>
                </a:solidFill>
              </a:defRPr>
            </a:pPr>
            <a:endParaRPr dirty="0"/>
          </a:p>
          <a:p>
            <a:pPr marL="285750" lvl="1" indent="-285750">
              <a:spcBef>
                <a:spcPts val="300"/>
              </a:spcBef>
              <a:defRPr sz="1800">
                <a:solidFill>
                  <a:srgbClr val="334155"/>
                </a:solidFill>
              </a:defRPr>
            </a:pPr>
            <a:r>
              <a:rPr dirty="0"/>
              <a:t>Team Performance: Velocity pro Person (</a:t>
            </a:r>
            <a:r>
              <a:rPr dirty="0" err="1"/>
              <a:t>Balkendiagramm</a:t>
            </a:r>
            <a:r>
              <a:rPr dirty="0"/>
              <a:t>)</a:t>
            </a:r>
          </a:p>
          <a:p>
            <a:pPr marL="285750" lvl="1" indent="-285750">
              <a:spcBef>
                <a:spcPts val="300"/>
              </a:spcBef>
              <a:defRPr sz="1800">
                <a:solidFill>
                  <a:srgbClr val="334155"/>
                </a:solidFill>
              </a:defRPr>
            </a:pPr>
            <a:r>
              <a:rPr dirty="0"/>
              <a:t>→ </a:t>
            </a:r>
            <a:r>
              <a:rPr dirty="0" err="1"/>
              <a:t>Ist</a:t>
            </a:r>
            <a:r>
              <a:rPr dirty="0"/>
              <a:t> die Arbeit </a:t>
            </a:r>
            <a:r>
              <a:rPr dirty="0" err="1"/>
              <a:t>gleichmässig</a:t>
            </a:r>
            <a:r>
              <a:rPr dirty="0"/>
              <a:t> </a:t>
            </a:r>
            <a:r>
              <a:rPr dirty="0" err="1"/>
              <a:t>verteilt</a:t>
            </a:r>
            <a:r>
              <a:rPr dirty="0"/>
              <a:t>?</a:t>
            </a:r>
          </a:p>
        </p:txBody>
      </p:sp>
      <p:sp>
        <p:nvSpPr>
          <p:cNvPr id="5" name="Rectangle 4">
            <a:extLst>
              <a:ext uri="{FF2B5EF4-FFF2-40B4-BE49-F238E27FC236}">
                <a16:creationId xmlns:a16="http://schemas.microsoft.com/office/drawing/2014/main" id="{F365F643-B925-9BF1-7A80-F91491205EFB}"/>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7" name="Graphic 6">
            <a:extLst>
              <a:ext uri="{FF2B5EF4-FFF2-40B4-BE49-F238E27FC236}">
                <a16:creationId xmlns:a16="http://schemas.microsoft.com/office/drawing/2014/main" id="{FDEA0F27-AB09-5BB5-C032-B414A695EF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8" name="TextBox 7"/>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Modul: Sprint History &amp; Forecast</a:t>
            </a:r>
          </a:p>
        </p:txBody>
      </p:sp>
      <p:sp>
        <p:nvSpPr>
          <p:cNvPr id="4" name="TextBox 3"/>
          <p:cNvSpPr txBox="1"/>
          <p:nvPr/>
        </p:nvSpPr>
        <p:spPr>
          <a:xfrm>
            <a:off x="685800" y="1280160"/>
            <a:ext cx="1786771" cy="430887"/>
          </a:xfrm>
          <a:prstGeom prst="rect">
            <a:avLst/>
          </a:prstGeom>
          <a:noFill/>
        </p:spPr>
        <p:txBody>
          <a:bodyPr wrap="none">
            <a:spAutoFit/>
          </a:bodyPr>
          <a:lstStyle/>
          <a:p>
            <a:pPr>
              <a:defRPr sz="2200" b="1">
                <a:solidFill>
                  <a:srgbClr val="3A04FF"/>
                </a:solidFill>
              </a:defRPr>
            </a:pPr>
            <a:r>
              <a:rPr dirty="0">
                <a:solidFill>
                  <a:srgbClr val="3B2EFF"/>
                </a:solidFill>
              </a:rPr>
              <a:t>Sprint History</a:t>
            </a:r>
          </a:p>
        </p:txBody>
      </p:sp>
      <p:sp>
        <p:nvSpPr>
          <p:cNvPr id="5" name="TextBox 4"/>
          <p:cNvSpPr txBox="1"/>
          <p:nvPr/>
        </p:nvSpPr>
        <p:spPr>
          <a:xfrm>
            <a:off x="685800" y="1737360"/>
            <a:ext cx="5029200" cy="4572000"/>
          </a:xfrm>
          <a:prstGeom prst="rect">
            <a:avLst/>
          </a:prstGeom>
          <a:noFill/>
        </p:spPr>
        <p:txBody>
          <a:bodyPr wrap="square">
            <a:spAutoFit/>
          </a:bodyPr>
          <a:lstStyle/>
          <a:p>
            <a:pPr marL="285750" indent="-285750">
              <a:spcBef>
                <a:spcPts val="600"/>
              </a:spcBef>
              <a:defRPr sz="1800">
                <a:solidFill>
                  <a:srgbClr val="334155"/>
                </a:solidFill>
              </a:defRPr>
            </a:pPr>
            <a:r>
              <a:rPr dirty="0"/>
              <a:t>Velocity </a:t>
            </a:r>
            <a:r>
              <a:rPr dirty="0" err="1"/>
              <a:t>über</a:t>
            </a:r>
            <a:r>
              <a:rPr dirty="0"/>
              <a:t> alle Sprints</a:t>
            </a:r>
          </a:p>
          <a:p>
            <a:pPr marL="285750" indent="-285750">
              <a:spcBef>
                <a:spcPts val="600"/>
              </a:spcBef>
              <a:defRPr sz="1800">
                <a:solidFill>
                  <a:srgbClr val="334155"/>
                </a:solidFill>
              </a:defRPr>
            </a:pPr>
            <a:r>
              <a:rPr dirty="0" err="1"/>
              <a:t>Darstellung</a:t>
            </a:r>
            <a:r>
              <a:rPr dirty="0"/>
              <a:t> </a:t>
            </a:r>
            <a:r>
              <a:rPr dirty="0" err="1"/>
              <a:t>als</a:t>
            </a:r>
            <a:r>
              <a:rPr dirty="0"/>
              <a:t> </a:t>
            </a:r>
            <a:r>
              <a:rPr dirty="0" err="1"/>
              <a:t>Balkendiagramm</a:t>
            </a:r>
            <a:endParaRPr dirty="0"/>
          </a:p>
          <a:p>
            <a:pPr marL="285750" indent="-285750">
              <a:spcBef>
                <a:spcPts val="600"/>
              </a:spcBef>
              <a:defRPr sz="1800">
                <a:solidFill>
                  <a:srgbClr val="334155"/>
                </a:solidFill>
              </a:defRPr>
            </a:pPr>
            <a:r>
              <a:rPr dirty="0" err="1"/>
              <a:t>Grundlage</a:t>
            </a:r>
            <a:r>
              <a:rPr dirty="0"/>
              <a:t> für </a:t>
            </a:r>
            <a:r>
              <a:rPr dirty="0" err="1"/>
              <a:t>Schätzungen</a:t>
            </a:r>
            <a:endParaRPr dirty="0"/>
          </a:p>
        </p:txBody>
      </p:sp>
      <p:sp>
        <p:nvSpPr>
          <p:cNvPr id="6" name="TextBox 5"/>
          <p:cNvSpPr txBox="1"/>
          <p:nvPr/>
        </p:nvSpPr>
        <p:spPr>
          <a:xfrm>
            <a:off x="6400800" y="1280160"/>
            <a:ext cx="1167114" cy="430887"/>
          </a:xfrm>
          <a:prstGeom prst="rect">
            <a:avLst/>
          </a:prstGeom>
          <a:noFill/>
        </p:spPr>
        <p:txBody>
          <a:bodyPr wrap="none">
            <a:spAutoFit/>
          </a:bodyPr>
          <a:lstStyle/>
          <a:p>
            <a:pPr>
              <a:defRPr sz="2200" b="1">
                <a:solidFill>
                  <a:srgbClr val="3A04FF"/>
                </a:solidFill>
              </a:defRPr>
            </a:pPr>
            <a:r>
              <a:rPr dirty="0">
                <a:solidFill>
                  <a:srgbClr val="3B2EFF"/>
                </a:solidFill>
              </a:rPr>
              <a:t>Forecast</a:t>
            </a:r>
          </a:p>
        </p:txBody>
      </p:sp>
      <p:sp>
        <p:nvSpPr>
          <p:cNvPr id="7" name="TextBox 6"/>
          <p:cNvSpPr txBox="1"/>
          <p:nvPr/>
        </p:nvSpPr>
        <p:spPr>
          <a:xfrm>
            <a:off x="6400800" y="1737360"/>
            <a:ext cx="5029200" cy="4572000"/>
          </a:xfrm>
          <a:prstGeom prst="rect">
            <a:avLst/>
          </a:prstGeom>
          <a:noFill/>
        </p:spPr>
        <p:txBody>
          <a:bodyPr wrap="square">
            <a:spAutoFit/>
          </a:bodyPr>
          <a:lstStyle/>
          <a:p>
            <a:pPr marL="285750" indent="-285750">
              <a:buClr>
                <a:srgbClr val="3B2EFF"/>
              </a:buClr>
              <a:buSzPct val="70000"/>
              <a:buFont typeface="Arial"/>
              <a:buChar char="●"/>
            </a:pPr>
            <a:r>
              <a:rPr lang="de-CH" sz="1800" dirty="0">
                <a:solidFill>
                  <a:srgbClr val="334155"/>
                </a:solidFill>
              </a:rPr>
              <a:t>Durchschnittliche Velocity</a:t>
            </a:r>
          </a:p>
          <a:p>
            <a:pPr marL="285750" indent="-285750">
              <a:buClr>
                <a:srgbClr val="3B2EFF"/>
              </a:buClr>
              <a:buSzPct val="70000"/>
              <a:buFont typeface="Arial"/>
              <a:buChar char="●"/>
            </a:pPr>
            <a:r>
              <a:rPr lang="de-CH" sz="1800" dirty="0">
                <a:solidFill>
                  <a:srgbClr val="334155"/>
                </a:solidFill>
              </a:rPr>
              <a:t>Verbleibende Story Points</a:t>
            </a:r>
          </a:p>
          <a:p>
            <a:pPr marL="285750" indent="-285750">
              <a:buClr>
                <a:srgbClr val="3B2EFF"/>
              </a:buClr>
              <a:buSzPct val="70000"/>
              <a:buFont typeface="Arial"/>
              <a:buChar char="●"/>
            </a:pPr>
            <a:r>
              <a:rPr lang="de-CH" sz="1800" dirty="0">
                <a:solidFill>
                  <a:srgbClr val="334155"/>
                </a:solidFill>
              </a:rPr>
              <a:t>Geschätzte Anzahl Sprints</a:t>
            </a:r>
          </a:p>
          <a:p>
            <a:pPr marL="285750" indent="-285750">
              <a:buClr>
                <a:srgbClr val="3B2EFF"/>
              </a:buClr>
              <a:buSzPct val="70000"/>
              <a:buFont typeface="Arial"/>
              <a:buChar char="●"/>
            </a:pPr>
            <a:r>
              <a:rPr lang="de-CH" sz="1800" dirty="0">
                <a:solidFill>
                  <a:srgbClr val="334155"/>
                </a:solidFill>
              </a:rPr>
              <a:t>Voraussichtliches Fertigstellungsdatum</a:t>
            </a:r>
          </a:p>
        </p:txBody>
      </p:sp>
      <p:sp>
        <p:nvSpPr>
          <p:cNvPr id="8" name="Rectangle 7">
            <a:extLst>
              <a:ext uri="{FF2B5EF4-FFF2-40B4-BE49-F238E27FC236}">
                <a16:creationId xmlns:a16="http://schemas.microsoft.com/office/drawing/2014/main" id="{3B6EE175-8AF9-F9F2-27FD-3AC1CEDBB272}"/>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10" name="Graphic 9">
            <a:extLst>
              <a:ext uri="{FF2B5EF4-FFF2-40B4-BE49-F238E27FC236}">
                <a16:creationId xmlns:a16="http://schemas.microsoft.com/office/drawing/2014/main" id="{ABD514F4-769D-844A-EADA-CECEE8B216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11" name="TextBox 10"/>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72A"/>
          </a:solidFill>
          <a:ln>
            <a:noFill/>
          </a:ln>
        </p:spPr>
        <p:txBody>
          <a:bodyPr rtlCol="0" anchor="ctr"/>
          <a:lstStyle/>
          <a:p>
            <a:pPr algn="ctr"/>
            <a:endParaRPr/>
          </a:p>
        </p:txBody>
      </p:sp>
      <p:sp>
        <p:nvSpPr>
          <p:cNvPr id="5" name="TextBox 4">
            <a:extLst>
              <a:ext uri="{FF2B5EF4-FFF2-40B4-BE49-F238E27FC236}">
                <a16:creationId xmlns:a16="http://schemas.microsoft.com/office/drawing/2014/main" id="{25A532BE-4C85-9E3D-437A-8E8D45583039}"/>
              </a:ext>
            </a:extLst>
          </p:cNvPr>
          <p:cNvSpPr txBox="1"/>
          <p:nvPr/>
        </p:nvSpPr>
        <p:spPr>
          <a:xfrm>
            <a:off x="3379626" y="3429000"/>
            <a:ext cx="5432449" cy="830997"/>
          </a:xfrm>
          <a:prstGeom prst="rect">
            <a:avLst/>
          </a:prstGeom>
          <a:noFill/>
        </p:spPr>
        <p:txBody>
          <a:bodyPr wrap="none">
            <a:spAutoFit/>
          </a:bodyPr>
          <a:lstStyle/>
          <a:p>
            <a:pPr algn="ctr">
              <a:defRPr sz="4800" b="1">
                <a:solidFill>
                  <a:srgbClr val="FFFFFF"/>
                </a:solidFill>
              </a:defRPr>
            </a:pPr>
            <a:r>
              <a:rPr lang="de-CH" dirty="0" err="1"/>
              <a:t>Entwicklungsprozess</a:t>
            </a:r>
            <a:endParaRPr dirty="0"/>
          </a:p>
        </p:txBody>
      </p:sp>
      <p:pic>
        <p:nvPicPr>
          <p:cNvPr id="6" name="Graphic 5">
            <a:extLst>
              <a:ext uri="{FF2B5EF4-FFF2-40B4-BE49-F238E27FC236}">
                <a16:creationId xmlns:a16="http://schemas.microsoft.com/office/drawing/2014/main" id="{52F7EAD2-182C-0080-1CA6-FFAF1D9B2C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6444" y="2841229"/>
            <a:ext cx="1018804" cy="587771"/>
          </a:xfrm>
          <a:prstGeom prst="rect">
            <a:avLst/>
          </a:prstGeom>
        </p:spPr>
      </p:pic>
      <p:sp>
        <p:nvSpPr>
          <p:cNvPr id="7" name="TextBox 6"/>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Sprints und Phasen</a:t>
            </a:r>
          </a:p>
        </p:txBody>
      </p:sp>
      <p:sp>
        <p:nvSpPr>
          <p:cNvPr id="4" name="TextBox 3"/>
          <p:cNvSpPr txBox="1"/>
          <p:nvPr/>
        </p:nvSpPr>
        <p:spPr>
          <a:xfrm>
            <a:off x="685800" y="1371600"/>
            <a:ext cx="10820095" cy="5029200"/>
          </a:xfrm>
          <a:prstGeom prst="rect">
            <a:avLst/>
          </a:prstGeom>
          <a:noFill/>
        </p:spPr>
        <p:txBody>
          <a:bodyPr wrap="square">
            <a:spAutoFit/>
          </a:bodyPr>
          <a:lstStyle/>
          <a:p>
            <a:pPr>
              <a:spcBef>
                <a:spcPts val="800"/>
              </a:spcBef>
              <a:spcAft>
                <a:spcPts val="400"/>
              </a:spcAft>
              <a:defRPr sz="2000">
                <a:solidFill>
                  <a:srgbClr val="334155"/>
                </a:solidFill>
              </a:defRPr>
            </a:pPr>
            <a:r>
              <a:rPr lang="de-CH" b="1" dirty="0"/>
              <a:t>Epic 1 </a:t>
            </a:r>
            <a:r>
              <a:rPr b="1" dirty="0"/>
              <a:t>– </a:t>
            </a:r>
            <a:r>
              <a:rPr b="1" dirty="0" err="1"/>
              <a:t>Analyse</a:t>
            </a:r>
            <a:r>
              <a:rPr lang="de-CH" b="1" dirty="0"/>
              <a:t>:</a:t>
            </a:r>
            <a:endParaRPr b="1" dirty="0"/>
          </a:p>
          <a:p>
            <a:pPr marL="285750" lvl="1" indent="-285750">
              <a:spcBef>
                <a:spcPts val="800"/>
              </a:spcBef>
              <a:spcAft>
                <a:spcPts val="400"/>
              </a:spcAft>
              <a:defRPr sz="1800">
                <a:solidFill>
                  <a:srgbClr val="334155"/>
                </a:solidFill>
              </a:defRPr>
            </a:pPr>
            <a:r>
              <a:rPr dirty="0" err="1"/>
              <a:t>Anforderungen</a:t>
            </a:r>
            <a:r>
              <a:rPr dirty="0"/>
              <a:t>, </a:t>
            </a:r>
            <a:r>
              <a:rPr dirty="0" err="1"/>
              <a:t>Marktanalyse</a:t>
            </a:r>
            <a:r>
              <a:rPr dirty="0"/>
              <a:t>, </a:t>
            </a:r>
            <a:r>
              <a:rPr dirty="0" err="1"/>
              <a:t>Architekturentscheid</a:t>
            </a:r>
            <a:endParaRPr dirty="0"/>
          </a:p>
          <a:p>
            <a:pPr>
              <a:spcBef>
                <a:spcPts val="800"/>
              </a:spcBef>
              <a:spcAft>
                <a:spcPts val="400"/>
              </a:spcAft>
              <a:defRPr sz="2000">
                <a:solidFill>
                  <a:srgbClr val="334155"/>
                </a:solidFill>
              </a:defRPr>
            </a:pPr>
            <a:endParaRPr dirty="0"/>
          </a:p>
          <a:p>
            <a:pPr>
              <a:spcBef>
                <a:spcPts val="800"/>
              </a:spcBef>
              <a:spcAft>
                <a:spcPts val="400"/>
              </a:spcAft>
              <a:defRPr sz="2000">
                <a:solidFill>
                  <a:srgbClr val="334155"/>
                </a:solidFill>
              </a:defRPr>
            </a:pPr>
            <a:r>
              <a:rPr lang="de-CH" b="1" dirty="0"/>
              <a:t>Epic </a:t>
            </a:r>
            <a:r>
              <a:rPr b="1" dirty="0"/>
              <a:t>2 – Backend</a:t>
            </a:r>
            <a:r>
              <a:rPr lang="de-CH" b="1" dirty="0"/>
              <a:t>:</a:t>
            </a:r>
            <a:endParaRPr b="1" dirty="0"/>
          </a:p>
          <a:p>
            <a:pPr marL="285750" lvl="1" indent="-285750">
              <a:spcBef>
                <a:spcPts val="800"/>
              </a:spcBef>
              <a:spcAft>
                <a:spcPts val="400"/>
              </a:spcAft>
              <a:defRPr sz="1800">
                <a:solidFill>
                  <a:srgbClr val="334155"/>
                </a:solidFill>
              </a:defRPr>
            </a:pPr>
            <a:r>
              <a:rPr dirty="0" err="1"/>
              <a:t>Datenmodell</a:t>
            </a:r>
            <a:r>
              <a:rPr dirty="0"/>
              <a:t>, API, Jira-Integration</a:t>
            </a:r>
          </a:p>
          <a:p>
            <a:pPr>
              <a:spcBef>
                <a:spcPts val="800"/>
              </a:spcBef>
              <a:spcAft>
                <a:spcPts val="400"/>
              </a:spcAft>
              <a:defRPr sz="2000">
                <a:solidFill>
                  <a:srgbClr val="334155"/>
                </a:solidFill>
              </a:defRPr>
            </a:pPr>
            <a:endParaRPr dirty="0"/>
          </a:p>
          <a:p>
            <a:pPr>
              <a:spcBef>
                <a:spcPts val="800"/>
              </a:spcBef>
              <a:spcAft>
                <a:spcPts val="400"/>
              </a:spcAft>
              <a:defRPr sz="2000">
                <a:solidFill>
                  <a:srgbClr val="334155"/>
                </a:solidFill>
              </a:defRPr>
            </a:pPr>
            <a:r>
              <a:rPr lang="en-US" b="1" dirty="0"/>
              <a:t>Epic 3 – Frontend</a:t>
            </a:r>
            <a:r>
              <a:rPr b="1" dirty="0"/>
              <a:t>:</a:t>
            </a:r>
          </a:p>
          <a:p>
            <a:pPr marL="285750" lvl="1" indent="-285750">
              <a:spcBef>
                <a:spcPts val="800"/>
              </a:spcBef>
              <a:spcAft>
                <a:spcPts val="400"/>
              </a:spcAft>
              <a:defRPr sz="1800">
                <a:solidFill>
                  <a:srgbClr val="334155"/>
                </a:solidFill>
              </a:defRPr>
            </a:pPr>
            <a:r>
              <a:rPr dirty="0"/>
              <a:t>Dashboard, </a:t>
            </a:r>
            <a:r>
              <a:rPr dirty="0" err="1"/>
              <a:t>Kapazitätsplanung</a:t>
            </a:r>
            <a:r>
              <a:rPr dirty="0"/>
              <a:t>, Analytics</a:t>
            </a:r>
          </a:p>
          <a:p>
            <a:pPr>
              <a:spcBef>
                <a:spcPts val="800"/>
              </a:spcBef>
              <a:spcAft>
                <a:spcPts val="400"/>
              </a:spcAft>
              <a:defRPr sz="2000">
                <a:solidFill>
                  <a:srgbClr val="334155"/>
                </a:solidFill>
              </a:defRPr>
            </a:pPr>
            <a:endParaRPr dirty="0"/>
          </a:p>
          <a:p>
            <a:pPr>
              <a:spcBef>
                <a:spcPts val="800"/>
              </a:spcBef>
              <a:spcAft>
                <a:spcPts val="400"/>
              </a:spcAft>
              <a:defRPr sz="2000">
                <a:solidFill>
                  <a:srgbClr val="334155"/>
                </a:solidFill>
              </a:defRPr>
            </a:pPr>
            <a:r>
              <a:rPr lang="de-CH" b="1" dirty="0"/>
              <a:t>Epic</a:t>
            </a:r>
            <a:r>
              <a:rPr b="1" dirty="0"/>
              <a:t> 4 – Deployment:</a:t>
            </a:r>
          </a:p>
          <a:p>
            <a:pPr marL="285750" lvl="1" indent="-285750">
              <a:spcBef>
                <a:spcPts val="800"/>
              </a:spcBef>
              <a:spcAft>
                <a:spcPts val="400"/>
              </a:spcAft>
              <a:defRPr sz="1800">
                <a:solidFill>
                  <a:srgbClr val="334155"/>
                </a:solidFill>
              </a:defRPr>
            </a:pPr>
            <a:r>
              <a:rPr dirty="0"/>
              <a:t>Azure, Tests, Performance, SP-</a:t>
            </a:r>
            <a:r>
              <a:rPr dirty="0" err="1"/>
              <a:t>Empfehlung</a:t>
            </a:r>
            <a:endParaRPr dirty="0"/>
          </a:p>
        </p:txBody>
      </p:sp>
      <p:sp>
        <p:nvSpPr>
          <p:cNvPr id="5" name="Rectangle 4">
            <a:extLst>
              <a:ext uri="{FF2B5EF4-FFF2-40B4-BE49-F238E27FC236}">
                <a16:creationId xmlns:a16="http://schemas.microsoft.com/office/drawing/2014/main" id="{483BFB87-3BB9-5A9C-3618-B34A631EAD94}"/>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7" name="Graphic 6">
            <a:extLst>
              <a:ext uri="{FF2B5EF4-FFF2-40B4-BE49-F238E27FC236}">
                <a16:creationId xmlns:a16="http://schemas.microsoft.com/office/drawing/2014/main" id="{624C67E8-9EA0-9FB4-6211-6A37A4FEDF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8" name="TextBox 7"/>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Deployment und Betrieb</a:t>
            </a:r>
          </a:p>
        </p:txBody>
      </p:sp>
      <p:sp>
        <p:nvSpPr>
          <p:cNvPr id="4" name="TextBox 3"/>
          <p:cNvSpPr txBox="1"/>
          <p:nvPr/>
        </p:nvSpPr>
        <p:spPr>
          <a:xfrm>
            <a:off x="685800" y="1207008"/>
            <a:ext cx="10820095" cy="4437112"/>
          </a:xfrm>
          <a:prstGeom prst="rect">
            <a:avLst/>
          </a:prstGeom>
          <a:noFill/>
        </p:spPr>
        <p:txBody>
          <a:bodyPr wrap="square">
            <a:spAutoFit/>
          </a:bodyPr>
          <a:lstStyle/>
          <a:p>
            <a:pPr>
              <a:spcBef>
                <a:spcPts val="300"/>
              </a:spcBef>
              <a:spcAft>
                <a:spcPts val="200"/>
              </a:spcAft>
              <a:defRPr sz="2000">
                <a:solidFill>
                  <a:srgbClr val="334155"/>
                </a:solidFill>
              </a:defRPr>
            </a:pPr>
            <a:r>
              <a:rPr b="1" dirty="0"/>
              <a:t>Azure App Service:</a:t>
            </a:r>
          </a:p>
          <a:p>
            <a:pPr marL="285750" lvl="1" indent="-285750">
              <a:spcBef>
                <a:spcPts val="300"/>
              </a:spcBef>
              <a:buFont typeface="Arial" panose="020B0604020202020204" pitchFamily="34" charset="0"/>
              <a:buChar char="•"/>
              <a:defRPr sz="1800">
                <a:solidFill>
                  <a:srgbClr val="334155"/>
                </a:solidFill>
              </a:defRPr>
            </a:pPr>
            <a:r>
              <a:rPr dirty="0"/>
              <a:t>Kein </a:t>
            </a:r>
            <a:r>
              <a:rPr dirty="0" err="1"/>
              <a:t>eigener</a:t>
            </a:r>
            <a:r>
              <a:rPr dirty="0"/>
              <a:t> Server</a:t>
            </a:r>
          </a:p>
          <a:p>
            <a:pPr marL="285750" lvl="1" indent="-285750">
              <a:spcBef>
                <a:spcPts val="300"/>
              </a:spcBef>
              <a:buFont typeface="Arial" panose="020B0604020202020204" pitchFamily="34" charset="0"/>
              <a:buChar char="•"/>
              <a:defRPr sz="1800">
                <a:solidFill>
                  <a:srgbClr val="334155"/>
                </a:solidFill>
              </a:defRPr>
            </a:pPr>
            <a:r>
              <a:rPr dirty="0" err="1"/>
              <a:t>Zentrale</a:t>
            </a:r>
            <a:r>
              <a:rPr dirty="0"/>
              <a:t> Updates</a:t>
            </a:r>
          </a:p>
          <a:p>
            <a:pPr marL="285750" lvl="1" indent="-285750">
              <a:spcBef>
                <a:spcPts val="300"/>
              </a:spcBef>
              <a:buFont typeface="Arial" panose="020B0604020202020204" pitchFamily="34" charset="0"/>
              <a:buChar char="•"/>
              <a:defRPr sz="1800">
                <a:solidFill>
                  <a:srgbClr val="334155"/>
                </a:solidFill>
              </a:defRPr>
            </a:pPr>
            <a:r>
              <a:rPr dirty="0" err="1"/>
              <a:t>Automatische</a:t>
            </a:r>
            <a:r>
              <a:rPr dirty="0"/>
              <a:t> </a:t>
            </a:r>
            <a:r>
              <a:rPr dirty="0" err="1"/>
              <a:t>Skalierung</a:t>
            </a:r>
            <a:endParaRPr dirty="0"/>
          </a:p>
          <a:p>
            <a:pPr>
              <a:spcBef>
                <a:spcPts val="300"/>
              </a:spcBef>
              <a:spcAft>
                <a:spcPts val="200"/>
              </a:spcAft>
              <a:defRPr sz="2000">
                <a:solidFill>
                  <a:srgbClr val="334155"/>
                </a:solidFill>
              </a:defRPr>
            </a:pPr>
            <a:endParaRPr dirty="0"/>
          </a:p>
          <a:p>
            <a:pPr>
              <a:spcBef>
                <a:spcPts val="300"/>
              </a:spcBef>
              <a:spcAft>
                <a:spcPts val="200"/>
              </a:spcAft>
              <a:defRPr sz="2000">
                <a:solidFill>
                  <a:srgbClr val="334155"/>
                </a:solidFill>
              </a:defRPr>
            </a:pPr>
            <a:r>
              <a:rPr b="1" dirty="0" err="1"/>
              <a:t>Komponenten</a:t>
            </a:r>
            <a:r>
              <a:rPr b="1" dirty="0"/>
              <a:t>:</a:t>
            </a:r>
          </a:p>
          <a:p>
            <a:pPr marL="285750" lvl="1" indent="-285750">
              <a:spcBef>
                <a:spcPts val="300"/>
              </a:spcBef>
              <a:buFont typeface="Arial" panose="020B0604020202020204" pitchFamily="34" charset="0"/>
              <a:buChar char="•"/>
              <a:defRPr sz="1800">
                <a:solidFill>
                  <a:srgbClr val="334155"/>
                </a:solidFill>
              </a:defRPr>
            </a:pPr>
            <a:r>
              <a:rPr dirty="0"/>
              <a:t>Backend </a:t>
            </a:r>
            <a:r>
              <a:rPr dirty="0" err="1"/>
              <a:t>als</a:t>
            </a:r>
            <a:r>
              <a:rPr dirty="0"/>
              <a:t> App Service</a:t>
            </a:r>
          </a:p>
          <a:p>
            <a:pPr marL="285750" lvl="1" indent="-285750">
              <a:spcBef>
                <a:spcPts val="300"/>
              </a:spcBef>
              <a:buFont typeface="Arial" panose="020B0604020202020204" pitchFamily="34" charset="0"/>
              <a:buChar char="•"/>
              <a:defRPr sz="1800">
                <a:solidFill>
                  <a:srgbClr val="334155"/>
                </a:solidFill>
              </a:defRPr>
            </a:pPr>
            <a:r>
              <a:rPr dirty="0"/>
              <a:t>Frontend </a:t>
            </a:r>
            <a:r>
              <a:rPr dirty="0" err="1"/>
              <a:t>als</a:t>
            </a:r>
            <a:r>
              <a:rPr dirty="0"/>
              <a:t> pre-built Static Files</a:t>
            </a:r>
          </a:p>
          <a:p>
            <a:pPr marL="285750" lvl="1" indent="-285750">
              <a:spcBef>
                <a:spcPts val="300"/>
              </a:spcBef>
              <a:buFont typeface="Arial" panose="020B0604020202020204" pitchFamily="34" charset="0"/>
              <a:buChar char="•"/>
              <a:defRPr sz="1800">
                <a:solidFill>
                  <a:srgbClr val="334155"/>
                </a:solidFill>
              </a:defRPr>
            </a:pPr>
            <a:r>
              <a:rPr dirty="0"/>
              <a:t>PostgreSQL </a:t>
            </a:r>
            <a:r>
              <a:rPr dirty="0" err="1"/>
              <a:t>als</a:t>
            </a:r>
            <a:r>
              <a:rPr dirty="0"/>
              <a:t> Managed Database</a:t>
            </a:r>
          </a:p>
          <a:p>
            <a:pPr>
              <a:spcBef>
                <a:spcPts val="300"/>
              </a:spcBef>
              <a:spcAft>
                <a:spcPts val="200"/>
              </a:spcAft>
              <a:defRPr sz="2000">
                <a:solidFill>
                  <a:srgbClr val="334155"/>
                </a:solidFill>
              </a:defRPr>
            </a:pPr>
            <a:endParaRPr dirty="0"/>
          </a:p>
          <a:p>
            <a:pPr>
              <a:spcBef>
                <a:spcPts val="300"/>
              </a:spcBef>
              <a:spcAft>
                <a:spcPts val="200"/>
              </a:spcAft>
              <a:defRPr sz="2000">
                <a:solidFill>
                  <a:srgbClr val="334155"/>
                </a:solidFill>
              </a:defRPr>
            </a:pPr>
            <a:r>
              <a:rPr b="1" dirty="0" err="1"/>
              <a:t>Konfiguration</a:t>
            </a:r>
            <a:r>
              <a:rPr b="1" dirty="0"/>
              <a:t>:</a:t>
            </a:r>
          </a:p>
          <a:p>
            <a:pPr marL="285750" lvl="1" indent="-285750">
              <a:spcBef>
                <a:spcPts val="300"/>
              </a:spcBef>
              <a:buFont typeface="Arial" panose="020B0604020202020204" pitchFamily="34" charset="0"/>
              <a:buChar char="•"/>
              <a:defRPr sz="1800">
                <a:solidFill>
                  <a:srgbClr val="334155"/>
                </a:solidFill>
              </a:defRPr>
            </a:pPr>
            <a:r>
              <a:rPr dirty="0" err="1"/>
              <a:t>Umgebungsvariablen</a:t>
            </a:r>
            <a:r>
              <a:rPr dirty="0"/>
              <a:t> </a:t>
            </a:r>
            <a:r>
              <a:rPr dirty="0" err="1"/>
              <a:t>über</a:t>
            </a:r>
            <a:r>
              <a:rPr dirty="0"/>
              <a:t> Azure App Settings</a:t>
            </a:r>
          </a:p>
          <a:p>
            <a:pPr marL="285750" lvl="1" indent="-285750">
              <a:spcBef>
                <a:spcPts val="300"/>
              </a:spcBef>
              <a:buFont typeface="Arial" panose="020B0604020202020204" pitchFamily="34" charset="0"/>
              <a:buChar char="•"/>
              <a:defRPr sz="1800">
                <a:solidFill>
                  <a:srgbClr val="334155"/>
                </a:solidFill>
              </a:defRPr>
            </a:pPr>
            <a:r>
              <a:rPr dirty="0" err="1"/>
              <a:t>Datenbankmigrationen</a:t>
            </a:r>
            <a:r>
              <a:rPr dirty="0"/>
              <a:t> via </a:t>
            </a:r>
            <a:r>
              <a:rPr dirty="0" err="1"/>
              <a:t>Sequelize</a:t>
            </a:r>
            <a:r>
              <a:rPr dirty="0"/>
              <a:t> CLI</a:t>
            </a:r>
          </a:p>
        </p:txBody>
      </p:sp>
      <p:sp>
        <p:nvSpPr>
          <p:cNvPr id="5" name="Rectangle 4">
            <a:extLst>
              <a:ext uri="{FF2B5EF4-FFF2-40B4-BE49-F238E27FC236}">
                <a16:creationId xmlns:a16="http://schemas.microsoft.com/office/drawing/2014/main" id="{7126BF9C-CD6C-E2D3-3C78-8EBCC3AFA129}"/>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7" name="Graphic 6">
            <a:extLst>
              <a:ext uri="{FF2B5EF4-FFF2-40B4-BE49-F238E27FC236}">
                <a16:creationId xmlns:a16="http://schemas.microsoft.com/office/drawing/2014/main" id="{AA5FB690-1787-802D-47F7-F9CE5BA0CC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8" name="TextBox 7"/>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72A"/>
          </a:solidFill>
          <a:ln>
            <a:noFill/>
          </a:ln>
        </p:spPr>
        <p:txBody>
          <a:bodyPr rtlCol="0" anchor="ctr"/>
          <a:lstStyle/>
          <a:p>
            <a:pPr algn="ctr"/>
            <a:endParaRPr/>
          </a:p>
        </p:txBody>
      </p:sp>
      <p:sp>
        <p:nvSpPr>
          <p:cNvPr id="4" name="TextBox 3">
            <a:extLst>
              <a:ext uri="{FF2B5EF4-FFF2-40B4-BE49-F238E27FC236}">
                <a16:creationId xmlns:a16="http://schemas.microsoft.com/office/drawing/2014/main" id="{C6833C15-1B26-5A68-B20D-401E2D2309EB}"/>
              </a:ext>
            </a:extLst>
          </p:cNvPr>
          <p:cNvSpPr txBox="1"/>
          <p:nvPr/>
        </p:nvSpPr>
        <p:spPr>
          <a:xfrm>
            <a:off x="1527048" y="3429000"/>
            <a:ext cx="9144000" cy="830997"/>
          </a:xfrm>
          <a:prstGeom prst="rect">
            <a:avLst/>
          </a:prstGeom>
          <a:noFill/>
        </p:spPr>
        <p:txBody>
          <a:bodyPr wrap="none">
            <a:spAutoFit/>
          </a:bodyPr>
          <a:lstStyle/>
          <a:p>
            <a:pPr algn="ctr">
              <a:defRPr sz="4800" b="1">
                <a:solidFill>
                  <a:srgbClr val="FFFFFF"/>
                </a:solidFill>
              </a:defRPr>
            </a:pPr>
            <a:r>
              <a:rPr lang="de-CH" dirty="0"/>
              <a:t>Sprintify im Einsatz</a:t>
            </a:r>
            <a:endParaRPr dirty="0"/>
          </a:p>
        </p:txBody>
      </p:sp>
      <p:pic>
        <p:nvPicPr>
          <p:cNvPr id="5" name="Graphic 4">
            <a:extLst>
              <a:ext uri="{FF2B5EF4-FFF2-40B4-BE49-F238E27FC236}">
                <a16:creationId xmlns:a16="http://schemas.microsoft.com/office/drawing/2014/main" id="{E140513D-ABEB-B671-1057-4121309716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6444" y="2841229"/>
            <a:ext cx="1018804" cy="587771"/>
          </a:xfrm>
          <a:prstGeom prst="rect">
            <a:avLst/>
          </a:prstGeom>
        </p:spPr>
      </p:pic>
      <p:sp>
        <p:nvSpPr>
          <p:cNvPr id="6" name="TextBox 5"/>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8E2C4-0B4A-B8FD-F162-550B3A37975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BB04121-B98F-68D9-487A-38D68A04AD1C}"/>
              </a:ext>
            </a:extLst>
          </p:cNvPr>
          <p:cNvSpPr/>
          <p:nvPr/>
        </p:nvSpPr>
        <p:spPr>
          <a:xfrm>
            <a:off x="0" y="0"/>
            <a:ext cx="12191695" cy="91440"/>
          </a:xfrm>
          <a:prstGeom prst="rect">
            <a:avLst/>
          </a:prstGeom>
          <a:solidFill>
            <a:srgbClr val="3A0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 screenshot of a dashboard&#10;&#10;AI-generated content may be incorrect.">
            <a:extLst>
              <a:ext uri="{FF2B5EF4-FFF2-40B4-BE49-F238E27FC236}">
                <a16:creationId xmlns:a16="http://schemas.microsoft.com/office/drawing/2014/main" id="{DD5F11A2-2B76-7D80-4F23-4E08DFD55411}"/>
              </a:ext>
            </a:extLst>
          </p:cNvPr>
          <p:cNvPicPr>
            <a:picLocks noChangeAspect="1"/>
          </p:cNvPicPr>
          <p:nvPr/>
        </p:nvPicPr>
        <p:blipFill>
          <a:blip r:embed="rId3"/>
          <a:stretch>
            <a:fillRect/>
          </a:stretch>
        </p:blipFill>
        <p:spPr>
          <a:xfrm>
            <a:off x="-1" y="0"/>
            <a:ext cx="12191695" cy="11203683"/>
          </a:xfrm>
          <a:prstGeom prst="rect">
            <a:avLst/>
          </a:prstGeom>
        </p:spPr>
      </p:pic>
      <p:sp>
        <p:nvSpPr>
          <p:cNvPr id="7" name="Rectangle 6"/>
          <p:cNvSpPr/>
          <p:nvPr/>
        </p:nvSpPr>
        <p:spPr>
          <a:xfrm>
            <a:off x="0" y="0"/>
            <a:ext cx="12192000" cy="603504"/>
          </a:xfrm>
          <a:prstGeom prst="rect">
            <a:avLst/>
          </a:prstGeom>
          <a:solidFill>
            <a:srgbClr val="10172A"/>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36576" rIns="1097280" bIns="36576" rtlCol="0" anchor="ctr"/>
          <a:lstStyle/>
          <a:p>
            <a:pPr algn="l"/>
            <a:r>
              <a:rPr sz="1600" b="1">
                <a:solidFill>
                  <a:srgbClr val="FFFFFF"/>
                </a:solidFill>
                <a:latin typeface="Arial"/>
              </a:rPr>
              <a:t>Dashboard</a:t>
            </a:r>
            <a:r>
              <a:rPr sz="1250">
                <a:solidFill>
                  <a:srgbClr val="B8C2D9"/>
                </a:solidFill>
                <a:latin typeface="Arial"/>
              </a:rPr>
              <a:t>   —   Projektüberblick: Kennzahlen, Sprint-Fortschritt &amp; Forecast</a:t>
            </a:r>
          </a:p>
        </p:txBody>
      </p:sp>
      <p:sp>
        <p:nvSpPr>
          <p:cNvPr id="8" name="TextBox 7"/>
          <p:cNvSpPr txBox="1"/>
          <p:nvPr/>
        </p:nvSpPr>
        <p:spPr>
          <a:xfrm>
            <a:off x="11338560" y="164592"/>
            <a:ext cx="731520" cy="292608"/>
          </a:xfrm>
          <a:prstGeom prst="rect">
            <a:avLst/>
          </a:prstGeom>
          <a:noFill/>
        </p:spPr>
        <p:txBody>
          <a:bodyPr wrap="none" lIns="0" tIns="0" rIns="0" bIns="0">
            <a:spAutoFit/>
          </a:bodyPr>
          <a:lstStyle/>
          <a:p>
            <a:pPr algn="r"/>
            <a:r>
              <a:rPr sz="1100">
                <a:solidFill>
                  <a:srgbClr val="B8C2D9"/>
                </a:solidFill>
                <a:latin typeface="Arial"/>
              </a:rPr>
              <a:t>24</a:t>
            </a:r>
          </a:p>
        </p:txBody>
      </p:sp>
    </p:spTree>
    <p:extLst>
      <p:ext uri="{BB962C8B-B14F-4D97-AF65-F5344CB8AC3E}">
        <p14:creationId xmlns:p14="http://schemas.microsoft.com/office/powerpoint/2010/main" val="22557991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27A51-A1B6-B105-7CB6-985806D3730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B688C45-B9FF-A6DE-3943-99FA2A561146}"/>
              </a:ext>
            </a:extLst>
          </p:cNvPr>
          <p:cNvSpPr/>
          <p:nvPr/>
        </p:nvSpPr>
        <p:spPr>
          <a:xfrm>
            <a:off x="0" y="0"/>
            <a:ext cx="12191695" cy="91440"/>
          </a:xfrm>
          <a:prstGeom prst="rect">
            <a:avLst/>
          </a:prstGeom>
          <a:solidFill>
            <a:srgbClr val="3A0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 screenshot of a computer&#10;&#10;AI-generated content may be incorrect.">
            <a:extLst>
              <a:ext uri="{FF2B5EF4-FFF2-40B4-BE49-F238E27FC236}">
                <a16:creationId xmlns:a16="http://schemas.microsoft.com/office/drawing/2014/main" id="{31A52F33-2420-1F90-417D-EFB1C233C656}"/>
              </a:ext>
            </a:extLst>
          </p:cNvPr>
          <p:cNvPicPr>
            <a:picLocks noChangeAspect="1"/>
          </p:cNvPicPr>
          <p:nvPr/>
        </p:nvPicPr>
        <p:blipFill>
          <a:blip r:embed="rId3"/>
          <a:stretch>
            <a:fillRect/>
          </a:stretch>
        </p:blipFill>
        <p:spPr>
          <a:xfrm>
            <a:off x="0" y="-1"/>
            <a:ext cx="12191695" cy="11222325"/>
          </a:xfrm>
          <a:prstGeom prst="rect">
            <a:avLst/>
          </a:prstGeom>
        </p:spPr>
      </p:pic>
      <p:sp>
        <p:nvSpPr>
          <p:cNvPr id="5" name="Rectangle 4"/>
          <p:cNvSpPr/>
          <p:nvPr/>
        </p:nvSpPr>
        <p:spPr>
          <a:xfrm>
            <a:off x="0" y="0"/>
            <a:ext cx="12192000" cy="603504"/>
          </a:xfrm>
          <a:prstGeom prst="rect">
            <a:avLst/>
          </a:prstGeom>
          <a:solidFill>
            <a:srgbClr val="10172A"/>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36576" rIns="1097280" bIns="36576" rtlCol="0" anchor="ctr"/>
          <a:lstStyle/>
          <a:p>
            <a:pPr algn="l"/>
            <a:r>
              <a:rPr sz="1600" b="1">
                <a:solidFill>
                  <a:srgbClr val="FFFFFF"/>
                </a:solidFill>
                <a:latin typeface="Arial"/>
              </a:rPr>
              <a:t>Active Sprint</a:t>
            </a:r>
            <a:r>
              <a:rPr sz="1250">
                <a:solidFill>
                  <a:srgbClr val="B8C2D9"/>
                </a:solidFill>
                <a:latin typeface="Arial"/>
              </a:rPr>
              <a:t>   —   Aktueller Sprint: Status, Story Points &amp; Team-Kapazität</a:t>
            </a:r>
          </a:p>
        </p:txBody>
      </p:sp>
      <p:sp>
        <p:nvSpPr>
          <p:cNvPr id="6" name="TextBox 5"/>
          <p:cNvSpPr txBox="1"/>
          <p:nvPr/>
        </p:nvSpPr>
        <p:spPr>
          <a:xfrm>
            <a:off x="11338560" y="164592"/>
            <a:ext cx="731520" cy="292608"/>
          </a:xfrm>
          <a:prstGeom prst="rect">
            <a:avLst/>
          </a:prstGeom>
          <a:noFill/>
        </p:spPr>
        <p:txBody>
          <a:bodyPr wrap="none" lIns="0" tIns="0" rIns="0" bIns="0">
            <a:spAutoFit/>
          </a:bodyPr>
          <a:lstStyle/>
          <a:p>
            <a:pPr algn="r"/>
            <a:r>
              <a:rPr sz="1100">
                <a:solidFill>
                  <a:srgbClr val="B8C2D9"/>
                </a:solidFill>
                <a:latin typeface="Arial"/>
              </a:rPr>
              <a:t>25</a:t>
            </a:r>
          </a:p>
        </p:txBody>
      </p:sp>
    </p:spTree>
    <p:extLst>
      <p:ext uri="{BB962C8B-B14F-4D97-AF65-F5344CB8AC3E}">
        <p14:creationId xmlns:p14="http://schemas.microsoft.com/office/powerpoint/2010/main" val="30949837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20B6F-A0F1-1E51-1606-1233F47F72F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2EC9263-5D90-ED53-D2EC-506430F176C2}"/>
              </a:ext>
            </a:extLst>
          </p:cNvPr>
          <p:cNvSpPr/>
          <p:nvPr/>
        </p:nvSpPr>
        <p:spPr>
          <a:xfrm>
            <a:off x="0" y="0"/>
            <a:ext cx="12191695" cy="91440"/>
          </a:xfrm>
          <a:prstGeom prst="rect">
            <a:avLst/>
          </a:prstGeom>
          <a:solidFill>
            <a:srgbClr val="3A0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 screenshot of a graph&#10;&#10;AI-generated content may be incorrect.">
            <a:extLst>
              <a:ext uri="{FF2B5EF4-FFF2-40B4-BE49-F238E27FC236}">
                <a16:creationId xmlns:a16="http://schemas.microsoft.com/office/drawing/2014/main" id="{EB16738B-D79C-3112-2272-DFC2F11E1DA1}"/>
              </a:ext>
            </a:extLst>
          </p:cNvPr>
          <p:cNvPicPr>
            <a:picLocks noChangeAspect="1"/>
          </p:cNvPicPr>
          <p:nvPr/>
        </p:nvPicPr>
        <p:blipFill>
          <a:blip r:embed="rId3"/>
          <a:stretch>
            <a:fillRect/>
          </a:stretch>
        </p:blipFill>
        <p:spPr>
          <a:xfrm>
            <a:off x="0" y="0"/>
            <a:ext cx="12191694" cy="9470192"/>
          </a:xfrm>
          <a:prstGeom prst="rect">
            <a:avLst/>
          </a:prstGeom>
        </p:spPr>
      </p:pic>
      <p:sp>
        <p:nvSpPr>
          <p:cNvPr id="6" name="Rectangle 5"/>
          <p:cNvSpPr/>
          <p:nvPr/>
        </p:nvSpPr>
        <p:spPr>
          <a:xfrm>
            <a:off x="0" y="0"/>
            <a:ext cx="12192000" cy="603504"/>
          </a:xfrm>
          <a:prstGeom prst="rect">
            <a:avLst/>
          </a:prstGeom>
          <a:solidFill>
            <a:srgbClr val="10172A"/>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36576" rIns="1097280" bIns="36576" rtlCol="0" anchor="ctr"/>
          <a:lstStyle/>
          <a:p>
            <a:pPr algn="l"/>
            <a:r>
              <a:rPr sz="1600" b="1">
                <a:solidFill>
                  <a:srgbClr val="FFFFFF"/>
                </a:solidFill>
                <a:latin typeface="Arial"/>
              </a:rPr>
              <a:t>Sprint Analytics · Overview</a:t>
            </a:r>
            <a:r>
              <a:rPr sz="1250">
                <a:solidFill>
                  <a:srgbClr val="B8C2D9"/>
                </a:solidFill>
                <a:latin typeface="Arial"/>
              </a:rPr>
              <a:t>   —   Kennzahlen und Burndown-Chart (Ideal vs. Ist)</a:t>
            </a:r>
          </a:p>
        </p:txBody>
      </p:sp>
      <p:sp>
        <p:nvSpPr>
          <p:cNvPr id="7" name="TextBox 6"/>
          <p:cNvSpPr txBox="1"/>
          <p:nvPr/>
        </p:nvSpPr>
        <p:spPr>
          <a:xfrm>
            <a:off x="11338560" y="164592"/>
            <a:ext cx="731520" cy="292608"/>
          </a:xfrm>
          <a:prstGeom prst="rect">
            <a:avLst/>
          </a:prstGeom>
          <a:noFill/>
        </p:spPr>
        <p:txBody>
          <a:bodyPr wrap="none" lIns="0" tIns="0" rIns="0" bIns="0">
            <a:spAutoFit/>
          </a:bodyPr>
          <a:lstStyle/>
          <a:p>
            <a:pPr algn="r"/>
            <a:r>
              <a:rPr sz="1100">
                <a:solidFill>
                  <a:srgbClr val="B8C2D9"/>
                </a:solidFill>
                <a:latin typeface="Arial"/>
              </a:rPr>
              <a:t>26</a:t>
            </a:r>
          </a:p>
        </p:txBody>
      </p:sp>
    </p:spTree>
    <p:extLst>
      <p:ext uri="{BB962C8B-B14F-4D97-AF65-F5344CB8AC3E}">
        <p14:creationId xmlns:p14="http://schemas.microsoft.com/office/powerpoint/2010/main" val="2358362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56DF6-0792-290E-D703-4E624DA67B8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9D758AA-460A-4C6D-353C-D228DAB61943}"/>
              </a:ext>
            </a:extLst>
          </p:cNvPr>
          <p:cNvSpPr/>
          <p:nvPr/>
        </p:nvSpPr>
        <p:spPr>
          <a:xfrm>
            <a:off x="0" y="0"/>
            <a:ext cx="12191695" cy="91440"/>
          </a:xfrm>
          <a:prstGeom prst="rect">
            <a:avLst/>
          </a:prstGeom>
          <a:solidFill>
            <a:srgbClr val="3A0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 screenshot of a web page&#10;&#10;AI-generated content may be incorrect.">
            <a:extLst>
              <a:ext uri="{FF2B5EF4-FFF2-40B4-BE49-F238E27FC236}">
                <a16:creationId xmlns:a16="http://schemas.microsoft.com/office/drawing/2014/main" id="{CECD11D2-88FE-939E-44B1-F0CABA57A686}"/>
              </a:ext>
            </a:extLst>
          </p:cNvPr>
          <p:cNvPicPr>
            <a:picLocks noChangeAspect="1"/>
          </p:cNvPicPr>
          <p:nvPr/>
        </p:nvPicPr>
        <p:blipFill>
          <a:blip r:embed="rId3"/>
          <a:stretch>
            <a:fillRect/>
          </a:stretch>
        </p:blipFill>
        <p:spPr>
          <a:xfrm>
            <a:off x="0" y="0"/>
            <a:ext cx="16324566" cy="6858000"/>
          </a:xfrm>
          <a:prstGeom prst="rect">
            <a:avLst/>
          </a:prstGeom>
        </p:spPr>
      </p:pic>
      <p:sp>
        <p:nvSpPr>
          <p:cNvPr id="5" name="Rectangle 4"/>
          <p:cNvSpPr/>
          <p:nvPr/>
        </p:nvSpPr>
        <p:spPr>
          <a:xfrm>
            <a:off x="0" y="0"/>
            <a:ext cx="12192000" cy="603504"/>
          </a:xfrm>
          <a:prstGeom prst="rect">
            <a:avLst/>
          </a:prstGeom>
          <a:solidFill>
            <a:srgbClr val="10172A"/>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36576" rIns="1097280" bIns="36576" rtlCol="0" anchor="ctr"/>
          <a:lstStyle/>
          <a:p>
            <a:pPr algn="l"/>
            <a:r>
              <a:rPr sz="1600" b="1">
                <a:solidFill>
                  <a:srgbClr val="FFFFFF"/>
                </a:solidFill>
                <a:latin typeface="Arial"/>
              </a:rPr>
              <a:t>Sprint Analytics · Compare</a:t>
            </a:r>
            <a:r>
              <a:rPr sz="1250">
                <a:solidFill>
                  <a:srgbClr val="B8C2D9"/>
                </a:solidFill>
                <a:latin typeface="Arial"/>
              </a:rPr>
              <a:t>   —   Velocity vs. Vorsprint und Langzeit-Benchmarks</a:t>
            </a:r>
          </a:p>
        </p:txBody>
      </p:sp>
      <p:sp>
        <p:nvSpPr>
          <p:cNvPr id="6" name="TextBox 5"/>
          <p:cNvSpPr txBox="1"/>
          <p:nvPr/>
        </p:nvSpPr>
        <p:spPr>
          <a:xfrm>
            <a:off x="11338560" y="164592"/>
            <a:ext cx="731520" cy="292608"/>
          </a:xfrm>
          <a:prstGeom prst="rect">
            <a:avLst/>
          </a:prstGeom>
          <a:noFill/>
        </p:spPr>
        <p:txBody>
          <a:bodyPr wrap="none" lIns="0" tIns="0" rIns="0" bIns="0">
            <a:spAutoFit/>
          </a:bodyPr>
          <a:lstStyle/>
          <a:p>
            <a:pPr algn="r"/>
            <a:r>
              <a:rPr sz="1100">
                <a:solidFill>
                  <a:srgbClr val="B8C2D9"/>
                </a:solidFill>
                <a:latin typeface="Arial"/>
              </a:rPr>
              <a:t>27</a:t>
            </a:r>
          </a:p>
        </p:txBody>
      </p:sp>
    </p:spTree>
    <p:extLst>
      <p:ext uri="{BB962C8B-B14F-4D97-AF65-F5344CB8AC3E}">
        <p14:creationId xmlns:p14="http://schemas.microsoft.com/office/powerpoint/2010/main" val="13076232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4EAE7-5337-1778-9414-FFCA2FD68F4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EE42B9C-CAD3-D0DE-FE42-4D98438662ED}"/>
              </a:ext>
            </a:extLst>
          </p:cNvPr>
          <p:cNvSpPr/>
          <p:nvPr/>
        </p:nvSpPr>
        <p:spPr>
          <a:xfrm>
            <a:off x="0" y="0"/>
            <a:ext cx="12191695" cy="91440"/>
          </a:xfrm>
          <a:prstGeom prst="rect">
            <a:avLst/>
          </a:prstGeom>
          <a:solidFill>
            <a:srgbClr val="3A0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 screenshot of a computer&#10;&#10;AI-generated content may be incorrect.">
            <a:extLst>
              <a:ext uri="{FF2B5EF4-FFF2-40B4-BE49-F238E27FC236}">
                <a16:creationId xmlns:a16="http://schemas.microsoft.com/office/drawing/2014/main" id="{9BF7339F-7BFA-90B6-BC14-3BE03046C2E3}"/>
              </a:ext>
            </a:extLst>
          </p:cNvPr>
          <p:cNvPicPr>
            <a:picLocks noChangeAspect="1"/>
          </p:cNvPicPr>
          <p:nvPr/>
        </p:nvPicPr>
        <p:blipFill>
          <a:blip r:embed="rId3"/>
          <a:stretch>
            <a:fillRect/>
          </a:stretch>
        </p:blipFill>
        <p:spPr>
          <a:xfrm>
            <a:off x="0" y="0"/>
            <a:ext cx="12191694" cy="9269457"/>
          </a:xfrm>
          <a:prstGeom prst="rect">
            <a:avLst/>
          </a:prstGeom>
        </p:spPr>
      </p:pic>
      <p:sp>
        <p:nvSpPr>
          <p:cNvPr id="6" name="Rectangle 5"/>
          <p:cNvSpPr/>
          <p:nvPr/>
        </p:nvSpPr>
        <p:spPr>
          <a:xfrm>
            <a:off x="0" y="0"/>
            <a:ext cx="12192000" cy="603504"/>
          </a:xfrm>
          <a:prstGeom prst="rect">
            <a:avLst/>
          </a:prstGeom>
          <a:solidFill>
            <a:srgbClr val="10172A"/>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36576" rIns="1097280" bIns="36576" rtlCol="0" anchor="ctr"/>
          <a:lstStyle/>
          <a:p>
            <a:pPr algn="l"/>
            <a:r>
              <a:rPr sz="1600" b="1">
                <a:solidFill>
                  <a:srgbClr val="FFFFFF"/>
                </a:solidFill>
                <a:latin typeface="Arial"/>
              </a:rPr>
              <a:t>Sprint Analytics · Changes</a:t>
            </a:r>
            <a:r>
              <a:rPr sz="1250">
                <a:solidFill>
                  <a:srgbClr val="B8C2D9"/>
                </a:solidFill>
                <a:latin typeface="Arial"/>
              </a:rPr>
              <a:t>   —   Während des Sprints hinzugefügte und entfernte Stories</a:t>
            </a:r>
          </a:p>
        </p:txBody>
      </p:sp>
      <p:sp>
        <p:nvSpPr>
          <p:cNvPr id="7" name="TextBox 6"/>
          <p:cNvSpPr txBox="1"/>
          <p:nvPr/>
        </p:nvSpPr>
        <p:spPr>
          <a:xfrm>
            <a:off x="11338560" y="164592"/>
            <a:ext cx="731520" cy="292608"/>
          </a:xfrm>
          <a:prstGeom prst="rect">
            <a:avLst/>
          </a:prstGeom>
          <a:noFill/>
        </p:spPr>
        <p:txBody>
          <a:bodyPr wrap="none" lIns="0" tIns="0" rIns="0" bIns="0">
            <a:spAutoFit/>
          </a:bodyPr>
          <a:lstStyle/>
          <a:p>
            <a:pPr algn="r"/>
            <a:r>
              <a:rPr sz="1100">
                <a:solidFill>
                  <a:srgbClr val="B8C2D9"/>
                </a:solidFill>
                <a:latin typeface="Arial"/>
              </a:rPr>
              <a:t>28</a:t>
            </a:r>
          </a:p>
        </p:txBody>
      </p:sp>
    </p:spTree>
    <p:extLst>
      <p:ext uri="{BB962C8B-B14F-4D97-AF65-F5344CB8AC3E}">
        <p14:creationId xmlns:p14="http://schemas.microsoft.com/office/powerpoint/2010/main" val="2475417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0B5F2-E8E8-B14E-5598-B4837307F49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82B12E2-C35D-D107-D693-6B0EA492FA2D}"/>
              </a:ext>
            </a:extLst>
          </p:cNvPr>
          <p:cNvSpPr/>
          <p:nvPr/>
        </p:nvSpPr>
        <p:spPr>
          <a:xfrm>
            <a:off x="0" y="0"/>
            <a:ext cx="12191695" cy="91440"/>
          </a:xfrm>
          <a:prstGeom prst="rect">
            <a:avLst/>
          </a:prstGeom>
          <a:solidFill>
            <a:srgbClr val="3A0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 screenshot of a computer&#10;&#10;AI-generated content may be incorrect.">
            <a:extLst>
              <a:ext uri="{FF2B5EF4-FFF2-40B4-BE49-F238E27FC236}">
                <a16:creationId xmlns:a16="http://schemas.microsoft.com/office/drawing/2014/main" id="{F52036DE-E17F-8103-E250-AEB6992616F7}"/>
              </a:ext>
            </a:extLst>
          </p:cNvPr>
          <p:cNvPicPr>
            <a:picLocks noChangeAspect="1"/>
          </p:cNvPicPr>
          <p:nvPr/>
        </p:nvPicPr>
        <p:blipFill>
          <a:blip r:embed="rId3"/>
          <a:stretch>
            <a:fillRect/>
          </a:stretch>
        </p:blipFill>
        <p:spPr>
          <a:xfrm>
            <a:off x="-1" y="0"/>
            <a:ext cx="12191695" cy="9466678"/>
          </a:xfrm>
          <a:prstGeom prst="rect">
            <a:avLst/>
          </a:prstGeom>
        </p:spPr>
      </p:pic>
      <p:sp>
        <p:nvSpPr>
          <p:cNvPr id="5" name="Rectangle 4"/>
          <p:cNvSpPr/>
          <p:nvPr/>
        </p:nvSpPr>
        <p:spPr>
          <a:xfrm>
            <a:off x="0" y="0"/>
            <a:ext cx="12192000" cy="603504"/>
          </a:xfrm>
          <a:prstGeom prst="rect">
            <a:avLst/>
          </a:prstGeom>
          <a:solidFill>
            <a:srgbClr val="10172A"/>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36576" rIns="1097280" bIns="36576" rtlCol="0" anchor="ctr"/>
          <a:lstStyle/>
          <a:p>
            <a:pPr algn="l"/>
            <a:r>
              <a:rPr sz="1600" b="1">
                <a:solidFill>
                  <a:srgbClr val="FFFFFF"/>
                </a:solidFill>
                <a:latin typeface="Arial"/>
              </a:rPr>
              <a:t>Sprint Analytics · Team Performance</a:t>
            </a:r>
            <a:r>
              <a:rPr sz="1250">
                <a:solidFill>
                  <a:srgbClr val="B8C2D9"/>
                </a:solidFill>
                <a:latin typeface="Arial"/>
              </a:rPr>
              <a:t>   —   Velocity und Completion Rate pro Teammitglied</a:t>
            </a:r>
          </a:p>
        </p:txBody>
      </p:sp>
      <p:sp>
        <p:nvSpPr>
          <p:cNvPr id="6" name="TextBox 5"/>
          <p:cNvSpPr txBox="1"/>
          <p:nvPr/>
        </p:nvSpPr>
        <p:spPr>
          <a:xfrm>
            <a:off x="11338560" y="164592"/>
            <a:ext cx="731520" cy="292608"/>
          </a:xfrm>
          <a:prstGeom prst="rect">
            <a:avLst/>
          </a:prstGeom>
          <a:noFill/>
        </p:spPr>
        <p:txBody>
          <a:bodyPr wrap="none" lIns="0" tIns="0" rIns="0" bIns="0">
            <a:spAutoFit/>
          </a:bodyPr>
          <a:lstStyle/>
          <a:p>
            <a:pPr algn="r"/>
            <a:r>
              <a:rPr sz="1100">
                <a:solidFill>
                  <a:srgbClr val="B8C2D9"/>
                </a:solidFill>
                <a:latin typeface="Arial"/>
              </a:rPr>
              <a:t>29</a:t>
            </a:r>
          </a:p>
        </p:txBody>
      </p:sp>
    </p:spTree>
    <p:extLst>
      <p:ext uri="{BB962C8B-B14F-4D97-AF65-F5344CB8AC3E}">
        <p14:creationId xmlns:p14="http://schemas.microsoft.com/office/powerpoint/2010/main" val="2560150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82D56-BE45-E80A-2A52-2BCC9276675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7682D2A-5E65-708F-71C3-111C9095D53B}"/>
              </a:ext>
            </a:extLst>
          </p:cNvPr>
          <p:cNvSpPr/>
          <p:nvPr/>
        </p:nvSpPr>
        <p:spPr>
          <a:xfrm>
            <a:off x="0" y="0"/>
            <a:ext cx="12191695" cy="91440"/>
          </a:xfrm>
          <a:prstGeom prst="rect">
            <a:avLst/>
          </a:prstGeom>
          <a:solidFill>
            <a:srgbClr val="3A0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 screenshot of a computer&#10;&#10;AI-generated content may be incorrect.">
            <a:extLst>
              <a:ext uri="{FF2B5EF4-FFF2-40B4-BE49-F238E27FC236}">
                <a16:creationId xmlns:a16="http://schemas.microsoft.com/office/drawing/2014/main" id="{BB5F7173-914A-BA37-A53D-A36260B00ACB}"/>
              </a:ext>
            </a:extLst>
          </p:cNvPr>
          <p:cNvPicPr>
            <a:picLocks noChangeAspect="1"/>
          </p:cNvPicPr>
          <p:nvPr/>
        </p:nvPicPr>
        <p:blipFill>
          <a:blip r:embed="rId3"/>
          <a:stretch>
            <a:fillRect/>
          </a:stretch>
        </p:blipFill>
        <p:spPr>
          <a:xfrm>
            <a:off x="-1" y="0"/>
            <a:ext cx="12191695" cy="9316590"/>
          </a:xfrm>
          <a:prstGeom prst="rect">
            <a:avLst/>
          </a:prstGeom>
        </p:spPr>
      </p:pic>
      <p:sp>
        <p:nvSpPr>
          <p:cNvPr id="6" name="Rectangle 5"/>
          <p:cNvSpPr/>
          <p:nvPr/>
        </p:nvSpPr>
        <p:spPr>
          <a:xfrm>
            <a:off x="0" y="0"/>
            <a:ext cx="12192000" cy="603504"/>
          </a:xfrm>
          <a:prstGeom prst="rect">
            <a:avLst/>
          </a:prstGeom>
          <a:solidFill>
            <a:srgbClr val="10172A"/>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36576" rIns="1097280" bIns="36576" rtlCol="0" anchor="ctr"/>
          <a:lstStyle/>
          <a:p>
            <a:pPr algn="l"/>
            <a:r>
              <a:rPr sz="1600" b="1">
                <a:solidFill>
                  <a:srgbClr val="FFFFFF"/>
                </a:solidFill>
                <a:latin typeface="Arial"/>
              </a:rPr>
              <a:t>Sprint History</a:t>
            </a:r>
            <a:r>
              <a:rPr sz="1250">
                <a:solidFill>
                  <a:srgbClr val="B8C2D9"/>
                </a:solidFill>
                <a:latin typeface="Arial"/>
              </a:rPr>
              <a:t>   —   Velocity-Verlauf über alle abgeschlossenen Sprints</a:t>
            </a:r>
          </a:p>
        </p:txBody>
      </p:sp>
      <p:sp>
        <p:nvSpPr>
          <p:cNvPr id="7" name="TextBox 6"/>
          <p:cNvSpPr txBox="1"/>
          <p:nvPr/>
        </p:nvSpPr>
        <p:spPr>
          <a:xfrm>
            <a:off x="11338560" y="164592"/>
            <a:ext cx="731520" cy="292608"/>
          </a:xfrm>
          <a:prstGeom prst="rect">
            <a:avLst/>
          </a:prstGeom>
          <a:noFill/>
        </p:spPr>
        <p:txBody>
          <a:bodyPr wrap="none" lIns="0" tIns="0" rIns="0" bIns="0">
            <a:spAutoFit/>
          </a:bodyPr>
          <a:lstStyle/>
          <a:p>
            <a:pPr algn="r"/>
            <a:r>
              <a:rPr sz="1100">
                <a:solidFill>
                  <a:srgbClr val="B8C2D9"/>
                </a:solidFill>
                <a:latin typeface="Arial"/>
              </a:rPr>
              <a:t>30</a:t>
            </a:r>
          </a:p>
        </p:txBody>
      </p:sp>
    </p:spTree>
    <p:extLst>
      <p:ext uri="{BB962C8B-B14F-4D97-AF65-F5344CB8AC3E}">
        <p14:creationId xmlns:p14="http://schemas.microsoft.com/office/powerpoint/2010/main" val="1141537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F5544-9903-EBD1-2805-090F97F657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FE19579-301A-B754-9C95-F9C3EE10771B}"/>
              </a:ext>
            </a:extLst>
          </p:cNvPr>
          <p:cNvSpPr/>
          <p:nvPr/>
        </p:nvSpPr>
        <p:spPr>
          <a:xfrm>
            <a:off x="0" y="0"/>
            <a:ext cx="12191695" cy="91440"/>
          </a:xfrm>
          <a:prstGeom prst="rect">
            <a:avLst/>
          </a:prstGeom>
          <a:solidFill>
            <a:srgbClr val="3A0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 screenshot of a computer&#10;&#10;AI-generated content may be incorrect.">
            <a:extLst>
              <a:ext uri="{FF2B5EF4-FFF2-40B4-BE49-F238E27FC236}">
                <a16:creationId xmlns:a16="http://schemas.microsoft.com/office/drawing/2014/main" id="{6CDA0776-6462-5DCA-F054-F2C39151C72C}"/>
              </a:ext>
            </a:extLst>
          </p:cNvPr>
          <p:cNvPicPr>
            <a:picLocks noChangeAspect="1"/>
          </p:cNvPicPr>
          <p:nvPr/>
        </p:nvPicPr>
        <p:blipFill>
          <a:blip r:embed="rId3"/>
          <a:stretch>
            <a:fillRect/>
          </a:stretch>
        </p:blipFill>
        <p:spPr>
          <a:xfrm>
            <a:off x="0" y="0"/>
            <a:ext cx="12191694" cy="8321438"/>
          </a:xfrm>
          <a:prstGeom prst="rect">
            <a:avLst/>
          </a:prstGeom>
        </p:spPr>
      </p:pic>
      <p:sp>
        <p:nvSpPr>
          <p:cNvPr id="5" name="Rectangle 4"/>
          <p:cNvSpPr/>
          <p:nvPr/>
        </p:nvSpPr>
        <p:spPr>
          <a:xfrm>
            <a:off x="0" y="0"/>
            <a:ext cx="12192000" cy="603504"/>
          </a:xfrm>
          <a:prstGeom prst="rect">
            <a:avLst/>
          </a:prstGeom>
          <a:solidFill>
            <a:srgbClr val="10172A"/>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36576" rIns="1097280" bIns="36576" rtlCol="0" anchor="ctr"/>
          <a:lstStyle/>
          <a:p>
            <a:pPr algn="l"/>
            <a:r>
              <a:rPr sz="1600" b="1">
                <a:solidFill>
                  <a:srgbClr val="FFFFFF"/>
                </a:solidFill>
                <a:latin typeface="Arial"/>
              </a:rPr>
              <a:t>Capacity Planning</a:t>
            </a:r>
            <a:r>
              <a:rPr sz="1250">
                <a:solidFill>
                  <a:srgbClr val="B8C2D9"/>
                </a:solidFill>
                <a:latin typeface="Arial"/>
              </a:rPr>
              <a:t>   —   Wochenkapazität, Kategorien und Story-Point-Empfehlung</a:t>
            </a:r>
          </a:p>
        </p:txBody>
      </p:sp>
      <p:sp>
        <p:nvSpPr>
          <p:cNvPr id="6" name="TextBox 5"/>
          <p:cNvSpPr txBox="1"/>
          <p:nvPr/>
        </p:nvSpPr>
        <p:spPr>
          <a:xfrm>
            <a:off x="11338560" y="164592"/>
            <a:ext cx="731520" cy="292608"/>
          </a:xfrm>
          <a:prstGeom prst="rect">
            <a:avLst/>
          </a:prstGeom>
          <a:noFill/>
        </p:spPr>
        <p:txBody>
          <a:bodyPr wrap="none" lIns="0" tIns="0" rIns="0" bIns="0">
            <a:spAutoFit/>
          </a:bodyPr>
          <a:lstStyle/>
          <a:p>
            <a:pPr algn="r"/>
            <a:r>
              <a:rPr sz="1100">
                <a:solidFill>
                  <a:srgbClr val="B8C2D9"/>
                </a:solidFill>
                <a:latin typeface="Arial"/>
              </a:rPr>
              <a:t>31</a:t>
            </a:r>
          </a:p>
        </p:txBody>
      </p:sp>
    </p:spTree>
    <p:extLst>
      <p:ext uri="{BB962C8B-B14F-4D97-AF65-F5344CB8AC3E}">
        <p14:creationId xmlns:p14="http://schemas.microsoft.com/office/powerpoint/2010/main" val="8195228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D596A-9A8D-A022-CADA-834FAF34A9F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497CFEF-F94D-04F8-33A6-6CD41C87EDA9}"/>
              </a:ext>
            </a:extLst>
          </p:cNvPr>
          <p:cNvSpPr/>
          <p:nvPr/>
        </p:nvSpPr>
        <p:spPr>
          <a:xfrm>
            <a:off x="0" y="0"/>
            <a:ext cx="12191695" cy="91440"/>
          </a:xfrm>
          <a:prstGeom prst="rect">
            <a:avLst/>
          </a:prstGeom>
          <a:solidFill>
            <a:srgbClr val="3A0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 screenshot of a computer&#10;&#10;AI-generated content may be incorrect.">
            <a:extLst>
              <a:ext uri="{FF2B5EF4-FFF2-40B4-BE49-F238E27FC236}">
                <a16:creationId xmlns:a16="http://schemas.microsoft.com/office/drawing/2014/main" id="{F1D7CB04-11CC-0A25-037E-E1B519B6C775}"/>
              </a:ext>
            </a:extLst>
          </p:cNvPr>
          <p:cNvPicPr>
            <a:picLocks noChangeAspect="1"/>
          </p:cNvPicPr>
          <p:nvPr/>
        </p:nvPicPr>
        <p:blipFill>
          <a:blip r:embed="rId3"/>
          <a:stretch>
            <a:fillRect/>
          </a:stretch>
        </p:blipFill>
        <p:spPr>
          <a:xfrm>
            <a:off x="-1" y="0"/>
            <a:ext cx="16151163" cy="6858000"/>
          </a:xfrm>
          <a:prstGeom prst="rect">
            <a:avLst/>
          </a:prstGeom>
        </p:spPr>
      </p:pic>
      <p:sp>
        <p:nvSpPr>
          <p:cNvPr id="6" name="Rectangle 5"/>
          <p:cNvSpPr/>
          <p:nvPr/>
        </p:nvSpPr>
        <p:spPr>
          <a:xfrm>
            <a:off x="0" y="0"/>
            <a:ext cx="12192000" cy="603504"/>
          </a:xfrm>
          <a:prstGeom prst="rect">
            <a:avLst/>
          </a:prstGeom>
          <a:solidFill>
            <a:srgbClr val="10172A"/>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36576" rIns="1097280" bIns="36576" rtlCol="0" anchor="ctr"/>
          <a:lstStyle/>
          <a:p>
            <a:pPr algn="l"/>
            <a:r>
              <a:rPr sz="1600" b="1">
                <a:solidFill>
                  <a:srgbClr val="FFFFFF"/>
                </a:solidFill>
                <a:latin typeface="Arial"/>
              </a:rPr>
              <a:t>Retrospective</a:t>
            </a:r>
            <a:r>
              <a:rPr sz="1250">
                <a:solidFill>
                  <a:srgbClr val="B8C2D9"/>
                </a:solidFill>
                <a:latin typeface="Arial"/>
              </a:rPr>
              <a:t>   —   Went Well, Needs Improvement und Action Items</a:t>
            </a:r>
          </a:p>
        </p:txBody>
      </p:sp>
      <p:sp>
        <p:nvSpPr>
          <p:cNvPr id="7" name="TextBox 6"/>
          <p:cNvSpPr txBox="1"/>
          <p:nvPr/>
        </p:nvSpPr>
        <p:spPr>
          <a:xfrm>
            <a:off x="11338560" y="164592"/>
            <a:ext cx="731520" cy="292608"/>
          </a:xfrm>
          <a:prstGeom prst="rect">
            <a:avLst/>
          </a:prstGeom>
          <a:noFill/>
        </p:spPr>
        <p:txBody>
          <a:bodyPr wrap="none" lIns="0" tIns="0" rIns="0" bIns="0">
            <a:spAutoFit/>
          </a:bodyPr>
          <a:lstStyle/>
          <a:p>
            <a:pPr algn="r"/>
            <a:r>
              <a:rPr sz="1100">
                <a:solidFill>
                  <a:srgbClr val="B8C2D9"/>
                </a:solidFill>
                <a:latin typeface="Arial"/>
              </a:rPr>
              <a:t>32</a:t>
            </a:r>
          </a:p>
        </p:txBody>
      </p:sp>
    </p:spTree>
    <p:extLst>
      <p:ext uri="{BB962C8B-B14F-4D97-AF65-F5344CB8AC3E}">
        <p14:creationId xmlns:p14="http://schemas.microsoft.com/office/powerpoint/2010/main" val="1263721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24BCF-5F75-80D7-6E93-E87CB24D515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22E8543-3089-A2DD-8C06-51791F78B0B8}"/>
              </a:ext>
            </a:extLst>
          </p:cNvPr>
          <p:cNvSpPr/>
          <p:nvPr/>
        </p:nvSpPr>
        <p:spPr>
          <a:xfrm>
            <a:off x="0" y="0"/>
            <a:ext cx="12191695" cy="91440"/>
          </a:xfrm>
          <a:prstGeom prst="rect">
            <a:avLst/>
          </a:prstGeom>
          <a:solidFill>
            <a:srgbClr val="3A0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 screenshot of a computer&#10;&#10;AI-generated content may be incorrect.">
            <a:extLst>
              <a:ext uri="{FF2B5EF4-FFF2-40B4-BE49-F238E27FC236}">
                <a16:creationId xmlns:a16="http://schemas.microsoft.com/office/drawing/2014/main" id="{1745B4C6-FB74-6382-E3F3-BED72E3F51B9}"/>
              </a:ext>
            </a:extLst>
          </p:cNvPr>
          <p:cNvPicPr>
            <a:picLocks noChangeAspect="1"/>
          </p:cNvPicPr>
          <p:nvPr/>
        </p:nvPicPr>
        <p:blipFill>
          <a:blip r:embed="rId3"/>
          <a:stretch>
            <a:fillRect/>
          </a:stretch>
        </p:blipFill>
        <p:spPr>
          <a:xfrm>
            <a:off x="-1" y="0"/>
            <a:ext cx="14384171" cy="6858000"/>
          </a:xfrm>
          <a:prstGeom prst="rect">
            <a:avLst/>
          </a:prstGeom>
        </p:spPr>
      </p:pic>
      <p:sp>
        <p:nvSpPr>
          <p:cNvPr id="5" name="Rectangle 4"/>
          <p:cNvSpPr/>
          <p:nvPr/>
        </p:nvSpPr>
        <p:spPr>
          <a:xfrm>
            <a:off x="0" y="0"/>
            <a:ext cx="12192000" cy="603504"/>
          </a:xfrm>
          <a:prstGeom prst="rect">
            <a:avLst/>
          </a:prstGeom>
          <a:solidFill>
            <a:srgbClr val="10172A"/>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36576" rIns="1097280" bIns="36576" rtlCol="0" anchor="ctr"/>
          <a:lstStyle/>
          <a:p>
            <a:pPr algn="l"/>
            <a:r>
              <a:rPr sz="1600" b="1">
                <a:solidFill>
                  <a:srgbClr val="FFFFFF"/>
                </a:solidFill>
                <a:latin typeface="Arial"/>
              </a:rPr>
              <a:t>Team</a:t>
            </a:r>
            <a:r>
              <a:rPr sz="1250">
                <a:solidFill>
                  <a:srgbClr val="B8C2D9"/>
                </a:solidFill>
                <a:latin typeface="Arial"/>
              </a:rPr>
              <a:t>   —   Mitgliederverwaltung mit Rollen (admin / member / viewer)</a:t>
            </a:r>
          </a:p>
        </p:txBody>
      </p:sp>
      <p:sp>
        <p:nvSpPr>
          <p:cNvPr id="6" name="TextBox 5"/>
          <p:cNvSpPr txBox="1"/>
          <p:nvPr/>
        </p:nvSpPr>
        <p:spPr>
          <a:xfrm>
            <a:off x="11338560" y="164592"/>
            <a:ext cx="731520" cy="292608"/>
          </a:xfrm>
          <a:prstGeom prst="rect">
            <a:avLst/>
          </a:prstGeom>
          <a:noFill/>
        </p:spPr>
        <p:txBody>
          <a:bodyPr wrap="none" lIns="0" tIns="0" rIns="0" bIns="0">
            <a:spAutoFit/>
          </a:bodyPr>
          <a:lstStyle/>
          <a:p>
            <a:pPr algn="r"/>
            <a:r>
              <a:rPr sz="1100">
                <a:solidFill>
                  <a:srgbClr val="B8C2D9"/>
                </a:solidFill>
                <a:latin typeface="Arial"/>
              </a:rPr>
              <a:t>33</a:t>
            </a:r>
          </a:p>
        </p:txBody>
      </p:sp>
    </p:spTree>
    <p:extLst>
      <p:ext uri="{BB962C8B-B14F-4D97-AF65-F5344CB8AC3E}">
        <p14:creationId xmlns:p14="http://schemas.microsoft.com/office/powerpoint/2010/main" val="10669899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A941D-586A-D3AA-95CF-A1F89AECFBE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7F41B1D-F532-2DBD-6D39-E8167C43C23F}"/>
              </a:ext>
            </a:extLst>
          </p:cNvPr>
          <p:cNvSpPr/>
          <p:nvPr/>
        </p:nvSpPr>
        <p:spPr>
          <a:xfrm>
            <a:off x="0" y="0"/>
            <a:ext cx="12191695" cy="91440"/>
          </a:xfrm>
          <a:prstGeom prst="rect">
            <a:avLst/>
          </a:prstGeom>
          <a:solidFill>
            <a:srgbClr val="3A0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 screenshot of a computer&#10;&#10;AI-generated content may be incorrect.">
            <a:extLst>
              <a:ext uri="{FF2B5EF4-FFF2-40B4-BE49-F238E27FC236}">
                <a16:creationId xmlns:a16="http://schemas.microsoft.com/office/drawing/2014/main" id="{F8306980-52D0-BD1A-F0F2-C3B21CD885BE}"/>
              </a:ext>
            </a:extLst>
          </p:cNvPr>
          <p:cNvPicPr>
            <a:picLocks noChangeAspect="1"/>
          </p:cNvPicPr>
          <p:nvPr/>
        </p:nvPicPr>
        <p:blipFill>
          <a:blip r:embed="rId3"/>
          <a:stretch>
            <a:fillRect/>
          </a:stretch>
        </p:blipFill>
        <p:spPr>
          <a:xfrm>
            <a:off x="0" y="0"/>
            <a:ext cx="19472718" cy="6858000"/>
          </a:xfrm>
          <a:prstGeom prst="rect">
            <a:avLst/>
          </a:prstGeom>
        </p:spPr>
      </p:pic>
      <p:sp>
        <p:nvSpPr>
          <p:cNvPr id="6" name="Rectangle 5"/>
          <p:cNvSpPr/>
          <p:nvPr/>
        </p:nvSpPr>
        <p:spPr>
          <a:xfrm>
            <a:off x="0" y="0"/>
            <a:ext cx="12192000" cy="603504"/>
          </a:xfrm>
          <a:prstGeom prst="rect">
            <a:avLst/>
          </a:prstGeom>
          <a:solidFill>
            <a:srgbClr val="10172A"/>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36576" rIns="1097280" bIns="36576" rtlCol="0" anchor="ctr"/>
          <a:lstStyle/>
          <a:p>
            <a:pPr algn="l"/>
            <a:r>
              <a:rPr sz="1600" b="1">
                <a:solidFill>
                  <a:srgbClr val="FFFFFF"/>
                </a:solidFill>
                <a:latin typeface="Arial"/>
              </a:rPr>
              <a:t>Projects</a:t>
            </a:r>
            <a:r>
              <a:rPr sz="1250">
                <a:solidFill>
                  <a:srgbClr val="B8C2D9"/>
                </a:solidFill>
                <a:latin typeface="Arial"/>
              </a:rPr>
              <a:t>   —   Projektübersicht mit eigener Jira-Integration</a:t>
            </a:r>
          </a:p>
        </p:txBody>
      </p:sp>
      <p:sp>
        <p:nvSpPr>
          <p:cNvPr id="7" name="TextBox 6"/>
          <p:cNvSpPr txBox="1"/>
          <p:nvPr/>
        </p:nvSpPr>
        <p:spPr>
          <a:xfrm>
            <a:off x="11338560" y="164592"/>
            <a:ext cx="731520" cy="292608"/>
          </a:xfrm>
          <a:prstGeom prst="rect">
            <a:avLst/>
          </a:prstGeom>
          <a:noFill/>
        </p:spPr>
        <p:txBody>
          <a:bodyPr wrap="none" lIns="0" tIns="0" rIns="0" bIns="0">
            <a:spAutoFit/>
          </a:bodyPr>
          <a:lstStyle/>
          <a:p>
            <a:pPr algn="r"/>
            <a:r>
              <a:rPr sz="1100">
                <a:solidFill>
                  <a:srgbClr val="B8C2D9"/>
                </a:solidFill>
                <a:latin typeface="Arial"/>
              </a:rPr>
              <a:t>34</a:t>
            </a:r>
          </a:p>
        </p:txBody>
      </p:sp>
    </p:spTree>
    <p:extLst>
      <p:ext uri="{BB962C8B-B14F-4D97-AF65-F5344CB8AC3E}">
        <p14:creationId xmlns:p14="http://schemas.microsoft.com/office/powerpoint/2010/main" val="9084454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326A0-725D-DCB8-C533-82D9A786D8D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C648465-DD18-683F-5E39-F64ED0FDC5D1}"/>
              </a:ext>
            </a:extLst>
          </p:cNvPr>
          <p:cNvSpPr/>
          <p:nvPr/>
        </p:nvSpPr>
        <p:spPr>
          <a:xfrm>
            <a:off x="0" y="0"/>
            <a:ext cx="12191695" cy="91440"/>
          </a:xfrm>
          <a:prstGeom prst="rect">
            <a:avLst/>
          </a:prstGeom>
          <a:solidFill>
            <a:srgbClr val="3A0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 screenshot of a computer&#10;&#10;AI-generated content may be incorrect.">
            <a:extLst>
              <a:ext uri="{FF2B5EF4-FFF2-40B4-BE49-F238E27FC236}">
                <a16:creationId xmlns:a16="http://schemas.microsoft.com/office/drawing/2014/main" id="{5BFA1B32-4634-29E9-91AE-914765893C9C}"/>
              </a:ext>
            </a:extLst>
          </p:cNvPr>
          <p:cNvPicPr>
            <a:picLocks noChangeAspect="1"/>
          </p:cNvPicPr>
          <p:nvPr/>
        </p:nvPicPr>
        <p:blipFill>
          <a:blip r:embed="rId3"/>
          <a:stretch>
            <a:fillRect/>
          </a:stretch>
        </p:blipFill>
        <p:spPr>
          <a:xfrm>
            <a:off x="-1" y="0"/>
            <a:ext cx="12191695" cy="9460566"/>
          </a:xfrm>
          <a:prstGeom prst="rect">
            <a:avLst/>
          </a:prstGeom>
        </p:spPr>
      </p:pic>
      <p:sp>
        <p:nvSpPr>
          <p:cNvPr id="5" name="Rectangle 4"/>
          <p:cNvSpPr/>
          <p:nvPr/>
        </p:nvSpPr>
        <p:spPr>
          <a:xfrm>
            <a:off x="0" y="0"/>
            <a:ext cx="12192000" cy="603504"/>
          </a:xfrm>
          <a:prstGeom prst="rect">
            <a:avLst/>
          </a:prstGeom>
          <a:solidFill>
            <a:srgbClr val="10172A"/>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36576" rIns="1097280" bIns="36576" rtlCol="0" anchor="ctr"/>
          <a:lstStyle/>
          <a:p>
            <a:pPr algn="l"/>
            <a:r>
              <a:rPr sz="1600" b="1">
                <a:solidFill>
                  <a:srgbClr val="FFFFFF"/>
                </a:solidFill>
                <a:latin typeface="Arial"/>
              </a:rPr>
              <a:t>Projekt-Einstellungen</a:t>
            </a:r>
            <a:r>
              <a:rPr sz="1250">
                <a:solidFill>
                  <a:srgbClr val="B8C2D9"/>
                </a:solidFill>
                <a:latin typeface="Arial"/>
              </a:rPr>
              <a:t>   —   Jira-Anbindung, Board-Mapping und Synchronisation</a:t>
            </a:r>
          </a:p>
        </p:txBody>
      </p:sp>
      <p:sp>
        <p:nvSpPr>
          <p:cNvPr id="6" name="TextBox 5"/>
          <p:cNvSpPr txBox="1"/>
          <p:nvPr/>
        </p:nvSpPr>
        <p:spPr>
          <a:xfrm>
            <a:off x="11338560" y="164592"/>
            <a:ext cx="731520" cy="292608"/>
          </a:xfrm>
          <a:prstGeom prst="rect">
            <a:avLst/>
          </a:prstGeom>
          <a:noFill/>
        </p:spPr>
        <p:txBody>
          <a:bodyPr wrap="none" lIns="0" tIns="0" rIns="0" bIns="0">
            <a:spAutoFit/>
          </a:bodyPr>
          <a:lstStyle/>
          <a:p>
            <a:pPr algn="r"/>
            <a:r>
              <a:rPr sz="1100">
                <a:solidFill>
                  <a:srgbClr val="B8C2D9"/>
                </a:solidFill>
                <a:latin typeface="Arial"/>
              </a:rPr>
              <a:t>35</a:t>
            </a:r>
          </a:p>
        </p:txBody>
      </p:sp>
    </p:spTree>
    <p:extLst>
      <p:ext uri="{BB962C8B-B14F-4D97-AF65-F5344CB8AC3E}">
        <p14:creationId xmlns:p14="http://schemas.microsoft.com/office/powerpoint/2010/main" val="39519930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Kritische Würdigung</a:t>
            </a:r>
          </a:p>
        </p:txBody>
      </p:sp>
      <p:sp>
        <p:nvSpPr>
          <p:cNvPr id="4" name="TextBox 3"/>
          <p:cNvSpPr txBox="1"/>
          <p:nvPr/>
        </p:nvSpPr>
        <p:spPr>
          <a:xfrm>
            <a:off x="685800" y="1280160"/>
            <a:ext cx="2542234" cy="430887"/>
          </a:xfrm>
          <a:prstGeom prst="rect">
            <a:avLst/>
          </a:prstGeom>
          <a:noFill/>
        </p:spPr>
        <p:txBody>
          <a:bodyPr wrap="none">
            <a:spAutoFit/>
          </a:bodyPr>
          <a:lstStyle/>
          <a:p>
            <a:pPr>
              <a:defRPr sz="2200" b="1">
                <a:solidFill>
                  <a:srgbClr val="3A04FF"/>
                </a:solidFill>
              </a:defRPr>
            </a:pPr>
            <a:r>
              <a:rPr dirty="0">
                <a:solidFill>
                  <a:srgbClr val="3B2EFF"/>
                </a:solidFill>
              </a:rPr>
              <a:t>Was gut </a:t>
            </a:r>
            <a:r>
              <a:rPr dirty="0" err="1">
                <a:solidFill>
                  <a:srgbClr val="3B2EFF"/>
                </a:solidFill>
              </a:rPr>
              <a:t>gelaufen</a:t>
            </a:r>
            <a:r>
              <a:rPr dirty="0">
                <a:solidFill>
                  <a:srgbClr val="3B2EFF"/>
                </a:solidFill>
              </a:rPr>
              <a:t> </a:t>
            </a:r>
            <a:r>
              <a:rPr dirty="0" err="1">
                <a:solidFill>
                  <a:srgbClr val="3B2EFF"/>
                </a:solidFill>
              </a:rPr>
              <a:t>ist</a:t>
            </a:r>
            <a:endParaRPr dirty="0">
              <a:solidFill>
                <a:srgbClr val="3B2EFF"/>
              </a:solidFill>
            </a:endParaRPr>
          </a:p>
        </p:txBody>
      </p:sp>
      <p:sp>
        <p:nvSpPr>
          <p:cNvPr id="5" name="TextBox 4"/>
          <p:cNvSpPr txBox="1"/>
          <p:nvPr/>
        </p:nvSpPr>
        <p:spPr>
          <a:xfrm>
            <a:off x="685800" y="1737360"/>
            <a:ext cx="5029200" cy="1785104"/>
          </a:xfrm>
          <a:prstGeom prst="rect">
            <a:avLst/>
          </a:prstGeom>
          <a:noFill/>
        </p:spPr>
        <p:txBody>
          <a:bodyPr wrap="square">
            <a:spAutoFit/>
          </a:bodyPr>
          <a:lstStyle/>
          <a:p>
            <a:pPr marL="285750" indent="-285750">
              <a:spcBef>
                <a:spcPts val="600"/>
              </a:spcBef>
              <a:buFont typeface="Arial" panose="020B0604020202020204" pitchFamily="34" charset="0"/>
              <a:buChar char="•"/>
              <a:defRPr sz="1800">
                <a:solidFill>
                  <a:srgbClr val="334155"/>
                </a:solidFill>
              </a:defRPr>
            </a:pPr>
            <a:r>
              <a:rPr dirty="0"/>
              <a:t>Iteratives </a:t>
            </a:r>
            <a:r>
              <a:rPr dirty="0" err="1"/>
              <a:t>Vorgehen</a:t>
            </a:r>
            <a:r>
              <a:rPr dirty="0"/>
              <a:t> hat </a:t>
            </a:r>
            <a:r>
              <a:rPr dirty="0" err="1"/>
              <a:t>sich</a:t>
            </a:r>
            <a:r>
              <a:rPr dirty="0"/>
              <a:t> </a:t>
            </a:r>
            <a:r>
              <a:rPr dirty="0" err="1"/>
              <a:t>bewährt</a:t>
            </a:r>
            <a:endParaRPr dirty="0"/>
          </a:p>
          <a:p>
            <a:pPr marL="285750" indent="-285750">
              <a:spcBef>
                <a:spcPts val="600"/>
              </a:spcBef>
              <a:buFont typeface="Arial" panose="020B0604020202020204" pitchFamily="34" charset="0"/>
              <a:buChar char="•"/>
              <a:defRPr sz="1800">
                <a:solidFill>
                  <a:srgbClr val="334155"/>
                </a:solidFill>
              </a:defRPr>
            </a:pPr>
            <a:r>
              <a:rPr dirty="0" err="1"/>
              <a:t>Anforderungen</a:t>
            </a:r>
            <a:r>
              <a:rPr dirty="0"/>
              <a:t> </a:t>
            </a:r>
            <a:r>
              <a:rPr dirty="0" err="1"/>
              <a:t>haben</a:t>
            </a:r>
            <a:r>
              <a:rPr dirty="0"/>
              <a:t> </a:t>
            </a:r>
            <a:r>
              <a:rPr dirty="0" err="1"/>
              <a:t>sich</a:t>
            </a:r>
            <a:r>
              <a:rPr dirty="0"/>
              <a:t> </a:t>
            </a:r>
            <a:r>
              <a:rPr dirty="0" err="1"/>
              <a:t>geändert</a:t>
            </a:r>
            <a:endParaRPr dirty="0"/>
          </a:p>
          <a:p>
            <a:pPr marL="285750" indent="-285750">
              <a:spcBef>
                <a:spcPts val="600"/>
              </a:spcBef>
              <a:buFont typeface="Arial" panose="020B0604020202020204" pitchFamily="34" charset="0"/>
              <a:buChar char="•"/>
              <a:defRPr sz="1800">
                <a:solidFill>
                  <a:srgbClr val="334155"/>
                </a:solidFill>
              </a:defRPr>
            </a:pPr>
            <a:r>
              <a:rPr dirty="0"/>
              <a:t>App </a:t>
            </a:r>
            <a:r>
              <a:rPr dirty="0" err="1"/>
              <a:t>läuft</a:t>
            </a:r>
            <a:r>
              <a:rPr dirty="0"/>
              <a:t> </a:t>
            </a:r>
            <a:r>
              <a:rPr dirty="0" err="1"/>
              <a:t>mit</a:t>
            </a:r>
            <a:r>
              <a:rPr dirty="0"/>
              <a:t> </a:t>
            </a:r>
            <a:r>
              <a:rPr dirty="0" err="1"/>
              <a:t>Produktivdaten</a:t>
            </a:r>
            <a:endParaRPr dirty="0"/>
          </a:p>
          <a:p>
            <a:pPr marL="285750" indent="-285750">
              <a:spcBef>
                <a:spcPts val="600"/>
              </a:spcBef>
              <a:buFont typeface="Arial" panose="020B0604020202020204" pitchFamily="34" charset="0"/>
              <a:buChar char="•"/>
              <a:defRPr sz="1800">
                <a:solidFill>
                  <a:srgbClr val="334155"/>
                </a:solidFill>
              </a:defRPr>
            </a:pPr>
            <a:r>
              <a:rPr dirty="0"/>
              <a:t>SP-</a:t>
            </a:r>
            <a:r>
              <a:rPr dirty="0" err="1"/>
              <a:t>Empfehlung</a:t>
            </a:r>
            <a:r>
              <a:rPr dirty="0"/>
              <a:t> </a:t>
            </a:r>
            <a:r>
              <a:rPr dirty="0" err="1"/>
              <a:t>ist</a:t>
            </a:r>
            <a:r>
              <a:rPr dirty="0"/>
              <a:t> </a:t>
            </a:r>
            <a:r>
              <a:rPr dirty="0" err="1"/>
              <a:t>einzigartig</a:t>
            </a:r>
            <a:endParaRPr lang="de-CH" dirty="0"/>
          </a:p>
          <a:p>
            <a:pPr marL="285750" indent="-285750">
              <a:spcBef>
                <a:spcPts val="600"/>
              </a:spcBef>
              <a:buFont typeface="Arial" panose="020B0604020202020204" pitchFamily="34" charset="0"/>
              <a:buChar char="•"/>
              <a:defRPr sz="1800">
                <a:solidFill>
                  <a:srgbClr val="334155"/>
                </a:solidFill>
              </a:defRPr>
            </a:pPr>
            <a:r>
              <a:rPr lang="de-CH" sz="1800" dirty="0">
                <a:solidFill>
                  <a:srgbClr val="334155"/>
                </a:solidFill>
              </a:rPr>
              <a:t>KI beschleunigt</a:t>
            </a:r>
          </a:p>
        </p:txBody>
      </p:sp>
      <p:sp>
        <p:nvSpPr>
          <p:cNvPr id="6" name="TextBox 5"/>
          <p:cNvSpPr txBox="1"/>
          <p:nvPr/>
        </p:nvSpPr>
        <p:spPr>
          <a:xfrm>
            <a:off x="6400800" y="1280160"/>
            <a:ext cx="3753463" cy="430887"/>
          </a:xfrm>
          <a:prstGeom prst="rect">
            <a:avLst/>
          </a:prstGeom>
          <a:noFill/>
        </p:spPr>
        <p:txBody>
          <a:bodyPr wrap="none">
            <a:spAutoFit/>
          </a:bodyPr>
          <a:lstStyle/>
          <a:p>
            <a:pPr>
              <a:defRPr sz="2200" b="1">
                <a:solidFill>
                  <a:srgbClr val="3A04FF"/>
                </a:solidFill>
              </a:defRPr>
            </a:pPr>
            <a:r>
              <a:rPr dirty="0">
                <a:solidFill>
                  <a:srgbClr val="3B2EFF"/>
                </a:solidFill>
              </a:rPr>
              <a:t>Was ich </a:t>
            </a:r>
            <a:r>
              <a:rPr dirty="0" err="1">
                <a:solidFill>
                  <a:srgbClr val="3B2EFF"/>
                </a:solidFill>
              </a:rPr>
              <a:t>anders</a:t>
            </a:r>
            <a:r>
              <a:rPr dirty="0">
                <a:solidFill>
                  <a:srgbClr val="3B2EFF"/>
                </a:solidFill>
              </a:rPr>
              <a:t> </a:t>
            </a:r>
            <a:r>
              <a:rPr dirty="0" err="1">
                <a:solidFill>
                  <a:srgbClr val="3B2EFF"/>
                </a:solidFill>
              </a:rPr>
              <a:t>machen</a:t>
            </a:r>
            <a:r>
              <a:rPr dirty="0">
                <a:solidFill>
                  <a:srgbClr val="3B2EFF"/>
                </a:solidFill>
              </a:rPr>
              <a:t> </a:t>
            </a:r>
            <a:r>
              <a:rPr dirty="0" err="1">
                <a:solidFill>
                  <a:srgbClr val="3B2EFF"/>
                </a:solidFill>
              </a:rPr>
              <a:t>würde</a:t>
            </a:r>
            <a:endParaRPr dirty="0">
              <a:solidFill>
                <a:srgbClr val="3B2EFF"/>
              </a:solidFill>
            </a:endParaRPr>
          </a:p>
        </p:txBody>
      </p:sp>
      <p:sp>
        <p:nvSpPr>
          <p:cNvPr id="7" name="TextBox 6"/>
          <p:cNvSpPr txBox="1"/>
          <p:nvPr/>
        </p:nvSpPr>
        <p:spPr>
          <a:xfrm>
            <a:off x="6400800" y="1737360"/>
            <a:ext cx="5029200" cy="1431161"/>
          </a:xfrm>
          <a:prstGeom prst="rect">
            <a:avLst/>
          </a:prstGeom>
          <a:noFill/>
        </p:spPr>
        <p:txBody>
          <a:bodyPr wrap="square">
            <a:spAutoFit/>
          </a:bodyPr>
          <a:lstStyle/>
          <a:p>
            <a:pPr marL="285750" indent="-285750">
              <a:spcBef>
                <a:spcPts val="600"/>
              </a:spcBef>
              <a:buFont typeface="Arial" panose="020B0604020202020204" pitchFamily="34" charset="0"/>
              <a:buChar char="•"/>
              <a:defRPr sz="1800">
                <a:solidFill>
                  <a:srgbClr val="334155"/>
                </a:solidFill>
              </a:defRPr>
            </a:pPr>
            <a:r>
              <a:rPr dirty="0"/>
              <a:t>Jira-Integration: Spike </a:t>
            </a:r>
            <a:r>
              <a:rPr dirty="0" err="1"/>
              <a:t>zu</a:t>
            </a:r>
            <a:r>
              <a:rPr dirty="0"/>
              <a:t> </a:t>
            </a:r>
            <a:r>
              <a:rPr dirty="0" err="1"/>
              <a:t>Beginn</a:t>
            </a:r>
            <a:endParaRPr dirty="0"/>
          </a:p>
          <a:p>
            <a:pPr marL="285750" indent="-285750">
              <a:spcBef>
                <a:spcPts val="600"/>
              </a:spcBef>
              <a:buFont typeface="Arial" panose="020B0604020202020204" pitchFamily="34" charset="0"/>
              <a:buChar char="•"/>
              <a:defRPr sz="1800">
                <a:solidFill>
                  <a:srgbClr val="334155"/>
                </a:solidFill>
              </a:defRPr>
            </a:pPr>
            <a:r>
              <a:rPr dirty="0" err="1"/>
              <a:t>Vielfalt</a:t>
            </a:r>
            <a:r>
              <a:rPr dirty="0"/>
              <a:t> der </a:t>
            </a:r>
            <a:r>
              <a:rPr dirty="0" err="1"/>
              <a:t>Konfigurationen</a:t>
            </a:r>
            <a:r>
              <a:rPr dirty="0"/>
              <a:t> </a:t>
            </a:r>
            <a:r>
              <a:rPr dirty="0" err="1"/>
              <a:t>unterschätzt</a:t>
            </a:r>
            <a:endParaRPr dirty="0"/>
          </a:p>
          <a:p>
            <a:pPr marL="285750" indent="-285750">
              <a:spcBef>
                <a:spcPts val="600"/>
              </a:spcBef>
              <a:buFont typeface="Arial" panose="020B0604020202020204" pitchFamily="34" charset="0"/>
              <a:buChar char="•"/>
              <a:defRPr sz="1800">
                <a:solidFill>
                  <a:srgbClr val="334155"/>
                </a:solidFill>
              </a:defRPr>
            </a:pPr>
            <a:r>
              <a:rPr dirty="0" err="1"/>
              <a:t>Automatisierte</a:t>
            </a:r>
            <a:r>
              <a:rPr dirty="0"/>
              <a:t> Tests </a:t>
            </a:r>
            <a:r>
              <a:rPr dirty="0" err="1"/>
              <a:t>nur</a:t>
            </a:r>
            <a:r>
              <a:rPr dirty="0"/>
              <a:t> </a:t>
            </a:r>
            <a:r>
              <a:rPr dirty="0" err="1"/>
              <a:t>punktuell</a:t>
            </a:r>
            <a:endParaRPr dirty="0"/>
          </a:p>
          <a:p>
            <a:pPr marL="285750" indent="-285750">
              <a:spcBef>
                <a:spcPts val="600"/>
              </a:spcBef>
              <a:buFont typeface="Arial" panose="020B0604020202020204" pitchFamily="34" charset="0"/>
              <a:buChar char="•"/>
              <a:defRPr sz="1800">
                <a:solidFill>
                  <a:srgbClr val="334155"/>
                </a:solidFill>
              </a:defRPr>
            </a:pPr>
            <a:r>
              <a:rPr dirty="0"/>
              <a:t>Single-Tenant-</a:t>
            </a:r>
            <a:r>
              <a:rPr dirty="0" err="1"/>
              <a:t>Architektur</a:t>
            </a:r>
            <a:r>
              <a:rPr dirty="0"/>
              <a:t> </a:t>
            </a:r>
            <a:r>
              <a:rPr dirty="0" err="1"/>
              <a:t>limitiert</a:t>
            </a:r>
            <a:endParaRPr dirty="0"/>
          </a:p>
        </p:txBody>
      </p:sp>
      <p:sp>
        <p:nvSpPr>
          <p:cNvPr id="8" name="Rectangle 7">
            <a:extLst>
              <a:ext uri="{FF2B5EF4-FFF2-40B4-BE49-F238E27FC236}">
                <a16:creationId xmlns:a16="http://schemas.microsoft.com/office/drawing/2014/main" id="{0D812377-B477-BE92-0EA5-2C9DF53E4C46}"/>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10" name="Graphic 9">
            <a:extLst>
              <a:ext uri="{FF2B5EF4-FFF2-40B4-BE49-F238E27FC236}">
                <a16:creationId xmlns:a16="http://schemas.microsoft.com/office/drawing/2014/main" id="{E3E7D8C9-492F-B91B-4E04-05DB79FF5D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11" name="TextBox 10"/>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Persönliche Reflexion</a:t>
            </a:r>
          </a:p>
        </p:txBody>
      </p:sp>
      <p:sp>
        <p:nvSpPr>
          <p:cNvPr id="4" name="TextBox 3"/>
          <p:cNvSpPr txBox="1"/>
          <p:nvPr/>
        </p:nvSpPr>
        <p:spPr>
          <a:xfrm>
            <a:off x="685800" y="1371600"/>
            <a:ext cx="10820095" cy="4770537"/>
          </a:xfrm>
          <a:prstGeom prst="rect">
            <a:avLst/>
          </a:prstGeom>
          <a:noFill/>
        </p:spPr>
        <p:txBody>
          <a:bodyPr wrap="square">
            <a:spAutoFit/>
          </a:bodyPr>
          <a:lstStyle/>
          <a:p>
            <a:pPr>
              <a:spcBef>
                <a:spcPts val="800"/>
              </a:spcBef>
              <a:spcAft>
                <a:spcPts val="400"/>
              </a:spcAft>
              <a:defRPr sz="2000">
                <a:solidFill>
                  <a:srgbClr val="334155"/>
                </a:solidFill>
              </a:defRPr>
            </a:pPr>
            <a:r>
              <a:rPr b="1" dirty="0"/>
              <a:t>Was ich </a:t>
            </a:r>
            <a:r>
              <a:rPr b="1" dirty="0" err="1"/>
              <a:t>gelernt</a:t>
            </a:r>
            <a:r>
              <a:rPr b="1" dirty="0"/>
              <a:t> </a:t>
            </a:r>
            <a:r>
              <a:rPr b="1" dirty="0" err="1"/>
              <a:t>habe</a:t>
            </a:r>
            <a:r>
              <a:rPr b="1" dirty="0"/>
              <a:t>:</a:t>
            </a:r>
          </a:p>
          <a:p>
            <a:pPr marL="285750" lvl="1" indent="-285750">
              <a:spcBef>
                <a:spcPts val="800"/>
              </a:spcBef>
              <a:spcAft>
                <a:spcPts val="400"/>
              </a:spcAft>
              <a:buFont typeface="Arial" panose="020B0604020202020204" pitchFamily="34" charset="0"/>
              <a:buChar char="•"/>
              <a:defRPr sz="1800">
                <a:solidFill>
                  <a:srgbClr val="334155"/>
                </a:solidFill>
              </a:defRPr>
            </a:pPr>
            <a:r>
              <a:rPr dirty="0"/>
              <a:t>Die </a:t>
            </a:r>
            <a:r>
              <a:rPr dirty="0" err="1"/>
              <a:t>grösste</a:t>
            </a:r>
            <a:r>
              <a:rPr dirty="0"/>
              <a:t> </a:t>
            </a:r>
            <a:r>
              <a:rPr dirty="0" err="1"/>
              <a:t>Herausforderung</a:t>
            </a:r>
            <a:r>
              <a:rPr dirty="0"/>
              <a:t> </a:t>
            </a:r>
            <a:r>
              <a:rPr dirty="0" err="1"/>
              <a:t>steckt</a:t>
            </a:r>
            <a:r>
              <a:rPr dirty="0"/>
              <a:t> in </a:t>
            </a:r>
            <a:r>
              <a:rPr dirty="0" err="1"/>
              <a:t>externen</a:t>
            </a:r>
            <a:r>
              <a:rPr dirty="0"/>
              <a:t> </a:t>
            </a:r>
            <a:r>
              <a:rPr dirty="0" err="1"/>
              <a:t>Systemen</a:t>
            </a:r>
            <a:endParaRPr dirty="0"/>
          </a:p>
          <a:p>
            <a:pPr marL="285750" lvl="1" indent="-285750">
              <a:spcBef>
                <a:spcPts val="800"/>
              </a:spcBef>
              <a:spcAft>
                <a:spcPts val="400"/>
              </a:spcAft>
              <a:buFont typeface="Arial" panose="020B0604020202020204" pitchFamily="34" charset="0"/>
              <a:buChar char="•"/>
              <a:defRPr sz="1800">
                <a:solidFill>
                  <a:srgbClr val="334155"/>
                </a:solidFill>
              </a:defRPr>
            </a:pPr>
            <a:r>
              <a:rPr dirty="0"/>
              <a:t>Allein </a:t>
            </a:r>
            <a:r>
              <a:rPr dirty="0" err="1"/>
              <a:t>arbeiten</a:t>
            </a:r>
            <a:r>
              <a:rPr dirty="0"/>
              <a:t>: </a:t>
            </a:r>
            <a:r>
              <a:rPr dirty="0" err="1"/>
              <a:t>schnelle</a:t>
            </a:r>
            <a:r>
              <a:rPr dirty="0"/>
              <a:t> </a:t>
            </a:r>
            <a:r>
              <a:rPr dirty="0" err="1"/>
              <a:t>Entscheidungen</a:t>
            </a:r>
            <a:r>
              <a:rPr dirty="0"/>
              <a:t>, </a:t>
            </a:r>
            <a:r>
              <a:rPr dirty="0" err="1"/>
              <a:t>aber</a:t>
            </a:r>
            <a:r>
              <a:rPr dirty="0"/>
              <a:t> </a:t>
            </a:r>
            <a:r>
              <a:rPr dirty="0" err="1"/>
              <a:t>keine</a:t>
            </a:r>
            <a:r>
              <a:rPr dirty="0"/>
              <a:t> Reviews</a:t>
            </a:r>
          </a:p>
          <a:p>
            <a:pPr marL="285750" lvl="1" indent="-285750">
              <a:spcBef>
                <a:spcPts val="800"/>
              </a:spcBef>
              <a:spcAft>
                <a:spcPts val="400"/>
              </a:spcAft>
              <a:buFont typeface="Arial" panose="020B0604020202020204" pitchFamily="34" charset="0"/>
              <a:buChar char="•"/>
              <a:defRPr sz="1800">
                <a:solidFill>
                  <a:srgbClr val="334155"/>
                </a:solidFill>
              </a:defRPr>
            </a:pPr>
            <a:r>
              <a:rPr dirty="0" err="1"/>
              <a:t>Ohne</a:t>
            </a:r>
            <a:r>
              <a:rPr dirty="0"/>
              <a:t> </a:t>
            </a:r>
            <a:r>
              <a:rPr dirty="0" err="1"/>
              <a:t>Iterationen</a:t>
            </a:r>
            <a:r>
              <a:rPr dirty="0"/>
              <a:t> </a:t>
            </a:r>
            <a:r>
              <a:rPr dirty="0" err="1"/>
              <a:t>hätte</a:t>
            </a:r>
            <a:r>
              <a:rPr dirty="0"/>
              <a:t> ich die </a:t>
            </a:r>
            <a:r>
              <a:rPr dirty="0" err="1"/>
              <a:t>Änderungen</a:t>
            </a:r>
            <a:r>
              <a:rPr dirty="0"/>
              <a:t> nicht </a:t>
            </a:r>
            <a:r>
              <a:rPr dirty="0" err="1"/>
              <a:t>geschafft</a:t>
            </a:r>
            <a:endParaRPr dirty="0"/>
          </a:p>
          <a:p>
            <a:pPr marL="285750" lvl="1" indent="-285750">
              <a:spcBef>
                <a:spcPts val="800"/>
              </a:spcBef>
              <a:spcAft>
                <a:spcPts val="400"/>
              </a:spcAft>
              <a:buFont typeface="Arial" panose="020B0604020202020204" pitchFamily="34" charset="0"/>
              <a:buChar char="•"/>
              <a:defRPr sz="1800">
                <a:solidFill>
                  <a:srgbClr val="334155"/>
                </a:solidFill>
              </a:defRPr>
            </a:pPr>
            <a:r>
              <a:rPr dirty="0" err="1"/>
              <a:t>Vorher</a:t>
            </a:r>
            <a:r>
              <a:rPr dirty="0"/>
              <a:t> Frontend/Infra</a:t>
            </a:r>
            <a:r>
              <a:rPr lang="de-CH" dirty="0"/>
              <a:t> - </a:t>
            </a:r>
            <a:r>
              <a:rPr dirty="0"/>
              <a:t> </a:t>
            </a:r>
            <a:r>
              <a:rPr dirty="0" err="1"/>
              <a:t>jetzt</a:t>
            </a:r>
            <a:r>
              <a:rPr dirty="0"/>
              <a:t> </a:t>
            </a:r>
            <a:r>
              <a:rPr lang="de-CH" dirty="0"/>
              <a:t>mehr</a:t>
            </a:r>
            <a:r>
              <a:rPr dirty="0"/>
              <a:t> Backend-</a:t>
            </a:r>
            <a:r>
              <a:rPr dirty="0" err="1"/>
              <a:t>Erfahrung</a:t>
            </a:r>
            <a:endParaRPr dirty="0"/>
          </a:p>
          <a:p>
            <a:pPr>
              <a:spcBef>
                <a:spcPts val="800"/>
              </a:spcBef>
              <a:spcAft>
                <a:spcPts val="400"/>
              </a:spcAft>
              <a:defRPr sz="2000">
                <a:solidFill>
                  <a:srgbClr val="334155"/>
                </a:solidFill>
              </a:defRPr>
            </a:pPr>
            <a:endParaRPr dirty="0"/>
          </a:p>
          <a:p>
            <a:pPr>
              <a:spcBef>
                <a:spcPts val="800"/>
              </a:spcBef>
              <a:spcAft>
                <a:spcPts val="400"/>
              </a:spcAft>
              <a:defRPr sz="2000">
                <a:solidFill>
                  <a:srgbClr val="334155"/>
                </a:solidFill>
              </a:defRPr>
            </a:pPr>
            <a:r>
              <a:rPr b="1" dirty="0"/>
              <a:t>Was ich </a:t>
            </a:r>
            <a:r>
              <a:rPr b="1" dirty="0" err="1"/>
              <a:t>mitnehme</a:t>
            </a:r>
            <a:r>
              <a:rPr b="1" dirty="0"/>
              <a:t>:</a:t>
            </a:r>
          </a:p>
          <a:p>
            <a:pPr marL="285750" lvl="1" indent="-285750">
              <a:spcBef>
                <a:spcPts val="800"/>
              </a:spcBef>
              <a:spcAft>
                <a:spcPts val="400"/>
              </a:spcAft>
              <a:buFont typeface="Arial" panose="020B0604020202020204" pitchFamily="34" charset="0"/>
              <a:buChar char="•"/>
              <a:defRPr sz="1800">
                <a:solidFill>
                  <a:srgbClr val="334155"/>
                </a:solidFill>
              </a:defRPr>
            </a:pPr>
            <a:r>
              <a:rPr dirty="0" err="1"/>
              <a:t>Integrationen</a:t>
            </a:r>
            <a:r>
              <a:rPr dirty="0"/>
              <a:t> immer </a:t>
            </a:r>
            <a:r>
              <a:rPr dirty="0" err="1"/>
              <a:t>mit</a:t>
            </a:r>
            <a:r>
              <a:rPr dirty="0"/>
              <a:t> </a:t>
            </a:r>
            <a:r>
              <a:rPr dirty="0" err="1"/>
              <a:t>einem</a:t>
            </a:r>
            <a:r>
              <a:rPr dirty="0"/>
              <a:t> Spike</a:t>
            </a:r>
            <a:r>
              <a:rPr lang="de-CH" dirty="0"/>
              <a:t>/Research</a:t>
            </a:r>
            <a:r>
              <a:rPr dirty="0"/>
              <a:t> </a:t>
            </a:r>
            <a:r>
              <a:rPr dirty="0" err="1"/>
              <a:t>starten</a:t>
            </a:r>
            <a:endParaRPr dirty="0"/>
          </a:p>
          <a:p>
            <a:pPr marL="285750" lvl="1" indent="-285750">
              <a:spcBef>
                <a:spcPts val="800"/>
              </a:spcBef>
              <a:spcAft>
                <a:spcPts val="400"/>
              </a:spcAft>
              <a:buFont typeface="Arial" panose="020B0604020202020204" pitchFamily="34" charset="0"/>
              <a:buChar char="•"/>
              <a:defRPr sz="1800">
                <a:solidFill>
                  <a:srgbClr val="334155"/>
                </a:solidFill>
              </a:defRPr>
            </a:pPr>
            <a:r>
              <a:rPr dirty="0" err="1"/>
              <a:t>Automatisierte</a:t>
            </a:r>
            <a:r>
              <a:rPr dirty="0"/>
              <a:t> Tests von Anfang an</a:t>
            </a:r>
          </a:p>
          <a:p>
            <a:pPr marL="285750" lvl="1" indent="-285750">
              <a:spcBef>
                <a:spcPts val="800"/>
              </a:spcBef>
              <a:spcAft>
                <a:spcPts val="400"/>
              </a:spcAft>
              <a:buFont typeface="Arial" panose="020B0604020202020204" pitchFamily="34" charset="0"/>
              <a:buChar char="•"/>
              <a:defRPr sz="1800">
                <a:solidFill>
                  <a:srgbClr val="334155"/>
                </a:solidFill>
              </a:defRPr>
            </a:pPr>
            <a:r>
              <a:rPr dirty="0"/>
              <a:t>Auch </a:t>
            </a:r>
            <a:r>
              <a:rPr dirty="0" err="1"/>
              <a:t>als</a:t>
            </a:r>
            <a:r>
              <a:rPr dirty="0"/>
              <a:t> Solo-</a:t>
            </a:r>
            <a:r>
              <a:rPr dirty="0" err="1"/>
              <a:t>Entwickler</a:t>
            </a:r>
            <a:r>
              <a:rPr dirty="0"/>
              <a:t> Code-Reviews</a:t>
            </a:r>
          </a:p>
          <a:p>
            <a:pPr marL="285750" lvl="1" indent="-285750">
              <a:spcBef>
                <a:spcPts val="800"/>
              </a:spcBef>
              <a:spcAft>
                <a:spcPts val="400"/>
              </a:spcAft>
              <a:buFont typeface="Arial" panose="020B0604020202020204" pitchFamily="34" charset="0"/>
              <a:buChar char="•"/>
              <a:defRPr sz="1800">
                <a:solidFill>
                  <a:srgbClr val="334155"/>
                </a:solidFill>
              </a:defRPr>
            </a:pPr>
            <a:r>
              <a:rPr dirty="0"/>
              <a:t>KI </a:t>
            </a:r>
            <a:r>
              <a:rPr dirty="0" err="1"/>
              <a:t>als</a:t>
            </a:r>
            <a:r>
              <a:rPr dirty="0"/>
              <a:t> Co-Engineer </a:t>
            </a:r>
            <a:r>
              <a:rPr dirty="0" err="1"/>
              <a:t>gezielt</a:t>
            </a:r>
            <a:r>
              <a:rPr dirty="0"/>
              <a:t> </a:t>
            </a:r>
            <a:r>
              <a:rPr dirty="0" err="1"/>
              <a:t>einsetzen</a:t>
            </a:r>
            <a:r>
              <a:rPr lang="de-CH" dirty="0"/>
              <a:t>,</a:t>
            </a:r>
            <a:r>
              <a:rPr dirty="0"/>
              <a:t> </a:t>
            </a:r>
            <a:r>
              <a:rPr dirty="0" err="1"/>
              <a:t>aber</a:t>
            </a:r>
            <a:r>
              <a:rPr dirty="0"/>
              <a:t> </a:t>
            </a:r>
            <a:r>
              <a:rPr dirty="0" err="1"/>
              <a:t>jeden</a:t>
            </a:r>
            <a:r>
              <a:rPr dirty="0"/>
              <a:t> </a:t>
            </a:r>
            <a:r>
              <a:rPr dirty="0" err="1"/>
              <a:t>Vorschlag</a:t>
            </a:r>
            <a:r>
              <a:rPr dirty="0"/>
              <a:t> </a:t>
            </a:r>
            <a:r>
              <a:rPr dirty="0" err="1"/>
              <a:t>kritisch</a:t>
            </a:r>
            <a:r>
              <a:rPr dirty="0"/>
              <a:t> </a:t>
            </a:r>
            <a:r>
              <a:rPr dirty="0" err="1"/>
              <a:t>prüfen</a:t>
            </a:r>
            <a:endParaRPr dirty="0"/>
          </a:p>
        </p:txBody>
      </p:sp>
      <p:sp>
        <p:nvSpPr>
          <p:cNvPr id="5" name="Rectangle 4">
            <a:extLst>
              <a:ext uri="{FF2B5EF4-FFF2-40B4-BE49-F238E27FC236}">
                <a16:creationId xmlns:a16="http://schemas.microsoft.com/office/drawing/2014/main" id="{E5640E2F-3352-DEE4-E4A5-833087E41BB3}"/>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7" name="Graphic 6">
            <a:extLst>
              <a:ext uri="{FF2B5EF4-FFF2-40B4-BE49-F238E27FC236}">
                <a16:creationId xmlns:a16="http://schemas.microsoft.com/office/drawing/2014/main" id="{CD1A0C66-3960-E1AE-E1A3-F27A4FC3FD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8" name="TextBox 7"/>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1"/>
            <a:ext cx="12192000" cy="347472"/>
          </a:xfrm>
          <a:prstGeom prst="rect">
            <a:avLst/>
          </a:prstGeom>
          <a:solidFill>
            <a:srgbClr val="10172A"/>
          </a:solidFill>
          <a:ln>
            <a:noFill/>
          </a:ln>
          <a:effectLst/>
        </p:spPr>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11423401" y="6438385"/>
            <a:ext cx="490837" cy="283175"/>
          </a:xfrm>
          <a:prstGeom prst="rect">
            <a:avLst/>
          </a:prstGeom>
        </p:spPr>
      </p:pic>
      <p:sp>
        <p:nvSpPr>
          <p:cNvPr id="4" name="TextBox 3"/>
          <p:cNvSpPr txBox="1"/>
          <p:nvPr/>
        </p:nvSpPr>
        <p:spPr>
          <a:xfrm>
            <a:off x="685800" y="457200"/>
            <a:ext cx="10789920" cy="822960"/>
          </a:xfrm>
          <a:prstGeom prst="rect">
            <a:avLst/>
          </a:prstGeom>
          <a:noFill/>
        </p:spPr>
        <p:txBody>
          <a:bodyPr wrap="square" lIns="18288" tIns="18288" rIns="18288" bIns="18288">
            <a:spAutoFit/>
          </a:bodyPr>
          <a:lstStyle/>
          <a:p>
            <a:pPr algn="l"/>
            <a:r>
              <a:rPr sz="3200" b="1" i="0">
                <a:solidFill>
                  <a:srgbClr val="1E293B"/>
                </a:solidFill>
                <a:latin typeface="Arial"/>
              </a:rPr>
              <a:t>Wirtschaftlichkeit</a:t>
            </a:r>
          </a:p>
        </p:txBody>
      </p:sp>
      <p:sp>
        <p:nvSpPr>
          <p:cNvPr id="5" name="TextBox 4"/>
          <p:cNvSpPr txBox="1"/>
          <p:nvPr/>
        </p:nvSpPr>
        <p:spPr>
          <a:xfrm>
            <a:off x="685800" y="1417320"/>
            <a:ext cx="5486400" cy="365760"/>
          </a:xfrm>
          <a:prstGeom prst="rect">
            <a:avLst/>
          </a:prstGeom>
          <a:noFill/>
        </p:spPr>
        <p:txBody>
          <a:bodyPr wrap="square" lIns="18288" tIns="18288" rIns="18288" bIns="18288">
            <a:spAutoFit/>
          </a:bodyPr>
          <a:lstStyle/>
          <a:p>
            <a:pPr algn="l"/>
            <a:r>
              <a:rPr sz="1600" b="1" i="0">
                <a:solidFill>
                  <a:srgbClr val="3B2EFF"/>
                </a:solidFill>
                <a:latin typeface="Arial"/>
              </a:rPr>
              <a:t>Betriebskosten pro Jahr</a:t>
            </a:r>
          </a:p>
        </p:txBody>
      </p:sp>
      <p:sp>
        <p:nvSpPr>
          <p:cNvPr id="6" name="TextBox 5"/>
          <p:cNvSpPr txBox="1"/>
          <p:nvPr/>
        </p:nvSpPr>
        <p:spPr>
          <a:xfrm>
            <a:off x="685800" y="2075688"/>
            <a:ext cx="2651760" cy="411480"/>
          </a:xfrm>
          <a:prstGeom prst="rect">
            <a:avLst/>
          </a:prstGeom>
          <a:noFill/>
        </p:spPr>
        <p:txBody>
          <a:bodyPr wrap="square" lIns="18288" tIns="18288" rIns="18288" bIns="18288" anchor="ctr">
            <a:spAutoFit/>
          </a:bodyPr>
          <a:lstStyle/>
          <a:p>
            <a:pPr algn="l"/>
            <a:r>
              <a:rPr sz="1250" b="0" i="0">
                <a:solidFill>
                  <a:srgbClr val="334155"/>
                </a:solidFill>
                <a:latin typeface="Arial"/>
              </a:rPr>
              <a:t>Sprintify</a:t>
            </a:r>
          </a:p>
        </p:txBody>
      </p:sp>
      <p:sp>
        <p:nvSpPr>
          <p:cNvPr id="7" name="Rounded Rectangle 6"/>
          <p:cNvSpPr/>
          <p:nvPr/>
        </p:nvSpPr>
        <p:spPr>
          <a:xfrm>
            <a:off x="3429000" y="2103120"/>
            <a:ext cx="956369" cy="384048"/>
          </a:xfrm>
          <a:prstGeom prst="roundRect">
            <a:avLst>
              <a:gd name="adj" fmla="val 30000"/>
            </a:avLst>
          </a:prstGeom>
          <a:solidFill>
            <a:srgbClr val="3B2EFF"/>
          </a:solidFill>
          <a:ln>
            <a:noFill/>
          </a:ln>
          <a:effectLst/>
        </p:spPr>
        <p:txBody>
          <a:bodyPr rtlCol="0" anchor="ctr"/>
          <a:lstStyle/>
          <a:p>
            <a:pPr algn="ctr"/>
            <a:endParaRPr/>
          </a:p>
        </p:txBody>
      </p:sp>
      <p:sp>
        <p:nvSpPr>
          <p:cNvPr id="8" name="TextBox 7"/>
          <p:cNvSpPr txBox="1"/>
          <p:nvPr/>
        </p:nvSpPr>
        <p:spPr>
          <a:xfrm>
            <a:off x="4495097" y="2075688"/>
            <a:ext cx="1371600" cy="411480"/>
          </a:xfrm>
          <a:prstGeom prst="rect">
            <a:avLst/>
          </a:prstGeom>
          <a:noFill/>
        </p:spPr>
        <p:txBody>
          <a:bodyPr wrap="square" lIns="18288" tIns="18288" rIns="18288" bIns="18288" anchor="ctr">
            <a:spAutoFit/>
          </a:bodyPr>
          <a:lstStyle/>
          <a:p>
            <a:pPr algn="l"/>
            <a:r>
              <a:rPr sz="1250" b="1" i="0">
                <a:solidFill>
                  <a:srgbClr val="1E293B"/>
                </a:solidFill>
                <a:latin typeface="Arial"/>
              </a:rPr>
              <a:t>CHF 630</a:t>
            </a:r>
          </a:p>
        </p:txBody>
      </p:sp>
      <p:sp>
        <p:nvSpPr>
          <p:cNvPr id="9" name="TextBox 8"/>
          <p:cNvSpPr txBox="1"/>
          <p:nvPr/>
        </p:nvSpPr>
        <p:spPr>
          <a:xfrm>
            <a:off x="685800" y="2807208"/>
            <a:ext cx="2651760" cy="411480"/>
          </a:xfrm>
          <a:prstGeom prst="rect">
            <a:avLst/>
          </a:prstGeom>
          <a:noFill/>
        </p:spPr>
        <p:txBody>
          <a:bodyPr wrap="square" lIns="18288" tIns="18288" rIns="18288" bIns="18288" anchor="ctr">
            <a:spAutoFit/>
          </a:bodyPr>
          <a:lstStyle/>
          <a:p>
            <a:pPr algn="l"/>
            <a:r>
              <a:rPr sz="1250" b="0" i="0">
                <a:solidFill>
                  <a:srgbClr val="334155"/>
                </a:solidFill>
                <a:latin typeface="Arial"/>
              </a:rPr>
              <a:t>Tempo Timesheets</a:t>
            </a:r>
          </a:p>
        </p:txBody>
      </p:sp>
      <p:sp>
        <p:nvSpPr>
          <p:cNvPr id="10" name="Rounded Rectangle 9"/>
          <p:cNvSpPr/>
          <p:nvPr/>
        </p:nvSpPr>
        <p:spPr>
          <a:xfrm>
            <a:off x="3429000" y="2834639"/>
            <a:ext cx="1457325" cy="384048"/>
          </a:xfrm>
          <a:prstGeom prst="roundRect">
            <a:avLst>
              <a:gd name="adj" fmla="val 30000"/>
            </a:avLst>
          </a:prstGeom>
          <a:solidFill>
            <a:srgbClr val="CBD5E1"/>
          </a:solidFill>
          <a:ln>
            <a:noFill/>
          </a:ln>
          <a:effectLst/>
        </p:spPr>
        <p:txBody>
          <a:bodyPr rtlCol="0" anchor="ctr"/>
          <a:lstStyle/>
          <a:p>
            <a:pPr algn="ctr"/>
            <a:endParaRPr/>
          </a:p>
        </p:txBody>
      </p:sp>
      <p:sp>
        <p:nvSpPr>
          <p:cNvPr id="11" name="TextBox 10"/>
          <p:cNvSpPr txBox="1"/>
          <p:nvPr/>
        </p:nvSpPr>
        <p:spPr>
          <a:xfrm>
            <a:off x="4996053" y="2807208"/>
            <a:ext cx="1371600" cy="411480"/>
          </a:xfrm>
          <a:prstGeom prst="rect">
            <a:avLst/>
          </a:prstGeom>
          <a:noFill/>
        </p:spPr>
        <p:txBody>
          <a:bodyPr wrap="square" lIns="18288" tIns="18288" rIns="18288" bIns="18288" anchor="ctr">
            <a:spAutoFit/>
          </a:bodyPr>
          <a:lstStyle/>
          <a:p>
            <a:pPr algn="l"/>
            <a:r>
              <a:rPr sz="1250" b="0" i="0">
                <a:solidFill>
                  <a:srgbClr val="64748B"/>
                </a:solidFill>
                <a:latin typeface="Arial"/>
              </a:rPr>
              <a:t>CHF 960</a:t>
            </a:r>
          </a:p>
        </p:txBody>
      </p:sp>
      <p:sp>
        <p:nvSpPr>
          <p:cNvPr id="12" name="TextBox 11"/>
          <p:cNvSpPr txBox="1"/>
          <p:nvPr/>
        </p:nvSpPr>
        <p:spPr>
          <a:xfrm>
            <a:off x="685800" y="3538727"/>
            <a:ext cx="2651760" cy="411480"/>
          </a:xfrm>
          <a:prstGeom prst="rect">
            <a:avLst/>
          </a:prstGeom>
          <a:noFill/>
        </p:spPr>
        <p:txBody>
          <a:bodyPr wrap="square" lIns="18288" tIns="18288" rIns="18288" bIns="18288" anchor="ctr">
            <a:spAutoFit/>
          </a:bodyPr>
          <a:lstStyle/>
          <a:p>
            <a:pPr algn="l"/>
            <a:r>
              <a:rPr sz="1250" b="0" i="0">
                <a:solidFill>
                  <a:srgbClr val="334155"/>
                </a:solidFill>
                <a:latin typeface="Arial"/>
              </a:rPr>
              <a:t>Jira Advanced Roadmaps</a:t>
            </a:r>
          </a:p>
        </p:txBody>
      </p:sp>
      <p:sp>
        <p:nvSpPr>
          <p:cNvPr id="13" name="Rounded Rectangle 12"/>
          <p:cNvSpPr/>
          <p:nvPr/>
        </p:nvSpPr>
        <p:spPr>
          <a:xfrm>
            <a:off x="3429000" y="3566159"/>
            <a:ext cx="2331720" cy="384048"/>
          </a:xfrm>
          <a:prstGeom prst="roundRect">
            <a:avLst>
              <a:gd name="adj" fmla="val 30000"/>
            </a:avLst>
          </a:prstGeom>
          <a:solidFill>
            <a:srgbClr val="CBD5E1"/>
          </a:solidFill>
          <a:ln>
            <a:noFill/>
          </a:ln>
          <a:effectLst/>
        </p:spPr>
        <p:txBody>
          <a:bodyPr rtlCol="0" anchor="ctr"/>
          <a:lstStyle/>
          <a:p>
            <a:pPr algn="ctr"/>
            <a:endParaRPr/>
          </a:p>
        </p:txBody>
      </p:sp>
      <p:sp>
        <p:nvSpPr>
          <p:cNvPr id="14" name="TextBox 13"/>
          <p:cNvSpPr txBox="1"/>
          <p:nvPr/>
        </p:nvSpPr>
        <p:spPr>
          <a:xfrm>
            <a:off x="5870448" y="3538727"/>
            <a:ext cx="1371600" cy="411480"/>
          </a:xfrm>
          <a:prstGeom prst="rect">
            <a:avLst/>
          </a:prstGeom>
          <a:noFill/>
        </p:spPr>
        <p:txBody>
          <a:bodyPr wrap="square" lIns="18288" tIns="18288" rIns="18288" bIns="18288" anchor="ctr">
            <a:spAutoFit/>
          </a:bodyPr>
          <a:lstStyle/>
          <a:p>
            <a:pPr algn="l"/>
            <a:r>
              <a:rPr sz="1250" b="0" i="0">
                <a:solidFill>
                  <a:srgbClr val="64748B"/>
                </a:solidFill>
                <a:latin typeface="Arial"/>
              </a:rPr>
              <a:t>CHF 1'536</a:t>
            </a:r>
          </a:p>
        </p:txBody>
      </p:sp>
      <p:sp>
        <p:nvSpPr>
          <p:cNvPr id="15" name="TextBox 14"/>
          <p:cNvSpPr txBox="1"/>
          <p:nvPr/>
        </p:nvSpPr>
        <p:spPr>
          <a:xfrm>
            <a:off x="685800" y="4389119"/>
            <a:ext cx="5852160" cy="640080"/>
          </a:xfrm>
          <a:prstGeom prst="rect">
            <a:avLst/>
          </a:prstGeom>
          <a:noFill/>
        </p:spPr>
        <p:txBody>
          <a:bodyPr wrap="square" lIns="18288" tIns="18288" rIns="18288" bIns="18288">
            <a:spAutoFit/>
          </a:bodyPr>
          <a:lstStyle/>
          <a:p>
            <a:pPr algn="l"/>
            <a:r>
              <a:rPr sz="1200" b="0" i="1">
                <a:solidFill>
                  <a:srgbClr val="64748B"/>
                </a:solidFill>
                <a:latin typeface="Arial"/>
              </a:rPr>
              <a:t>Sprintify läuft auf bestehender Azure-Infrastruktur — günstiger und breiter im Funktionsumfang als kommerzielle Alternativen.</a:t>
            </a:r>
          </a:p>
        </p:txBody>
      </p:sp>
      <p:sp>
        <p:nvSpPr>
          <p:cNvPr id="16" name="Rounded Rectangle 15"/>
          <p:cNvSpPr/>
          <p:nvPr/>
        </p:nvSpPr>
        <p:spPr>
          <a:xfrm>
            <a:off x="6903720" y="1371600"/>
            <a:ext cx="4617720" cy="1280160"/>
          </a:xfrm>
          <a:prstGeom prst="roundRect">
            <a:avLst>
              <a:gd name="adj" fmla="val 8000"/>
            </a:avLst>
          </a:prstGeom>
          <a:solidFill>
            <a:srgbClr val="FFFFFF"/>
          </a:solidFill>
          <a:ln w="15875">
            <a:solidFill>
              <a:srgbClr val="CBD5E1"/>
            </a:solidFill>
          </a:ln>
          <a:effectLst/>
        </p:spPr>
        <p:txBody>
          <a:bodyPr rtlCol="0" anchor="ctr"/>
          <a:lstStyle/>
          <a:p>
            <a:pPr algn="ctr"/>
            <a:endParaRPr/>
          </a:p>
        </p:txBody>
      </p:sp>
      <p:sp>
        <p:nvSpPr>
          <p:cNvPr id="17" name="TextBox 16"/>
          <p:cNvSpPr txBox="1"/>
          <p:nvPr/>
        </p:nvSpPr>
        <p:spPr>
          <a:xfrm>
            <a:off x="7114032" y="1517904"/>
            <a:ext cx="4206240" cy="548640"/>
          </a:xfrm>
          <a:prstGeom prst="rect">
            <a:avLst/>
          </a:prstGeom>
          <a:noFill/>
        </p:spPr>
        <p:txBody>
          <a:bodyPr wrap="square" lIns="18288" tIns="18288" rIns="18288" bIns="18288">
            <a:spAutoFit/>
          </a:bodyPr>
          <a:lstStyle/>
          <a:p>
            <a:pPr algn="l"/>
            <a:r>
              <a:rPr sz="2600" b="1" i="0">
                <a:solidFill>
                  <a:srgbClr val="1E293B"/>
                </a:solidFill>
                <a:latin typeface="Arial"/>
              </a:rPr>
              <a:t>80 – 120 Std.</a:t>
            </a:r>
          </a:p>
        </p:txBody>
      </p:sp>
      <p:sp>
        <p:nvSpPr>
          <p:cNvPr id="18" name="TextBox 17"/>
          <p:cNvSpPr txBox="1"/>
          <p:nvPr/>
        </p:nvSpPr>
        <p:spPr>
          <a:xfrm>
            <a:off x="7132320" y="2130552"/>
            <a:ext cx="4206240" cy="411480"/>
          </a:xfrm>
          <a:prstGeom prst="rect">
            <a:avLst/>
          </a:prstGeom>
          <a:noFill/>
        </p:spPr>
        <p:txBody>
          <a:bodyPr wrap="square" lIns="18288" tIns="18288" rIns="18288" bIns="18288">
            <a:spAutoFit/>
          </a:bodyPr>
          <a:lstStyle/>
          <a:p>
            <a:pPr algn="l"/>
            <a:r>
              <a:rPr sz="1150" b="0" i="0">
                <a:solidFill>
                  <a:srgbClr val="64748B"/>
                </a:solidFill>
                <a:latin typeface="Arial"/>
              </a:rPr>
              <a:t>Zeitersparnis pro Jahr (Datenerhebung &amp; Re-Planung)</a:t>
            </a:r>
          </a:p>
        </p:txBody>
      </p:sp>
      <p:sp>
        <p:nvSpPr>
          <p:cNvPr id="19" name="Rounded Rectangle 18"/>
          <p:cNvSpPr/>
          <p:nvPr/>
        </p:nvSpPr>
        <p:spPr>
          <a:xfrm>
            <a:off x="6903720" y="2852928"/>
            <a:ext cx="4617720" cy="1463040"/>
          </a:xfrm>
          <a:prstGeom prst="roundRect">
            <a:avLst>
              <a:gd name="adj" fmla="val 8000"/>
            </a:avLst>
          </a:prstGeom>
          <a:solidFill>
            <a:srgbClr val="3B2EFF"/>
          </a:solidFill>
          <a:ln>
            <a:noFill/>
          </a:ln>
          <a:effectLst/>
        </p:spPr>
        <p:txBody>
          <a:bodyPr rtlCol="0" anchor="ctr"/>
          <a:lstStyle/>
          <a:p>
            <a:pPr algn="ctr"/>
            <a:endParaRPr/>
          </a:p>
        </p:txBody>
      </p:sp>
      <p:sp>
        <p:nvSpPr>
          <p:cNvPr id="20" name="TextBox 19"/>
          <p:cNvSpPr txBox="1"/>
          <p:nvPr/>
        </p:nvSpPr>
        <p:spPr>
          <a:xfrm>
            <a:off x="7114032" y="3054096"/>
            <a:ext cx="4206240" cy="640080"/>
          </a:xfrm>
          <a:prstGeom prst="rect">
            <a:avLst/>
          </a:prstGeom>
          <a:noFill/>
        </p:spPr>
        <p:txBody>
          <a:bodyPr wrap="square" lIns="18288" tIns="18288" rIns="18288" bIns="18288">
            <a:spAutoFit/>
          </a:bodyPr>
          <a:lstStyle/>
          <a:p>
            <a:pPr algn="l"/>
            <a:r>
              <a:rPr sz="2700" b="1" i="0">
                <a:solidFill>
                  <a:srgbClr val="FFFFFF"/>
                </a:solidFill>
                <a:latin typeface="Arial"/>
              </a:rPr>
              <a:t>CHF 9'600 – 14'400</a:t>
            </a:r>
          </a:p>
        </p:txBody>
      </p:sp>
      <p:sp>
        <p:nvSpPr>
          <p:cNvPr id="21" name="TextBox 20"/>
          <p:cNvSpPr txBox="1"/>
          <p:nvPr/>
        </p:nvSpPr>
        <p:spPr>
          <a:xfrm>
            <a:off x="7132320" y="3730752"/>
            <a:ext cx="4206240" cy="457200"/>
          </a:xfrm>
          <a:prstGeom prst="rect">
            <a:avLst/>
          </a:prstGeom>
          <a:noFill/>
        </p:spPr>
        <p:txBody>
          <a:bodyPr wrap="square" lIns="18288" tIns="18288" rIns="18288" bIns="18288">
            <a:spAutoFit/>
          </a:bodyPr>
          <a:lstStyle/>
          <a:p>
            <a:pPr algn="l"/>
            <a:r>
              <a:rPr sz="1200" b="0" i="0">
                <a:solidFill>
                  <a:srgbClr val="DDDDFF"/>
                </a:solidFill>
                <a:latin typeface="Arial"/>
              </a:rPr>
              <a:t>Eingesparte Kosten pro Jahr  ·  ROI positiv ab Jahr 1</a:t>
            </a:r>
          </a:p>
        </p:txBody>
      </p:sp>
      <p:sp>
        <p:nvSpPr>
          <p:cNvPr id="22" name="TextBox 21"/>
          <p:cNvSpPr txBox="1"/>
          <p:nvPr/>
        </p:nvSpPr>
        <p:spPr>
          <a:xfrm>
            <a:off x="685800" y="6053328"/>
            <a:ext cx="10789920" cy="457200"/>
          </a:xfrm>
          <a:prstGeom prst="rect">
            <a:avLst/>
          </a:prstGeom>
          <a:noFill/>
        </p:spPr>
        <p:txBody>
          <a:bodyPr wrap="square" lIns="18288" tIns="18288" rIns="18288" bIns="18288">
            <a:spAutoFit/>
          </a:bodyPr>
          <a:lstStyle/>
          <a:p>
            <a:pPr algn="l"/>
            <a:r>
              <a:rPr sz="1100" b="0" i="1">
                <a:solidFill>
                  <a:srgbClr val="64748B"/>
                </a:solidFill>
                <a:latin typeface="Arial"/>
              </a:rPr>
              <a:t>Interner Stundensatz CHF 120. Kostenvergleich und Nutzenrechnung: siehe Anhang B (Wirtschaftlichkeit).</a:t>
            </a:r>
          </a:p>
        </p:txBody>
      </p:sp>
      <p:sp>
        <p:nvSpPr>
          <p:cNvPr id="23" name="TextBox 22"/>
          <p:cNvSpPr txBox="1"/>
          <p:nvPr/>
        </p:nvSpPr>
        <p:spPr>
          <a:xfrm>
            <a:off x="457200" y="6565392"/>
            <a:ext cx="1097280" cy="274320"/>
          </a:xfrm>
          <a:prstGeom prst="rect">
            <a:avLst/>
          </a:prstGeom>
          <a:noFill/>
        </p:spPr>
        <p:txBody>
          <a:bodyPr wrap="square" lIns="18288" tIns="18288" rIns="18288" bIns="18288">
            <a:spAutoFit/>
          </a:bodyPr>
          <a:lstStyle/>
          <a:p>
            <a:pPr algn="l"/>
            <a:r>
              <a:rPr sz="1100" b="0" i="0">
                <a:solidFill>
                  <a:srgbClr val="64748B"/>
                </a:solidFill>
                <a:latin typeface="Arial"/>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457200"/>
            <a:ext cx="10820095" cy="914400"/>
          </a:xfrm>
          <a:prstGeom prst="rect">
            <a:avLst/>
          </a:prstGeom>
          <a:noFill/>
        </p:spPr>
        <p:txBody>
          <a:bodyPr wrap="none">
            <a:spAutoFit/>
          </a:bodyPr>
          <a:lstStyle/>
          <a:p>
            <a:pPr>
              <a:defRPr sz="3200" b="1">
                <a:solidFill>
                  <a:srgbClr val="1E293B"/>
                </a:solidFill>
              </a:defRPr>
            </a:pPr>
            <a:r>
              <a:t>Empfehlung und nächste Schritte</a:t>
            </a:r>
          </a:p>
        </p:txBody>
      </p:sp>
      <p:sp>
        <p:nvSpPr>
          <p:cNvPr id="4" name="TextBox 3"/>
          <p:cNvSpPr txBox="1"/>
          <p:nvPr/>
        </p:nvSpPr>
        <p:spPr>
          <a:xfrm>
            <a:off x="685800" y="1371600"/>
            <a:ext cx="10820095" cy="4832092"/>
          </a:xfrm>
          <a:prstGeom prst="rect">
            <a:avLst/>
          </a:prstGeom>
          <a:noFill/>
        </p:spPr>
        <p:txBody>
          <a:bodyPr wrap="square">
            <a:spAutoFit/>
          </a:bodyPr>
          <a:lstStyle/>
          <a:p>
            <a:pPr>
              <a:spcBef>
                <a:spcPts val="800"/>
              </a:spcBef>
              <a:spcAft>
                <a:spcPts val="400"/>
              </a:spcAft>
              <a:defRPr sz="2000">
                <a:solidFill>
                  <a:srgbClr val="334155"/>
                </a:solidFill>
              </a:defRPr>
            </a:pPr>
            <a:r>
              <a:rPr dirty="0" err="1"/>
              <a:t>Empfehlung</a:t>
            </a:r>
            <a:r>
              <a:rPr dirty="0"/>
              <a:t>: </a:t>
            </a:r>
            <a:r>
              <a:rPr dirty="0" err="1"/>
              <a:t>Sprintify</a:t>
            </a:r>
            <a:r>
              <a:rPr dirty="0"/>
              <a:t> </a:t>
            </a:r>
            <a:r>
              <a:rPr dirty="0" err="1"/>
              <a:t>produktiv</a:t>
            </a:r>
            <a:r>
              <a:rPr dirty="0"/>
              <a:t> </a:t>
            </a:r>
            <a:r>
              <a:rPr dirty="0" err="1"/>
              <a:t>einsetzen</a:t>
            </a:r>
            <a:endParaRPr dirty="0"/>
          </a:p>
          <a:p>
            <a:pPr>
              <a:spcBef>
                <a:spcPts val="800"/>
              </a:spcBef>
              <a:spcAft>
                <a:spcPts val="400"/>
              </a:spcAft>
              <a:defRPr sz="2000">
                <a:solidFill>
                  <a:srgbClr val="334155"/>
                </a:solidFill>
              </a:defRPr>
            </a:pPr>
            <a:endParaRPr dirty="0"/>
          </a:p>
          <a:p>
            <a:pPr>
              <a:spcBef>
                <a:spcPts val="800"/>
              </a:spcBef>
              <a:spcAft>
                <a:spcPts val="400"/>
              </a:spcAft>
              <a:defRPr sz="2000">
                <a:solidFill>
                  <a:srgbClr val="334155"/>
                </a:solidFill>
              </a:defRPr>
            </a:pPr>
            <a:r>
              <a:rPr dirty="0" err="1"/>
              <a:t>Nächste</a:t>
            </a:r>
            <a:r>
              <a:rPr dirty="0"/>
              <a:t> </a:t>
            </a:r>
            <a:r>
              <a:rPr dirty="0" err="1"/>
              <a:t>Schritte</a:t>
            </a:r>
            <a:r>
              <a:rPr dirty="0"/>
              <a:t>:</a:t>
            </a:r>
          </a:p>
          <a:p>
            <a:pPr marL="285750" lvl="1" indent="-285750">
              <a:spcBef>
                <a:spcPts val="800"/>
              </a:spcBef>
              <a:spcAft>
                <a:spcPts val="400"/>
              </a:spcAft>
              <a:buFont typeface="Arial" panose="020B0604020202020204" pitchFamily="34" charset="0"/>
              <a:buChar char="•"/>
              <a:defRPr sz="1800">
                <a:solidFill>
                  <a:srgbClr val="334155"/>
                </a:solidFill>
              </a:defRPr>
            </a:pPr>
            <a:r>
              <a:rPr dirty="0"/>
              <a:t>Jira-</a:t>
            </a:r>
            <a:r>
              <a:rPr dirty="0" err="1"/>
              <a:t>Anbindung</a:t>
            </a:r>
            <a:r>
              <a:rPr dirty="0"/>
              <a:t> </a:t>
            </a:r>
            <a:r>
              <a:rPr dirty="0" err="1"/>
              <a:t>über</a:t>
            </a:r>
            <a:r>
              <a:rPr dirty="0"/>
              <a:t> Service-Account</a:t>
            </a:r>
          </a:p>
          <a:p>
            <a:pPr marL="285750" lvl="1" indent="-285750">
              <a:spcBef>
                <a:spcPts val="800"/>
              </a:spcBef>
              <a:spcAft>
                <a:spcPts val="400"/>
              </a:spcAft>
              <a:buFont typeface="Arial" panose="020B0604020202020204" pitchFamily="34" charset="0"/>
              <a:buChar char="•"/>
              <a:defRPr sz="1800">
                <a:solidFill>
                  <a:srgbClr val="334155"/>
                </a:solidFill>
              </a:defRPr>
            </a:pPr>
            <a:r>
              <a:rPr dirty="0"/>
              <a:t>Feedback </a:t>
            </a:r>
            <a:r>
              <a:rPr dirty="0" err="1"/>
              <a:t>sammeln</a:t>
            </a:r>
            <a:r>
              <a:rPr lang="de-CH" dirty="0"/>
              <a:t> und erweitern</a:t>
            </a:r>
            <a:endParaRPr dirty="0"/>
          </a:p>
          <a:p>
            <a:pPr marL="285750" lvl="1" indent="-285750">
              <a:spcBef>
                <a:spcPts val="800"/>
              </a:spcBef>
              <a:spcAft>
                <a:spcPts val="400"/>
              </a:spcAft>
              <a:buFont typeface="Arial" panose="020B0604020202020204" pitchFamily="34" charset="0"/>
              <a:buChar char="•"/>
              <a:defRPr sz="1800">
                <a:solidFill>
                  <a:srgbClr val="334155"/>
                </a:solidFill>
              </a:defRPr>
            </a:pPr>
            <a:r>
              <a:rPr dirty="0" err="1"/>
              <a:t>Automatisierte</a:t>
            </a:r>
            <a:r>
              <a:rPr dirty="0"/>
              <a:t> Tests </a:t>
            </a:r>
            <a:r>
              <a:rPr dirty="0" err="1"/>
              <a:t>ausbauen</a:t>
            </a:r>
            <a:endParaRPr lang="de-CH" dirty="0"/>
          </a:p>
          <a:p>
            <a:pPr marL="285750" lvl="1" indent="-285750">
              <a:spcBef>
                <a:spcPts val="800"/>
              </a:spcBef>
              <a:spcAft>
                <a:spcPts val="400"/>
              </a:spcAft>
              <a:buFont typeface="Arial" panose="020B0604020202020204" pitchFamily="34" charset="0"/>
              <a:buChar char="•"/>
              <a:defRPr sz="1800">
                <a:solidFill>
                  <a:srgbClr val="334155"/>
                </a:solidFill>
              </a:defRPr>
            </a:pPr>
            <a:r>
              <a:rPr dirty="0"/>
              <a:t>Mobile </a:t>
            </a:r>
            <a:r>
              <a:rPr dirty="0" err="1"/>
              <a:t>Ansicht</a:t>
            </a:r>
            <a:r>
              <a:rPr dirty="0"/>
              <a:t> für Stand-ups</a:t>
            </a:r>
          </a:p>
          <a:p>
            <a:pPr>
              <a:spcBef>
                <a:spcPts val="800"/>
              </a:spcBef>
              <a:spcAft>
                <a:spcPts val="400"/>
              </a:spcAft>
              <a:defRPr sz="2000">
                <a:solidFill>
                  <a:srgbClr val="334155"/>
                </a:solidFill>
              </a:defRPr>
            </a:pPr>
            <a:endParaRPr dirty="0"/>
          </a:p>
          <a:p>
            <a:pPr>
              <a:spcBef>
                <a:spcPts val="800"/>
              </a:spcBef>
              <a:spcAft>
                <a:spcPts val="400"/>
              </a:spcAft>
              <a:defRPr sz="2000">
                <a:solidFill>
                  <a:srgbClr val="334155"/>
                </a:solidFill>
              </a:defRPr>
            </a:pPr>
            <a:r>
              <a:rPr dirty="0" err="1"/>
              <a:t>Ohne</a:t>
            </a:r>
            <a:r>
              <a:rPr dirty="0"/>
              <a:t> </a:t>
            </a:r>
            <a:r>
              <a:rPr dirty="0" err="1"/>
              <a:t>Sprintify</a:t>
            </a:r>
            <a:r>
              <a:rPr dirty="0"/>
              <a:t>:</a:t>
            </a:r>
          </a:p>
          <a:p>
            <a:pPr marL="285750" lvl="1" indent="-285750">
              <a:spcBef>
                <a:spcPts val="800"/>
              </a:spcBef>
              <a:spcAft>
                <a:spcPts val="400"/>
              </a:spcAft>
              <a:buFont typeface="Arial" panose="020B0604020202020204" pitchFamily="34" charset="0"/>
              <a:buChar char="•"/>
              <a:defRPr sz="1800">
                <a:solidFill>
                  <a:srgbClr val="334155"/>
                </a:solidFill>
              </a:defRPr>
            </a:pPr>
            <a:r>
              <a:rPr dirty="0"/>
              <a:t>Sprint-</a:t>
            </a:r>
            <a:r>
              <a:rPr dirty="0" err="1"/>
              <a:t>Planung</a:t>
            </a:r>
            <a:r>
              <a:rPr dirty="0"/>
              <a:t> </a:t>
            </a:r>
            <a:r>
              <a:rPr dirty="0" err="1"/>
              <a:t>bleibt</a:t>
            </a:r>
            <a:r>
              <a:rPr dirty="0"/>
              <a:t> auf Excel </a:t>
            </a:r>
            <a:r>
              <a:rPr dirty="0" err="1"/>
              <a:t>angewiesen</a:t>
            </a:r>
            <a:endParaRPr dirty="0"/>
          </a:p>
          <a:p>
            <a:pPr marL="285750" lvl="1" indent="-285750">
              <a:spcBef>
                <a:spcPts val="800"/>
              </a:spcBef>
              <a:spcAft>
                <a:spcPts val="400"/>
              </a:spcAft>
              <a:buFont typeface="Arial" panose="020B0604020202020204" pitchFamily="34" charset="0"/>
              <a:buChar char="•"/>
              <a:defRPr sz="1800">
                <a:solidFill>
                  <a:srgbClr val="334155"/>
                </a:solidFill>
              </a:defRPr>
            </a:pPr>
            <a:r>
              <a:rPr dirty="0" err="1"/>
              <a:t>Schätzungen</a:t>
            </a:r>
            <a:r>
              <a:rPr dirty="0"/>
              <a:t> </a:t>
            </a:r>
            <a:r>
              <a:rPr dirty="0" err="1"/>
              <a:t>basieren</a:t>
            </a:r>
            <a:r>
              <a:rPr dirty="0"/>
              <a:t> auf </a:t>
            </a:r>
            <a:r>
              <a:rPr dirty="0" err="1"/>
              <a:t>Bauchgefühl</a:t>
            </a:r>
            <a:endParaRPr lang="de-CH" dirty="0"/>
          </a:p>
        </p:txBody>
      </p:sp>
      <p:sp>
        <p:nvSpPr>
          <p:cNvPr id="5" name="Rectangle 4">
            <a:extLst>
              <a:ext uri="{FF2B5EF4-FFF2-40B4-BE49-F238E27FC236}">
                <a16:creationId xmlns:a16="http://schemas.microsoft.com/office/drawing/2014/main" id="{E91BA769-D6A5-4105-6D0E-D3285036BF8B}"/>
              </a:ext>
            </a:extLst>
          </p:cNvPr>
          <p:cNvSpPr/>
          <p:nvPr/>
        </p:nvSpPr>
        <p:spPr>
          <a:xfrm>
            <a:off x="1" y="1"/>
            <a:ext cx="12192000" cy="345988"/>
          </a:xfrm>
          <a:prstGeom prst="rect">
            <a:avLst/>
          </a:prstGeom>
          <a:solidFill>
            <a:srgbClr val="10172A"/>
          </a:solidFill>
          <a:ln>
            <a:noFill/>
          </a:ln>
          <a:effectLst/>
        </p:spPr>
        <p:txBody>
          <a:bodyPr rtlCol="0" anchor="ctr"/>
          <a:lstStyle/>
          <a:p>
            <a:pPr algn="ctr"/>
            <a:endParaRPr/>
          </a:p>
        </p:txBody>
      </p:sp>
      <p:pic>
        <p:nvPicPr>
          <p:cNvPr id="7" name="Graphic 6">
            <a:extLst>
              <a:ext uri="{FF2B5EF4-FFF2-40B4-BE49-F238E27FC236}">
                <a16:creationId xmlns:a16="http://schemas.microsoft.com/office/drawing/2014/main" id="{7020C431-662A-1F6E-F6B6-5CDC555572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401" y="6438385"/>
            <a:ext cx="490837" cy="283175"/>
          </a:xfrm>
          <a:prstGeom prst="rect">
            <a:avLst/>
          </a:prstGeom>
        </p:spPr>
      </p:pic>
      <p:sp>
        <p:nvSpPr>
          <p:cNvPr id="8" name="TextBox 7"/>
          <p:cNvSpPr txBox="1"/>
          <p:nvPr/>
        </p:nvSpPr>
        <p:spPr>
          <a:xfrm>
            <a:off x="457200" y="6580000"/>
            <a:ext cx="1200000" cy="250000"/>
          </a:xfrm>
          <a:prstGeom prst="rect">
            <a:avLst/>
          </a:prstGeom>
          <a:noFill/>
        </p:spPr>
        <p:txBody>
          <a:bodyPr wrap="none">
            <a:spAutoFit/>
          </a:bodyPr>
          <a:lstStyle/>
          <a:p>
            <a:r>
              <a:rPr sz="1100">
                <a:solidFill>
                  <a:srgbClr val="94A3B8"/>
                </a:solidFill>
                <a:latin typeface="Arial"/>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lgn="ctr">
              <a:defRPr sz="4400" b="1">
                <a:solidFill>
                  <a:srgbClr val="FFFFFF"/>
                </a:solidFill>
              </a:defRPr>
            </a:pPr>
            <a:r>
              <a:rPr dirty="0" err="1"/>
              <a:t>Sprintify</a:t>
            </a:r>
            <a:endParaRPr dirty="0"/>
          </a:p>
          <a:p>
            <a:pPr algn="ctr">
              <a:spcBef>
                <a:spcPts val="2000"/>
              </a:spcBef>
              <a:defRPr sz="2400">
                <a:solidFill>
                  <a:srgbClr val="94A3B8"/>
                </a:solidFill>
              </a:defRPr>
            </a:pPr>
            <a:r>
              <a:rPr dirty="0" err="1"/>
              <a:t>Gibt</a:t>
            </a:r>
            <a:r>
              <a:rPr dirty="0"/>
              <a:t> dem Team </a:t>
            </a:r>
            <a:r>
              <a:rPr dirty="0" err="1"/>
              <a:t>eine</a:t>
            </a:r>
            <a:r>
              <a:rPr dirty="0"/>
              <a:t> </a:t>
            </a:r>
            <a:r>
              <a:rPr dirty="0" err="1"/>
              <a:t>datenbasierte</a:t>
            </a:r>
            <a:r>
              <a:rPr dirty="0"/>
              <a:t> </a:t>
            </a:r>
            <a:r>
              <a:rPr dirty="0" err="1"/>
              <a:t>Antwort</a:t>
            </a:r>
            <a:r>
              <a:rPr dirty="0"/>
              <a:t> auf die Frage:</a:t>
            </a:r>
            <a:br>
              <a:rPr dirty="0"/>
            </a:br>
            <a:r>
              <a:rPr dirty="0"/>
              <a:t>"Wie </a:t>
            </a:r>
            <a:r>
              <a:rPr dirty="0" err="1"/>
              <a:t>viele</a:t>
            </a:r>
            <a:r>
              <a:rPr dirty="0"/>
              <a:t> Story Points </a:t>
            </a:r>
            <a:r>
              <a:rPr dirty="0" err="1"/>
              <a:t>schaffen</a:t>
            </a:r>
            <a:r>
              <a:rPr dirty="0"/>
              <a:t> </a:t>
            </a:r>
            <a:r>
              <a:rPr dirty="0" err="1"/>
              <a:t>wir</a:t>
            </a:r>
            <a:r>
              <a:rPr dirty="0"/>
              <a:t> </a:t>
            </a:r>
            <a:r>
              <a:rPr dirty="0" err="1"/>
              <a:t>im</a:t>
            </a:r>
            <a:r>
              <a:rPr dirty="0"/>
              <a:t> </a:t>
            </a:r>
            <a:r>
              <a:rPr dirty="0" err="1"/>
              <a:t>nächsten</a:t>
            </a:r>
            <a:r>
              <a:rPr dirty="0"/>
              <a:t> Sprint?"</a:t>
            </a:r>
            <a:br>
              <a:rPr dirty="0"/>
            </a:br>
            <a:br>
              <a:rPr dirty="0"/>
            </a:br>
            <a:r>
              <a:rPr dirty="0" err="1"/>
              <a:t>Fragen</a:t>
            </a:r>
            <a:r>
              <a:rPr dirty="0"/>
              <a:t>?</a:t>
            </a:r>
          </a:p>
        </p:txBody>
      </p:sp>
      <p:pic>
        <p:nvPicPr>
          <p:cNvPr id="4" name="Graphic 3">
            <a:extLst>
              <a:ext uri="{FF2B5EF4-FFF2-40B4-BE49-F238E27FC236}">
                <a16:creationId xmlns:a16="http://schemas.microsoft.com/office/drawing/2014/main" id="{3FC77DB0-DA23-9FB8-D223-A91F129370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6445" y="1698229"/>
            <a:ext cx="1018804" cy="58777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TotalTime>
  <Words>5944</Words>
  <Application>Microsoft Macintosh PowerPoint</Application>
  <PresentationFormat>Widescreen</PresentationFormat>
  <Paragraphs>768</Paragraphs>
  <Slides>40</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Timo Haldi</cp:lastModifiedBy>
  <cp:revision>13</cp:revision>
  <dcterms:created xsi:type="dcterms:W3CDTF">2013-01-27T09:14:16Z</dcterms:created>
  <dcterms:modified xsi:type="dcterms:W3CDTF">2026-07-03T12:16:16Z</dcterms:modified>
  <cp:category/>
</cp:coreProperties>
</file>