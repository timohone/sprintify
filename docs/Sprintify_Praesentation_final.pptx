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82" r:id="rId3"/>
    <p:sldId id="257" r:id="rId4"/>
    <p:sldId id="258" r:id="rId5"/>
    <p:sldId id="259" r:id="rId6"/>
    <p:sldId id="260" r:id="rId7"/>
    <p:sldId id="261" r:id="rId8"/>
    <p:sldId id="262" r:id="rId9"/>
    <p:sldId id="295"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83" r:id="rId25"/>
    <p:sldId id="284" r:id="rId26"/>
    <p:sldId id="285" r:id="rId27"/>
    <p:sldId id="286" r:id="rId28"/>
    <p:sldId id="287" r:id="rId29"/>
    <p:sldId id="288" r:id="rId30"/>
    <p:sldId id="289" r:id="rId31"/>
    <p:sldId id="290" r:id="rId32"/>
    <p:sldId id="291" r:id="rId33"/>
    <p:sldId id="292" r:id="rId34"/>
    <p:sldId id="293" r:id="rId35"/>
    <p:sldId id="294" r:id="rId36"/>
    <p:sldId id="278" r:id="rId37"/>
    <p:sldId id="279" r:id="rId38"/>
    <p:sldId id="296" r:id="rId39"/>
    <p:sldId id="280" r:id="rId40"/>
    <p:sldId id="281"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B2EFF"/>
    <a:srgbClr val="1017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369"/>
    <p:restoredTop sz="94677"/>
  </p:normalViewPr>
  <p:slideViewPr>
    <p:cSldViewPr snapToGrid="0" snapToObjects="1">
      <p:cViewPr varScale="1">
        <p:scale>
          <a:sx n="210" d="100"/>
          <a:sy n="210" d="100"/>
        </p:scale>
        <p:origin x="3272"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BB6C96-EE24-2C4D-A85B-8CC9970E2065}" type="datetimeFigureOut">
              <a:rPr lang="en-US" smtClean="0"/>
              <a:t>7/2/26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26EB27-7CB5-824B-A67E-DBB012E8C582}" type="slidenum">
              <a:rPr lang="en-US" smtClean="0"/>
              <a:t>‹#›</a:t>
            </a:fld>
            <a:endParaRPr lang="en-US"/>
          </a:p>
        </p:txBody>
      </p:sp>
    </p:spTree>
    <p:extLst>
      <p:ext uri="{BB962C8B-B14F-4D97-AF65-F5344CB8AC3E}">
        <p14:creationId xmlns:p14="http://schemas.microsoft.com/office/powerpoint/2010/main" val="2514085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Kommen wir zum eigentlichen Problem. Unsere Sprint-Planung lief bisher zweigeteilt: Die Sprints selbst und die User Stories verwalteten wir in Jira, die Kapazitätsplanung dagegen in Excel-Tabellen, verstreut über verschiedene SharePoint-Ordner. Das hat funktioniert, aber ehrlich gesagt nur knapp. Drei Dinge fehlten uns systematisch. Erstens: Historische Velocity-Daten lagen nirgends aufbereitet vor – wenn man wissen wollte, wie viel das Team in den letzten Sprints tatsächlich geschafft hat, musste man das mühsam zusammensuchen. Zweitens: Die individuelle Kapazität – also Ferien, Teilzeitpensen, interne Projekte – floss nur informell in die Planung ein, meist im Kopf des Scrum Masters. Und drittens, als Konsequenz daraus: Wenn im Planning die Frage kam, wie viele Story Points wir realistisch schaffen, konnte das niemand datenbasiert beantworten. Man hat sich die Antwort mehr oder weniger zusammengereimt. Die Folgen waren spürbar: Wir haben regelmässig zu viel oder zu wenig eingeplant, dadurch Sprint-Ziele verfehlt, und es entstand unnötiger Abstimmungsaufwand. Genau hier setzt Sprintify an.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Zum methodischen Vorgehen. Ich habe mich für ein iteratives Vorgehen in Anlehnung an Scrum entschieden – was naheliegend ist, wenn man ein Werkzeug für Scrum-Teams baut. Als Ein-Mann-Projekt habe ich das Framework aber bewusst vereinfacht: zweiwöchige Iterationen mit klar definierten Zielen, und nach jeder Iteration eine Besprechung der Ergebnisse mit meinem Vorgesetzten als Auftraggeber. Diese regelmässige Rückkopplung hat die Rolle des Reviews übernommen, die man als Solo-Entwickler sonst nicht hat. Das Projekt lief in vier Phasen über rund acht Monate: In der ersten Phase Analyse und Konzeption, dann die Backend-Entwicklung, danach das Frontend, und schliesslich Integration und Deployment. Warum iterativ und nicht klassisch nach Plan? Weil sich meine Anforderungen im Verlauf tatsächlich mehrfach geändert haben – vor allem bei der Jira-Integration. Vieles zeigt sich dort erst, wenn man mit echten Daten arbeitet. Ein starres Wasserfall-Vorgehen hätte diese Änderungen nicht aufgefangen. Das deckt sich auch mit dem Grundgedanken von Scrum, der empirischen Prozesssteuerung: Transparenz schaffen, regelmässig inspizieren, und dann anpassen.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Jira-Anbindung war klar der anspruchsvollste Teil der Arbeit – und interessanterweise nicht wegen der Technik im engeren Sinn, sondern wegen der Vielfalt der Konfigurationen. Sprintify spricht zwei verschiedene APIs an: die REST-API Version 2 für die Issues, also die User Stories, und die Agile-API Version 1 für Boards und Sprints. Warum zwei? Weil Jira diese Konzepte tatsächlich über getrennte Schnittstellen anbietet. Die Synchronisation läuft in drei Schritten: Zuerst rufe ich über die Agile-API die Boards und deren Sprints ab. Dann synchronisiere ich die Issues pro Sprint. Und zuletzt verknüpfe ich die Jira-Benutzer anhand ihrer Account-ID oder E-Mail mit den lokalen Benutzern. Zwei Details, die den Aufwand erklären: Die Story Points liest das System über ein konfigurierbares Custom Field aus – standardmässig ein bestimmtes Feld, aber jedes Projekt kann ein anderes verwenden, deshalb muss das einstellbar sein. Und der Jira-Status wird auf ein einheitliches Schema gemappt, weil die Teams unterschiedliche Status-Bezeichnungen nutzen. Zum Schluss der Fallstrick, der mich am meisten Zeit gekostet hat: Eine Story kann in mehreren Sprints vorkommen. Nur wenn man die Sprints chronologisch aufsteigend synchronisiert, gewinnt die Zuordnung zum neuesten Sprint. Synchronisiert man absteigend, landet die Story im falschen Sprint. Solche Eigenheiten sieht man nicht in der Dokumentation – die findet man erst mit echten Daten, und ich musste Teile der Synchronisation deswegen neu schreiben.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Das Herzstück von Sprintify ist die Kapazitätsplanung. Pro Teammitglied und Sprint lässt sich die verfügbare Arbeitszeit wochenweise aufschlüsseln, und zwar in vier Kategorien: Holiday für Ferien und Feiertage, Customer für Kundenprojektarbeit, Internal für Meetings, Weiterbildung und interne Entwicklung, und Other für sonstige Abwesenheiten. Bearbeitet wird direkt in der Tabelle, per Inline-Editing – möglichst wenig Reibung, damit es im Alltag auch wirklich genutzt wird. Wird ein Sprint zum ersten Mal geöffnet, legt das System automatisch leere Kapazitätspläne für alle Projektmitglieder an, orientiert an Start- und Enddatum des Sprints. Und jetzt zum eigentlich Neuen: Aus diesen Daten leitet Sprintify eine Story-Point-Empfehlung ab. Die Formel lautet: empfohlene Story Points gleich durchschnittliche Velocity mal Kapazitätsfaktor. Der Kapazitätsfaktor ist das Verhältnis der aktuellen Sprint-Kapazität zur durchschnittlichen Kapazität der letzten sechs abgeschlossenen Sprints. Konkret heisst das: Hat das Team im nächsten Sprint weniger Stunden zur Verfügung als im Schnitt – etwa wegen Ferienzeit – fällt die Empfehlung automatisch tiefer aus. Und falls noch keine historischen Kapazitätsdaten vorliegen, greift das System auf die reine durchschnittliche Velocity zurück. Das ist die datenbasierte Antwort auf die Frage vom Anfang.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Über die vier Phasen verteilt waren es rund sechzehn zweiwöchige Sprints. In der Analysephase, den Sprints eins bis drei, ging es um die Anforderungsaufnahme mit dem Team, die eben gezeigte Marktanalyse und den Architekturentscheid – in dieser Phase ist auch ein erster UI-Prototyp entstanden. In der Backend-Phase, Sprint vier bis acht, habe ich das Datenmodell aufgebaut, die REST-API implementiert und die Jira-Integration entwickelt. Die Frontend-Phase, Sprint neun bis dreizehn, umfasste die gesamte React-Oberfläche: Dashboard, Kapazitätsplanung, Analytics, Sprint History und Teamverwaltung. Und in der Deployment-Phase, Sprint vierzehn bis sechzehn, kamen das Deployment auf Azure, Tests mit echten Jira-Daten, Performance-Optimierung und zuletzt die Story-Point-Empfehlung dazu. Dass diese Empfehlung erst spät kam, war kein Zufall – sie setzt ja historische Daten voraus, die ich erst sammeln musste.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4AB3E-37FB-0859-EA63-6DD9254360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19A4FD-A159-292C-8AD2-DE1C2230447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D2492A5-E3BE-A7C0-52EF-3D88CF62E6CF}"/>
              </a:ext>
            </a:extLst>
          </p:cNvPr>
          <p:cNvSpPr>
            <a:spLocks noGrp="1"/>
          </p:cNvSpPr>
          <p:nvPr>
            <p:ph type="body" sz="quarter" idx="3"/>
          </p:nvPr>
        </p:nvSpPr>
        <p:spPr/>
        <p:txBody>
          <a:bodyPr/>
          <a:lstStyle/>
          <a:p>
            <a:r>
              <a:t>Das ist das Dashboard, der Einstiegspunkt für das Team. Ganz oben sehen Sie die zentralen Kennzahlen auf einen Blick: Anzahl Sprints, Anzahl Stories, Story Points und die Completion Rate. In der Mitte links der Sprint-Überblick mit aktiven und abgeschlossenen Sprints und der durchschnittlichen Velocity, rechts der Story Progress. Und ganz unten der Forecast, den ich vorhin angesprochen habe: durchschnittliche Velocity, verbleibende Punkte, die geschätzte Anzahl noch nötiger Sprints und das voraussichtliche Fertigstellungsdatum. Der Kerngedanke dieser Seite ist: Alles Wesentliche auf einen Blick, ohne dass jemand eine Excel-Datei öffnen oder Daten zusammensuchen muss.</a:t>
            </a:r>
          </a:p>
        </p:txBody>
      </p:sp>
      <p:sp>
        <p:nvSpPr>
          <p:cNvPr id="4" name="Slide Number Placeholder 3">
            <a:extLst>
              <a:ext uri="{FF2B5EF4-FFF2-40B4-BE49-F238E27FC236}">
                <a16:creationId xmlns:a16="http://schemas.microsoft.com/office/drawing/2014/main" id="{ADEA140F-45EA-9BAD-D16F-E2152597CFD6}"/>
              </a:ext>
            </a:extLst>
          </p:cNvPr>
          <p:cNvSpPr>
            <a:spLocks noGrp="1"/>
          </p:cNvSpPr>
          <p:nvPr>
            <p:ph type="sldNum" sz="quarter" idx="5"/>
          </p:nvPr>
        </p:nvSpPr>
        <p:spPr/>
      </p:sp>
    </p:spTree>
    <p:extLst>
      <p:ext uri="{BB962C8B-B14F-4D97-AF65-F5344CB8AC3E}">
        <p14:creationId xmlns:p14="http://schemas.microsoft.com/office/powerpoint/2010/main" val="5032557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BD16D-83CC-D0BA-7EF6-13E0567FB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914BF8-7FEA-2877-40A3-C934A8F795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E26BB9-AF56-2A48-78EE-465DB8D95A08}"/>
              </a:ext>
            </a:extLst>
          </p:cNvPr>
          <p:cNvSpPr>
            <a:spLocks noGrp="1"/>
          </p:cNvSpPr>
          <p:nvPr>
            <p:ph type="body" sz="quarter" idx="3"/>
          </p:nvPr>
        </p:nvSpPr>
        <p:spPr/>
        <p:txBody>
          <a:bodyPr/>
          <a:lstStyle/>
          <a:p>
            <a:r>
              <a:t>Hier die Detailansicht des aktiven Sprints. Oben in der farbigen Leiste der Fortschritt in Prozent und die Laufzeit des Sprints. Darunter die vier wichtigsten Kennzahlen: Anzahl Stories, Story Points insgesamt, wie viele Punkte erledigt und wie viele gerade in Arbeit sind. Links unten die Status-Aufteilung – To Do, In Progress, Done – und rechts die Team-Kapazität für genau diesen Sprint. Das ist die Ansicht, die das Team im Tagesgeschäft während eines laufenden Sprints am häufigsten offen hat.</a:t>
            </a:r>
          </a:p>
        </p:txBody>
      </p:sp>
      <p:sp>
        <p:nvSpPr>
          <p:cNvPr id="4" name="Slide Number Placeholder 3">
            <a:extLst>
              <a:ext uri="{FF2B5EF4-FFF2-40B4-BE49-F238E27FC236}">
                <a16:creationId xmlns:a16="http://schemas.microsoft.com/office/drawing/2014/main" id="{4D5EC24A-347D-5C44-C74B-243BC97E7EA3}"/>
              </a:ext>
            </a:extLst>
          </p:cNvPr>
          <p:cNvSpPr>
            <a:spLocks noGrp="1"/>
          </p:cNvSpPr>
          <p:nvPr>
            <p:ph type="sldNum" sz="quarter" idx="5"/>
          </p:nvPr>
        </p:nvSpPr>
        <p:spPr/>
      </p:sp>
    </p:spTree>
    <p:extLst>
      <p:ext uri="{BB962C8B-B14F-4D97-AF65-F5344CB8AC3E}">
        <p14:creationId xmlns:p14="http://schemas.microsoft.com/office/powerpoint/2010/main" val="40833815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67967-498A-7CF7-38ED-CFAF688177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F3403-72D5-7412-2C4D-C0A6F47BD6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1B04044-E787-AADA-D8EF-E684D43555F5}"/>
              </a:ext>
            </a:extLst>
          </p:cNvPr>
          <p:cNvSpPr>
            <a:spLocks noGrp="1"/>
          </p:cNvSpPr>
          <p:nvPr>
            <p:ph type="body" sz="quarter" idx="3"/>
          </p:nvPr>
        </p:nvSpPr>
        <p:spPr/>
        <p:txBody>
          <a:bodyPr/>
          <a:lstStyle/>
          <a:p>
            <a:r>
              <a:t>Jetzt das Analytics-Modul, zuerst die Overview mit dem Burndown-Chart. Oben wieder die Kennzahlen, darunter das eigentliche Chart. Die gestrichelte, fallende Linie ist der ideale Verlauf – so müssten die offenen Punkte gleichmässig abgearbeitet werden. Die durchgezogene Linie ist der tatsächliche Verlauf, berechnet aus den echten Abschlusszeitpunkten der einzelnen Stories. In diesem Beispiel sehen Sie schön, dass lange fast nichts passiert ist und die Kurve erst gegen Ende steil abfällt – ein typisches Muster, wenn viel auf den letzten Drücker fertig wird. Genau solche Muster macht das Burndown-Chart sofort sichtbar und damit besprechbar.</a:t>
            </a:r>
          </a:p>
        </p:txBody>
      </p:sp>
      <p:sp>
        <p:nvSpPr>
          <p:cNvPr id="4" name="Slide Number Placeholder 3">
            <a:extLst>
              <a:ext uri="{FF2B5EF4-FFF2-40B4-BE49-F238E27FC236}">
                <a16:creationId xmlns:a16="http://schemas.microsoft.com/office/drawing/2014/main" id="{CE219EF0-B3E5-86FA-87FA-F57FF17FAD11}"/>
              </a:ext>
            </a:extLst>
          </p:cNvPr>
          <p:cNvSpPr>
            <a:spLocks noGrp="1"/>
          </p:cNvSpPr>
          <p:nvPr>
            <p:ph type="sldNum" sz="quarter" idx="5"/>
          </p:nvPr>
        </p:nvSpPr>
        <p:spPr/>
      </p:sp>
    </p:spTree>
    <p:extLst>
      <p:ext uri="{BB962C8B-B14F-4D97-AF65-F5344CB8AC3E}">
        <p14:creationId xmlns:p14="http://schemas.microsoft.com/office/powerpoint/2010/main" val="37571160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98DEA-FD8F-49A7-0CB2-AB30FB10B7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E70AD8-A3A1-AE5F-9D0A-1281CE89D01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6C23B7D-3FB4-E4BA-BBAF-26C05BE99092}"/>
              </a:ext>
            </a:extLst>
          </p:cNvPr>
          <p:cNvSpPr>
            <a:spLocks noGrp="1"/>
          </p:cNvSpPr>
          <p:nvPr>
            <p:ph type="body" sz="quarter" idx="3"/>
          </p:nvPr>
        </p:nvSpPr>
        <p:spPr/>
        <p:txBody>
          <a:bodyPr/>
          <a:lstStyle/>
          <a:p>
            <a:r>
              <a:t>Die Compare-Ansicht. Links wird der aktuelle Sprint dem vorherigen direkt gegenübergestellt – hier 21 zu 9 Story Points. Rechts sehen Sie die Team-Benchmarks: die durchschnittliche Velocity und die beste jemals erreichte Velocity über alle abgeschlossenen Sprints. Und das kleine Label «Improving» fasst den Trend zusammen. Das gibt dem Team eine ehrliche Standortbestimmung: Bewegen wir uns in die richtige Richtung, oder lässt die Leistung nach?</a:t>
            </a:r>
          </a:p>
        </p:txBody>
      </p:sp>
      <p:sp>
        <p:nvSpPr>
          <p:cNvPr id="4" name="Slide Number Placeholder 3">
            <a:extLst>
              <a:ext uri="{FF2B5EF4-FFF2-40B4-BE49-F238E27FC236}">
                <a16:creationId xmlns:a16="http://schemas.microsoft.com/office/drawing/2014/main" id="{B5528F82-A26A-F260-3121-9DB7B42E1753}"/>
              </a:ext>
            </a:extLst>
          </p:cNvPr>
          <p:cNvSpPr>
            <a:spLocks noGrp="1"/>
          </p:cNvSpPr>
          <p:nvPr>
            <p:ph type="sldNum" sz="quarter" idx="5"/>
          </p:nvPr>
        </p:nvSpPr>
        <p:spPr/>
      </p:sp>
    </p:spTree>
    <p:extLst>
      <p:ext uri="{BB962C8B-B14F-4D97-AF65-F5344CB8AC3E}">
        <p14:creationId xmlns:p14="http://schemas.microsoft.com/office/powerpoint/2010/main" val="28408620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E1504-9F0C-E75C-35C7-0643FC51E6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5F819-2903-5B74-0983-8C01A7CF7CB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DF05D6D-75F9-E138-B19C-21714EEC664D}"/>
              </a:ext>
            </a:extLst>
          </p:cNvPr>
          <p:cNvSpPr>
            <a:spLocks noGrp="1"/>
          </p:cNvSpPr>
          <p:nvPr>
            <p:ph type="body" sz="quarter" idx="3"/>
          </p:nvPr>
        </p:nvSpPr>
        <p:spPr/>
        <p:txBody>
          <a:bodyPr/>
          <a:lstStyle/>
          <a:p>
            <a:r>
              <a:t>Die Changes-Ansicht zeigt, was während des Sprints am Umfang verändert wurde – hinzugefügte und entfernte Stories. In diesem Beispiel wurden 45 Stories nachträglich in den laufenden Sprint hineingenommen, das sehen Sie oben an der Kennzahl «Net Change plus 45». Wie gesagt: Solche Scope-Änderungen sind in der Praxis einer der häufigsten Gründe, warum ein Sprint-Ziel am Ende nicht erreicht wird. Bisher ist das oft untergegangen; hier wird es sichtbar und lässt sich in der Retrospektive gezielt ansprechen. Die einzelnen Story-Titel habe ich unkenntlich gemacht, weil sie Kundennamen enthalten.</a:t>
            </a:r>
          </a:p>
        </p:txBody>
      </p:sp>
      <p:sp>
        <p:nvSpPr>
          <p:cNvPr id="4" name="Slide Number Placeholder 3">
            <a:extLst>
              <a:ext uri="{FF2B5EF4-FFF2-40B4-BE49-F238E27FC236}">
                <a16:creationId xmlns:a16="http://schemas.microsoft.com/office/drawing/2014/main" id="{2EB0E79A-FFC7-326B-F90D-BC1FAF4CB18C}"/>
              </a:ext>
            </a:extLst>
          </p:cNvPr>
          <p:cNvSpPr>
            <a:spLocks noGrp="1"/>
          </p:cNvSpPr>
          <p:nvPr>
            <p:ph type="sldNum" sz="quarter" idx="5"/>
          </p:nvPr>
        </p:nvSpPr>
        <p:spPr/>
      </p:sp>
    </p:spTree>
    <p:extLst>
      <p:ext uri="{BB962C8B-B14F-4D97-AF65-F5344CB8AC3E}">
        <p14:creationId xmlns:p14="http://schemas.microsoft.com/office/powerpoint/2010/main" val="1441835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E9F53-C316-CE9E-DB5C-82AAE39B8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D90286-7D57-E0A5-0E58-9E798E68430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A33A113-A2EE-11EA-2EE7-0D8FCD5BEB87}"/>
              </a:ext>
            </a:extLst>
          </p:cNvPr>
          <p:cNvSpPr>
            <a:spLocks noGrp="1"/>
          </p:cNvSpPr>
          <p:nvPr>
            <p:ph type="body" sz="quarter" idx="3"/>
          </p:nvPr>
        </p:nvSpPr>
        <p:spPr/>
        <p:txBody>
          <a:bodyPr/>
          <a:lstStyle/>
          <a:p>
            <a:r>
              <a:t>Team Performance zeigt die Velocity pro Teammitglied als Balkendiagramm, ergänzt um die Completion Rate. Ich betone es noch einmal, weil es mir wichtig ist: Diese Ansicht ist bewusst nicht als Ranking oder zur Leistungsbeurteilung gedacht. Der Zweck ist, zu erkennen, ob die Arbeit im Team gleichmässig verteilt ist, oder ob einzelne Personen strukturell überlastet sind. Die Namen sind anonymisiert, die Zahlen dahinter sind echt.</a:t>
            </a:r>
          </a:p>
        </p:txBody>
      </p:sp>
      <p:sp>
        <p:nvSpPr>
          <p:cNvPr id="4" name="Slide Number Placeholder 3">
            <a:extLst>
              <a:ext uri="{FF2B5EF4-FFF2-40B4-BE49-F238E27FC236}">
                <a16:creationId xmlns:a16="http://schemas.microsoft.com/office/drawing/2014/main" id="{77FA2E1B-C83A-BCFD-09F6-544180836EAB}"/>
              </a:ext>
            </a:extLst>
          </p:cNvPr>
          <p:cNvSpPr>
            <a:spLocks noGrp="1"/>
          </p:cNvSpPr>
          <p:nvPr>
            <p:ph type="sldNum" sz="quarter" idx="5"/>
          </p:nvPr>
        </p:nvSpPr>
        <p:spPr/>
      </p:sp>
    </p:spTree>
    <p:extLst>
      <p:ext uri="{BB962C8B-B14F-4D97-AF65-F5344CB8AC3E}">
        <p14:creationId xmlns:p14="http://schemas.microsoft.com/office/powerpoint/2010/main" val="5504261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BE266-5007-DA6C-ADA8-22FDD9560E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D301A9-2B90-8991-87F8-933DB8C8A08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278AB9-2563-0778-ED22-1497E9CB57F1}"/>
              </a:ext>
            </a:extLst>
          </p:cNvPr>
          <p:cNvSpPr>
            <a:spLocks noGrp="1"/>
          </p:cNvSpPr>
          <p:nvPr>
            <p:ph type="body" sz="quarter" idx="3"/>
          </p:nvPr>
        </p:nvSpPr>
        <p:spPr/>
        <p:txBody>
          <a:bodyPr/>
          <a:lstStyle/>
          <a:p>
            <a:r>
              <a:t>Die Sprint History zeigt die Velocity über alle abgeschlossenen Sprints hinweg – hier mit einem Durchschnitt von rund zwanzig Punkten. Das mag unspektakulär aussehen, ist aber ein Kernstück: Diese aufbereitete historische Datenreihe gab es vorher schlicht nicht, sie lag höchstens verstreut in alten Excel-Dateien. Auf genau dieser Basis rechnen die Story-Point-Empfehlung und der Forecast. Ohne diese Historie wäre alles andere nur geschätzt.</a:t>
            </a:r>
          </a:p>
        </p:txBody>
      </p:sp>
      <p:sp>
        <p:nvSpPr>
          <p:cNvPr id="4" name="Slide Number Placeholder 3">
            <a:extLst>
              <a:ext uri="{FF2B5EF4-FFF2-40B4-BE49-F238E27FC236}">
                <a16:creationId xmlns:a16="http://schemas.microsoft.com/office/drawing/2014/main" id="{811612DA-A2FC-C6AF-242B-D3618832C421}"/>
              </a:ext>
            </a:extLst>
          </p:cNvPr>
          <p:cNvSpPr>
            <a:spLocks noGrp="1"/>
          </p:cNvSpPr>
          <p:nvPr>
            <p:ph type="sldNum" sz="quarter" idx="5"/>
          </p:nvPr>
        </p:nvSpPr>
        <p:spPr/>
      </p:sp>
    </p:spTree>
    <p:extLst>
      <p:ext uri="{BB962C8B-B14F-4D97-AF65-F5344CB8AC3E}">
        <p14:creationId xmlns:p14="http://schemas.microsoft.com/office/powerpoint/2010/main" val="29754214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A40D7-2B10-00B8-BE60-461A14BA5F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6D34-A7EF-606D-CB27-45194E80BDC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7B70AF0-842F-8B4E-199E-CD8710B2388F}"/>
              </a:ext>
            </a:extLst>
          </p:cNvPr>
          <p:cNvSpPr>
            <a:spLocks noGrp="1"/>
          </p:cNvSpPr>
          <p:nvPr>
            <p:ph type="body" sz="quarter" idx="3"/>
          </p:nvPr>
        </p:nvSpPr>
        <p:spPr/>
        <p:txBody>
          <a:bodyPr/>
          <a:lstStyle/>
          <a:p>
            <a:r>
              <a:t>Das ist die Kapazitätsplanung in Aktion – das Herzstück, jetzt mit echten Daten. Oben die aggregierten Zahlen: Gesamtkapazität, Anzahl aktive Mitglieder, Durchschnitt pro Person und Sprint-Dauer. In der Mitte, hervorgehoben, die konkrete Empfehlung: neunzehn Story Points. Und Sie sehen direkt darunter die Herleitung – durchschnittliche Velocity mal Kapazitätsfaktor 0.92, mit der aktuellen und der historischen Kapazität daneben. Es bleibt also nachvollziehbar, wie die Zahl zustande kommt, es ist keine Blackbox. Darunter die Aufteilung nach den vier Kategorien, und ganz unten die individuellen Wochenpläne pro Person – die Namen sind ausgeblendet, das Stundenraster mit den Kategorien pro Woche sehen Sie. Das ist der Punkt, an dem alles zusammenläuft.</a:t>
            </a:r>
          </a:p>
        </p:txBody>
      </p:sp>
      <p:sp>
        <p:nvSpPr>
          <p:cNvPr id="4" name="Slide Number Placeholder 3">
            <a:extLst>
              <a:ext uri="{FF2B5EF4-FFF2-40B4-BE49-F238E27FC236}">
                <a16:creationId xmlns:a16="http://schemas.microsoft.com/office/drawing/2014/main" id="{AB9C6D1B-3D13-9E9D-45C3-8A8583ABF0FA}"/>
              </a:ext>
            </a:extLst>
          </p:cNvPr>
          <p:cNvSpPr>
            <a:spLocks noGrp="1"/>
          </p:cNvSpPr>
          <p:nvPr>
            <p:ph type="sldNum" sz="quarter" idx="5"/>
          </p:nvPr>
        </p:nvSpPr>
        <p:spPr/>
      </p:sp>
    </p:spTree>
    <p:extLst>
      <p:ext uri="{BB962C8B-B14F-4D97-AF65-F5344CB8AC3E}">
        <p14:creationId xmlns:p14="http://schemas.microsoft.com/office/powerpoint/2010/main" val="7615256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53DF9-E46C-77C0-7A4B-89C9D046E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D600A-DD33-9388-339D-D2AFAEDA9C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3B6B9B9-0B00-E9B1-019B-471CBD29B2F0}"/>
              </a:ext>
            </a:extLst>
          </p:cNvPr>
          <p:cNvSpPr>
            <a:spLocks noGrp="1"/>
          </p:cNvSpPr>
          <p:nvPr>
            <p:ph type="body" sz="quarter" idx="3"/>
          </p:nvPr>
        </p:nvSpPr>
        <p:spPr/>
        <p:txBody>
          <a:bodyPr/>
          <a:lstStyle/>
          <a:p>
            <a:r>
              <a:t>Als bewusst schlank gehaltene Nebenfunktion gibt es ein Retrospektiven-Modul. Pro Sprint können die Teammitglieder festhalten, was gut lief, was verbessert werden soll und welche konkreten Action Items daraus folgen. Ich habe das ganz bewusst einfach gehalten – es soll keine spezialisierten Retro-Tools ersetzen, sondern eine Basis-Dokumentation genau an der Stelle anbieten, an der das Team ohnehin auf seine Sprint-Daten schaut. So bleibt nachvollziehbar, welche Verbesserungen wann beschlossen wurden.</a:t>
            </a:r>
          </a:p>
        </p:txBody>
      </p:sp>
      <p:sp>
        <p:nvSpPr>
          <p:cNvPr id="4" name="Slide Number Placeholder 3">
            <a:extLst>
              <a:ext uri="{FF2B5EF4-FFF2-40B4-BE49-F238E27FC236}">
                <a16:creationId xmlns:a16="http://schemas.microsoft.com/office/drawing/2014/main" id="{DFEBACCC-9A65-0D03-D730-F6BCF8E00585}"/>
              </a:ext>
            </a:extLst>
          </p:cNvPr>
          <p:cNvSpPr>
            <a:spLocks noGrp="1"/>
          </p:cNvSpPr>
          <p:nvPr>
            <p:ph type="sldNum" sz="quarter" idx="5"/>
          </p:nvPr>
        </p:nvSpPr>
        <p:spPr/>
      </p:sp>
    </p:spTree>
    <p:extLst>
      <p:ext uri="{BB962C8B-B14F-4D97-AF65-F5344CB8AC3E}">
        <p14:creationId xmlns:p14="http://schemas.microsoft.com/office/powerpoint/2010/main" val="38409349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1F71E-A3C8-A6E6-3AFD-0E521D88B8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5816EF-26B4-EC20-F323-2E977CFB95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91B1368-57C5-C740-EB81-939A20F45441}"/>
              </a:ext>
            </a:extLst>
          </p:cNvPr>
          <p:cNvSpPr>
            <a:spLocks noGrp="1"/>
          </p:cNvSpPr>
          <p:nvPr>
            <p:ph type="body" sz="quarter" idx="3"/>
          </p:nvPr>
        </p:nvSpPr>
        <p:spPr/>
        <p:txBody>
          <a:bodyPr/>
          <a:lstStyle/>
          <a:p>
            <a:r>
              <a:t>Die Teamverwaltung. Hier werden die Mitglieder mit ihren jeweiligen Rollen verwaltet – Admin, Member oder Viewer. Admins können Projekte und Benutzer verwalten, Viewer haben ausschliesslich Lesezugriff. Namen und E-Mail-Adressen habe ich hier natürlich anonymisiert, weil es sich um echte Kolleginnen und Kollegen handelt.</a:t>
            </a:r>
          </a:p>
        </p:txBody>
      </p:sp>
      <p:sp>
        <p:nvSpPr>
          <p:cNvPr id="4" name="Slide Number Placeholder 3">
            <a:extLst>
              <a:ext uri="{FF2B5EF4-FFF2-40B4-BE49-F238E27FC236}">
                <a16:creationId xmlns:a16="http://schemas.microsoft.com/office/drawing/2014/main" id="{16936857-3028-100C-699A-C31FC884B6C4}"/>
              </a:ext>
            </a:extLst>
          </p:cNvPr>
          <p:cNvSpPr>
            <a:spLocks noGrp="1"/>
          </p:cNvSpPr>
          <p:nvPr>
            <p:ph type="sldNum" sz="quarter" idx="5"/>
          </p:nvPr>
        </p:nvSpPr>
        <p:spPr/>
      </p:sp>
    </p:spTree>
    <p:extLst>
      <p:ext uri="{BB962C8B-B14F-4D97-AF65-F5344CB8AC3E}">
        <p14:creationId xmlns:p14="http://schemas.microsoft.com/office/powerpoint/2010/main" val="2647887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E5A85-50E7-BC0C-1FAC-5D520AC7E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F56820-D3F0-644B-C3BB-F178E3F0EB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2909D3D-EA78-9846-9655-F7E98CF0C2E1}"/>
              </a:ext>
            </a:extLst>
          </p:cNvPr>
          <p:cNvSpPr>
            <a:spLocks noGrp="1"/>
          </p:cNvSpPr>
          <p:nvPr>
            <p:ph type="body" sz="quarter" idx="3"/>
          </p:nvPr>
        </p:nvSpPr>
        <p:spPr/>
        <p:txBody>
          <a:bodyPr/>
          <a:lstStyle/>
          <a:p>
            <a:r>
              <a:t>Die Projektübersicht. Ein wichtiges Detail hier: Jedes Projekt hat seine eigene, separate Jira-Integration. Das war eine bewusste Anforderung, weil unsere Teams – wie eingangs erwähnt – unterschiedliche Jira-Instanzen und -Konfigurationen nutzen. Von dieser Ansicht aus lässt sich die Synchronisation direkt anstossen oder man wechselt in die Projekt-Einstellungen.</a:t>
            </a:r>
          </a:p>
        </p:txBody>
      </p:sp>
      <p:sp>
        <p:nvSpPr>
          <p:cNvPr id="4" name="Slide Number Placeholder 3">
            <a:extLst>
              <a:ext uri="{FF2B5EF4-FFF2-40B4-BE49-F238E27FC236}">
                <a16:creationId xmlns:a16="http://schemas.microsoft.com/office/drawing/2014/main" id="{846ECA6F-04C3-9E2B-50F7-62EFEF63CC42}"/>
              </a:ext>
            </a:extLst>
          </p:cNvPr>
          <p:cNvSpPr>
            <a:spLocks noGrp="1"/>
          </p:cNvSpPr>
          <p:nvPr>
            <p:ph type="sldNum" sz="quarter" idx="5"/>
          </p:nvPr>
        </p:nvSpPr>
        <p:spPr/>
      </p:sp>
    </p:spTree>
    <p:extLst>
      <p:ext uri="{BB962C8B-B14F-4D97-AF65-F5344CB8AC3E}">
        <p14:creationId xmlns:p14="http://schemas.microsoft.com/office/powerpoint/2010/main" val="40756096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7EA25-0CEB-A367-545A-E1938E2075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F7D10-E20D-B069-E915-7420B672591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C662C31-4407-0E95-2043-B25BABBDF9D7}"/>
              </a:ext>
            </a:extLst>
          </p:cNvPr>
          <p:cNvSpPr>
            <a:spLocks noGrp="1"/>
          </p:cNvSpPr>
          <p:nvPr>
            <p:ph type="body" sz="quarter" idx="3"/>
          </p:nvPr>
        </p:nvSpPr>
        <p:spPr/>
        <p:txBody>
          <a:bodyPr/>
          <a:lstStyle/>
          <a:p>
            <a:r>
              <a:t>Und zuletzt die Projekt-Einstellungen, wo die eigentliche Jira-Anbindung konfiguriert wird: Server-URL, Zugangsdaten, der Project Key und optional die Board-ID. Man kann die Verbindung testen, bevor man speichert, einen vollständigen Sync manuell auslösen und den aktuellen Sync-Status samt Zeitpunkt einsehen. Die konkrete URL und der hinterlegte Benutzer sind hier ausgeblendet. Damit haben Sie einen vollständigen Rundgang durch die Anwendung gesehen.</a:t>
            </a:r>
          </a:p>
        </p:txBody>
      </p:sp>
      <p:sp>
        <p:nvSpPr>
          <p:cNvPr id="4" name="Slide Number Placeholder 3">
            <a:extLst>
              <a:ext uri="{FF2B5EF4-FFF2-40B4-BE49-F238E27FC236}">
                <a16:creationId xmlns:a16="http://schemas.microsoft.com/office/drawing/2014/main" id="{0FB2AAD0-E4C7-2BE4-6C49-7E49BAA99567}"/>
              </a:ext>
            </a:extLst>
          </p:cNvPr>
          <p:cNvSpPr>
            <a:spLocks noGrp="1"/>
          </p:cNvSpPr>
          <p:nvPr>
            <p:ph type="sldNum" sz="quarter" idx="5"/>
          </p:nvPr>
        </p:nvSpPr>
        <p:spPr/>
      </p:sp>
    </p:spTree>
    <p:extLst>
      <p:ext uri="{BB962C8B-B14F-4D97-AF65-F5344CB8AC3E}">
        <p14:creationId xmlns:p14="http://schemas.microsoft.com/office/powerpoint/2010/main" val="258023032"/>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Guten Tag zusammen. Mein Name ist Timo Haldi, ich arbeite als Cloud Engineer bei der Netcloud AG, und ich freue mich, Ihnen heute meine Diplomarbeit vorzustellen. Es geht um Sprintify – ein Web-Tool für die Sprint-Kapazitätsplanung, das ich im Rahmen dieser Arbeit für meine Abteilung entwickelt habe. Ich werde Ihnen in den nächsten rund fünfzig Minuten zeigen, welches Problem ich gelöst habe, wie ich dabei vorgegangen bin, was am Ende herausgekommen ist – und ich werde die Arbeit auch kritisch einordnen. Fragen beantworte ich gerne im Anschluss; Sie dürfen sich gerne schon während der Präsentation Notizen machen.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vollständige Titel meiner Arbeit lautet: «Sprintify – Entwicklung eines Capacity-Planning-Tools mit Jira-Integration». Lassen Sie mich das gleich zu Beginn in einem Satz auf den Punkt bringen, denn dieser Satz zieht sich wie ein roter Faden durch die ganze Präsentation: Sprintify beantwortet die Frage, wie viele Story Points ein Scrum-Team im nächsten Sprint realistisch schaffen kann – und zwar datenbasiert, statt aus dem Bauch heraus. Diese eine Frage klingt banal, aber sie zuverlässig zu beantworten, war in unserem Alltag überraschend schwierig. Betreut wurde die Arbeit von meinem Coach Ardin Ibraimi, bei dem ich mich für die Begleitung herzlich bedanke.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Ablauf, damit Sie wissen, was Sie erwartet. Ich starte mit meinem beruflichen Kontext, also wer ich bin und in welchem Umfeld die Arbeit entstanden ist. Danach schildere ich die Problemstellung und den konkreten Auftrag, den ich von meinem Arbeitgeber erhalten habe. Anschliessend zeige ich mein methodisches Vorgehen – inklusive eines Themas, das mir wichtig ist, nämlich der Einsatz von künstlicher Intelligenz als Co-Engineer. Im Hauptteil geht es dann um Architektur, Technologieentscheidungen und die einzelnen Module, und ich zeige Ihnen die fertige Anwendung anhand von Screenshots. Zum Schluss folgen die kritische Würdigung, meine persönliche Reflexion, eine kurze Betrachtung der Wirtschaftlichkeit und meine Empfehlung. Beginnen wir mit dem Kontext.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Zunächst zu mir und meinem Umfeld, weil das die Ausgangslage der ganzen Arbeit erklärt. Ich arbeite als Cloud Engineer bei der Netcloud AG, einem Schweizer IT-Dienstleister mit Fokus auf Cloud-Infrastruktur und Managed Services. In der Abteilung Public Cloud Solutions betreuen wir Kundenprojekte rund um Microsoft Azure. Unser Team arbeitet nach Scrum, in zweiwöchigen Sprints. Ein Punkt ist für dieses Projekt besonders wichtig, und ich komme später mehrfach darauf zurück: Weil wir für verschiedene Kunden aus verschiedenen Branchen arbeiten, haben wir es mit ganz unterschiedlichen Jira-Setups zu tun – jeder Kunde konfiguriert sein Jira anders. Diese Heterogenität ist am Ende zur grössten technischen Herausforderung geworden. Für die Arbeit selbst ist relevant: Ich habe hier sowohl die Rolle des Projektleiters als auch die des alleinigen Entwicklers übernommen, das heisst, alle Entscheidungen und die gesamte Umsetzung lagen bei mir.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 diesem Problem ergab sich mein konkreter Auftrag, und der bestand aus fünf Punkten. Erstens: Sprintify soll Sprints, User Stories und Teammitglieder automatisch aus Jira übernehmen – niemand soll Daten doppelt pflegen. Zweitens: eine Kapazitätsplanung pro Person und Sprint, und zwar wochenweise, weil ein zweiwöchiger Sprint eben aus zwei Wochen mit möglicherweise unterschiedlicher Verfügbarkeit besteht. Drittens: Sprint Analytics mit Burndown-Chart, Velocity-Verlauf und dem Nachverfolgen von Scope-Änderungen. Viertens – und das ist der eigentliche Kern und das Neue an der Lösung: eine Story-Point-Empfehlung, die die historische Velocity mit der aktuell verfügbaren Kapazität kombiniert. Und fünftens eine rollenbasierte Zugriffskontrolle, damit klar ist, wer was darf. Die Rahmenbedingungen waren: Deployment in der Azure-Cloud, Umsetzung als Ein-Mann-Projekt, und ein Zeitrahmen von rund acht Monaten.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ich selbst etwas gebaut habe, habe ich den Markt evaluiert – denn eine eigene Entwicklung muss man rechtfertigen, wenn es fertige Produkte gibt. Ich habe drei etablierte Tools genauer angeschaut. Tempo Timesheets ist ein sehr verbreitetes Jira-Plugin, stark in der Zeiterfassung – aber es bietet keine wochenbasierte, vorausschauende Kapazitätsplanung. Jira Advanced Roadmaps, Teil von Jira Premium, kann Portfolio- und Roadmap-Planung, ist aber vergleichsweise teuer, komplex in der Einrichtung, und hat keine Team-Kapazitätsansicht in der Form, die wir brauchten. Und Forecast.app deckt klassische Projekt- und Ressourcenplanung ab, hat aber keine direkte Jira-Synchronisation und keine Story-Point-Empfehlung. Preislich bewegen sich diese Tools je nach Modell zwischen etwa zehn und sechzehn Franken pro Benutzer und Monat, was für ein kleines Team schnell ins Gewicht fällt. Mein Fazit aus der Evaluation: Jedes dieser Tools deckt einen Teilbereich gut ab, aber keines verbindet wochenbasierte Kapazitätsplanung, automatische Jira-Synchronisation und Sprint Analytics in einer einzigen Oberfläche. Genau diese Lücke wollte ich schliessen – und das war für mich die Rechtfertigung für eine Eigenentwicklung.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Thema, das mir wichtig ist und das ich transparent machen möchte, ist der Einsatz von künstlicher Intelligenz. Ich habe für dieses Projekt Claude Code von Anthropic als KI-gestützten Co-Engineer eingesetzt. Wichtig ist mir die Abgrenzung, was die KI gemacht hat und was nicht. Eingesetzt habe ich sie für wiederkehrende Code-Teile, für das initiale Aufsetzen von Komponenten und für Dokumentationsentwürfe. Was ausdrücklich bei mir lag: die Architektur, das Datenmodell, das Sicherheitskonzept und sämtliche Designentscheidungen. Mein Arbeitszyklus war dabei immer derselbe, sechs Schritte: Ich formuliere die Anforderung präzise, stelle den Kontext und die Architektur bereit, lasse einen Vorschlag generieren – und dann kommt der entscheidende Teil: Code-Review Zeile für Zeile, manuelles Anpassen und Verifizieren gegen echte Daten. Von diesen sechs Schritten ist nur einer, das Generieren, die eigentliche Beschleunigung durch die KI; die restlichen fünf sind meine Eigenleistung. Mein fachlicher Hintergrund war die Voraussetzung dafür, Vorschläge überhaupt beurteilen, anpassen oder verwerfen zu können. Das vollständige Chat-Protokoll und meine Reflexion dazu finden Sie in den Anhängen E und F – ich habe das bewusst lückenlos dokumentiert, weil Nachvollziehbarkeit hier für mich zentral 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komme ich zum technischen Teil und beginne mit der Architektur – also der grundlegenden Struktur der Anwendung.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Sprintify folgt einer klassischen Drei-Schichten-Architektur: Präsentation, Logik und Datenhaltung sind sauber getrennt. Das Frontend ist eine Single-Page-Application auf Basis von React 19, geschrieben in TypeScript, gebaut mit Vite und gestylt mit Tailwind CSS. Das Backend läuft auf Node.js mit dem Framework Express und nutzt Sequelize als objektrelationalen Mapper. Die API ist in zehn Route-Module aufgeteilt, dazu kommt ein Middleware-Stack für Authentifizierung und Sicherheit. Als Datenbank kommt PostgreSQL zum Einsatz, betrieben als Managed-Dienst in Azure. Lassen Sie mich die zwei wichtigsten Technologieentscheidungen begründen. Node.js habe ich gewählt, weil ich bereits fundierte Erfahrung mit JavaScript und TypeScript hatte und weil das ereignisgesteuerte, nicht-blockierende I/O-Modell hervorragend zur Jira-Anbindung passt – dort fallen sehr viele parallele HTTP-Calls an, und genau das kann Node effizient. PostgreSQL war naheliegend, weil unsere Datenstruktur klar relational ist und weil ACID-Transaktionen für die Konsistenz von Sprint- und Story-Daten wichtig sind. Rechts sehen Sie die beiden externen Systeme: Jira Cloud, angebunden über zwei APIs, und Microsoft Entra ID für die Authentifizierung. Ein Scheduler synchronisiert automatisch alle 15 Minuten mit Jira.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Schauen wir auf das Datenmodell – es umfasst sieben Entitäten. Von links nach rechts: Ein Projekt hat mehrere Sprints, und ein Sprint hat mehrere User Stories. Das ist die zentrale Hierarchie. Interessanter sind die Verknüpfungstabellen, die ich blau markiert habe. Die Beziehung zwischen Usern und Projekten ist eine Many-to-Many-Beziehung – ein User kann in mehreren Projekten sein, ein Projekt hat mehrere User. Aufgelöst wird das über die Tabelle ProjectUser, und genau dort ist auch die Rolle hinterlegt: Admin, Member oder Viewer. Diese Beziehung war einer der Gründe für PostgreSQL, weil relationale Datenbanken solche Many-to-Many-Konstrukte sauber abbilden. Ähnlich der CapacityPlan: Er hängt sowohl am Sprint als auch am User und speichert die wochenweisen Kapazitätsdaten – also für jede Person in jedem Sprint einen eigenen Plan. Und schliesslich die Retrospektive, die über einen Unique Constraint genau einem Sprint zugeordnet ist, damit historisch nachvollziehbar bleibt, welche Verbesserungen wann beschlossen wurden. Sieben Modelle klingt schlank, und das ist Absicht: Ich habe das Datenmodell bewusst so einfach wie möglich gehalten.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Thema Sicherheit und Zugriffskontrolle, das mir als Cloud Engineer besonders am Herzen liegt. Die Authentifizierung läuft über Microsoft Entra ID mit der Microsoft Authentication Library. Im Frontend kommt der OAuth-2.0-Authorization-Code-Flow zum Einsatz, im Backend werden die ausgestellten JWT-Tokens validiert. Der grosse Vorteil dieses Ansatzes: Wir bekommen Single Sign-On gegen das bestehende Active Directory der Organisation, und es gibt keinen eigenen Passwort-Speicher – das schliesst eine ganze Klasse von Angriffen von vornherein aus. Für die lokale Entwicklung gibt es zusätzlich einen Fallback über eine lokale JWT-Authentifizierung. Die Autorisierung arbeitet auf zwei Ebenen: Global unterscheide ich Admin und Member, auf Projektebene kommt über die ProjectUser-Tabelle zusätzlich der Viewer mit reinem Lesezugriff dazu. Als Sicherheits-Baseline setze ich Helmet für die HTTP-Security-Header ein – also Content Security Policy, X-Frame-Options, HSTS – sowie eine restriktive CORS-Konfiguration. Und jetzt bin ich bewusst ehrlich: CSRF-Schutz, Rate Limiting und erweiterte Input-Sanitisierung sind noch nicht umgesetzt, sondern als nächste Härtungsphase vor dem produktiven Go-Live geplant, orientiert an den OWASP Top 10. In der Diplomphase ist die App nur im internen Netz erreichbar, deshalb ist diese Reihenfolge vertretbar – aber vor einem echten Rollout gehört das ergänzt.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Kommen wir zu dem Teil, der mir am meisten Kopfzerbrechen bereitet hat: der Jira-Integration.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der Architektur und der Integration zeige ich Ihnen jetzt die einzelnen fachlichen Module im Detail.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zweite grosse Modul ist Sprint Analytics, und es hat vier Ansichten. Ich finde es hilfreich, jede Ansicht mit der Frage zu verknüpfen, die sie beantwortet. Die Overview zeigt die Kennzahlen des aktuellen Sprints und ein Burndown-Chart – sie beantwortet die Frage: Sind wir auf Kurs? Die Compare-Ansicht stellt die aktuelle Velocity dem vorherigen Sprint und Langzeit-Benchmarks gegenüber – sie beantwortet: Werden wir besser oder schlechter? Die Changes-Ansicht zeigt, welche Stories während des Sprints zum Umfang dazugekommen sind – sie beantwortet die Frage: Warum haben wir das Ziel verfehlt? Denn in unserer Erfahrung sind genau solche nachträglichen Scope-Änderungen einer der häufigsten Gründe für verfehlte Sprint-Ziele. Und die vierte Ansicht, Team Performance, zeigt die Velocity pro Person als Balkendiagramm – sie beantwortet: Ist die Arbeit gleichmässig verteilt? Ein wichtiger Hinweis dazu: Diese Ansicht ist ausdrücklich nicht für die individuelle Leistungsbewertung gedacht, sondern um Überlastung oder eine ungleiche Verteilung frühzeitig zu erkennen.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ergänzende Funktionen runden das ab. Die Sprint History zeigt die Velocity über alle abgeschlossenen Sprints als Balkendiagramm. Das ist wichtiger, als es klingt, denn genau diese historische Datenbasis existierte vorher nicht – und sie ist die Grundlage sowohl für die Story-Point-Empfehlung als auch für den Forecast. Und der Forecast, den Sie später auf dem Dashboard sehen, rechnet aus der durchschnittlichen Velocity und den noch verbleibenden Story Points im Backlog aus, wie viele Sprints voraussichtlich noch nötig sind und wann das Backlog fertig sein wird. So bekommt das Team nicht nur einen Blick zurück auf die geleistete Arbeit, sondern auch eine belastbare Prognose nach vorn – beides auf derselben Datenbasis.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kurzer Blick auf den Entwicklungsprozess und wie sich die acht Monate konkret aufgeteilt haben.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Deployment und Betrieb. Sprintify läuft auf Azure App Service, also einer Managed-Cloud-Plattform. Der entscheidende Vorteil ist für mich nicht in erster Linie das Geld, sondern dass ich keinen eigenen Server warten muss: zentrale Updates, automatische Skalierung, kein Patchen am Wochenende. Gerade für ein Ein-Mann-Projekt war das entscheidend, weil ich für klassischen Server-Betrieb schlicht keine Kapazität gehabt hätte. Konkret läuft das Backend als App Service, das Frontend als vorkompilierte statische Dateien, und die Datenbank als Managed PostgreSQL – auch die will ich nicht selbst betreiben, Backups und Patches übernimmt die Plattform. Konfiguriert wird alles über Azure App Settings, also Umgebungsvariablen, sodass keine Zugangsdaten im Code liegen. Und Datenbankmigrationen laufen sauber versioniert über die Sequelize-CLI. Das Deployment über eine Managed-Plattform entspricht auch dem aktuellen Trend – man verlagert den Betriebsaufwand bewusst zum Cloud-Anbieter.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viel zur Technik – jetzt zeige ich Ihnen die Anwendung selbst, anhand von Screenshots aus dem produktiven Einsatz. Ein Hinweis vorweg: Personennamen von Kolleginnen und Kollegen sowie Kundendaten habe ich aus Datenschutzgründen unkenntlich gemacht. Die Kennzahlen, die Sie sehen, sind aber echt.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Kommen wir zur kritischen Würdigung – und da will ich ehrlich sein, in beide Richtungen. Was ist gut gelaufen? Das iterative Vorgehen hat sich klar bewährt, gerade weil sich Anforderungen unterwegs geändert haben. Die Anwendung läuft heute produktiv mit echten Daten, und die Ergebnisse stimmen. Die Story-Point-Empfehlung als Kombination aus Kapazität und Velocity ist, soweit ich das im Markt gesehen habe, ein echtes Alleinstellungsmerkmal. Und auch der KI-Einsatz hat mich spürbar beschleunigt – aber, und das gehört zur Ehrlichkeit dazu, nur weil ich jeden Vorschlag konsequent manuell reviewt habe. Was würde ich anders machen? Erstens habe ich die schiere Vielfalt der Jira-Konfigurationen deutlich unterschätzt. Ein kurzer technischer Spike ganz zu Beginn – ein Wegwerf-Prototyp nur für die Jira-Anbindung – hätte mir den Aufwand realistischer gezeigt und einiges an Nacharbeit erspart. Zweitens habe ich automatisierte Tests aus Zeitgründen nur punktuell geschrieben; das ist eine Schwäche, die die Wartbarkeit betrifft. Und drittens ist die Single-Tenant-Architektur eine bewusste Einschränkung – für die Netcloud reicht sie, für einen Einsatz bei mehreren Organisationen bräuchte es eine Mandantentrennung.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 persönlichen Reflexion – was ich aus diesem Projekt für meine berufliche Praxis mitnehme. Die vielleicht wichtigste Erkenntnis: Bei Integrationsprojekten steckt die grösste Herausforderung selten in der eigenen Codebasis, sondern in den Eigenheiten und Inkonsistenzen des Systems, an das man anbindet. Das werde ich in Zukunft von Anfang an einplanen. Das Projekt allein umzusetzen hatte zwei Seiten: Ich konnte Entscheidungen schnell treffen und musste mich mit niemandem abstimmen – aber mir fehlte das zweite Paar Augen, die Code-Reviews, die man im Team hat. Ohne die schleichen sich Fehler ein, die man selbst nicht sieht. Fachlich habe ich viel dazugelernt: Vorher lag mein Schwerpunkt auf Frontend und Infrastruktur, durch dieses Projekt habe ich fundierte Backend-Erfahrung gewonnen. Drei konkrete Dinge nehme ich mit: Integrationen immer mit einem Spike beginnen, automatisierte Tests von Anfang an schreiben, und auch als Solo-Entwickler Code-Reviews zumindest simulieren. Und zum KI-Einsatz meine zentrale Lehre: Generative KI beschleunigt einen erfahrenen Entwickler erheblich, aber sie ersetzt Fachkompetenz nicht. Wer Vorschläge ungeprüft übernimmt, baut sich Inkonsistenzen, Sicherheitslücken oder erfundene Funktionen ein. Genau deshalb war die manuelle Review-Phase nach jedem Output für mich der entscheidende Schritt.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ich zur Empfehlung komme, ein Blick auf die Wirtschaftlichkeit – denn eine Lösung muss sich am Ende rechnen. Auf der Kostenseite: Der Betrieb von Sprintify kostet rund 630 Franken pro Jahr, im Wesentlichen die Azure-Ressourcen, weil es auf unserer bestehenden Infrastruktur mitläuft. Zum Vergleich habe ich die kommerziellen Alternativen gerechnet: Tempo Timesheets liegt bei rund 960 Franken pro Jahr, Jira Advanced Roadmaps bei über 1500 Franken – und das bei geringerem Funktionsumfang im Bereich Kapazitätsplanung. Sprintify ist also nicht nur günstiger, sondern für unseren konkreten Zweck auch besser zugeschnitten. Auf der Nutzenseite: Ich schätze die Zeitersparnis konservativ auf 80 bis 120 Stunden pro Jahr, allein bei der Datenerhebung und der Re-Planung, die heute manuell laufen. Bei einem internen Stundensatz von 120 Franken entspricht das einer jährlichen Einsparung von rund 9600 bis 14400 Franken. Der Return on Investment ist damit schon ab dem ersten Jahr deutlich positiv – und das ist die betriebswirtschaftliche Begründung für den produktiven Einsatz.</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komme ich zu meiner Empfehlung. Ich empfehle klar, Sprintify in der Abteilung Public Cloud Solutions produktiv einzusetzen – die Anwendung erfüllt die definierten Anforderungen und läuft stabil mit echten Daten. Für den laufenden Betrieb schlage ich fünf konkrete nächste Schritte vor: Erstens die produktive Jira-Anbindung über einen schreibgeschützten Service-Account laufen lassen, damit keine persönlichen Zugangsdaten hinterlegt werden müssen. Zweitens eine kurze Einführungsschulung für das Team. Drittens in den ersten drei Sprints gezielt Feedback sammeln und einfliessen lassen. Viertens die automatisierten Tests ausbauen, um die Wartbarkeit zu sichern. Und fünftens mittelfristig eine mobile Ansicht ergänzen, damit das Tool auch während der Stand-ups am Handy nutzbar ist. Was passiert, wenn wir es nicht einsetzen? Dann bleibt die Kapazitätsplanung auf verteilte Excel-Listen angewiesen, und die Sprint-Schätzungen basieren weiterhin auf Erfahrungswerten statt auf Daten – mit allen Nachteilen, die ich eingangs geschildert habe.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bin ich am Ende meiner Präsentation. Lassen Sie mich mit dem Satz schliessen, mit dem ich angefangen habe: Sprintify gibt dem Team eine datenbasierte Antwort auf die Frage, wie viele Story Points wir im nächsten Sprint realistisch schaffen. Aus einem Bauchgefühl ist eine nachvollziehbare, datengestützte Empfehlung geworden. Ich danke Ihnen herzlich für Ihre Aufmerksamkeit und freue mich jetzt auf Ihre Fragen.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2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svg"/><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F1B7889D-365F-4755-68D8-797BCC574BDA}"/>
              </a:ext>
            </a:extLst>
          </p:cNvPr>
          <p:cNvPicPr>
            <a:picLocks noChangeAspect="1"/>
          </p:cNvPicPr>
          <p:nvPr/>
        </p:nvPicPr>
        <p:blipFill>
          <a:blip r:embed="rId2"/>
          <a:stretch>
            <a:fillRect/>
          </a:stretch>
        </p:blipFill>
        <p:spPr>
          <a:xfrm>
            <a:off x="0" y="-2168702"/>
            <a:ext cx="12192000" cy="1119540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A90C4-7271-E007-F716-675FB31AF16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7F5115D-C245-31E5-39D9-C72C7CC1E29F}"/>
              </a:ext>
            </a:extLst>
          </p:cNvPr>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AFA8BA17-6CF1-0521-E13D-DD94D3C782BD}"/>
              </a:ext>
            </a:extLst>
          </p:cNvPr>
          <p:cNvSpPr txBox="1"/>
          <p:nvPr/>
        </p:nvSpPr>
        <p:spPr>
          <a:xfrm>
            <a:off x="457200" y="2286000"/>
            <a:ext cx="11277295" cy="1371600"/>
          </a:xfrm>
          <a:prstGeom prst="rect">
            <a:avLst/>
          </a:prstGeom>
          <a:noFill/>
        </p:spPr>
        <p:txBody>
          <a:bodyPr wrap="square">
            <a:spAutoFit/>
          </a:bodyPr>
          <a:lstStyle/>
          <a:p>
            <a:pPr algn="ctr">
              <a:defRPr sz="4400" b="1">
                <a:solidFill>
                  <a:srgbClr val="FFFFFF"/>
                </a:solidFill>
              </a:defRPr>
            </a:pPr>
            <a:r>
              <a:rPr dirty="0" err="1"/>
              <a:t>Sprintify</a:t>
            </a:r>
            <a:endParaRPr dirty="0"/>
          </a:p>
          <a:p>
            <a:pPr algn="ctr">
              <a:spcBef>
                <a:spcPts val="2000"/>
              </a:spcBef>
              <a:defRPr sz="2400">
                <a:solidFill>
                  <a:srgbClr val="94A3B8"/>
                </a:solidFill>
              </a:defRPr>
            </a:pPr>
            <a:r>
              <a:rPr dirty="0" err="1"/>
              <a:t>Entwicklung</a:t>
            </a:r>
            <a:r>
              <a:rPr dirty="0"/>
              <a:t> </a:t>
            </a:r>
            <a:r>
              <a:rPr dirty="0" err="1"/>
              <a:t>eines</a:t>
            </a:r>
            <a:r>
              <a:rPr dirty="0"/>
              <a:t> Capacity-Planning-Tools </a:t>
            </a:r>
            <a:r>
              <a:rPr dirty="0" err="1"/>
              <a:t>mit</a:t>
            </a:r>
            <a:r>
              <a:rPr dirty="0"/>
              <a:t> Jira-Integration</a:t>
            </a:r>
            <a:br>
              <a:rPr dirty="0"/>
            </a:br>
            <a:br>
              <a:rPr dirty="0"/>
            </a:br>
            <a:r>
              <a:rPr dirty="0"/>
              <a:t>Timo Haldi | HF ICT 2023 F | Coach: Ardin Ibraimi</a:t>
            </a:r>
          </a:p>
        </p:txBody>
      </p:sp>
      <p:pic>
        <p:nvPicPr>
          <p:cNvPr id="5" name="Graphic 4">
            <a:extLst>
              <a:ext uri="{FF2B5EF4-FFF2-40B4-BE49-F238E27FC236}">
                <a16:creationId xmlns:a16="http://schemas.microsoft.com/office/drawing/2014/main" id="{D826DA5F-8593-18F7-942D-D6C4830818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Tree>
    <p:extLst>
      <p:ext uri="{BB962C8B-B14F-4D97-AF65-F5344CB8AC3E}">
        <p14:creationId xmlns:p14="http://schemas.microsoft.com/office/powerpoint/2010/main" val="4713732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1"/>
            <a:ext cx="12192000" cy="345988"/>
          </a:xfrm>
          <a:prstGeom prst="rect">
            <a:avLst/>
          </a:prstGeom>
          <a:solidFill>
            <a:srgbClr val="10172A"/>
          </a:solidFill>
          <a:ln>
            <a:noFill/>
          </a:ln>
          <a:effectLst/>
        </p:spPr>
        <p:txBody>
          <a:bodyPr rtlCol="0" anchor="ctr"/>
          <a:lstStyle/>
          <a:p>
            <a:pPr algn="ctr"/>
            <a:endParaRPr/>
          </a:p>
        </p:txBody>
      </p:sp>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rPr dirty="0"/>
              <a:t>Agenda</a:t>
            </a:r>
          </a:p>
        </p:txBody>
      </p:sp>
      <p:sp>
        <p:nvSpPr>
          <p:cNvPr id="4" name="TextBox 3"/>
          <p:cNvSpPr txBox="1"/>
          <p:nvPr/>
        </p:nvSpPr>
        <p:spPr>
          <a:xfrm>
            <a:off x="685801" y="1371600"/>
            <a:ext cx="8136924" cy="4555093"/>
          </a:xfrm>
          <a:prstGeom prst="rect">
            <a:avLst/>
          </a:prstGeom>
          <a:noFill/>
        </p:spPr>
        <p:txBody>
          <a:bodyPr wrap="square">
            <a:spAutoFit/>
          </a:bodyPr>
          <a:lstStyle/>
          <a:p>
            <a:pPr>
              <a:spcBef>
                <a:spcPts val="800"/>
              </a:spcBef>
              <a:spcAft>
                <a:spcPts val="400"/>
              </a:spcAft>
              <a:defRPr sz="2000">
                <a:solidFill>
                  <a:srgbClr val="334155"/>
                </a:solidFill>
              </a:defRPr>
            </a:pPr>
            <a:r>
              <a:rPr dirty="0"/>
              <a:t>1. Vorstellung und Kontext</a:t>
            </a:r>
          </a:p>
          <a:p>
            <a:pPr>
              <a:spcBef>
                <a:spcPts val="800"/>
              </a:spcBef>
              <a:spcAft>
                <a:spcPts val="400"/>
              </a:spcAft>
              <a:defRPr sz="2000">
                <a:solidFill>
                  <a:srgbClr val="334155"/>
                </a:solidFill>
              </a:defRPr>
            </a:pPr>
            <a:r>
              <a:rPr dirty="0"/>
              <a:t>2. Problemstellung und Auftrag</a:t>
            </a:r>
          </a:p>
          <a:p>
            <a:pPr>
              <a:spcBef>
                <a:spcPts val="800"/>
              </a:spcBef>
              <a:spcAft>
                <a:spcPts val="400"/>
              </a:spcAft>
              <a:defRPr sz="2000">
                <a:solidFill>
                  <a:srgbClr val="334155"/>
                </a:solidFill>
              </a:defRPr>
            </a:pPr>
            <a:r>
              <a:rPr dirty="0"/>
              <a:t>3. Vorgehen und Projektplanung</a:t>
            </a:r>
          </a:p>
          <a:p>
            <a:pPr>
              <a:spcBef>
                <a:spcPts val="800"/>
              </a:spcBef>
              <a:spcAft>
                <a:spcPts val="400"/>
              </a:spcAft>
              <a:defRPr sz="2000">
                <a:solidFill>
                  <a:srgbClr val="334155"/>
                </a:solidFill>
              </a:defRPr>
            </a:pPr>
            <a:r>
              <a:rPr dirty="0"/>
              <a:t>4. KI als Co-Engineer</a:t>
            </a:r>
          </a:p>
          <a:p>
            <a:pPr>
              <a:spcBef>
                <a:spcPts val="800"/>
              </a:spcBef>
              <a:spcAft>
                <a:spcPts val="400"/>
              </a:spcAft>
              <a:defRPr sz="2000">
                <a:solidFill>
                  <a:srgbClr val="334155"/>
                </a:solidFill>
              </a:defRPr>
            </a:pPr>
            <a:r>
              <a:rPr dirty="0"/>
              <a:t>5. Architektur und Technologieentscheidungen</a:t>
            </a:r>
          </a:p>
          <a:p>
            <a:pPr>
              <a:spcBef>
                <a:spcPts val="800"/>
              </a:spcBef>
              <a:spcAft>
                <a:spcPts val="400"/>
              </a:spcAft>
              <a:defRPr sz="2000">
                <a:solidFill>
                  <a:srgbClr val="334155"/>
                </a:solidFill>
              </a:defRPr>
            </a:pPr>
            <a:r>
              <a:rPr dirty="0"/>
              <a:t>6. Ergebnisse: Die Module im Detail</a:t>
            </a:r>
          </a:p>
          <a:p>
            <a:pPr>
              <a:spcBef>
                <a:spcPts val="800"/>
              </a:spcBef>
              <a:spcAft>
                <a:spcPts val="400"/>
              </a:spcAft>
              <a:defRPr sz="2000">
                <a:solidFill>
                  <a:srgbClr val="334155"/>
                </a:solidFill>
              </a:defRPr>
            </a:pPr>
            <a:r>
              <a:rPr dirty="0"/>
              <a:t>7. Sprints und Entwicklungsprozess</a:t>
            </a:r>
          </a:p>
          <a:p>
            <a:pPr>
              <a:spcBef>
                <a:spcPts val="800"/>
              </a:spcBef>
              <a:spcAft>
                <a:spcPts val="400"/>
              </a:spcAft>
              <a:defRPr sz="2000">
                <a:solidFill>
                  <a:srgbClr val="334155"/>
                </a:solidFill>
              </a:defRPr>
            </a:pPr>
            <a:r>
              <a:rPr dirty="0"/>
              <a:t>8. Sprintify im Einsatz</a:t>
            </a:r>
          </a:p>
          <a:p>
            <a:pPr>
              <a:spcBef>
                <a:spcPts val="800"/>
              </a:spcBef>
              <a:spcAft>
                <a:spcPts val="400"/>
              </a:spcAft>
              <a:defRPr sz="2000">
                <a:solidFill>
                  <a:srgbClr val="334155"/>
                </a:solidFill>
              </a:defRPr>
            </a:pPr>
            <a:r>
              <a:rPr dirty="0"/>
              <a:t>9. Kritische Würdigung</a:t>
            </a:r>
          </a:p>
          <a:p>
            <a:pPr>
              <a:spcBef>
                <a:spcPts val="800"/>
              </a:spcBef>
              <a:spcAft>
                <a:spcPts val="400"/>
              </a:spcAft>
              <a:defRPr sz="2000">
                <a:solidFill>
                  <a:srgbClr val="334155"/>
                </a:solidFill>
              </a:defRPr>
            </a:pPr>
            <a:r>
              <a:rPr dirty="0"/>
              <a:t>10. Persönliche Reflexion</a:t>
            </a:r>
          </a:p>
          <a:p>
            <a:pPr>
              <a:spcBef>
                <a:spcPts val="800"/>
              </a:spcBef>
              <a:spcAft>
                <a:spcPts val="400"/>
              </a:spcAft>
              <a:defRPr sz="2000">
                <a:solidFill>
                  <a:srgbClr val="334155"/>
                </a:solidFill>
              </a:defRPr>
            </a:pPr>
            <a:r>
              <a:rPr dirty="0"/>
              <a:t>11. Fazit und Empfehlung</a:t>
            </a:r>
          </a:p>
        </p:txBody>
      </p:sp>
      <p:pic>
        <p:nvPicPr>
          <p:cNvPr id="7" name="Graphic 6">
            <a:extLst>
              <a:ext uri="{FF2B5EF4-FFF2-40B4-BE49-F238E27FC236}">
                <a16:creationId xmlns:a16="http://schemas.microsoft.com/office/drawing/2014/main" id="{DB08D814-4837-0020-7E16-B7BB9E26E9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Vorstellung und Kontext</a:t>
            </a:r>
          </a:p>
        </p:txBody>
      </p:sp>
      <p:sp>
        <p:nvSpPr>
          <p:cNvPr id="4" name="TextBox 3"/>
          <p:cNvSpPr txBox="1"/>
          <p:nvPr/>
        </p:nvSpPr>
        <p:spPr>
          <a:xfrm>
            <a:off x="685800" y="1280160"/>
            <a:ext cx="1642950" cy="430887"/>
          </a:xfrm>
          <a:prstGeom prst="rect">
            <a:avLst/>
          </a:prstGeom>
          <a:noFill/>
        </p:spPr>
        <p:txBody>
          <a:bodyPr wrap="none">
            <a:spAutoFit/>
          </a:bodyPr>
          <a:lstStyle/>
          <a:p>
            <a:pPr>
              <a:defRPr sz="2200" b="1">
                <a:solidFill>
                  <a:srgbClr val="3A04FF"/>
                </a:solidFill>
              </a:defRPr>
            </a:pPr>
            <a:r>
              <a:rPr dirty="0" err="1">
                <a:solidFill>
                  <a:srgbClr val="3B2EFF"/>
                </a:solidFill>
              </a:rPr>
              <a:t>Wer</a:t>
            </a:r>
            <a:r>
              <a:rPr dirty="0">
                <a:solidFill>
                  <a:srgbClr val="3B2EFF"/>
                </a:solidFill>
              </a:rPr>
              <a:t> bin ich?</a:t>
            </a:r>
          </a:p>
        </p:txBody>
      </p:sp>
      <p:sp>
        <p:nvSpPr>
          <p:cNvPr id="5" name="TextBox 4"/>
          <p:cNvSpPr txBox="1"/>
          <p:nvPr/>
        </p:nvSpPr>
        <p:spPr>
          <a:xfrm>
            <a:off x="685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rPr dirty="0"/>
              <a:t>Cloud Engineer </a:t>
            </a:r>
            <a:r>
              <a:rPr dirty="0" err="1"/>
              <a:t>bei</a:t>
            </a:r>
            <a:r>
              <a:rPr dirty="0"/>
              <a:t> der </a:t>
            </a:r>
            <a:r>
              <a:rPr dirty="0" err="1"/>
              <a:t>Netcloud</a:t>
            </a:r>
            <a:r>
              <a:rPr dirty="0"/>
              <a:t> AG</a:t>
            </a:r>
          </a:p>
          <a:p>
            <a:pPr marL="285750" indent="-285750">
              <a:spcBef>
                <a:spcPts val="600"/>
              </a:spcBef>
              <a:defRPr sz="1800">
                <a:solidFill>
                  <a:srgbClr val="334155"/>
                </a:solidFill>
              </a:defRPr>
            </a:pPr>
            <a:r>
              <a:rPr dirty="0" err="1"/>
              <a:t>Abteilung</a:t>
            </a:r>
            <a:r>
              <a:rPr dirty="0"/>
              <a:t> Public Cloud Solutions</a:t>
            </a:r>
          </a:p>
          <a:p>
            <a:pPr marL="285750" indent="-285750">
              <a:spcBef>
                <a:spcPts val="600"/>
              </a:spcBef>
              <a:defRPr sz="1800">
                <a:solidFill>
                  <a:srgbClr val="334155"/>
                </a:solidFill>
              </a:defRPr>
            </a:pPr>
            <a:r>
              <a:rPr dirty="0" err="1"/>
              <a:t>Tagesgeschäft</a:t>
            </a:r>
            <a:r>
              <a:rPr dirty="0"/>
              <a:t>: Azure-</a:t>
            </a:r>
            <a:r>
              <a:rPr dirty="0" err="1"/>
              <a:t>Kundenprojekte</a:t>
            </a:r>
            <a:endParaRPr dirty="0"/>
          </a:p>
          <a:p>
            <a:pPr marL="285750" indent="-285750">
              <a:spcBef>
                <a:spcPts val="600"/>
              </a:spcBef>
              <a:defRPr sz="1800">
                <a:solidFill>
                  <a:srgbClr val="334155"/>
                </a:solidFill>
              </a:defRPr>
            </a:pPr>
            <a:r>
              <a:rPr dirty="0"/>
              <a:t>Team </a:t>
            </a:r>
            <a:r>
              <a:rPr dirty="0" err="1"/>
              <a:t>arbeitet</a:t>
            </a:r>
            <a:r>
              <a:rPr dirty="0"/>
              <a:t> </a:t>
            </a:r>
            <a:r>
              <a:rPr dirty="0" err="1"/>
              <a:t>nach</a:t>
            </a:r>
            <a:r>
              <a:rPr dirty="0"/>
              <a:t> Scrum</a:t>
            </a:r>
          </a:p>
          <a:p>
            <a:pPr marL="285750" indent="-285750">
              <a:spcBef>
                <a:spcPts val="600"/>
              </a:spcBef>
              <a:defRPr sz="1800">
                <a:solidFill>
                  <a:srgbClr val="334155"/>
                </a:solidFill>
              </a:defRPr>
            </a:pPr>
            <a:r>
              <a:rPr dirty="0" err="1"/>
              <a:t>Zweiwöchige</a:t>
            </a:r>
            <a:r>
              <a:rPr dirty="0"/>
              <a:t> Sprints</a:t>
            </a:r>
          </a:p>
        </p:txBody>
      </p:sp>
      <p:sp>
        <p:nvSpPr>
          <p:cNvPr id="6" name="TextBox 5"/>
          <p:cNvSpPr txBox="1"/>
          <p:nvPr/>
        </p:nvSpPr>
        <p:spPr>
          <a:xfrm>
            <a:off x="6400800" y="1280160"/>
            <a:ext cx="3575531" cy="430887"/>
          </a:xfrm>
          <a:prstGeom prst="rect">
            <a:avLst/>
          </a:prstGeom>
          <a:noFill/>
        </p:spPr>
        <p:txBody>
          <a:bodyPr wrap="none">
            <a:spAutoFit/>
          </a:bodyPr>
          <a:lstStyle/>
          <a:p>
            <a:pPr>
              <a:defRPr sz="2200" b="1">
                <a:solidFill>
                  <a:srgbClr val="3A04FF"/>
                </a:solidFill>
              </a:defRPr>
            </a:pPr>
            <a:r>
              <a:rPr dirty="0">
                <a:solidFill>
                  <a:srgbClr val="3B2EFF"/>
                </a:solidFill>
              </a:rPr>
              <a:t>Was </a:t>
            </a:r>
            <a:r>
              <a:rPr dirty="0" err="1">
                <a:solidFill>
                  <a:srgbClr val="3B2EFF"/>
                </a:solidFill>
              </a:rPr>
              <a:t>macht</a:t>
            </a:r>
            <a:r>
              <a:rPr dirty="0">
                <a:solidFill>
                  <a:srgbClr val="3B2EFF"/>
                </a:solidFill>
              </a:rPr>
              <a:t> die </a:t>
            </a:r>
            <a:r>
              <a:rPr dirty="0" err="1">
                <a:solidFill>
                  <a:srgbClr val="3B2EFF"/>
                </a:solidFill>
              </a:rPr>
              <a:t>Netcloud</a:t>
            </a:r>
            <a:r>
              <a:rPr dirty="0">
                <a:solidFill>
                  <a:srgbClr val="3B2EFF"/>
                </a:solidFill>
              </a:rPr>
              <a:t> AG?</a:t>
            </a:r>
          </a:p>
        </p:txBody>
      </p:sp>
      <p:sp>
        <p:nvSpPr>
          <p:cNvPr id="7" name="TextBox 6"/>
          <p:cNvSpPr txBox="1"/>
          <p:nvPr/>
        </p:nvSpPr>
        <p:spPr>
          <a:xfrm>
            <a:off x="6400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t>Schweizer IT-Dienstleister</a:t>
            </a:r>
          </a:p>
          <a:p>
            <a:pPr marL="285750" indent="-285750">
              <a:spcBef>
                <a:spcPts val="600"/>
              </a:spcBef>
              <a:defRPr sz="1800">
                <a:solidFill>
                  <a:srgbClr val="334155"/>
                </a:solidFill>
              </a:defRPr>
            </a:pPr>
            <a:r>
              <a:t>Fokus auf Cloud-Infrastruktur</a:t>
            </a:r>
          </a:p>
          <a:p>
            <a:pPr marL="285750" indent="-285750">
              <a:spcBef>
                <a:spcPts val="600"/>
              </a:spcBef>
              <a:defRPr sz="1800">
                <a:solidFill>
                  <a:srgbClr val="334155"/>
                </a:solidFill>
              </a:defRPr>
            </a:pPr>
            <a:r>
              <a:t>Kunden aus verschiedenen Branchen</a:t>
            </a:r>
          </a:p>
          <a:p>
            <a:pPr marL="285750" indent="-285750">
              <a:spcBef>
                <a:spcPts val="600"/>
              </a:spcBef>
              <a:defRPr sz="1800">
                <a:solidFill>
                  <a:srgbClr val="334155"/>
                </a:solidFill>
              </a:defRPr>
            </a:pPr>
            <a:r>
              <a:t>Unterschiedliche Jira-Setups</a:t>
            </a:r>
          </a:p>
        </p:txBody>
      </p:sp>
      <p:sp>
        <p:nvSpPr>
          <p:cNvPr id="8" name="Rectangle 7">
            <a:extLst>
              <a:ext uri="{FF2B5EF4-FFF2-40B4-BE49-F238E27FC236}">
                <a16:creationId xmlns:a16="http://schemas.microsoft.com/office/drawing/2014/main" id="{B5160B72-785C-39D9-308F-414E1C4AC791}"/>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10" name="Graphic 9">
            <a:extLst>
              <a:ext uri="{FF2B5EF4-FFF2-40B4-BE49-F238E27FC236}">
                <a16:creationId xmlns:a16="http://schemas.microsoft.com/office/drawing/2014/main" id="{80F87AB5-0649-73C1-C420-37E4A44F41F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11" name="TextBox 10"/>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rPr dirty="0" err="1"/>
              <a:t>Problemstellung</a:t>
            </a:r>
            <a:endParaRPr dirty="0"/>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rPr dirty="0"/>
              <a:t>Sprint-</a:t>
            </a:r>
            <a:r>
              <a:rPr dirty="0" err="1"/>
              <a:t>Planung</a:t>
            </a:r>
            <a:r>
              <a:rPr dirty="0"/>
              <a:t> </a:t>
            </a:r>
            <a:r>
              <a:rPr dirty="0" err="1"/>
              <a:t>vor</a:t>
            </a:r>
            <a:r>
              <a:rPr dirty="0"/>
              <a:t> </a:t>
            </a:r>
            <a:r>
              <a:rPr dirty="0" err="1"/>
              <a:t>Sprintify</a:t>
            </a:r>
            <a:r>
              <a:rPr dirty="0"/>
              <a:t>:</a:t>
            </a:r>
          </a:p>
          <a:p>
            <a:pPr marL="285750" lvl="1" indent="-285750">
              <a:spcBef>
                <a:spcPts val="800"/>
              </a:spcBef>
              <a:spcAft>
                <a:spcPts val="400"/>
              </a:spcAft>
              <a:defRPr sz="1800">
                <a:solidFill>
                  <a:srgbClr val="334155"/>
                </a:solidFill>
              </a:defRPr>
            </a:pPr>
            <a:r>
              <a:rPr dirty="0" err="1"/>
              <a:t>Kapazitätsplanung</a:t>
            </a:r>
            <a:r>
              <a:rPr dirty="0"/>
              <a:t> via Excel-</a:t>
            </a:r>
            <a:r>
              <a:rPr dirty="0" err="1"/>
              <a:t>Tabellen</a:t>
            </a:r>
            <a:endParaRPr dirty="0"/>
          </a:p>
          <a:p>
            <a:pPr marL="285750" lvl="1" indent="-285750">
              <a:spcBef>
                <a:spcPts val="800"/>
              </a:spcBef>
              <a:spcAft>
                <a:spcPts val="400"/>
              </a:spcAft>
              <a:defRPr sz="1800">
                <a:solidFill>
                  <a:srgbClr val="334155"/>
                </a:solidFill>
              </a:defRPr>
            </a:pPr>
            <a:r>
              <a:rPr dirty="0" err="1"/>
              <a:t>Verstreut</a:t>
            </a:r>
            <a:r>
              <a:rPr dirty="0"/>
              <a:t> </a:t>
            </a:r>
            <a:r>
              <a:rPr dirty="0" err="1"/>
              <a:t>über</a:t>
            </a:r>
            <a:r>
              <a:rPr dirty="0"/>
              <a:t> SharePoint-Ordner</a:t>
            </a:r>
          </a:p>
          <a:p>
            <a:pPr marL="285750" lvl="1" indent="-285750">
              <a:spcBef>
                <a:spcPts val="800"/>
              </a:spcBef>
              <a:spcAft>
                <a:spcPts val="400"/>
              </a:spcAft>
              <a:defRPr sz="1800">
                <a:solidFill>
                  <a:srgbClr val="334155"/>
                </a:solidFill>
              </a:defRPr>
            </a:pPr>
            <a:r>
              <a:rPr dirty="0"/>
              <a:t>Kein </a:t>
            </a:r>
            <a:r>
              <a:rPr dirty="0" err="1"/>
              <a:t>zentraler</a:t>
            </a:r>
            <a:r>
              <a:rPr dirty="0"/>
              <a:t> Ort für </a:t>
            </a:r>
            <a:r>
              <a:rPr dirty="0" err="1"/>
              <a:t>historische</a:t>
            </a:r>
            <a:r>
              <a:rPr dirty="0"/>
              <a:t> Velocity-</a:t>
            </a:r>
            <a:r>
              <a:rPr dirty="0" err="1"/>
              <a:t>Daten</a:t>
            </a:r>
            <a:endParaRPr dirty="0"/>
          </a:p>
          <a:p>
            <a:pPr marL="285750" lvl="1" indent="-285750">
              <a:spcBef>
                <a:spcPts val="800"/>
              </a:spcBef>
              <a:spcAft>
                <a:spcPts val="400"/>
              </a:spcAft>
              <a:defRPr sz="1800">
                <a:solidFill>
                  <a:srgbClr val="334155"/>
                </a:solidFill>
              </a:defRPr>
            </a:pPr>
            <a:r>
              <a:rPr dirty="0" err="1"/>
              <a:t>Abwesenheiten</a:t>
            </a:r>
            <a:r>
              <a:rPr dirty="0"/>
              <a:t> </a:t>
            </a:r>
            <a:r>
              <a:rPr dirty="0" err="1"/>
              <a:t>fliessen</a:t>
            </a:r>
            <a:r>
              <a:rPr dirty="0"/>
              <a:t> </a:t>
            </a:r>
            <a:r>
              <a:rPr dirty="0" err="1"/>
              <a:t>nur</a:t>
            </a:r>
            <a:r>
              <a:rPr dirty="0"/>
              <a:t> </a:t>
            </a:r>
            <a:r>
              <a:rPr dirty="0" err="1"/>
              <a:t>informell</a:t>
            </a:r>
            <a:r>
              <a:rPr dirty="0"/>
              <a:t> in die </a:t>
            </a:r>
            <a:r>
              <a:rPr dirty="0" err="1"/>
              <a:t>Planung</a:t>
            </a:r>
            <a:r>
              <a:rPr dirty="0"/>
              <a:t> </a:t>
            </a:r>
            <a:r>
              <a:rPr dirty="0" err="1"/>
              <a:t>ein</a:t>
            </a:r>
            <a:endParaRPr dirty="0"/>
          </a:p>
          <a:p>
            <a:pPr>
              <a:spcBef>
                <a:spcPts val="800"/>
              </a:spcBef>
              <a:spcAft>
                <a:spcPts val="400"/>
              </a:spcAft>
              <a:defRPr sz="2000">
                <a:solidFill>
                  <a:srgbClr val="334155"/>
                </a:solidFill>
              </a:defRPr>
            </a:pPr>
            <a:endParaRPr dirty="0"/>
          </a:p>
          <a:p>
            <a:pPr>
              <a:spcBef>
                <a:spcPts val="800"/>
              </a:spcBef>
              <a:spcAft>
                <a:spcPts val="400"/>
              </a:spcAft>
              <a:defRPr sz="2000">
                <a:solidFill>
                  <a:srgbClr val="334155"/>
                </a:solidFill>
              </a:defRPr>
            </a:pPr>
            <a:r>
              <a:rPr dirty="0"/>
              <a:t>Die Frage "Wie </a:t>
            </a:r>
            <a:r>
              <a:rPr dirty="0" err="1"/>
              <a:t>viele</a:t>
            </a:r>
            <a:r>
              <a:rPr dirty="0"/>
              <a:t> Story Points </a:t>
            </a:r>
            <a:r>
              <a:rPr dirty="0" err="1"/>
              <a:t>schaffen</a:t>
            </a:r>
            <a:r>
              <a:rPr dirty="0"/>
              <a:t> </a:t>
            </a:r>
            <a:r>
              <a:rPr dirty="0" err="1"/>
              <a:t>wir</a:t>
            </a:r>
            <a:r>
              <a:rPr dirty="0"/>
              <a:t>?" </a:t>
            </a:r>
            <a:r>
              <a:rPr dirty="0" err="1"/>
              <a:t>konnte</a:t>
            </a:r>
            <a:r>
              <a:rPr dirty="0"/>
              <a:t> </a:t>
            </a:r>
            <a:r>
              <a:rPr dirty="0" err="1"/>
              <a:t>niemand</a:t>
            </a:r>
            <a:r>
              <a:rPr dirty="0"/>
              <a:t> </a:t>
            </a:r>
            <a:r>
              <a:rPr dirty="0" err="1"/>
              <a:t>datenbasiert</a:t>
            </a:r>
            <a:r>
              <a:rPr dirty="0"/>
              <a:t> </a:t>
            </a:r>
            <a:r>
              <a:rPr dirty="0" err="1"/>
              <a:t>beantworten</a:t>
            </a:r>
            <a:endParaRPr dirty="0"/>
          </a:p>
          <a:p>
            <a:pPr>
              <a:spcBef>
                <a:spcPts val="800"/>
              </a:spcBef>
              <a:spcAft>
                <a:spcPts val="400"/>
              </a:spcAft>
              <a:defRPr sz="2000">
                <a:solidFill>
                  <a:srgbClr val="334155"/>
                </a:solidFill>
              </a:defRPr>
            </a:pPr>
            <a:endParaRPr dirty="0"/>
          </a:p>
          <a:p>
            <a:pPr>
              <a:spcBef>
                <a:spcPts val="800"/>
              </a:spcBef>
              <a:spcAft>
                <a:spcPts val="400"/>
              </a:spcAft>
              <a:defRPr sz="2000">
                <a:solidFill>
                  <a:srgbClr val="334155"/>
                </a:solidFill>
              </a:defRPr>
            </a:pPr>
            <a:r>
              <a:rPr dirty="0" err="1"/>
              <a:t>Konsequenzen</a:t>
            </a:r>
            <a:r>
              <a:rPr dirty="0"/>
              <a:t>:</a:t>
            </a:r>
          </a:p>
          <a:p>
            <a:pPr marL="285750" lvl="1" indent="-285750">
              <a:spcBef>
                <a:spcPts val="800"/>
              </a:spcBef>
              <a:spcAft>
                <a:spcPts val="400"/>
              </a:spcAft>
              <a:defRPr sz="1800">
                <a:solidFill>
                  <a:srgbClr val="334155"/>
                </a:solidFill>
              </a:defRPr>
            </a:pPr>
            <a:r>
              <a:rPr dirty="0" err="1"/>
              <a:t>Regelmässig</a:t>
            </a:r>
            <a:r>
              <a:rPr dirty="0"/>
              <a:t> </a:t>
            </a:r>
            <a:r>
              <a:rPr dirty="0" err="1"/>
              <a:t>zu</a:t>
            </a:r>
            <a:r>
              <a:rPr dirty="0"/>
              <a:t> </a:t>
            </a:r>
            <a:r>
              <a:rPr dirty="0" err="1"/>
              <a:t>viel</a:t>
            </a:r>
            <a:r>
              <a:rPr dirty="0"/>
              <a:t> </a:t>
            </a:r>
            <a:r>
              <a:rPr dirty="0" err="1"/>
              <a:t>oder</a:t>
            </a:r>
            <a:r>
              <a:rPr dirty="0"/>
              <a:t> </a:t>
            </a:r>
            <a:r>
              <a:rPr dirty="0" err="1"/>
              <a:t>zu</a:t>
            </a:r>
            <a:r>
              <a:rPr dirty="0"/>
              <a:t> </a:t>
            </a:r>
            <a:r>
              <a:rPr dirty="0" err="1"/>
              <a:t>wenig</a:t>
            </a:r>
            <a:r>
              <a:rPr dirty="0"/>
              <a:t> </a:t>
            </a:r>
            <a:r>
              <a:rPr dirty="0" err="1"/>
              <a:t>eingeplant</a:t>
            </a:r>
            <a:endParaRPr dirty="0"/>
          </a:p>
          <a:p>
            <a:pPr marL="285750" lvl="1" indent="-285750">
              <a:spcBef>
                <a:spcPts val="800"/>
              </a:spcBef>
              <a:spcAft>
                <a:spcPts val="400"/>
              </a:spcAft>
              <a:defRPr sz="1800">
                <a:solidFill>
                  <a:srgbClr val="334155"/>
                </a:solidFill>
              </a:defRPr>
            </a:pPr>
            <a:r>
              <a:rPr dirty="0"/>
              <a:t>Sprint-</a:t>
            </a:r>
            <a:r>
              <a:rPr dirty="0" err="1"/>
              <a:t>Ziele</a:t>
            </a:r>
            <a:r>
              <a:rPr dirty="0"/>
              <a:t> </a:t>
            </a:r>
            <a:r>
              <a:rPr dirty="0" err="1"/>
              <a:t>verfehlt</a:t>
            </a:r>
            <a:endParaRPr dirty="0"/>
          </a:p>
          <a:p>
            <a:pPr marL="285750" lvl="1" indent="-285750">
              <a:spcBef>
                <a:spcPts val="800"/>
              </a:spcBef>
              <a:spcAft>
                <a:spcPts val="400"/>
              </a:spcAft>
              <a:defRPr sz="1800">
                <a:solidFill>
                  <a:srgbClr val="334155"/>
                </a:solidFill>
              </a:defRPr>
            </a:pPr>
            <a:r>
              <a:rPr dirty="0"/>
              <a:t>Mehr </a:t>
            </a:r>
            <a:r>
              <a:rPr dirty="0" err="1"/>
              <a:t>Abstimmungsaufwand</a:t>
            </a:r>
            <a:r>
              <a:rPr dirty="0"/>
              <a:t>, </a:t>
            </a:r>
            <a:r>
              <a:rPr dirty="0" err="1"/>
              <a:t>weniger</a:t>
            </a:r>
            <a:r>
              <a:rPr dirty="0"/>
              <a:t> </a:t>
            </a:r>
            <a:r>
              <a:rPr dirty="0" err="1"/>
              <a:t>Planungssicherheit</a:t>
            </a:r>
            <a:endParaRPr dirty="0"/>
          </a:p>
        </p:txBody>
      </p:sp>
      <p:sp>
        <p:nvSpPr>
          <p:cNvPr id="5" name="Rectangle 4">
            <a:extLst>
              <a:ext uri="{FF2B5EF4-FFF2-40B4-BE49-F238E27FC236}">
                <a16:creationId xmlns:a16="http://schemas.microsoft.com/office/drawing/2014/main" id="{9FECF2D2-1619-E517-5450-BB226FCAC47C}"/>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25FDD4D0-900A-BE37-DD38-632ED0722E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Auftrag</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rPr dirty="0"/>
              <a:t>Was </a:t>
            </a:r>
            <a:r>
              <a:rPr dirty="0" err="1"/>
              <a:t>sollte</a:t>
            </a:r>
            <a:r>
              <a:rPr dirty="0"/>
              <a:t> </a:t>
            </a:r>
            <a:r>
              <a:rPr dirty="0" err="1"/>
              <a:t>Sprintify</a:t>
            </a:r>
            <a:r>
              <a:rPr dirty="0"/>
              <a:t> </a:t>
            </a:r>
            <a:r>
              <a:rPr dirty="0" err="1"/>
              <a:t>leisten</a:t>
            </a:r>
            <a:r>
              <a:rPr dirty="0"/>
              <a:t>?</a:t>
            </a:r>
          </a:p>
          <a:p>
            <a:pPr marL="285750" lvl="1" indent="-285750">
              <a:spcBef>
                <a:spcPts val="800"/>
              </a:spcBef>
              <a:spcAft>
                <a:spcPts val="400"/>
              </a:spcAft>
              <a:defRPr sz="1800">
                <a:solidFill>
                  <a:srgbClr val="334155"/>
                </a:solidFill>
              </a:defRPr>
            </a:pPr>
            <a:r>
              <a:rPr dirty="0"/>
              <a:t>Sprints, User Stories und </a:t>
            </a:r>
            <a:r>
              <a:rPr dirty="0" err="1"/>
              <a:t>Teammitglieder</a:t>
            </a:r>
            <a:r>
              <a:rPr dirty="0"/>
              <a:t> </a:t>
            </a:r>
            <a:r>
              <a:rPr dirty="0" err="1"/>
              <a:t>aus</a:t>
            </a:r>
            <a:r>
              <a:rPr dirty="0"/>
              <a:t> Jira </a:t>
            </a:r>
            <a:r>
              <a:rPr dirty="0" err="1"/>
              <a:t>übernehmen</a:t>
            </a:r>
            <a:endParaRPr dirty="0"/>
          </a:p>
          <a:p>
            <a:pPr marL="285750" lvl="1" indent="-285750">
              <a:spcBef>
                <a:spcPts val="800"/>
              </a:spcBef>
              <a:spcAft>
                <a:spcPts val="400"/>
              </a:spcAft>
              <a:defRPr sz="1800">
                <a:solidFill>
                  <a:srgbClr val="334155"/>
                </a:solidFill>
              </a:defRPr>
            </a:pPr>
            <a:r>
              <a:rPr dirty="0" err="1"/>
              <a:t>Kapazitätsplanung</a:t>
            </a:r>
            <a:r>
              <a:rPr dirty="0"/>
              <a:t> pro Person und Sprint (</a:t>
            </a:r>
            <a:r>
              <a:rPr dirty="0" err="1"/>
              <a:t>wochenweise</a:t>
            </a:r>
            <a:r>
              <a:rPr dirty="0"/>
              <a:t>)</a:t>
            </a:r>
          </a:p>
          <a:p>
            <a:pPr marL="285750" lvl="1" indent="-285750">
              <a:spcBef>
                <a:spcPts val="800"/>
              </a:spcBef>
              <a:spcAft>
                <a:spcPts val="400"/>
              </a:spcAft>
              <a:defRPr sz="1800">
                <a:solidFill>
                  <a:srgbClr val="334155"/>
                </a:solidFill>
              </a:defRPr>
            </a:pPr>
            <a:r>
              <a:rPr dirty="0"/>
              <a:t>Sprint Analytics: Burndown, Velocity, Scope-Changes</a:t>
            </a:r>
          </a:p>
          <a:p>
            <a:pPr marL="285750" lvl="1" indent="-285750">
              <a:spcBef>
                <a:spcPts val="800"/>
              </a:spcBef>
              <a:spcAft>
                <a:spcPts val="400"/>
              </a:spcAft>
              <a:defRPr sz="1800">
                <a:solidFill>
                  <a:srgbClr val="334155"/>
                </a:solidFill>
              </a:defRPr>
            </a:pPr>
            <a:r>
              <a:rPr dirty="0"/>
              <a:t>SP-</a:t>
            </a:r>
            <a:r>
              <a:rPr dirty="0" err="1"/>
              <a:t>Empfehlung</a:t>
            </a:r>
            <a:r>
              <a:rPr dirty="0"/>
              <a:t> </a:t>
            </a:r>
            <a:r>
              <a:rPr dirty="0" err="1"/>
              <a:t>basierend</a:t>
            </a:r>
            <a:r>
              <a:rPr dirty="0"/>
              <a:t> auf </a:t>
            </a:r>
            <a:r>
              <a:rPr dirty="0" err="1"/>
              <a:t>Kapazität</a:t>
            </a:r>
            <a:r>
              <a:rPr dirty="0"/>
              <a:t> und Velocity</a:t>
            </a:r>
          </a:p>
          <a:p>
            <a:pPr marL="285750" lvl="1" indent="-285750">
              <a:spcBef>
                <a:spcPts val="800"/>
              </a:spcBef>
              <a:spcAft>
                <a:spcPts val="400"/>
              </a:spcAft>
              <a:defRPr sz="1800">
                <a:solidFill>
                  <a:srgbClr val="334155"/>
                </a:solidFill>
              </a:defRPr>
            </a:pPr>
            <a:r>
              <a:rPr dirty="0" err="1"/>
              <a:t>Rollenbasierte</a:t>
            </a:r>
            <a:r>
              <a:rPr dirty="0"/>
              <a:t> </a:t>
            </a:r>
            <a:r>
              <a:rPr dirty="0" err="1"/>
              <a:t>Zugriffskontrolle</a:t>
            </a:r>
            <a:endParaRPr dirty="0"/>
          </a:p>
          <a:p>
            <a:pPr>
              <a:spcBef>
                <a:spcPts val="800"/>
              </a:spcBef>
              <a:spcAft>
                <a:spcPts val="400"/>
              </a:spcAft>
              <a:defRPr sz="2000">
                <a:solidFill>
                  <a:srgbClr val="334155"/>
                </a:solidFill>
              </a:defRPr>
            </a:pPr>
            <a:endParaRPr dirty="0"/>
          </a:p>
          <a:p>
            <a:pPr>
              <a:spcBef>
                <a:spcPts val="800"/>
              </a:spcBef>
              <a:spcAft>
                <a:spcPts val="400"/>
              </a:spcAft>
              <a:defRPr sz="2000">
                <a:solidFill>
                  <a:srgbClr val="334155"/>
                </a:solidFill>
              </a:defRPr>
            </a:pPr>
            <a:r>
              <a:rPr dirty="0" err="1"/>
              <a:t>Rahmenbedingungen</a:t>
            </a:r>
            <a:r>
              <a:rPr dirty="0"/>
              <a:t>:</a:t>
            </a:r>
          </a:p>
          <a:p>
            <a:pPr marL="285750" lvl="1" indent="-285750">
              <a:spcBef>
                <a:spcPts val="800"/>
              </a:spcBef>
              <a:spcAft>
                <a:spcPts val="400"/>
              </a:spcAft>
              <a:defRPr sz="1800">
                <a:solidFill>
                  <a:srgbClr val="334155"/>
                </a:solidFill>
              </a:defRPr>
            </a:pPr>
            <a:r>
              <a:rPr dirty="0"/>
              <a:t>Deployment auf Azure App Service</a:t>
            </a:r>
          </a:p>
          <a:p>
            <a:pPr marL="285750" lvl="1" indent="-285750">
              <a:spcBef>
                <a:spcPts val="800"/>
              </a:spcBef>
              <a:spcAft>
                <a:spcPts val="400"/>
              </a:spcAft>
              <a:defRPr sz="1800">
                <a:solidFill>
                  <a:srgbClr val="334155"/>
                </a:solidFill>
              </a:defRPr>
            </a:pPr>
            <a:r>
              <a:rPr dirty="0"/>
              <a:t>Ein-Mann-Projekt</a:t>
            </a:r>
          </a:p>
          <a:p>
            <a:pPr marL="285750" lvl="1" indent="-285750">
              <a:spcBef>
                <a:spcPts val="800"/>
              </a:spcBef>
              <a:spcAft>
                <a:spcPts val="400"/>
              </a:spcAft>
              <a:defRPr sz="1800">
                <a:solidFill>
                  <a:srgbClr val="334155"/>
                </a:solidFill>
              </a:defRPr>
            </a:pPr>
            <a:r>
              <a:rPr dirty="0"/>
              <a:t>8 </a:t>
            </a:r>
            <a:r>
              <a:rPr dirty="0" err="1"/>
              <a:t>Monate</a:t>
            </a:r>
            <a:r>
              <a:rPr dirty="0"/>
              <a:t> </a:t>
            </a:r>
            <a:r>
              <a:rPr dirty="0" err="1"/>
              <a:t>Projektlaufzeit</a:t>
            </a:r>
            <a:endParaRPr dirty="0"/>
          </a:p>
        </p:txBody>
      </p:sp>
      <p:sp>
        <p:nvSpPr>
          <p:cNvPr id="5" name="Rectangle 4">
            <a:extLst>
              <a:ext uri="{FF2B5EF4-FFF2-40B4-BE49-F238E27FC236}">
                <a16:creationId xmlns:a16="http://schemas.microsoft.com/office/drawing/2014/main" id="{AD4C9CFC-B7AF-045C-6004-FE2F3D34C0C8}"/>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97E4E46E-E4EE-CA2A-30B4-8602521514F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Marktanalyse</a:t>
            </a:r>
          </a:p>
        </p:txBody>
      </p:sp>
      <p:sp>
        <p:nvSpPr>
          <p:cNvPr id="4" name="TextBox 3"/>
          <p:cNvSpPr txBox="1"/>
          <p:nvPr/>
        </p:nvSpPr>
        <p:spPr>
          <a:xfrm>
            <a:off x="685800" y="1234440"/>
            <a:ext cx="10820095" cy="5029200"/>
          </a:xfrm>
          <a:prstGeom prst="rect">
            <a:avLst/>
          </a:prstGeom>
          <a:noFill/>
        </p:spPr>
        <p:txBody>
          <a:bodyPr wrap="square">
            <a:spAutoFit/>
          </a:bodyPr>
          <a:lstStyle/>
          <a:p>
            <a:pPr>
              <a:spcBef>
                <a:spcPts val="300"/>
              </a:spcBef>
              <a:spcAft>
                <a:spcPts val="200"/>
              </a:spcAft>
              <a:defRPr sz="2000">
                <a:solidFill>
                  <a:srgbClr val="334155"/>
                </a:solidFill>
              </a:defRPr>
            </a:pPr>
            <a:r>
              <a:rPr dirty="0"/>
              <a:t>Tempo Timesheets</a:t>
            </a:r>
          </a:p>
          <a:p>
            <a:pPr marL="285750" lvl="1" indent="-285750">
              <a:spcBef>
                <a:spcPts val="300"/>
              </a:spcBef>
              <a:defRPr sz="1800">
                <a:solidFill>
                  <a:srgbClr val="334155"/>
                </a:solidFill>
              </a:defRPr>
            </a:pPr>
            <a:r>
              <a:rPr b="1" dirty="0">
                <a:solidFill>
                  <a:srgbClr val="15803D"/>
                </a:solidFill>
              </a:rPr>
              <a:t>+  </a:t>
            </a:r>
            <a:r>
              <a:rPr sz="1800">
                <a:solidFill>
                  <a:srgbClr val="334155"/>
                </a:solidFill>
                <a:latin typeface="Arial"/>
              </a:rPr>
              <a:t>Zeiterfassung, Jira-Plugin</a:t>
            </a:r>
          </a:p>
          <a:p>
            <a:pPr marL="285750" lvl="1" indent="-285750">
              <a:spcBef>
                <a:spcPts val="300"/>
              </a:spcBef>
              <a:defRPr sz="1800">
                <a:solidFill>
                  <a:srgbClr val="334155"/>
                </a:solidFill>
              </a:defRPr>
            </a:pPr>
            <a:r>
              <a:rPr b="1" dirty="0">
                <a:solidFill>
                  <a:srgbClr val="B91C1C"/>
                </a:solidFill>
              </a:rPr>
              <a:t>–  </a:t>
            </a:r>
            <a:r>
              <a:rPr sz="1800">
                <a:solidFill>
                  <a:srgbClr val="334155"/>
                </a:solidFill>
                <a:latin typeface="Arial"/>
              </a:rPr>
              <a:t>Keine wochenbasierte Kapazitätsplanung</a:t>
            </a:r>
            <a:endParaRPr dirty="0"/>
          </a:p>
          <a:p>
            <a:pPr>
              <a:spcBef>
                <a:spcPts val="300"/>
              </a:spcBef>
              <a:spcAft>
                <a:spcPts val="200"/>
              </a:spcAft>
              <a:defRPr sz="2000">
                <a:solidFill>
                  <a:srgbClr val="334155"/>
                </a:solidFill>
              </a:defRPr>
            </a:pPr>
            <a:endParaRPr dirty="0"/>
          </a:p>
          <a:p>
            <a:pPr>
              <a:spcBef>
                <a:spcPts val="300"/>
              </a:spcBef>
              <a:spcAft>
                <a:spcPts val="200"/>
              </a:spcAft>
              <a:defRPr sz="2000">
                <a:solidFill>
                  <a:srgbClr val="334155"/>
                </a:solidFill>
              </a:defRPr>
            </a:pPr>
            <a:r>
              <a:rPr dirty="0"/>
              <a:t>Jira Advanced Roadmaps</a:t>
            </a:r>
          </a:p>
          <a:p>
            <a:pPr marL="285750" lvl="1" indent="-285750">
              <a:spcBef>
                <a:spcPts val="300"/>
              </a:spcBef>
              <a:defRPr sz="1800">
                <a:solidFill>
                  <a:srgbClr val="334155"/>
                </a:solidFill>
              </a:defRPr>
            </a:pPr>
            <a:r>
              <a:rPr b="1" dirty="0">
                <a:solidFill>
                  <a:srgbClr val="15803D"/>
                </a:solidFill>
              </a:rPr>
              <a:t>+  </a:t>
            </a:r>
            <a:r>
              <a:rPr sz="1800">
                <a:solidFill>
                  <a:srgbClr val="334155"/>
                </a:solidFill>
                <a:latin typeface="Arial"/>
              </a:rPr>
              <a:t>Portfolio-Planung</a:t>
            </a:r>
            <a:endParaRPr dirty="0"/>
          </a:p>
          <a:p>
            <a:pPr marL="285750" lvl="1" indent="-285750">
              <a:spcBef>
                <a:spcPts val="300"/>
              </a:spcBef>
              <a:defRPr sz="1800">
                <a:solidFill>
                  <a:srgbClr val="334155"/>
                </a:solidFill>
              </a:defRPr>
            </a:pPr>
            <a:r>
              <a:rPr b="1" dirty="0">
                <a:solidFill>
                  <a:srgbClr val="B91C1C"/>
                </a:solidFill>
              </a:rPr>
              <a:t>–  </a:t>
            </a:r>
            <a:r>
              <a:rPr sz="1800">
                <a:solidFill>
                  <a:srgbClr val="334155"/>
                </a:solidFill>
                <a:latin typeface="Arial"/>
              </a:rPr>
              <a:t>Teuer, komplex, keine Team-Kapazitätsansicht</a:t>
            </a:r>
            <a:endParaRPr dirty="0"/>
          </a:p>
          <a:p>
            <a:pPr>
              <a:spcBef>
                <a:spcPts val="300"/>
              </a:spcBef>
              <a:spcAft>
                <a:spcPts val="200"/>
              </a:spcAft>
              <a:defRPr sz="2000">
                <a:solidFill>
                  <a:srgbClr val="334155"/>
                </a:solidFill>
              </a:defRPr>
            </a:pPr>
            <a:endParaRPr dirty="0"/>
          </a:p>
          <a:p>
            <a:pPr>
              <a:spcBef>
                <a:spcPts val="300"/>
              </a:spcBef>
              <a:spcAft>
                <a:spcPts val="200"/>
              </a:spcAft>
              <a:defRPr sz="2000">
                <a:solidFill>
                  <a:srgbClr val="334155"/>
                </a:solidFill>
              </a:defRPr>
            </a:pPr>
            <a:r>
              <a:rPr dirty="0" err="1"/>
              <a:t>Forecast.app</a:t>
            </a:r>
            <a:endParaRPr dirty="0"/>
          </a:p>
          <a:p>
            <a:pPr marL="285750" lvl="1" indent="-285750">
              <a:spcBef>
                <a:spcPts val="300"/>
              </a:spcBef>
              <a:defRPr sz="1800">
                <a:solidFill>
                  <a:srgbClr val="334155"/>
                </a:solidFill>
              </a:defRPr>
            </a:pPr>
            <a:r>
              <a:rPr b="1" dirty="0">
                <a:solidFill>
                  <a:srgbClr val="15803D"/>
                </a:solidFill>
              </a:rPr>
              <a:t>+  </a:t>
            </a:r>
            <a:r>
              <a:rPr sz="1800">
                <a:solidFill>
                  <a:srgbClr val="334155"/>
                </a:solidFill>
                <a:latin typeface="Arial"/>
              </a:rPr>
              <a:t>Projektplanung</a:t>
            </a:r>
            <a:endParaRPr dirty="0"/>
          </a:p>
          <a:p>
            <a:pPr marL="285750" lvl="1" indent="-285750">
              <a:spcBef>
                <a:spcPts val="300"/>
              </a:spcBef>
              <a:defRPr sz="1800">
                <a:solidFill>
                  <a:srgbClr val="334155"/>
                </a:solidFill>
              </a:defRPr>
            </a:pPr>
            <a:r>
              <a:rPr b="1" dirty="0">
                <a:solidFill>
                  <a:srgbClr val="B91C1C"/>
                </a:solidFill>
              </a:rPr>
              <a:t>–  </a:t>
            </a:r>
            <a:r>
              <a:rPr sz="1800">
                <a:solidFill>
                  <a:srgbClr val="334155"/>
                </a:solidFill>
                <a:latin typeface="Arial"/>
              </a:rPr>
              <a:t>Keine direkte Jira-Sync, keine SP-Empfehlung</a:t>
            </a:r>
            <a:endParaRPr dirty="0"/>
          </a:p>
          <a:p>
            <a:pPr>
              <a:spcBef>
                <a:spcPts val="300"/>
              </a:spcBef>
              <a:spcAft>
                <a:spcPts val="200"/>
              </a:spcAft>
              <a:defRPr sz="2000">
                <a:solidFill>
                  <a:srgbClr val="334155"/>
                </a:solidFill>
              </a:defRPr>
            </a:pPr>
            <a:endParaRPr dirty="0"/>
          </a:p>
          <a:p>
            <a:pPr>
              <a:spcBef>
                <a:spcPts val="300"/>
              </a:spcBef>
              <a:spcAft>
                <a:spcPts val="200"/>
              </a:spcAft>
              <a:defRPr sz="2000">
                <a:solidFill>
                  <a:srgbClr val="334155"/>
                </a:solidFill>
              </a:defRPr>
            </a:pPr>
            <a:r>
              <a:rPr dirty="0" err="1"/>
              <a:t>Keines</a:t>
            </a:r>
            <a:r>
              <a:rPr dirty="0"/>
              <a:t> </a:t>
            </a:r>
            <a:r>
              <a:rPr dirty="0" err="1"/>
              <a:t>verbindet</a:t>
            </a:r>
            <a:r>
              <a:rPr dirty="0"/>
              <a:t> </a:t>
            </a:r>
            <a:r>
              <a:rPr dirty="0" err="1"/>
              <a:t>Kapazitätsplanung</a:t>
            </a:r>
            <a:r>
              <a:rPr dirty="0"/>
              <a:t> + Jira-Sync + Sprint Analytics</a:t>
            </a:r>
          </a:p>
        </p:txBody>
      </p:sp>
      <p:sp>
        <p:nvSpPr>
          <p:cNvPr id="5" name="Rectangle 4">
            <a:extLst>
              <a:ext uri="{FF2B5EF4-FFF2-40B4-BE49-F238E27FC236}">
                <a16:creationId xmlns:a16="http://schemas.microsoft.com/office/drawing/2014/main" id="{A56A5171-1D1B-0972-A588-823BD81FE36A}"/>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A357D678-07E9-00DF-E5E5-7FF5E5A37B0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Vorgehen</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t>Methodik: Iteratives Vorgehen (angelehnt an Scrum)</a:t>
            </a:r>
          </a:p>
          <a:p>
            <a:pPr marL="285750" lvl="1" indent="-285750">
              <a:spcBef>
                <a:spcPts val="800"/>
              </a:spcBef>
              <a:spcAft>
                <a:spcPts val="400"/>
              </a:spcAft>
              <a:defRPr sz="1800">
                <a:solidFill>
                  <a:srgbClr val="334155"/>
                </a:solidFill>
              </a:defRPr>
            </a:pPr>
            <a:r>
              <a:t>Zweiwöchige Iterationen mit definierten Zielen</a:t>
            </a:r>
          </a:p>
          <a:p>
            <a:pPr marL="285750" lvl="1" indent="-285750">
              <a:spcBef>
                <a:spcPts val="800"/>
              </a:spcBef>
              <a:spcAft>
                <a:spcPts val="400"/>
              </a:spcAft>
              <a:defRPr sz="1800">
                <a:solidFill>
                  <a:srgbClr val="334155"/>
                </a:solidFill>
              </a:defRPr>
            </a:pPr>
            <a:r>
              <a:t>Regelmässige Besprechung mit dem Auftraggeber</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Vier Projektphasen:</a:t>
            </a:r>
          </a:p>
          <a:p>
            <a:pPr marL="285750" lvl="1" indent="-285750">
              <a:spcBef>
                <a:spcPts val="800"/>
              </a:spcBef>
              <a:spcAft>
                <a:spcPts val="400"/>
              </a:spcAft>
              <a:defRPr sz="1800">
                <a:solidFill>
                  <a:srgbClr val="334155"/>
                </a:solidFill>
              </a:defRPr>
            </a:pPr>
            <a:r>
              <a:t>Phase 1 (Monat 1–2): Analyse &amp; Konzeption</a:t>
            </a:r>
          </a:p>
          <a:p>
            <a:pPr marL="285750" lvl="1" indent="-285750">
              <a:spcBef>
                <a:spcPts val="800"/>
              </a:spcBef>
              <a:spcAft>
                <a:spcPts val="400"/>
              </a:spcAft>
              <a:defRPr sz="1800">
                <a:solidFill>
                  <a:srgbClr val="334155"/>
                </a:solidFill>
              </a:defRPr>
            </a:pPr>
            <a:r>
              <a:t>Phase 2 (Monat 2–4): Backend-Entwicklung</a:t>
            </a:r>
          </a:p>
          <a:p>
            <a:pPr marL="285750" lvl="1" indent="-285750">
              <a:spcBef>
                <a:spcPts val="800"/>
              </a:spcBef>
              <a:spcAft>
                <a:spcPts val="400"/>
              </a:spcAft>
              <a:defRPr sz="1800">
                <a:solidFill>
                  <a:srgbClr val="334155"/>
                </a:solidFill>
              </a:defRPr>
            </a:pPr>
            <a:r>
              <a:t>Phase 3 (Monat 4–6): Frontend-Entwicklung</a:t>
            </a:r>
          </a:p>
          <a:p>
            <a:pPr marL="285750" lvl="1" indent="-285750">
              <a:spcBef>
                <a:spcPts val="800"/>
              </a:spcBef>
              <a:spcAft>
                <a:spcPts val="400"/>
              </a:spcAft>
              <a:defRPr sz="1800">
                <a:solidFill>
                  <a:srgbClr val="334155"/>
                </a:solidFill>
              </a:defRPr>
            </a:pPr>
            <a:r>
              <a:t>Phase 4 (Monat 6–8): Integration &amp; Deployment</a:t>
            </a:r>
          </a:p>
        </p:txBody>
      </p:sp>
      <p:sp>
        <p:nvSpPr>
          <p:cNvPr id="5" name="Rectangle 4">
            <a:extLst>
              <a:ext uri="{FF2B5EF4-FFF2-40B4-BE49-F238E27FC236}">
                <a16:creationId xmlns:a16="http://schemas.microsoft.com/office/drawing/2014/main" id="{595533DE-1E3A-7B0A-93FC-C674590C1B60}"/>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B2DF8846-0566-CB0A-959A-1E039B82DC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KI als Co-Engineer</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rPr dirty="0" err="1"/>
              <a:t>Methodische</a:t>
            </a:r>
            <a:r>
              <a:rPr dirty="0"/>
              <a:t> Wahl: KI-</a:t>
            </a:r>
            <a:r>
              <a:rPr dirty="0" err="1"/>
              <a:t>gestützte</a:t>
            </a:r>
            <a:r>
              <a:rPr dirty="0"/>
              <a:t> </a:t>
            </a:r>
            <a:r>
              <a:rPr dirty="0" err="1"/>
              <a:t>Entwicklung</a:t>
            </a:r>
            <a:r>
              <a:rPr dirty="0"/>
              <a:t> </a:t>
            </a:r>
            <a:r>
              <a:rPr dirty="0" err="1"/>
              <a:t>mit</a:t>
            </a:r>
            <a:r>
              <a:rPr dirty="0"/>
              <a:t> Claude Code (Anthropic)</a:t>
            </a:r>
          </a:p>
          <a:p>
            <a:pPr marL="285750" lvl="1" indent="-285750">
              <a:spcBef>
                <a:spcPts val="800"/>
              </a:spcBef>
              <a:spcAft>
                <a:spcPts val="400"/>
              </a:spcAft>
              <a:defRPr sz="1800">
                <a:solidFill>
                  <a:srgbClr val="334155"/>
                </a:solidFill>
              </a:defRPr>
            </a:pPr>
            <a:r>
              <a:rPr dirty="0"/>
              <a:t>Cloud-Engineer-</a:t>
            </a:r>
            <a:r>
              <a:rPr dirty="0" err="1"/>
              <a:t>Hintergrund</a:t>
            </a:r>
            <a:r>
              <a:rPr dirty="0"/>
              <a:t> </a:t>
            </a:r>
            <a:r>
              <a:rPr dirty="0" err="1"/>
              <a:t>erlaubt</a:t>
            </a:r>
            <a:r>
              <a:rPr dirty="0"/>
              <a:t> </a:t>
            </a:r>
            <a:r>
              <a:rPr dirty="0" err="1"/>
              <a:t>fachliche</a:t>
            </a:r>
            <a:r>
              <a:rPr dirty="0"/>
              <a:t> </a:t>
            </a:r>
            <a:r>
              <a:rPr dirty="0" err="1"/>
              <a:t>Prüfung</a:t>
            </a:r>
            <a:r>
              <a:rPr dirty="0"/>
              <a:t> der </a:t>
            </a:r>
            <a:r>
              <a:rPr dirty="0" err="1"/>
              <a:t>Vorschläge</a:t>
            </a:r>
            <a:endParaRPr dirty="0"/>
          </a:p>
          <a:p>
            <a:pPr marL="285750" lvl="1" indent="-285750">
              <a:spcBef>
                <a:spcPts val="800"/>
              </a:spcBef>
              <a:spcAft>
                <a:spcPts val="400"/>
              </a:spcAft>
              <a:defRPr sz="1800">
                <a:solidFill>
                  <a:srgbClr val="334155"/>
                </a:solidFill>
              </a:defRPr>
            </a:pPr>
            <a:r>
              <a:rPr dirty="0" err="1"/>
              <a:t>Einsatz</a:t>
            </a:r>
            <a:r>
              <a:rPr dirty="0"/>
              <a:t> für Boilerplate, UI-</a:t>
            </a:r>
            <a:r>
              <a:rPr dirty="0" err="1"/>
              <a:t>Komponenten</a:t>
            </a:r>
            <a:r>
              <a:rPr dirty="0"/>
              <a:t>, </a:t>
            </a:r>
            <a:r>
              <a:rPr dirty="0" err="1"/>
              <a:t>Dokumentations-Entwürfe</a:t>
            </a:r>
            <a:r>
              <a:rPr dirty="0"/>
              <a:t>, Sparring</a:t>
            </a:r>
          </a:p>
          <a:p>
            <a:pPr>
              <a:spcBef>
                <a:spcPts val="800"/>
              </a:spcBef>
              <a:spcAft>
                <a:spcPts val="400"/>
              </a:spcAft>
              <a:defRPr sz="2000">
                <a:solidFill>
                  <a:srgbClr val="334155"/>
                </a:solidFill>
              </a:defRPr>
            </a:pPr>
            <a:endParaRPr dirty="0"/>
          </a:p>
          <a:p>
            <a:pPr>
              <a:spcBef>
                <a:spcPts val="800"/>
              </a:spcBef>
              <a:spcAft>
                <a:spcPts val="400"/>
              </a:spcAft>
              <a:defRPr sz="2000">
                <a:solidFill>
                  <a:srgbClr val="334155"/>
                </a:solidFill>
              </a:defRPr>
            </a:pPr>
            <a:r>
              <a:rPr dirty="0"/>
              <a:t>Mein </a:t>
            </a:r>
            <a:r>
              <a:rPr dirty="0" err="1"/>
              <a:t>Arbeitszyklus</a:t>
            </a:r>
            <a:r>
              <a:rPr dirty="0"/>
              <a:t>:</a:t>
            </a:r>
          </a:p>
          <a:p>
            <a:pPr marL="285750" lvl="1" indent="-285750">
              <a:spcBef>
                <a:spcPts val="800"/>
              </a:spcBef>
              <a:spcAft>
                <a:spcPts val="400"/>
              </a:spcAft>
              <a:defRPr sz="1800">
                <a:solidFill>
                  <a:srgbClr val="334155"/>
                </a:solidFill>
              </a:defRPr>
            </a:pPr>
            <a:r>
              <a:rPr dirty="0" err="1"/>
              <a:t>Anforderung</a:t>
            </a:r>
            <a:r>
              <a:rPr dirty="0"/>
              <a:t> </a:t>
            </a:r>
            <a:r>
              <a:rPr dirty="0" err="1"/>
              <a:t>präzise</a:t>
            </a:r>
            <a:r>
              <a:rPr dirty="0"/>
              <a:t> </a:t>
            </a:r>
            <a:r>
              <a:rPr dirty="0" err="1"/>
              <a:t>formulieren</a:t>
            </a:r>
            <a:endParaRPr dirty="0"/>
          </a:p>
          <a:p>
            <a:pPr marL="285750" lvl="1" indent="-285750">
              <a:spcBef>
                <a:spcPts val="800"/>
              </a:spcBef>
              <a:spcAft>
                <a:spcPts val="400"/>
              </a:spcAft>
              <a:defRPr sz="1800">
                <a:solidFill>
                  <a:srgbClr val="334155"/>
                </a:solidFill>
              </a:defRPr>
            </a:pPr>
            <a:r>
              <a:rPr dirty="0" err="1"/>
              <a:t>Architektur</a:t>
            </a:r>
            <a:r>
              <a:rPr dirty="0"/>
              <a:t> und </a:t>
            </a:r>
            <a:r>
              <a:rPr dirty="0" err="1"/>
              <a:t>Kontext</a:t>
            </a:r>
            <a:r>
              <a:rPr dirty="0"/>
              <a:t> </a:t>
            </a:r>
            <a:r>
              <a:rPr dirty="0" err="1"/>
              <a:t>bereitstellen</a:t>
            </a:r>
            <a:endParaRPr dirty="0"/>
          </a:p>
          <a:p>
            <a:pPr marL="285750" lvl="1" indent="-285750">
              <a:spcBef>
                <a:spcPts val="800"/>
              </a:spcBef>
              <a:spcAft>
                <a:spcPts val="400"/>
              </a:spcAft>
              <a:defRPr sz="1800">
                <a:solidFill>
                  <a:srgbClr val="334155"/>
                </a:solidFill>
              </a:defRPr>
            </a:pPr>
            <a:r>
              <a:rPr dirty="0"/>
              <a:t>KI </a:t>
            </a:r>
            <a:r>
              <a:rPr dirty="0" err="1"/>
              <a:t>generiert</a:t>
            </a:r>
            <a:r>
              <a:rPr dirty="0"/>
              <a:t> </a:t>
            </a:r>
            <a:r>
              <a:rPr dirty="0" err="1"/>
              <a:t>Vorschlag</a:t>
            </a:r>
            <a:r>
              <a:rPr dirty="0"/>
              <a:t> — </a:t>
            </a:r>
            <a:r>
              <a:rPr dirty="0" err="1"/>
              <a:t>Eigenleistung</a:t>
            </a:r>
            <a:r>
              <a:rPr dirty="0"/>
              <a:t>: </a:t>
            </a:r>
            <a:r>
              <a:rPr dirty="0" err="1"/>
              <a:t>Schritte</a:t>
            </a:r>
            <a:r>
              <a:rPr dirty="0"/>
              <a:t> 1, 2, 4, 5, 6</a:t>
            </a:r>
          </a:p>
          <a:p>
            <a:pPr marL="285750" lvl="1" indent="-285750">
              <a:spcBef>
                <a:spcPts val="800"/>
              </a:spcBef>
              <a:spcAft>
                <a:spcPts val="400"/>
              </a:spcAft>
              <a:defRPr sz="1800">
                <a:solidFill>
                  <a:srgbClr val="334155"/>
                </a:solidFill>
              </a:defRPr>
            </a:pPr>
            <a:r>
              <a:rPr dirty="0"/>
              <a:t>Code-Review Zeile für Zeile, </a:t>
            </a:r>
            <a:r>
              <a:rPr dirty="0" err="1"/>
              <a:t>manuell</a:t>
            </a:r>
            <a:r>
              <a:rPr dirty="0"/>
              <a:t> </a:t>
            </a:r>
            <a:r>
              <a:rPr dirty="0" err="1"/>
              <a:t>anpassen</a:t>
            </a:r>
            <a:r>
              <a:rPr dirty="0"/>
              <a:t>, </a:t>
            </a:r>
            <a:r>
              <a:rPr dirty="0" err="1"/>
              <a:t>gegen</a:t>
            </a:r>
            <a:r>
              <a:rPr dirty="0"/>
              <a:t> </a:t>
            </a:r>
            <a:r>
              <a:rPr dirty="0" err="1"/>
              <a:t>echte</a:t>
            </a:r>
            <a:r>
              <a:rPr dirty="0"/>
              <a:t> </a:t>
            </a:r>
            <a:r>
              <a:rPr dirty="0" err="1"/>
              <a:t>Daten</a:t>
            </a:r>
            <a:r>
              <a:rPr dirty="0"/>
              <a:t> </a:t>
            </a:r>
            <a:r>
              <a:rPr dirty="0" err="1"/>
              <a:t>validieren</a:t>
            </a:r>
            <a:endParaRPr dirty="0"/>
          </a:p>
          <a:p>
            <a:pPr marL="285750" lvl="1" indent="-285750">
              <a:buClr>
                <a:srgbClr val="3B2EFF"/>
              </a:buClr>
              <a:buSzPct val="70000"/>
              <a:buFont typeface="Arial"/>
              <a:buChar char="●"/>
            </a:pPr>
            <a:r>
              <a:rPr lang="de-CH" sz="1800" dirty="0">
                <a:solidFill>
                  <a:srgbClr val="334155"/>
                </a:solidFill>
              </a:rPr>
              <a:t>Vollständiges KI-Chat-Protokoll dokumentiert in Anhang E &amp; F</a:t>
            </a:r>
          </a:p>
        </p:txBody>
      </p:sp>
      <p:sp>
        <p:nvSpPr>
          <p:cNvPr id="5" name="Rectangle 4">
            <a:extLst>
              <a:ext uri="{FF2B5EF4-FFF2-40B4-BE49-F238E27FC236}">
                <a16:creationId xmlns:a16="http://schemas.microsoft.com/office/drawing/2014/main" id="{595533DE-1E3A-7B0A-93FC-C674590C1B60}"/>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B2DF8846-0566-CB0A-959A-1E039B82DCE3}"/>
              </a:ext>
            </a:extLst>
          </p:cNvPr>
          <p:cNvPicPr>
            <a:picLocks noChangeAspect="1"/>
          </p:cNvPicPr>
          <p:nvPr/>
        </p:nvPicPr>
        <p:blipFill>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172A"/>
          </a:solidFill>
          <a:ln>
            <a:noFill/>
          </a:ln>
        </p:spPr>
        <p:txBody>
          <a:bodyPr rtlCol="0" anchor="ctr"/>
          <a:lstStyle/>
          <a:p>
            <a:pPr algn="ctr"/>
            <a:endParaRPr/>
          </a:p>
        </p:txBody>
      </p:sp>
      <p:sp>
        <p:nvSpPr>
          <p:cNvPr id="3" name="TextBox 2"/>
          <p:cNvSpPr txBox="1"/>
          <p:nvPr/>
        </p:nvSpPr>
        <p:spPr>
          <a:xfrm>
            <a:off x="457199" y="3429000"/>
            <a:ext cx="11277295" cy="1371600"/>
          </a:xfrm>
          <a:prstGeom prst="rect">
            <a:avLst/>
          </a:prstGeom>
          <a:noFill/>
        </p:spPr>
        <p:txBody>
          <a:bodyPr wrap="none">
            <a:spAutoFit/>
          </a:bodyPr>
          <a:lstStyle/>
          <a:p>
            <a:pPr algn="ctr">
              <a:defRPr sz="4800" b="1">
                <a:solidFill>
                  <a:srgbClr val="FFFFFF"/>
                </a:solidFill>
              </a:defRPr>
            </a:pPr>
            <a:r>
              <a:rPr dirty="0" err="1"/>
              <a:t>Architektur</a:t>
            </a:r>
            <a:endParaRPr dirty="0"/>
          </a:p>
        </p:txBody>
      </p:sp>
      <p:pic>
        <p:nvPicPr>
          <p:cNvPr id="4" name="Graphic 3">
            <a:extLst>
              <a:ext uri="{FF2B5EF4-FFF2-40B4-BE49-F238E27FC236}">
                <a16:creationId xmlns:a16="http://schemas.microsoft.com/office/drawing/2014/main" id="{DAD7570C-B3A7-B69B-2965-32524B7CEE0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6444" y="2841229"/>
            <a:ext cx="1018804" cy="587771"/>
          </a:xfrm>
          <a:prstGeom prst="rect">
            <a:avLst/>
          </a:prstGeom>
        </p:spPr>
      </p:pic>
      <p:sp>
        <p:nvSpPr>
          <p:cNvPr id="5" name="TextBox 4"/>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Architekturübersicht</a:t>
            </a:r>
          </a:p>
        </p:txBody>
      </p:sp>
      <p:sp>
        <p:nvSpPr>
          <p:cNvPr id="5" name="Rectangle 4">
            <a:extLst>
              <a:ext uri="{FF2B5EF4-FFF2-40B4-BE49-F238E27FC236}">
                <a16:creationId xmlns:a16="http://schemas.microsoft.com/office/drawing/2014/main" id="{6FC7C153-1786-82B4-6C36-A7178FBC44B3}"/>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3874DD9D-DEBD-F5E8-08C6-0B9EFDB95CC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11</a:t>
            </a:r>
          </a:p>
        </p:txBody>
      </p:sp>
      <p:sp>
        <p:nvSpPr>
          <p:cNvPr id="9" name="Rounded Rectangle 8"/>
          <p:cNvSpPr/>
          <p:nvPr/>
        </p:nvSpPr>
        <p:spPr>
          <a:xfrm>
            <a:off x="914400" y="1645920"/>
            <a:ext cx="4297680" cy="1051560"/>
          </a:xfrm>
          <a:prstGeom prst="roundRect">
            <a:avLst>
              <a:gd name="adj" fmla="val 8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r>
              <a:rPr sz="1500" b="1">
                <a:solidFill>
                  <a:srgbClr val="1E293B"/>
                </a:solidFill>
                <a:latin typeface="Arial"/>
              </a:rPr>
              <a:t>Frontend</a:t>
            </a:r>
          </a:p>
          <a:p>
            <a:pPr algn="ctr">
              <a:spcBef>
                <a:spcPts val="200"/>
              </a:spcBef>
            </a:pPr>
            <a:r>
              <a:rPr sz="1050">
                <a:solidFill>
                  <a:srgbClr val="64748B"/>
                </a:solidFill>
                <a:latin typeface="Arial"/>
              </a:rPr>
              <a:t>React 19 SPA · TypeScript · Vite · Tailwind</a:t>
            </a:r>
          </a:p>
        </p:txBody>
      </p:sp>
      <p:sp>
        <p:nvSpPr>
          <p:cNvPr id="10" name="Rounded Rectangle 9"/>
          <p:cNvSpPr/>
          <p:nvPr/>
        </p:nvSpPr>
        <p:spPr>
          <a:xfrm>
            <a:off x="914400" y="3063240"/>
            <a:ext cx="4297680" cy="1188720"/>
          </a:xfrm>
          <a:prstGeom prst="roundRect">
            <a:avLst>
              <a:gd name="adj" fmla="val 8000"/>
            </a:avLst>
          </a:prstGeom>
          <a:solidFill>
            <a:srgbClr val="10172A"/>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r>
              <a:rPr sz="1500" b="1">
                <a:solidFill>
                  <a:srgbClr val="FFFFFF"/>
                </a:solidFill>
                <a:latin typeface="Arial"/>
              </a:rPr>
              <a:t>Backend</a:t>
            </a:r>
          </a:p>
          <a:p>
            <a:pPr algn="ctr">
              <a:spcBef>
                <a:spcPts val="200"/>
              </a:spcBef>
            </a:pPr>
            <a:r>
              <a:rPr sz="1050">
                <a:solidFill>
                  <a:srgbClr val="CBD5E1"/>
                </a:solidFill>
                <a:latin typeface="Arial"/>
              </a:rPr>
              <a:t>Node.js · Express.js · 10 Route-Module · Sequelize ORM</a:t>
            </a:r>
          </a:p>
        </p:txBody>
      </p:sp>
      <p:sp>
        <p:nvSpPr>
          <p:cNvPr id="11" name="Rounded Rectangle 10"/>
          <p:cNvSpPr/>
          <p:nvPr/>
        </p:nvSpPr>
        <p:spPr>
          <a:xfrm>
            <a:off x="914400" y="4617720"/>
            <a:ext cx="4297680" cy="960120"/>
          </a:xfrm>
          <a:prstGeom prst="roundRect">
            <a:avLst>
              <a:gd name="adj" fmla="val 8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r>
              <a:rPr sz="1500" b="1">
                <a:solidFill>
                  <a:srgbClr val="1E293B"/>
                </a:solidFill>
                <a:latin typeface="Arial"/>
              </a:rPr>
              <a:t>PostgreSQL</a:t>
            </a:r>
          </a:p>
          <a:p>
            <a:pPr algn="ctr">
              <a:spcBef>
                <a:spcPts val="200"/>
              </a:spcBef>
            </a:pPr>
            <a:r>
              <a:rPr sz="1050">
                <a:solidFill>
                  <a:srgbClr val="64748B"/>
                </a:solidFill>
                <a:latin typeface="Arial"/>
              </a:rPr>
              <a:t>Azure Managed Database</a:t>
            </a:r>
          </a:p>
        </p:txBody>
      </p:sp>
      <p:sp>
        <p:nvSpPr>
          <p:cNvPr id="12" name="Rounded Rectangle 11"/>
          <p:cNvSpPr/>
          <p:nvPr/>
        </p:nvSpPr>
        <p:spPr>
          <a:xfrm>
            <a:off x="6858000" y="1783080"/>
            <a:ext cx="4434840" cy="960120"/>
          </a:xfrm>
          <a:prstGeom prst="roundRect">
            <a:avLst>
              <a:gd name="adj" fmla="val 8000"/>
            </a:avLst>
          </a:prstGeom>
          <a:solidFill>
            <a:srgbClr val="EEF0FF"/>
          </a:solidFill>
          <a:ln w="19050">
            <a:solidFill>
              <a:srgbClr val="3B2EFF"/>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r>
              <a:rPr sz="1500" b="1">
                <a:solidFill>
                  <a:srgbClr val="1E293B"/>
                </a:solidFill>
                <a:latin typeface="Arial"/>
              </a:rPr>
              <a:t>Microsoft Entra ID</a:t>
            </a:r>
          </a:p>
          <a:p>
            <a:pPr algn="ctr">
              <a:spcBef>
                <a:spcPts val="200"/>
              </a:spcBef>
            </a:pPr>
            <a:r>
              <a:rPr sz="1050">
                <a:solidFill>
                  <a:srgbClr val="64748B"/>
                </a:solidFill>
                <a:latin typeface="Arial"/>
              </a:rPr>
              <a:t>MSAL · OAuth 2.0 / OIDC</a:t>
            </a:r>
          </a:p>
        </p:txBody>
      </p:sp>
      <p:sp>
        <p:nvSpPr>
          <p:cNvPr id="13" name="Rounded Rectangle 12"/>
          <p:cNvSpPr/>
          <p:nvPr/>
        </p:nvSpPr>
        <p:spPr>
          <a:xfrm>
            <a:off x="6858000" y="3246120"/>
            <a:ext cx="4434840" cy="1051560"/>
          </a:xfrm>
          <a:prstGeom prst="roundRect">
            <a:avLst>
              <a:gd name="adj" fmla="val 8000"/>
            </a:avLst>
          </a:prstGeom>
          <a:solidFill>
            <a:srgbClr val="EEF0FF"/>
          </a:solidFill>
          <a:ln w="19050">
            <a:solidFill>
              <a:srgbClr val="3B2EFF"/>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r>
              <a:rPr sz="1500" b="1">
                <a:solidFill>
                  <a:srgbClr val="1E293B"/>
                </a:solidFill>
                <a:latin typeface="Arial"/>
              </a:rPr>
              <a:t>Jira Cloud</a:t>
            </a:r>
          </a:p>
          <a:p>
            <a:pPr algn="ctr">
              <a:spcBef>
                <a:spcPts val="200"/>
              </a:spcBef>
            </a:pPr>
            <a:r>
              <a:rPr sz="1050">
                <a:solidFill>
                  <a:srgbClr val="64748B"/>
                </a:solidFill>
                <a:latin typeface="Arial"/>
              </a:rPr>
              <a:t>REST API v2 · Agile API v1.0</a:t>
            </a:r>
          </a:p>
        </p:txBody>
      </p:sp>
      <p:cxnSp>
        <p:nvCxnSpPr>
          <p:cNvPr id="14" name="Connector 13"/>
          <p:cNvCxnSpPr/>
          <p:nvPr/>
        </p:nvCxnSpPr>
        <p:spPr>
          <a:xfrm>
            <a:off x="3063240" y="2697480"/>
            <a:ext cx="0" cy="365760"/>
          </a:xfrm>
          <a:prstGeom prst="line">
            <a:avLst/>
          </a:prstGeom>
          <a:ln w="22225">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46120" y="2724912"/>
            <a:ext cx="2377440" cy="274320"/>
          </a:xfrm>
          <a:prstGeom prst="rect">
            <a:avLst/>
          </a:prstGeom>
          <a:noFill/>
        </p:spPr>
        <p:txBody>
          <a:bodyPr wrap="none" lIns="0" tIns="0" rIns="0" bIns="0">
            <a:spAutoFit/>
          </a:bodyPr>
          <a:lstStyle/>
          <a:p>
            <a:pPr algn="l"/>
            <a:r>
              <a:rPr sz="900" b="0">
                <a:solidFill>
                  <a:srgbClr val="64748B"/>
                </a:solidFill>
                <a:latin typeface="Arial"/>
              </a:rPr>
              <a:t>REST / JSON · JWT</a:t>
            </a:r>
          </a:p>
        </p:txBody>
      </p:sp>
      <p:cxnSp>
        <p:nvCxnSpPr>
          <p:cNvPr id="16" name="Connector 15"/>
          <p:cNvCxnSpPr/>
          <p:nvPr/>
        </p:nvCxnSpPr>
        <p:spPr>
          <a:xfrm>
            <a:off x="3063240" y="4251960"/>
            <a:ext cx="0" cy="365760"/>
          </a:xfrm>
          <a:prstGeom prst="line">
            <a:avLst/>
          </a:prstGeom>
          <a:ln w="22225">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46120" y="4279392"/>
            <a:ext cx="1828800" cy="274320"/>
          </a:xfrm>
          <a:prstGeom prst="rect">
            <a:avLst/>
          </a:prstGeom>
          <a:noFill/>
        </p:spPr>
        <p:txBody>
          <a:bodyPr wrap="none" lIns="0" tIns="0" rIns="0" bIns="0">
            <a:spAutoFit/>
          </a:bodyPr>
          <a:lstStyle/>
          <a:p>
            <a:pPr algn="l"/>
            <a:r>
              <a:rPr sz="900" b="0">
                <a:solidFill>
                  <a:srgbClr val="64748B"/>
                </a:solidFill>
                <a:latin typeface="Arial"/>
              </a:rPr>
              <a:t>Sequelize / SQL</a:t>
            </a:r>
          </a:p>
        </p:txBody>
      </p:sp>
      <p:cxnSp>
        <p:nvCxnSpPr>
          <p:cNvPr id="18" name="Connector 17"/>
          <p:cNvCxnSpPr/>
          <p:nvPr/>
        </p:nvCxnSpPr>
        <p:spPr>
          <a:xfrm>
            <a:off x="5212080" y="2194560"/>
            <a:ext cx="1645920" cy="45720"/>
          </a:xfrm>
          <a:prstGeom prst="line">
            <a:avLst/>
          </a:prstGeom>
          <a:ln w="22225">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257800" y="1920240"/>
            <a:ext cx="1645920" cy="274320"/>
          </a:xfrm>
          <a:prstGeom prst="rect">
            <a:avLst/>
          </a:prstGeom>
          <a:noFill/>
        </p:spPr>
        <p:txBody>
          <a:bodyPr wrap="none" lIns="0" tIns="0" rIns="0" bIns="0">
            <a:spAutoFit/>
          </a:bodyPr>
          <a:lstStyle/>
          <a:p>
            <a:pPr algn="ctr"/>
            <a:r>
              <a:rPr sz="900" b="0">
                <a:solidFill>
                  <a:srgbClr val="64748B"/>
                </a:solidFill>
                <a:latin typeface="Arial"/>
              </a:rPr>
              <a:t>Login</a:t>
            </a:r>
          </a:p>
        </p:txBody>
      </p:sp>
      <p:cxnSp>
        <p:nvCxnSpPr>
          <p:cNvPr id="20" name="Connector 19"/>
          <p:cNvCxnSpPr/>
          <p:nvPr/>
        </p:nvCxnSpPr>
        <p:spPr>
          <a:xfrm>
            <a:off x="5212080" y="3703320"/>
            <a:ext cx="1645920" cy="45719"/>
          </a:xfrm>
          <a:prstGeom prst="line">
            <a:avLst/>
          </a:prstGeom>
          <a:ln w="22225">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166360" y="3803904"/>
            <a:ext cx="1783080" cy="274320"/>
          </a:xfrm>
          <a:prstGeom prst="rect">
            <a:avLst/>
          </a:prstGeom>
          <a:noFill/>
        </p:spPr>
        <p:txBody>
          <a:bodyPr wrap="none" lIns="0" tIns="0" rIns="0" bIns="0">
            <a:spAutoFit/>
          </a:bodyPr>
          <a:lstStyle/>
          <a:p>
            <a:pPr algn="ctr"/>
            <a:r>
              <a:rPr sz="900" b="0">
                <a:solidFill>
                  <a:srgbClr val="64748B"/>
                </a:solidFill>
                <a:latin typeface="Arial"/>
              </a:rPr>
              <a:t>Sync alle 15 Min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 y="1"/>
            <a:ext cx="12192000" cy="345988"/>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Datenmodell</a:t>
            </a:r>
          </a:p>
        </p:txBody>
      </p:sp>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12</a:t>
            </a:r>
          </a:p>
        </p:txBody>
      </p:sp>
      <p:pic>
        <p:nvPicPr>
          <p:cNvPr id="10" name="Picture 9" descr="image.png"/>
          <p:cNvPicPr>
            <a:picLocks noChangeAspect="1"/>
          </p:cNvPicPr>
          <p:nvPr/>
        </p:nvPicPr>
        <p:blipFill>
          <a:blip r:embed="rId2"/>
          <a:stretch>
            <a:fillRect/>
          </a:stretch>
        </p:blipFill>
        <p:spPr>
          <a:xfrm>
            <a:off x="11423401" y="6438385"/>
            <a:ext cx="490837" cy="283175"/>
          </a:xfrm>
          <a:prstGeom prst="rect">
            <a:avLst/>
          </a:prstGeom>
        </p:spPr>
      </p:pic>
      <p:sp>
        <p:nvSpPr>
          <p:cNvPr id="11" name="Rounded Rectangle 10"/>
          <p:cNvSpPr/>
          <p:nvPr/>
        </p:nvSpPr>
        <p:spPr>
          <a:xfrm>
            <a:off x="640080" y="1600200"/>
            <a:ext cx="2286000" cy="658368"/>
          </a:xfrm>
          <a:prstGeom prst="roundRect">
            <a:avLst>
              <a:gd name="adj" fmla="val 9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1E293B"/>
                </a:solidFill>
                <a:latin typeface="Arial"/>
              </a:rPr>
              <a:t>Project</a:t>
            </a:r>
          </a:p>
        </p:txBody>
      </p:sp>
      <p:sp>
        <p:nvSpPr>
          <p:cNvPr id="12" name="Rounded Rectangle 11"/>
          <p:cNvSpPr/>
          <p:nvPr/>
        </p:nvSpPr>
        <p:spPr>
          <a:xfrm>
            <a:off x="4114800" y="1600200"/>
            <a:ext cx="2286000" cy="658368"/>
          </a:xfrm>
          <a:prstGeom prst="roundRect">
            <a:avLst>
              <a:gd name="adj" fmla="val 9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1E293B"/>
                </a:solidFill>
                <a:latin typeface="Arial"/>
              </a:rPr>
              <a:t>Sprint</a:t>
            </a:r>
          </a:p>
        </p:txBody>
      </p:sp>
      <p:sp>
        <p:nvSpPr>
          <p:cNvPr id="13" name="Rounded Rectangle 12"/>
          <p:cNvSpPr/>
          <p:nvPr/>
        </p:nvSpPr>
        <p:spPr>
          <a:xfrm>
            <a:off x="7589520" y="1600200"/>
            <a:ext cx="2286000" cy="658368"/>
          </a:xfrm>
          <a:prstGeom prst="roundRect">
            <a:avLst>
              <a:gd name="adj" fmla="val 9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1E293B"/>
                </a:solidFill>
                <a:latin typeface="Arial"/>
              </a:rPr>
              <a:t>UserStory</a:t>
            </a:r>
          </a:p>
        </p:txBody>
      </p:sp>
      <p:sp>
        <p:nvSpPr>
          <p:cNvPr id="14" name="Rounded Rectangle 13"/>
          <p:cNvSpPr/>
          <p:nvPr/>
        </p:nvSpPr>
        <p:spPr>
          <a:xfrm>
            <a:off x="2148840" y="3611880"/>
            <a:ext cx="2286000" cy="658368"/>
          </a:xfrm>
          <a:prstGeom prst="roundRect">
            <a:avLst>
              <a:gd name="adj" fmla="val 9000"/>
            </a:avLst>
          </a:prstGeom>
          <a:solidFill>
            <a:srgbClr val="EEF0FF"/>
          </a:solidFill>
          <a:ln w="19050">
            <a:solidFill>
              <a:srgbClr val="3B2EFF"/>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dirty="0" err="1">
                <a:solidFill>
                  <a:srgbClr val="1E293B"/>
                </a:solidFill>
                <a:latin typeface="Arial"/>
              </a:rPr>
              <a:t>ProjectUser</a:t>
            </a:r>
            <a:endParaRPr sz="1300" b="1" dirty="0">
              <a:solidFill>
                <a:srgbClr val="1E293B"/>
              </a:solidFill>
              <a:latin typeface="Arial"/>
            </a:endParaRPr>
          </a:p>
          <a:p>
            <a:pPr algn="ctr">
              <a:spcBef>
                <a:spcPts val="100"/>
              </a:spcBef>
            </a:pPr>
            <a:r>
              <a:rPr sz="850" dirty="0">
                <a:solidFill>
                  <a:srgbClr val="3B2EFF"/>
                </a:solidFill>
                <a:latin typeface="Arial"/>
              </a:rPr>
              <a:t>M:N · Rolle</a:t>
            </a:r>
          </a:p>
        </p:txBody>
      </p:sp>
      <p:sp>
        <p:nvSpPr>
          <p:cNvPr id="15" name="Rounded Rectangle 14"/>
          <p:cNvSpPr/>
          <p:nvPr/>
        </p:nvSpPr>
        <p:spPr>
          <a:xfrm>
            <a:off x="5989320" y="3611880"/>
            <a:ext cx="2286000" cy="658368"/>
          </a:xfrm>
          <a:prstGeom prst="roundRect">
            <a:avLst>
              <a:gd name="adj" fmla="val 9000"/>
            </a:avLst>
          </a:prstGeom>
          <a:solidFill>
            <a:srgbClr val="EEF0FF"/>
          </a:solidFill>
          <a:ln w="19050">
            <a:solidFill>
              <a:srgbClr val="3B2EFF"/>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1E293B"/>
                </a:solidFill>
                <a:latin typeface="Arial"/>
              </a:rPr>
              <a:t>CapacityPlan</a:t>
            </a:r>
          </a:p>
          <a:p>
            <a:pPr algn="ctr">
              <a:spcBef>
                <a:spcPts val="100"/>
              </a:spcBef>
            </a:pPr>
            <a:r>
              <a:rPr sz="850">
                <a:solidFill>
                  <a:srgbClr val="3B2EFF"/>
                </a:solidFill>
                <a:latin typeface="Arial"/>
              </a:rPr>
              <a:t>je User &amp; Sprint</a:t>
            </a:r>
          </a:p>
        </p:txBody>
      </p:sp>
      <p:sp>
        <p:nvSpPr>
          <p:cNvPr id="16" name="Rounded Rectangle 15"/>
          <p:cNvSpPr/>
          <p:nvPr/>
        </p:nvSpPr>
        <p:spPr>
          <a:xfrm>
            <a:off x="9418320" y="3611880"/>
            <a:ext cx="2286000" cy="658368"/>
          </a:xfrm>
          <a:prstGeom prst="roundRect">
            <a:avLst>
              <a:gd name="adj" fmla="val 9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1E293B"/>
                </a:solidFill>
                <a:latin typeface="Arial"/>
              </a:rPr>
              <a:t>Retrospective</a:t>
            </a:r>
          </a:p>
        </p:txBody>
      </p:sp>
      <p:sp>
        <p:nvSpPr>
          <p:cNvPr id="17" name="Rounded Rectangle 16"/>
          <p:cNvSpPr/>
          <p:nvPr/>
        </p:nvSpPr>
        <p:spPr>
          <a:xfrm>
            <a:off x="4114800" y="5440680"/>
            <a:ext cx="2286000" cy="658368"/>
          </a:xfrm>
          <a:prstGeom prst="roundRect">
            <a:avLst>
              <a:gd name="adj" fmla="val 9000"/>
            </a:avLst>
          </a:prstGeom>
          <a:solidFill>
            <a:srgbClr val="FFFFFF"/>
          </a:solidFill>
          <a:ln w="19050">
            <a:solidFill>
              <a:srgbClr val="10172A"/>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1E293B"/>
                </a:solidFill>
                <a:latin typeface="Arial"/>
              </a:rPr>
              <a:t>User</a:t>
            </a:r>
          </a:p>
        </p:txBody>
      </p:sp>
      <p:cxnSp>
        <p:nvCxnSpPr>
          <p:cNvPr id="18" name="Connector 17"/>
          <p:cNvCxnSpPr/>
          <p:nvPr/>
        </p:nvCxnSpPr>
        <p:spPr>
          <a:xfrm>
            <a:off x="2926080" y="1929384"/>
            <a:ext cx="1188720" cy="0"/>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1673351"/>
            <a:ext cx="731520" cy="219456"/>
          </a:xfrm>
          <a:prstGeom prst="rect">
            <a:avLst/>
          </a:prstGeom>
          <a:noFill/>
        </p:spPr>
        <p:txBody>
          <a:bodyPr wrap="none" lIns="0" tIns="0" rIns="0" bIns="0">
            <a:spAutoFit/>
          </a:bodyPr>
          <a:lstStyle/>
          <a:p>
            <a:pPr algn="ctr"/>
            <a:r>
              <a:rPr sz="1000" b="1">
                <a:solidFill>
                  <a:srgbClr val="3B2EFF"/>
                </a:solidFill>
                <a:latin typeface="Arial"/>
              </a:rPr>
              <a:t>1 : n</a:t>
            </a:r>
          </a:p>
        </p:txBody>
      </p:sp>
      <p:cxnSp>
        <p:nvCxnSpPr>
          <p:cNvPr id="20" name="Connector 19"/>
          <p:cNvCxnSpPr/>
          <p:nvPr/>
        </p:nvCxnSpPr>
        <p:spPr>
          <a:xfrm>
            <a:off x="6400800" y="1929384"/>
            <a:ext cx="1188720" cy="0"/>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629400" y="1673351"/>
            <a:ext cx="731520" cy="219456"/>
          </a:xfrm>
          <a:prstGeom prst="rect">
            <a:avLst/>
          </a:prstGeom>
          <a:noFill/>
        </p:spPr>
        <p:txBody>
          <a:bodyPr wrap="none" lIns="0" tIns="0" rIns="0" bIns="0">
            <a:spAutoFit/>
          </a:bodyPr>
          <a:lstStyle/>
          <a:p>
            <a:pPr algn="ctr"/>
            <a:r>
              <a:rPr sz="1000" b="1">
                <a:solidFill>
                  <a:srgbClr val="3B2EFF"/>
                </a:solidFill>
                <a:latin typeface="Arial"/>
              </a:rPr>
              <a:t>1 : n</a:t>
            </a:r>
          </a:p>
        </p:txBody>
      </p:sp>
      <p:cxnSp>
        <p:nvCxnSpPr>
          <p:cNvPr id="22" name="Connector 21"/>
          <p:cNvCxnSpPr/>
          <p:nvPr/>
        </p:nvCxnSpPr>
        <p:spPr>
          <a:xfrm>
            <a:off x="1783080" y="2258568"/>
            <a:ext cx="1508760" cy="1353312"/>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034540" y="2679191"/>
            <a:ext cx="731520" cy="219456"/>
          </a:xfrm>
          <a:prstGeom prst="rect">
            <a:avLst/>
          </a:prstGeom>
          <a:noFill/>
        </p:spPr>
        <p:txBody>
          <a:bodyPr wrap="none" lIns="0" tIns="0" rIns="0" bIns="0">
            <a:spAutoFit/>
          </a:bodyPr>
          <a:lstStyle/>
          <a:p>
            <a:pPr algn="ctr"/>
            <a:r>
              <a:rPr sz="1000" b="1">
                <a:solidFill>
                  <a:srgbClr val="3B2EFF"/>
                </a:solidFill>
                <a:latin typeface="Arial"/>
              </a:rPr>
              <a:t>1 : n</a:t>
            </a:r>
          </a:p>
        </p:txBody>
      </p:sp>
      <p:cxnSp>
        <p:nvCxnSpPr>
          <p:cNvPr id="24" name="Connector 23"/>
          <p:cNvCxnSpPr/>
          <p:nvPr/>
        </p:nvCxnSpPr>
        <p:spPr>
          <a:xfrm>
            <a:off x="5257800" y="2258568"/>
            <a:ext cx="1874520" cy="1353312"/>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737860" y="2679191"/>
            <a:ext cx="731520" cy="219456"/>
          </a:xfrm>
          <a:prstGeom prst="rect">
            <a:avLst/>
          </a:prstGeom>
          <a:noFill/>
        </p:spPr>
        <p:txBody>
          <a:bodyPr wrap="none" lIns="0" tIns="0" rIns="0" bIns="0">
            <a:spAutoFit/>
          </a:bodyPr>
          <a:lstStyle/>
          <a:p>
            <a:pPr algn="ctr"/>
            <a:r>
              <a:rPr sz="1000" b="1">
                <a:solidFill>
                  <a:srgbClr val="3B2EFF"/>
                </a:solidFill>
                <a:latin typeface="Arial"/>
              </a:rPr>
              <a:t>1 : n</a:t>
            </a:r>
          </a:p>
        </p:txBody>
      </p:sp>
      <p:cxnSp>
        <p:nvCxnSpPr>
          <p:cNvPr id="26" name="Connector 25"/>
          <p:cNvCxnSpPr/>
          <p:nvPr/>
        </p:nvCxnSpPr>
        <p:spPr>
          <a:xfrm>
            <a:off x="6400800" y="1929384"/>
            <a:ext cx="3017520" cy="2011680"/>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543800" y="2660904"/>
            <a:ext cx="731520" cy="219456"/>
          </a:xfrm>
          <a:prstGeom prst="rect">
            <a:avLst/>
          </a:prstGeom>
          <a:noFill/>
        </p:spPr>
        <p:txBody>
          <a:bodyPr wrap="none" lIns="0" tIns="0" rIns="0" bIns="0">
            <a:spAutoFit/>
          </a:bodyPr>
          <a:lstStyle/>
          <a:p>
            <a:pPr algn="ctr"/>
            <a:r>
              <a:rPr sz="1000" b="1">
                <a:solidFill>
                  <a:srgbClr val="3B2EFF"/>
                </a:solidFill>
                <a:latin typeface="Arial"/>
              </a:rPr>
              <a:t>1 : 1</a:t>
            </a:r>
          </a:p>
        </p:txBody>
      </p:sp>
      <p:cxnSp>
        <p:nvCxnSpPr>
          <p:cNvPr id="28" name="Connector 27"/>
          <p:cNvCxnSpPr/>
          <p:nvPr/>
        </p:nvCxnSpPr>
        <p:spPr>
          <a:xfrm flipH="1" flipV="1">
            <a:off x="3291840" y="4270248"/>
            <a:ext cx="1965960" cy="1170432"/>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771899" y="4809744"/>
            <a:ext cx="731520" cy="219456"/>
          </a:xfrm>
          <a:prstGeom prst="rect">
            <a:avLst/>
          </a:prstGeom>
          <a:noFill/>
        </p:spPr>
        <p:txBody>
          <a:bodyPr wrap="none" lIns="0" tIns="0" rIns="0" bIns="0">
            <a:spAutoFit/>
          </a:bodyPr>
          <a:lstStyle/>
          <a:p>
            <a:pPr algn="ctr"/>
            <a:r>
              <a:rPr sz="1000" b="1">
                <a:solidFill>
                  <a:srgbClr val="3B2EFF"/>
                </a:solidFill>
                <a:latin typeface="Arial"/>
              </a:rPr>
              <a:t>1 : n</a:t>
            </a:r>
          </a:p>
        </p:txBody>
      </p:sp>
      <p:cxnSp>
        <p:nvCxnSpPr>
          <p:cNvPr id="30" name="Connector 29"/>
          <p:cNvCxnSpPr/>
          <p:nvPr/>
        </p:nvCxnSpPr>
        <p:spPr>
          <a:xfrm flipV="1">
            <a:off x="5257800" y="4270248"/>
            <a:ext cx="1874520" cy="1170432"/>
          </a:xfrm>
          <a:prstGeom prst="line">
            <a:avLst/>
          </a:prstGeom>
          <a:ln w="1905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20740" y="4809744"/>
            <a:ext cx="731520" cy="219456"/>
          </a:xfrm>
          <a:prstGeom prst="rect">
            <a:avLst/>
          </a:prstGeom>
          <a:noFill/>
        </p:spPr>
        <p:txBody>
          <a:bodyPr wrap="none" lIns="0" tIns="0" rIns="0" bIns="0">
            <a:spAutoFit/>
          </a:bodyPr>
          <a:lstStyle/>
          <a:p>
            <a:pPr algn="ctr"/>
            <a:r>
              <a:rPr sz="1000" b="1">
                <a:solidFill>
                  <a:srgbClr val="3B2EFF"/>
                </a:solidFill>
                <a:latin typeface="Arial"/>
              </a:rPr>
              <a:t>1 : n</a:t>
            </a:r>
          </a:p>
        </p:txBody>
      </p:sp>
      <p:sp>
        <p:nvSpPr>
          <p:cNvPr id="32" name="TextBox 31"/>
          <p:cNvSpPr txBox="1"/>
          <p:nvPr/>
        </p:nvSpPr>
        <p:spPr>
          <a:xfrm>
            <a:off x="640080" y="6355080"/>
            <a:ext cx="10058400" cy="274320"/>
          </a:xfrm>
          <a:prstGeom prst="rect">
            <a:avLst/>
          </a:prstGeom>
          <a:noFill/>
        </p:spPr>
        <p:txBody>
          <a:bodyPr wrap="none">
            <a:spAutoFit/>
          </a:bodyPr>
          <a:lstStyle/>
          <a:p>
            <a:r>
              <a:rPr sz="1050" i="1">
                <a:solidFill>
                  <a:srgbClr val="64748B"/>
                </a:solidFill>
                <a:latin typeface="Arial"/>
              </a:rPr>
              <a:t>ProjectUser und CapacityPlan sind Verknüpfungstabellen (M:N) — ProjectUser trägt die Rolle (admin / member / viewer).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Sicherheit und Zugriffskontrolle</a:t>
            </a:r>
          </a:p>
        </p:txBody>
      </p:sp>
      <p:sp>
        <p:nvSpPr>
          <p:cNvPr id="4" name="TextBox 3"/>
          <p:cNvSpPr txBox="1"/>
          <p:nvPr/>
        </p:nvSpPr>
        <p:spPr>
          <a:xfrm>
            <a:off x="685800" y="1280160"/>
            <a:ext cx="2230675" cy="430887"/>
          </a:xfrm>
          <a:prstGeom prst="rect">
            <a:avLst/>
          </a:prstGeom>
          <a:noFill/>
        </p:spPr>
        <p:txBody>
          <a:bodyPr wrap="none">
            <a:spAutoFit/>
          </a:bodyPr>
          <a:lstStyle/>
          <a:p>
            <a:pPr>
              <a:defRPr sz="2200" b="1">
                <a:solidFill>
                  <a:srgbClr val="3A04FF"/>
                </a:solidFill>
              </a:defRPr>
            </a:pPr>
            <a:r>
              <a:rPr dirty="0" err="1">
                <a:solidFill>
                  <a:srgbClr val="3B2EFF"/>
                </a:solidFill>
              </a:rPr>
              <a:t>Authentifizierung</a:t>
            </a:r>
            <a:endParaRPr dirty="0">
              <a:solidFill>
                <a:srgbClr val="3B2EFF"/>
              </a:solidFill>
            </a:endParaRPr>
          </a:p>
        </p:txBody>
      </p:sp>
      <p:sp>
        <p:nvSpPr>
          <p:cNvPr id="5" name="TextBox 4"/>
          <p:cNvSpPr txBox="1"/>
          <p:nvPr/>
        </p:nvSpPr>
        <p:spPr>
          <a:xfrm>
            <a:off x="685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t>Microsoft Entra ID mit MSAL</a:t>
            </a:r>
          </a:p>
          <a:p>
            <a:pPr marL="285750" indent="-285750">
              <a:spcBef>
                <a:spcPts val="600"/>
              </a:spcBef>
              <a:defRPr sz="1800">
                <a:solidFill>
                  <a:srgbClr val="334155"/>
                </a:solidFill>
              </a:defRPr>
            </a:pPr>
            <a:r>
              <a:t>OAuth 2.0 Authorization Code Flow</a:t>
            </a:r>
          </a:p>
          <a:p>
            <a:pPr marL="285750" indent="-285750">
              <a:spcBef>
                <a:spcPts val="600"/>
              </a:spcBef>
              <a:defRPr sz="1800">
                <a:solidFill>
                  <a:srgbClr val="334155"/>
                </a:solidFill>
              </a:defRPr>
            </a:pPr>
            <a:r>
              <a:t>Fallback: lokale JWT-Authentifizierung</a:t>
            </a:r>
          </a:p>
          <a:p>
            <a:pPr marL="285750" indent="-285750">
              <a:spcBef>
                <a:spcPts val="600"/>
              </a:spcBef>
              <a:defRPr sz="1800">
                <a:solidFill>
                  <a:srgbClr val="334155"/>
                </a:solidFill>
              </a:defRPr>
            </a:pPr>
            <a:r>
              <a:t>Tokens in HTTP-only Cookies</a:t>
            </a:r>
          </a:p>
        </p:txBody>
      </p:sp>
      <p:sp>
        <p:nvSpPr>
          <p:cNvPr id="6" name="TextBox 5"/>
          <p:cNvSpPr txBox="1"/>
          <p:nvPr/>
        </p:nvSpPr>
        <p:spPr>
          <a:xfrm>
            <a:off x="6400800" y="1280160"/>
            <a:ext cx="1783309" cy="430887"/>
          </a:xfrm>
          <a:prstGeom prst="rect">
            <a:avLst/>
          </a:prstGeom>
          <a:noFill/>
        </p:spPr>
        <p:txBody>
          <a:bodyPr wrap="none">
            <a:spAutoFit/>
          </a:bodyPr>
          <a:lstStyle/>
          <a:p>
            <a:pPr>
              <a:defRPr sz="2200" b="1">
                <a:solidFill>
                  <a:srgbClr val="3A04FF"/>
                </a:solidFill>
              </a:defRPr>
            </a:pPr>
            <a:r>
              <a:rPr dirty="0" err="1">
                <a:solidFill>
                  <a:srgbClr val="3B2EFF"/>
                </a:solidFill>
              </a:rPr>
              <a:t>Autorisierung</a:t>
            </a:r>
            <a:endParaRPr dirty="0">
              <a:solidFill>
                <a:srgbClr val="3B2EFF"/>
              </a:solidFill>
            </a:endParaRPr>
          </a:p>
        </p:txBody>
      </p:sp>
      <p:sp>
        <p:nvSpPr>
          <p:cNvPr id="7" name="TextBox 6"/>
          <p:cNvSpPr txBox="1"/>
          <p:nvPr/>
        </p:nvSpPr>
        <p:spPr>
          <a:xfrm>
            <a:off x="6400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t>Global: Admin, Member</a:t>
            </a:r>
          </a:p>
          <a:p>
            <a:pPr marL="285750" indent="-285750">
              <a:spcBef>
                <a:spcPts val="600"/>
              </a:spcBef>
              <a:defRPr sz="1800">
                <a:solidFill>
                  <a:srgbClr val="334155"/>
                </a:solidFill>
              </a:defRPr>
            </a:pPr>
            <a:r>
              <a:t>Pro Projekt: Admin, Member, Viewer</a:t>
            </a:r>
          </a:p>
          <a:p>
            <a:pPr>
              <a:spcBef>
                <a:spcPts val="600"/>
              </a:spcBef>
              <a:defRPr sz="1800">
                <a:solidFill>
                  <a:srgbClr val="334155"/>
                </a:solidFill>
              </a:defRPr>
            </a:pPr>
            <a:endParaRPr/>
          </a:p>
          <a:p>
            <a:pPr>
              <a:spcBef>
                <a:spcPts val="600"/>
              </a:spcBef>
              <a:defRPr sz="1800">
                <a:solidFill>
                  <a:srgbClr val="334155"/>
                </a:solidFill>
              </a:defRPr>
            </a:pPr>
            <a:r>
              <a:t>Sicherheits-Baseline:</a:t>
            </a:r>
          </a:p>
          <a:p>
            <a:pPr marL="285750" indent="-285750">
              <a:spcBef>
                <a:spcPts val="600"/>
              </a:spcBef>
              <a:defRPr sz="1800">
                <a:solidFill>
                  <a:srgbClr val="334155"/>
                </a:solidFill>
              </a:defRPr>
            </a:pPr>
            <a:r>
              <a:t>Helmet (HTTP-Security-Headers)</a:t>
            </a:r>
          </a:p>
          <a:p>
            <a:pPr marL="285750" indent="-285750">
              <a:spcBef>
                <a:spcPts val="600"/>
              </a:spcBef>
              <a:defRPr sz="1800">
                <a:solidFill>
                  <a:srgbClr val="334155"/>
                </a:solidFill>
              </a:defRPr>
            </a:pPr>
            <a:r>
              <a:t>CORS mit konfigurierbarem Origin</a:t>
            </a:r>
          </a:p>
          <a:p>
            <a:pPr marL="285750" indent="-285750">
              <a:spcBef>
                <a:spcPts val="600"/>
              </a:spcBef>
              <a:defRPr sz="1800">
                <a:solidFill>
                  <a:srgbClr val="334155"/>
                </a:solidFill>
              </a:defRPr>
            </a:pPr>
            <a:r>
              <a:t>Geplant: CSRF, Rate Limiting, Sanitisierung</a:t>
            </a:r>
          </a:p>
        </p:txBody>
      </p:sp>
      <p:sp>
        <p:nvSpPr>
          <p:cNvPr id="8" name="Rectangle 7">
            <a:extLst>
              <a:ext uri="{FF2B5EF4-FFF2-40B4-BE49-F238E27FC236}">
                <a16:creationId xmlns:a16="http://schemas.microsoft.com/office/drawing/2014/main" id="{2364AA51-D370-0427-802E-FA65421B6507}"/>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10" name="Graphic 9">
            <a:extLst>
              <a:ext uri="{FF2B5EF4-FFF2-40B4-BE49-F238E27FC236}">
                <a16:creationId xmlns:a16="http://schemas.microsoft.com/office/drawing/2014/main" id="{85699E7D-FCF0-1241-6BF8-03E39C03902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11" name="TextBox 10"/>
          <p:cNvSpPr txBox="1"/>
          <p:nvPr/>
        </p:nvSpPr>
        <p:spPr>
          <a:xfrm>
            <a:off x="457200" y="6580000"/>
            <a:ext cx="1200000" cy="250000"/>
          </a:xfrm>
          <a:prstGeom prst="rect">
            <a:avLst/>
          </a:prstGeom>
          <a:noFill/>
        </p:spPr>
        <p:txBody>
          <a:bodyPr wrap="none">
            <a:spAutoFit/>
          </a:bodyPr>
          <a:lstStyle/>
          <a:p>
            <a:pPr>
              <a:buNone/>
            </a:pPr>
            <a:r>
              <a:rPr sz="1100">
                <a:solidFill>
                  <a:srgbClr val="94A3B8"/>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172A"/>
          </a:solidFill>
          <a:ln>
            <a:noFill/>
          </a:ln>
        </p:spPr>
        <p:txBody>
          <a:bodyPr rtlCol="0" anchor="ctr"/>
          <a:lstStyle/>
          <a:p>
            <a:pPr algn="ctr"/>
            <a:endParaRPr/>
          </a:p>
        </p:txBody>
      </p:sp>
      <p:sp>
        <p:nvSpPr>
          <p:cNvPr id="4" name="TextBox 3">
            <a:extLst>
              <a:ext uri="{FF2B5EF4-FFF2-40B4-BE49-F238E27FC236}">
                <a16:creationId xmlns:a16="http://schemas.microsoft.com/office/drawing/2014/main" id="{3A8097E3-A316-CFDC-1CBC-62D4A8CAEFF8}"/>
              </a:ext>
            </a:extLst>
          </p:cNvPr>
          <p:cNvSpPr txBox="1"/>
          <p:nvPr/>
        </p:nvSpPr>
        <p:spPr>
          <a:xfrm>
            <a:off x="3851037" y="3429000"/>
            <a:ext cx="4489627" cy="830997"/>
          </a:xfrm>
          <a:prstGeom prst="rect">
            <a:avLst/>
          </a:prstGeom>
          <a:noFill/>
        </p:spPr>
        <p:txBody>
          <a:bodyPr wrap="none">
            <a:spAutoFit/>
          </a:bodyPr>
          <a:lstStyle/>
          <a:p>
            <a:pPr algn="ctr">
              <a:defRPr sz="4800" b="1">
                <a:solidFill>
                  <a:srgbClr val="FFFFFF"/>
                </a:solidFill>
              </a:defRPr>
            </a:pPr>
            <a:r>
              <a:rPr lang="de-CH" dirty="0"/>
              <a:t>Jira-</a:t>
            </a:r>
            <a:r>
              <a:rPr lang="de-CH" dirty="0" err="1"/>
              <a:t>Integration</a:t>
            </a:r>
            <a:endParaRPr dirty="0"/>
          </a:p>
        </p:txBody>
      </p:sp>
      <p:pic>
        <p:nvPicPr>
          <p:cNvPr id="5" name="Graphic 4">
            <a:extLst>
              <a:ext uri="{FF2B5EF4-FFF2-40B4-BE49-F238E27FC236}">
                <a16:creationId xmlns:a16="http://schemas.microsoft.com/office/drawing/2014/main" id="{6479A674-AD08-08CD-DD6A-5B1D64E4EC5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6444" y="2841229"/>
            <a:ext cx="1018804" cy="587771"/>
          </a:xfrm>
          <a:prstGeom prst="rect">
            <a:avLst/>
          </a:prstGeom>
        </p:spPr>
      </p:pic>
      <p:sp>
        <p:nvSpPr>
          <p:cNvPr id="6" name="TextBox 5"/>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Jira-Integration</a:t>
            </a:r>
          </a:p>
        </p:txBody>
      </p:sp>
      <p:sp>
        <p:nvSpPr>
          <p:cNvPr id="4" name="TextBox 3"/>
          <p:cNvSpPr txBox="1"/>
          <p:nvPr/>
        </p:nvSpPr>
        <p:spPr>
          <a:xfrm>
            <a:off x="685800" y="1115568"/>
            <a:ext cx="10820095" cy="5029200"/>
          </a:xfrm>
          <a:prstGeom prst="rect">
            <a:avLst/>
          </a:prstGeom>
          <a:noFill/>
        </p:spPr>
        <p:txBody>
          <a:bodyPr wrap="square">
            <a:spAutoFit/>
          </a:bodyPr>
          <a:lstStyle/>
          <a:p>
            <a:pPr>
              <a:spcBef>
                <a:spcPts val="200"/>
              </a:spcBef>
              <a:spcAft>
                <a:spcPts val="100"/>
              </a:spcAft>
              <a:defRPr sz="2000">
                <a:solidFill>
                  <a:srgbClr val="334155"/>
                </a:solidFill>
              </a:defRPr>
            </a:pPr>
            <a:r>
              <a:rPr dirty="0"/>
              <a:t>Die </a:t>
            </a:r>
            <a:r>
              <a:rPr dirty="0" err="1"/>
              <a:t>grösste</a:t>
            </a:r>
            <a:r>
              <a:rPr dirty="0"/>
              <a:t> </a:t>
            </a:r>
            <a:r>
              <a:rPr dirty="0" err="1"/>
              <a:t>technische</a:t>
            </a:r>
            <a:r>
              <a:rPr dirty="0"/>
              <a:t> </a:t>
            </a:r>
            <a:r>
              <a:rPr dirty="0" err="1"/>
              <a:t>Herausforderung</a:t>
            </a:r>
            <a:endParaRPr dirty="0"/>
          </a:p>
          <a:p>
            <a:pPr>
              <a:spcBef>
                <a:spcPts val="0"/>
              </a:spcBef>
              <a:spcAft>
                <a:spcPts val="0"/>
              </a:spcAft>
              <a:defRPr sz="2000">
                <a:solidFill>
                  <a:srgbClr val="334155"/>
                </a:solidFill>
              </a:defRPr>
            </a:pPr>
            <a:endParaRPr dirty="0"/>
          </a:p>
          <a:p>
            <a:pPr>
              <a:spcBef>
                <a:spcPts val="200"/>
              </a:spcBef>
              <a:spcAft>
                <a:spcPts val="100"/>
              </a:spcAft>
              <a:defRPr sz="2000">
                <a:solidFill>
                  <a:srgbClr val="334155"/>
                </a:solidFill>
              </a:defRPr>
            </a:pPr>
            <a:r>
              <a:rPr dirty="0"/>
              <a:t>Zwei APIs:</a:t>
            </a:r>
          </a:p>
          <a:p>
            <a:pPr marL="285750" lvl="1" indent="-285750">
              <a:defRPr sz="1800">
                <a:solidFill>
                  <a:srgbClr val="334155"/>
                </a:solidFill>
              </a:defRPr>
            </a:pPr>
            <a:r>
              <a:rPr dirty="0"/>
              <a:t>REST API v2: Issues (User Stories)</a:t>
            </a:r>
          </a:p>
          <a:p>
            <a:pPr marL="285750" lvl="1" indent="-285750">
              <a:defRPr sz="1800">
                <a:solidFill>
                  <a:srgbClr val="334155"/>
                </a:solidFill>
              </a:defRPr>
            </a:pPr>
            <a:r>
              <a:rPr dirty="0"/>
              <a:t>Agile API v1.0: Boards und Sprints</a:t>
            </a:r>
          </a:p>
          <a:p>
            <a:pPr>
              <a:spcBef>
                <a:spcPts val="0"/>
              </a:spcBef>
              <a:spcAft>
                <a:spcPts val="0"/>
              </a:spcAft>
              <a:defRPr sz="2000">
                <a:solidFill>
                  <a:srgbClr val="334155"/>
                </a:solidFill>
              </a:defRPr>
            </a:pPr>
            <a:endParaRPr dirty="0"/>
          </a:p>
          <a:p>
            <a:pPr>
              <a:spcBef>
                <a:spcPts val="200"/>
              </a:spcBef>
              <a:spcAft>
                <a:spcPts val="100"/>
              </a:spcAft>
              <a:defRPr sz="2000">
                <a:solidFill>
                  <a:srgbClr val="334155"/>
                </a:solidFill>
              </a:defRPr>
            </a:pPr>
            <a:r>
              <a:rPr dirty="0" err="1"/>
              <a:t>Synchronisation</a:t>
            </a:r>
            <a:r>
              <a:rPr dirty="0"/>
              <a:t> in </a:t>
            </a:r>
            <a:r>
              <a:rPr dirty="0" err="1"/>
              <a:t>drei</a:t>
            </a:r>
            <a:r>
              <a:rPr dirty="0"/>
              <a:t> </a:t>
            </a:r>
            <a:r>
              <a:rPr dirty="0" err="1"/>
              <a:t>Schritten</a:t>
            </a:r>
            <a:r>
              <a:rPr dirty="0"/>
              <a:t>:</a:t>
            </a:r>
          </a:p>
          <a:p>
            <a:pPr marL="285750" lvl="1" indent="-285750">
              <a:defRPr sz="1800">
                <a:solidFill>
                  <a:srgbClr val="334155"/>
                </a:solidFill>
              </a:defRPr>
            </a:pPr>
            <a:r>
              <a:rPr dirty="0"/>
              <a:t>Boards und Sprints </a:t>
            </a:r>
            <a:r>
              <a:rPr dirty="0" err="1"/>
              <a:t>abrufen</a:t>
            </a:r>
            <a:endParaRPr dirty="0"/>
          </a:p>
          <a:p>
            <a:pPr marL="285750" lvl="1" indent="-285750">
              <a:defRPr sz="1800">
                <a:solidFill>
                  <a:srgbClr val="334155"/>
                </a:solidFill>
              </a:defRPr>
            </a:pPr>
            <a:r>
              <a:rPr dirty="0"/>
              <a:t>Issues pro Sprint </a:t>
            </a:r>
            <a:r>
              <a:rPr dirty="0" err="1"/>
              <a:t>synchronisieren</a:t>
            </a:r>
            <a:endParaRPr dirty="0"/>
          </a:p>
          <a:p>
            <a:pPr marL="285750" lvl="1" indent="-285750">
              <a:defRPr sz="1800">
                <a:solidFill>
                  <a:srgbClr val="334155"/>
                </a:solidFill>
              </a:defRPr>
            </a:pPr>
            <a:r>
              <a:rPr dirty="0"/>
              <a:t>Jira-</a:t>
            </a:r>
            <a:r>
              <a:rPr dirty="0" err="1"/>
              <a:t>Benutzer</a:t>
            </a:r>
            <a:r>
              <a:rPr dirty="0"/>
              <a:t> </a:t>
            </a:r>
            <a:r>
              <a:rPr dirty="0" err="1"/>
              <a:t>mit</a:t>
            </a:r>
            <a:r>
              <a:rPr dirty="0"/>
              <a:t> </a:t>
            </a:r>
            <a:r>
              <a:rPr dirty="0" err="1"/>
              <a:t>lokalen</a:t>
            </a:r>
            <a:r>
              <a:rPr dirty="0"/>
              <a:t> </a:t>
            </a:r>
            <a:r>
              <a:rPr dirty="0" err="1"/>
              <a:t>Benutzern</a:t>
            </a:r>
            <a:r>
              <a:rPr dirty="0"/>
              <a:t> </a:t>
            </a:r>
            <a:r>
              <a:rPr dirty="0" err="1"/>
              <a:t>verknüpfen</a:t>
            </a:r>
            <a:endParaRPr dirty="0"/>
          </a:p>
          <a:p>
            <a:pPr>
              <a:spcBef>
                <a:spcPts val="0"/>
              </a:spcBef>
              <a:spcAft>
                <a:spcPts val="0"/>
              </a:spcAft>
              <a:defRPr sz="2000">
                <a:solidFill>
                  <a:srgbClr val="334155"/>
                </a:solidFill>
              </a:defRPr>
            </a:pPr>
            <a:endParaRPr dirty="0"/>
          </a:p>
          <a:p>
            <a:pPr>
              <a:spcBef>
                <a:spcPts val="200"/>
              </a:spcBef>
              <a:spcAft>
                <a:spcPts val="100"/>
              </a:spcAft>
              <a:defRPr sz="2000">
                <a:solidFill>
                  <a:srgbClr val="334155"/>
                </a:solidFill>
              </a:defRPr>
            </a:pPr>
            <a:r>
              <a:rPr dirty="0" err="1"/>
              <a:t>Besonderheiten</a:t>
            </a:r>
            <a:r>
              <a:rPr dirty="0"/>
              <a:t>:</a:t>
            </a:r>
          </a:p>
          <a:p>
            <a:pPr marL="285750" lvl="1" indent="-285750">
              <a:defRPr sz="1800">
                <a:solidFill>
                  <a:srgbClr val="334155"/>
                </a:solidFill>
              </a:defRPr>
            </a:pPr>
            <a:r>
              <a:rPr dirty="0" err="1"/>
              <a:t>Konfigurierbares</a:t>
            </a:r>
            <a:r>
              <a:rPr dirty="0"/>
              <a:t> Story-Point-Feld</a:t>
            </a:r>
          </a:p>
          <a:p>
            <a:pPr marL="285750" lvl="1" indent="-285750">
              <a:defRPr sz="1800">
                <a:solidFill>
                  <a:srgbClr val="334155"/>
                </a:solidFill>
              </a:defRPr>
            </a:pPr>
            <a:r>
              <a:rPr dirty="0"/>
              <a:t>Status-Mapping auf </a:t>
            </a:r>
            <a:r>
              <a:rPr dirty="0" err="1"/>
              <a:t>einheitliches</a:t>
            </a:r>
            <a:r>
              <a:rPr dirty="0"/>
              <a:t> Schema</a:t>
            </a:r>
          </a:p>
          <a:p>
            <a:pPr marL="285750" lvl="1" indent="-285750">
              <a:defRPr sz="1800">
                <a:solidFill>
                  <a:srgbClr val="334155"/>
                </a:solidFill>
              </a:defRPr>
            </a:pPr>
            <a:r>
              <a:rPr dirty="0" err="1"/>
              <a:t>Automatische</a:t>
            </a:r>
            <a:r>
              <a:rPr dirty="0"/>
              <a:t> Sync alle 15 Minuten</a:t>
            </a:r>
          </a:p>
          <a:p>
            <a:pPr>
              <a:spcBef>
                <a:spcPts val="0"/>
              </a:spcBef>
              <a:spcAft>
                <a:spcPts val="0"/>
              </a:spcAft>
              <a:defRPr sz="2000">
                <a:solidFill>
                  <a:srgbClr val="334155"/>
                </a:solidFill>
              </a:defRPr>
            </a:pPr>
            <a:endParaRPr dirty="0"/>
          </a:p>
          <a:p>
            <a:pPr>
              <a:spcBef>
                <a:spcPts val="200"/>
              </a:spcBef>
              <a:spcAft>
                <a:spcPts val="100"/>
              </a:spcAft>
              <a:defRPr sz="2000">
                <a:solidFill>
                  <a:srgbClr val="334155"/>
                </a:solidFill>
              </a:defRPr>
            </a:pPr>
            <a:r>
              <a:rPr dirty="0" err="1"/>
              <a:t>Fallstrick</a:t>
            </a:r>
            <a:r>
              <a:rPr dirty="0"/>
              <a:t>:</a:t>
            </a:r>
          </a:p>
          <a:p>
            <a:pPr marL="285750" lvl="1" indent="-285750">
              <a:defRPr sz="1800">
                <a:solidFill>
                  <a:srgbClr val="334155"/>
                </a:solidFill>
              </a:defRPr>
            </a:pPr>
            <a:r>
              <a:rPr dirty="0"/>
              <a:t>Sprints </a:t>
            </a:r>
            <a:r>
              <a:rPr dirty="0" err="1"/>
              <a:t>chronologisch</a:t>
            </a:r>
            <a:r>
              <a:rPr dirty="0"/>
              <a:t> </a:t>
            </a:r>
            <a:r>
              <a:rPr dirty="0" err="1"/>
              <a:t>aufsteigend</a:t>
            </a:r>
            <a:r>
              <a:rPr dirty="0"/>
              <a:t> </a:t>
            </a:r>
            <a:r>
              <a:rPr dirty="0" err="1"/>
              <a:t>synchronisieren</a:t>
            </a:r>
            <a:r>
              <a:rPr dirty="0"/>
              <a:t> — </a:t>
            </a:r>
            <a:r>
              <a:rPr dirty="0" err="1"/>
              <a:t>sonst</a:t>
            </a:r>
            <a:r>
              <a:rPr dirty="0"/>
              <a:t> </a:t>
            </a:r>
            <a:r>
              <a:rPr dirty="0" err="1"/>
              <a:t>landen</a:t>
            </a:r>
            <a:r>
              <a:rPr dirty="0"/>
              <a:t> Stories </a:t>
            </a:r>
            <a:r>
              <a:rPr dirty="0" err="1"/>
              <a:t>im</a:t>
            </a:r>
            <a:r>
              <a:rPr dirty="0"/>
              <a:t> </a:t>
            </a:r>
            <a:r>
              <a:rPr dirty="0" err="1"/>
              <a:t>falschen</a:t>
            </a:r>
            <a:r>
              <a:rPr dirty="0"/>
              <a:t> Sprint</a:t>
            </a:r>
          </a:p>
        </p:txBody>
      </p:sp>
      <p:sp>
        <p:nvSpPr>
          <p:cNvPr id="5" name="Rectangle 4">
            <a:extLst>
              <a:ext uri="{FF2B5EF4-FFF2-40B4-BE49-F238E27FC236}">
                <a16:creationId xmlns:a16="http://schemas.microsoft.com/office/drawing/2014/main" id="{32C90490-B980-23F0-4CC1-7641E1A3FD87}"/>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5A3CB33B-4CE0-774C-90F8-CE7E4595327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172A"/>
          </a:solidFill>
          <a:ln>
            <a:noFill/>
          </a:ln>
        </p:spPr>
        <p:txBody>
          <a:bodyPr rtlCol="0" anchor="ctr"/>
          <a:lstStyle/>
          <a:p>
            <a:pPr algn="ctr"/>
            <a:endParaRPr/>
          </a:p>
        </p:txBody>
      </p:sp>
      <p:sp>
        <p:nvSpPr>
          <p:cNvPr id="4" name="TextBox 3">
            <a:extLst>
              <a:ext uri="{FF2B5EF4-FFF2-40B4-BE49-F238E27FC236}">
                <a16:creationId xmlns:a16="http://schemas.microsoft.com/office/drawing/2014/main" id="{2D072C57-9BDF-D871-8E64-32254FA6A234}"/>
              </a:ext>
            </a:extLst>
          </p:cNvPr>
          <p:cNvSpPr txBox="1"/>
          <p:nvPr/>
        </p:nvSpPr>
        <p:spPr>
          <a:xfrm>
            <a:off x="3790891" y="3429000"/>
            <a:ext cx="4609916" cy="830997"/>
          </a:xfrm>
          <a:prstGeom prst="rect">
            <a:avLst/>
          </a:prstGeom>
          <a:noFill/>
        </p:spPr>
        <p:txBody>
          <a:bodyPr wrap="none">
            <a:spAutoFit/>
          </a:bodyPr>
          <a:lstStyle/>
          <a:p>
            <a:pPr algn="ctr">
              <a:defRPr sz="4800" b="1">
                <a:solidFill>
                  <a:srgbClr val="FFFFFF"/>
                </a:solidFill>
              </a:defRPr>
            </a:pPr>
            <a:r>
              <a:rPr lang="de-CH" dirty="0"/>
              <a:t>Module im Detail</a:t>
            </a:r>
            <a:endParaRPr dirty="0"/>
          </a:p>
        </p:txBody>
      </p:sp>
      <p:pic>
        <p:nvPicPr>
          <p:cNvPr id="5" name="Graphic 4">
            <a:extLst>
              <a:ext uri="{FF2B5EF4-FFF2-40B4-BE49-F238E27FC236}">
                <a16:creationId xmlns:a16="http://schemas.microsoft.com/office/drawing/2014/main" id="{AC1B8A12-A29E-DA32-519D-0508C3F29E0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6444" y="2841229"/>
            <a:ext cx="1018804" cy="587771"/>
          </a:xfrm>
          <a:prstGeom prst="rect">
            <a:avLst/>
          </a:prstGeom>
        </p:spPr>
      </p:pic>
      <p:sp>
        <p:nvSpPr>
          <p:cNvPr id="6" name="TextBox 5"/>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Modul: Capacity Planning</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rPr dirty="0" err="1"/>
              <a:t>Funktionen</a:t>
            </a:r>
            <a:r>
              <a:rPr dirty="0"/>
              <a:t>:</a:t>
            </a:r>
          </a:p>
          <a:p>
            <a:pPr marL="285750" lvl="1" indent="-285750">
              <a:spcBef>
                <a:spcPts val="800"/>
              </a:spcBef>
              <a:spcAft>
                <a:spcPts val="400"/>
              </a:spcAft>
              <a:defRPr sz="1800">
                <a:solidFill>
                  <a:srgbClr val="334155"/>
                </a:solidFill>
              </a:defRPr>
            </a:pPr>
            <a:r>
              <a:rPr dirty="0" err="1"/>
              <a:t>Wochenweise</a:t>
            </a:r>
            <a:r>
              <a:rPr dirty="0"/>
              <a:t> </a:t>
            </a:r>
            <a:r>
              <a:rPr dirty="0" err="1"/>
              <a:t>Aufschlüsselung</a:t>
            </a:r>
            <a:r>
              <a:rPr dirty="0"/>
              <a:t> pro </a:t>
            </a:r>
            <a:r>
              <a:rPr dirty="0" err="1"/>
              <a:t>Teammitglied</a:t>
            </a:r>
            <a:endParaRPr dirty="0"/>
          </a:p>
          <a:p>
            <a:pPr marL="285750" lvl="1" indent="-285750">
              <a:spcBef>
                <a:spcPts val="800"/>
              </a:spcBef>
              <a:spcAft>
                <a:spcPts val="400"/>
              </a:spcAft>
              <a:defRPr sz="1800">
                <a:solidFill>
                  <a:srgbClr val="334155"/>
                </a:solidFill>
              </a:defRPr>
            </a:pPr>
            <a:r>
              <a:rPr dirty="0"/>
              <a:t>4 </a:t>
            </a:r>
            <a:r>
              <a:rPr dirty="0" err="1"/>
              <a:t>Kategorien</a:t>
            </a:r>
            <a:r>
              <a:rPr dirty="0"/>
              <a:t>: Holiday, Customer, Internal, Other</a:t>
            </a:r>
          </a:p>
          <a:p>
            <a:pPr marL="285750" lvl="1" indent="-285750">
              <a:spcBef>
                <a:spcPts val="800"/>
              </a:spcBef>
              <a:spcAft>
                <a:spcPts val="400"/>
              </a:spcAft>
              <a:defRPr sz="1800">
                <a:solidFill>
                  <a:srgbClr val="334155"/>
                </a:solidFill>
              </a:defRPr>
            </a:pPr>
            <a:r>
              <a:rPr dirty="0" err="1"/>
              <a:t>Aggregierte</a:t>
            </a:r>
            <a:r>
              <a:rPr dirty="0"/>
              <a:t> </a:t>
            </a:r>
            <a:r>
              <a:rPr dirty="0" err="1"/>
              <a:t>Ansicht</a:t>
            </a:r>
            <a:r>
              <a:rPr dirty="0"/>
              <a:t>: </a:t>
            </a:r>
            <a:r>
              <a:rPr dirty="0" err="1"/>
              <a:t>Gesamtkapazität</a:t>
            </a:r>
            <a:r>
              <a:rPr dirty="0"/>
              <a:t>, </a:t>
            </a:r>
            <a:r>
              <a:rPr dirty="0" err="1"/>
              <a:t>Durchschnitt</a:t>
            </a:r>
            <a:endParaRPr dirty="0"/>
          </a:p>
          <a:p>
            <a:pPr marL="285750" lvl="1" indent="-285750">
              <a:spcBef>
                <a:spcPts val="800"/>
              </a:spcBef>
              <a:spcAft>
                <a:spcPts val="400"/>
              </a:spcAft>
              <a:defRPr sz="1800">
                <a:solidFill>
                  <a:srgbClr val="334155"/>
                </a:solidFill>
              </a:defRPr>
            </a:pPr>
            <a:r>
              <a:rPr dirty="0"/>
              <a:t>Inline-Editing </a:t>
            </a:r>
            <a:r>
              <a:rPr dirty="0" err="1"/>
              <a:t>direkt</a:t>
            </a:r>
            <a:r>
              <a:rPr dirty="0"/>
              <a:t> in der </a:t>
            </a:r>
            <a:r>
              <a:rPr dirty="0" err="1"/>
              <a:t>Tabelle</a:t>
            </a:r>
            <a:endParaRPr dirty="0"/>
          </a:p>
          <a:p>
            <a:pPr>
              <a:spcBef>
                <a:spcPts val="800"/>
              </a:spcBef>
              <a:spcAft>
                <a:spcPts val="400"/>
              </a:spcAft>
              <a:defRPr sz="2000">
                <a:solidFill>
                  <a:srgbClr val="334155"/>
                </a:solidFill>
              </a:defRPr>
            </a:pPr>
            <a:endParaRPr dirty="0"/>
          </a:p>
          <a:p>
            <a:pPr>
              <a:spcBef>
                <a:spcPts val="800"/>
              </a:spcBef>
              <a:spcAft>
                <a:spcPts val="400"/>
              </a:spcAft>
              <a:defRPr sz="2000">
                <a:solidFill>
                  <a:srgbClr val="334155"/>
                </a:solidFill>
              </a:defRPr>
            </a:pPr>
            <a:r>
              <a:rPr dirty="0"/>
              <a:t>SP-</a:t>
            </a:r>
            <a:r>
              <a:rPr dirty="0" err="1"/>
              <a:t>Empfehlung</a:t>
            </a:r>
            <a:r>
              <a:rPr dirty="0"/>
              <a:t> (neu):</a:t>
            </a:r>
          </a:p>
          <a:p>
            <a:pPr marL="285750" lvl="1" indent="-285750">
              <a:spcBef>
                <a:spcPts val="800"/>
              </a:spcBef>
              <a:spcAft>
                <a:spcPts val="400"/>
              </a:spcAft>
              <a:defRPr sz="1800">
                <a:solidFill>
                  <a:srgbClr val="334155"/>
                </a:solidFill>
              </a:defRPr>
            </a:pPr>
            <a:r>
              <a:rPr dirty="0"/>
              <a:t>Formel: </a:t>
            </a:r>
            <a:r>
              <a:rPr dirty="0" err="1"/>
              <a:t>empfohlene</a:t>
            </a:r>
            <a:r>
              <a:rPr dirty="0"/>
              <a:t> SP = Avg Velocity × </a:t>
            </a:r>
            <a:r>
              <a:rPr dirty="0" err="1"/>
              <a:t>Kapazitätsfaktor</a:t>
            </a:r>
            <a:endParaRPr dirty="0"/>
          </a:p>
          <a:p>
            <a:pPr marL="285750" lvl="1" indent="-285750">
              <a:spcBef>
                <a:spcPts val="800"/>
              </a:spcBef>
              <a:spcAft>
                <a:spcPts val="400"/>
              </a:spcAft>
              <a:defRPr sz="1800">
                <a:solidFill>
                  <a:srgbClr val="334155"/>
                </a:solidFill>
              </a:defRPr>
            </a:pPr>
            <a:r>
              <a:rPr dirty="0" err="1"/>
              <a:t>Kapazitätsfaktor</a:t>
            </a:r>
            <a:r>
              <a:rPr dirty="0"/>
              <a:t> = </a:t>
            </a:r>
            <a:r>
              <a:rPr dirty="0" err="1"/>
              <a:t>aktuelle</a:t>
            </a:r>
            <a:r>
              <a:rPr dirty="0"/>
              <a:t> / </a:t>
            </a:r>
            <a:r>
              <a:rPr dirty="0" err="1"/>
              <a:t>historische</a:t>
            </a:r>
            <a:r>
              <a:rPr dirty="0"/>
              <a:t> </a:t>
            </a:r>
            <a:r>
              <a:rPr dirty="0" err="1"/>
              <a:t>Durchschnittskapazität</a:t>
            </a:r>
            <a:endParaRPr dirty="0"/>
          </a:p>
          <a:p>
            <a:pPr marL="285750" lvl="1" indent="-285750">
              <a:spcBef>
                <a:spcPts val="800"/>
              </a:spcBef>
              <a:spcAft>
                <a:spcPts val="400"/>
              </a:spcAft>
              <a:defRPr sz="1800">
                <a:solidFill>
                  <a:srgbClr val="334155"/>
                </a:solidFill>
              </a:defRPr>
            </a:pPr>
            <a:r>
              <a:rPr dirty="0"/>
              <a:t>Berücksichtigt die </a:t>
            </a:r>
            <a:r>
              <a:rPr dirty="0" err="1"/>
              <a:t>letzten</a:t>
            </a:r>
            <a:r>
              <a:rPr dirty="0"/>
              <a:t> 6 </a:t>
            </a:r>
            <a:r>
              <a:rPr dirty="0" err="1"/>
              <a:t>abgeschlossenen</a:t>
            </a:r>
            <a:r>
              <a:rPr dirty="0"/>
              <a:t> Sprints</a:t>
            </a:r>
          </a:p>
        </p:txBody>
      </p:sp>
      <p:sp>
        <p:nvSpPr>
          <p:cNvPr id="5" name="Rectangle 4">
            <a:extLst>
              <a:ext uri="{FF2B5EF4-FFF2-40B4-BE49-F238E27FC236}">
                <a16:creationId xmlns:a16="http://schemas.microsoft.com/office/drawing/2014/main" id="{381C92D7-6414-693D-079C-674A05840012}"/>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014BDA0E-0F3F-28BA-86AB-4CFBC5AE88B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Modul: Sprint Analytics</a:t>
            </a:r>
          </a:p>
        </p:txBody>
      </p:sp>
      <p:sp>
        <p:nvSpPr>
          <p:cNvPr id="4" name="TextBox 3"/>
          <p:cNvSpPr txBox="1"/>
          <p:nvPr/>
        </p:nvSpPr>
        <p:spPr>
          <a:xfrm>
            <a:off x="685800" y="1207008"/>
            <a:ext cx="10820095" cy="5029200"/>
          </a:xfrm>
          <a:prstGeom prst="rect">
            <a:avLst/>
          </a:prstGeom>
          <a:noFill/>
        </p:spPr>
        <p:txBody>
          <a:bodyPr wrap="square">
            <a:spAutoFit/>
          </a:bodyPr>
          <a:lstStyle/>
          <a:p>
            <a:pPr>
              <a:spcBef>
                <a:spcPts val="300"/>
              </a:spcBef>
              <a:spcAft>
                <a:spcPts val="200"/>
              </a:spcAft>
              <a:defRPr sz="2000">
                <a:solidFill>
                  <a:srgbClr val="334155"/>
                </a:solidFill>
              </a:defRPr>
            </a:pPr>
            <a:r>
              <a:t>Vier Ansichten:</a:t>
            </a:r>
          </a:p>
          <a:p>
            <a:pPr>
              <a:spcBef>
                <a:spcPts val="300"/>
              </a:spcBef>
              <a:spcAft>
                <a:spcPts val="200"/>
              </a:spcAft>
              <a:defRPr sz="2000">
                <a:solidFill>
                  <a:srgbClr val="334155"/>
                </a:solidFill>
              </a:defRPr>
            </a:pPr>
            <a:endParaRPr/>
          </a:p>
          <a:p>
            <a:pPr marL="285750" lvl="1" indent="-285750">
              <a:spcBef>
                <a:spcPts val="300"/>
              </a:spcBef>
              <a:defRPr sz="1800">
                <a:solidFill>
                  <a:srgbClr val="334155"/>
                </a:solidFill>
              </a:defRPr>
            </a:pPr>
            <a:r>
              <a:t>Overview: Kennzahlen + Burndown-Chart</a:t>
            </a:r>
          </a:p>
          <a:p>
            <a:pPr marL="285750" lvl="1" indent="-285750">
              <a:spcBef>
                <a:spcPts val="300"/>
              </a:spcBef>
              <a:defRPr sz="1800">
                <a:solidFill>
                  <a:srgbClr val="334155"/>
                </a:solidFill>
              </a:defRPr>
            </a:pPr>
            <a:r>
              <a:t>→ Sind wir auf Kurs?</a:t>
            </a:r>
          </a:p>
          <a:p>
            <a:pPr>
              <a:spcBef>
                <a:spcPts val="300"/>
              </a:spcBef>
              <a:spcAft>
                <a:spcPts val="200"/>
              </a:spcAft>
              <a:defRPr sz="2000">
                <a:solidFill>
                  <a:srgbClr val="334155"/>
                </a:solidFill>
              </a:defRPr>
            </a:pPr>
            <a:endParaRPr/>
          </a:p>
          <a:p>
            <a:pPr marL="285750" lvl="1" indent="-285750">
              <a:spcBef>
                <a:spcPts val="300"/>
              </a:spcBef>
              <a:defRPr sz="1800">
                <a:solidFill>
                  <a:srgbClr val="334155"/>
                </a:solidFill>
              </a:defRPr>
            </a:pPr>
            <a:r>
              <a:t>Compare: Velocity vs. vorheriger Sprint</a:t>
            </a:r>
          </a:p>
          <a:p>
            <a:pPr marL="285750" lvl="1" indent="-285750">
              <a:spcBef>
                <a:spcPts val="300"/>
              </a:spcBef>
              <a:defRPr sz="1800">
                <a:solidFill>
                  <a:srgbClr val="334155"/>
                </a:solidFill>
              </a:defRPr>
            </a:pPr>
            <a:r>
              <a:t>→ Werden wir besser oder schlechter?</a:t>
            </a:r>
          </a:p>
          <a:p>
            <a:pPr>
              <a:spcBef>
                <a:spcPts val="300"/>
              </a:spcBef>
              <a:spcAft>
                <a:spcPts val="200"/>
              </a:spcAft>
              <a:defRPr sz="2000">
                <a:solidFill>
                  <a:srgbClr val="334155"/>
                </a:solidFill>
              </a:defRPr>
            </a:pPr>
            <a:endParaRPr/>
          </a:p>
          <a:p>
            <a:pPr marL="285750" lvl="1" indent="-285750">
              <a:spcBef>
                <a:spcPts val="300"/>
              </a:spcBef>
              <a:defRPr sz="1800">
                <a:solidFill>
                  <a:srgbClr val="334155"/>
                </a:solidFill>
              </a:defRPr>
            </a:pPr>
            <a:r>
              <a:t>Changes: Scope-Änderungen während des Sprints</a:t>
            </a:r>
          </a:p>
          <a:p>
            <a:pPr marL="285750" lvl="1" indent="-285750">
              <a:spcBef>
                <a:spcPts val="300"/>
              </a:spcBef>
              <a:defRPr sz="1800">
                <a:solidFill>
                  <a:srgbClr val="334155"/>
                </a:solidFill>
              </a:defRPr>
            </a:pPr>
            <a:r>
              <a:t>→ Warum haben wir das Ziel verfehlt?</a:t>
            </a:r>
          </a:p>
          <a:p>
            <a:pPr>
              <a:spcBef>
                <a:spcPts val="300"/>
              </a:spcBef>
              <a:spcAft>
                <a:spcPts val="200"/>
              </a:spcAft>
              <a:defRPr sz="2000">
                <a:solidFill>
                  <a:srgbClr val="334155"/>
                </a:solidFill>
              </a:defRPr>
            </a:pPr>
            <a:endParaRPr/>
          </a:p>
          <a:p>
            <a:pPr marL="285750" lvl="1" indent="-285750">
              <a:spcBef>
                <a:spcPts val="300"/>
              </a:spcBef>
              <a:defRPr sz="1800">
                <a:solidFill>
                  <a:srgbClr val="334155"/>
                </a:solidFill>
              </a:defRPr>
            </a:pPr>
            <a:r>
              <a:t>Team Performance: Velocity pro Person (Balkendiagramm)</a:t>
            </a:r>
          </a:p>
          <a:p>
            <a:pPr marL="285750" lvl="1" indent="-285750">
              <a:spcBef>
                <a:spcPts val="300"/>
              </a:spcBef>
              <a:defRPr sz="1800">
                <a:solidFill>
                  <a:srgbClr val="334155"/>
                </a:solidFill>
              </a:defRPr>
            </a:pPr>
            <a:r>
              <a:t>→ Ist die Arbeit gleichmässig verteilt?</a:t>
            </a:r>
          </a:p>
        </p:txBody>
      </p:sp>
      <p:sp>
        <p:nvSpPr>
          <p:cNvPr id="5" name="Rectangle 4">
            <a:extLst>
              <a:ext uri="{FF2B5EF4-FFF2-40B4-BE49-F238E27FC236}">
                <a16:creationId xmlns:a16="http://schemas.microsoft.com/office/drawing/2014/main" id="{F365F643-B925-9BF1-7A80-F91491205EFB}"/>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FDEA0F27-AB09-5BB5-C032-B414A695EF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Modul: Sprint History &amp; Forecast</a:t>
            </a:r>
          </a:p>
        </p:txBody>
      </p:sp>
      <p:sp>
        <p:nvSpPr>
          <p:cNvPr id="4" name="TextBox 3"/>
          <p:cNvSpPr txBox="1"/>
          <p:nvPr/>
        </p:nvSpPr>
        <p:spPr>
          <a:xfrm>
            <a:off x="685800" y="1280160"/>
            <a:ext cx="1786771" cy="430887"/>
          </a:xfrm>
          <a:prstGeom prst="rect">
            <a:avLst/>
          </a:prstGeom>
          <a:noFill/>
        </p:spPr>
        <p:txBody>
          <a:bodyPr wrap="none">
            <a:spAutoFit/>
          </a:bodyPr>
          <a:lstStyle/>
          <a:p>
            <a:pPr>
              <a:defRPr sz="2200" b="1">
                <a:solidFill>
                  <a:srgbClr val="3A04FF"/>
                </a:solidFill>
              </a:defRPr>
            </a:pPr>
            <a:r>
              <a:rPr dirty="0">
                <a:solidFill>
                  <a:srgbClr val="3B2EFF"/>
                </a:solidFill>
              </a:rPr>
              <a:t>Sprint History</a:t>
            </a:r>
          </a:p>
        </p:txBody>
      </p:sp>
      <p:sp>
        <p:nvSpPr>
          <p:cNvPr id="5" name="TextBox 4"/>
          <p:cNvSpPr txBox="1"/>
          <p:nvPr/>
        </p:nvSpPr>
        <p:spPr>
          <a:xfrm>
            <a:off x="685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t>Velocity über alle Sprints</a:t>
            </a:r>
          </a:p>
          <a:p>
            <a:pPr marL="285750" indent="-285750">
              <a:spcBef>
                <a:spcPts val="600"/>
              </a:spcBef>
              <a:defRPr sz="1800">
                <a:solidFill>
                  <a:srgbClr val="334155"/>
                </a:solidFill>
              </a:defRPr>
            </a:pPr>
            <a:r>
              <a:t>Darstellung als Balkendiagramm</a:t>
            </a:r>
          </a:p>
          <a:p>
            <a:pPr marL="285750" indent="-285750">
              <a:spcBef>
                <a:spcPts val="600"/>
              </a:spcBef>
              <a:defRPr sz="1800">
                <a:solidFill>
                  <a:srgbClr val="334155"/>
                </a:solidFill>
              </a:defRPr>
            </a:pPr>
            <a:r>
              <a:t>Grundlage für Schätzungen</a:t>
            </a:r>
          </a:p>
        </p:txBody>
      </p:sp>
      <p:sp>
        <p:nvSpPr>
          <p:cNvPr id="6" name="TextBox 5"/>
          <p:cNvSpPr txBox="1"/>
          <p:nvPr/>
        </p:nvSpPr>
        <p:spPr>
          <a:xfrm>
            <a:off x="6400800" y="1280160"/>
            <a:ext cx="1167114" cy="430887"/>
          </a:xfrm>
          <a:prstGeom prst="rect">
            <a:avLst/>
          </a:prstGeom>
          <a:noFill/>
        </p:spPr>
        <p:txBody>
          <a:bodyPr wrap="none">
            <a:spAutoFit/>
          </a:bodyPr>
          <a:lstStyle/>
          <a:p>
            <a:pPr>
              <a:defRPr sz="2200" b="1">
                <a:solidFill>
                  <a:srgbClr val="3A04FF"/>
                </a:solidFill>
              </a:defRPr>
            </a:pPr>
            <a:r>
              <a:rPr dirty="0">
                <a:solidFill>
                  <a:srgbClr val="3B2EFF"/>
                </a:solidFill>
              </a:rPr>
              <a:t>Forecast</a:t>
            </a:r>
          </a:p>
        </p:txBody>
      </p:sp>
      <p:sp>
        <p:nvSpPr>
          <p:cNvPr id="7" name="TextBox 6"/>
          <p:cNvSpPr txBox="1"/>
          <p:nvPr/>
        </p:nvSpPr>
        <p:spPr>
          <a:xfrm>
            <a:off x="6400800" y="1737360"/>
            <a:ext cx="5029200" cy="4572000"/>
          </a:xfrm>
          <a:prstGeom prst="rect">
            <a:avLst/>
          </a:prstGeom>
          <a:noFill/>
        </p:spPr>
        <p:txBody>
          <a:bodyPr wrap="square">
            <a:spAutoFit/>
          </a:bodyPr>
          <a:lstStyle/>
          <a:p>
            <a:pPr marL="285750" indent="-285750">
              <a:buClr>
                <a:srgbClr val="3B2EFF"/>
              </a:buClr>
              <a:buSzPct val="70000"/>
              <a:buFont typeface="Arial"/>
              <a:buChar char="●"/>
            </a:pPr>
            <a:r>
              <a:rPr lang="de-CH" sz="1800" dirty="0">
                <a:solidFill>
                  <a:srgbClr val="334155"/>
                </a:solidFill>
              </a:rPr>
              <a:t>Durchschnittliche Velocity</a:t>
            </a:r>
          </a:p>
          <a:p>
            <a:pPr marL="285750" indent="-285750">
              <a:buClr>
                <a:srgbClr val="3B2EFF"/>
              </a:buClr>
              <a:buSzPct val="70000"/>
              <a:buFont typeface="Arial"/>
              <a:buChar char="●"/>
            </a:pPr>
            <a:r>
              <a:rPr lang="de-CH" sz="1800" dirty="0">
                <a:solidFill>
                  <a:srgbClr val="334155"/>
                </a:solidFill>
              </a:rPr>
              <a:t>Verbleibende Story Points</a:t>
            </a:r>
          </a:p>
          <a:p>
            <a:pPr marL="285750" indent="-285750">
              <a:buClr>
                <a:srgbClr val="3B2EFF"/>
              </a:buClr>
              <a:buSzPct val="70000"/>
              <a:buFont typeface="Arial"/>
              <a:buChar char="●"/>
            </a:pPr>
            <a:r>
              <a:rPr lang="de-CH" sz="1800" dirty="0">
                <a:solidFill>
                  <a:srgbClr val="334155"/>
                </a:solidFill>
              </a:rPr>
              <a:t>Geschätzte Anzahl Sprints</a:t>
            </a:r>
          </a:p>
          <a:p>
            <a:pPr marL="285750" indent="-285750">
              <a:buClr>
                <a:srgbClr val="3B2EFF"/>
              </a:buClr>
              <a:buSzPct val="70000"/>
              <a:buFont typeface="Arial"/>
              <a:buChar char="●"/>
            </a:pPr>
            <a:r>
              <a:rPr lang="de-CH" sz="1800" dirty="0">
                <a:solidFill>
                  <a:srgbClr val="334155"/>
                </a:solidFill>
              </a:rPr>
              <a:t>Voraussichtliches Fertigstellungsdatum</a:t>
            </a:r>
          </a:p>
        </p:txBody>
      </p:sp>
      <p:sp>
        <p:nvSpPr>
          <p:cNvPr id="8" name="Rectangle 7">
            <a:extLst>
              <a:ext uri="{FF2B5EF4-FFF2-40B4-BE49-F238E27FC236}">
                <a16:creationId xmlns:a16="http://schemas.microsoft.com/office/drawing/2014/main" id="{3B6EE175-8AF9-F9F2-27FD-3AC1CEDBB272}"/>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10" name="Graphic 9">
            <a:extLst>
              <a:ext uri="{FF2B5EF4-FFF2-40B4-BE49-F238E27FC236}">
                <a16:creationId xmlns:a16="http://schemas.microsoft.com/office/drawing/2014/main" id="{ABD514F4-769D-844A-EADA-CECEE8B2165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11" name="TextBox 10"/>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172A"/>
          </a:solidFill>
          <a:ln>
            <a:noFill/>
          </a:ln>
        </p:spPr>
        <p:txBody>
          <a:bodyPr rtlCol="0" anchor="ctr"/>
          <a:lstStyle/>
          <a:p>
            <a:pPr algn="ctr"/>
            <a:endParaRPr/>
          </a:p>
        </p:txBody>
      </p:sp>
      <p:sp>
        <p:nvSpPr>
          <p:cNvPr id="5" name="TextBox 4">
            <a:extLst>
              <a:ext uri="{FF2B5EF4-FFF2-40B4-BE49-F238E27FC236}">
                <a16:creationId xmlns:a16="http://schemas.microsoft.com/office/drawing/2014/main" id="{25A532BE-4C85-9E3D-437A-8E8D45583039}"/>
              </a:ext>
            </a:extLst>
          </p:cNvPr>
          <p:cNvSpPr txBox="1"/>
          <p:nvPr/>
        </p:nvSpPr>
        <p:spPr>
          <a:xfrm>
            <a:off x="3379626" y="3429000"/>
            <a:ext cx="5432449" cy="830997"/>
          </a:xfrm>
          <a:prstGeom prst="rect">
            <a:avLst/>
          </a:prstGeom>
          <a:noFill/>
        </p:spPr>
        <p:txBody>
          <a:bodyPr wrap="none">
            <a:spAutoFit/>
          </a:bodyPr>
          <a:lstStyle/>
          <a:p>
            <a:pPr algn="ctr">
              <a:defRPr sz="4800" b="1">
                <a:solidFill>
                  <a:srgbClr val="FFFFFF"/>
                </a:solidFill>
              </a:defRPr>
            </a:pPr>
            <a:r>
              <a:rPr lang="de-CH" dirty="0" err="1"/>
              <a:t>Entwicklungsprozess</a:t>
            </a:r>
            <a:endParaRPr dirty="0"/>
          </a:p>
        </p:txBody>
      </p:sp>
      <p:pic>
        <p:nvPicPr>
          <p:cNvPr id="6" name="Graphic 5">
            <a:extLst>
              <a:ext uri="{FF2B5EF4-FFF2-40B4-BE49-F238E27FC236}">
                <a16:creationId xmlns:a16="http://schemas.microsoft.com/office/drawing/2014/main" id="{52F7EAD2-182C-0080-1CA6-FFAF1D9B2CA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6444" y="2841229"/>
            <a:ext cx="1018804" cy="587771"/>
          </a:xfrm>
          <a:prstGeom prst="rect">
            <a:avLst/>
          </a:prstGeom>
        </p:spPr>
      </p:pic>
      <p:sp>
        <p:nvSpPr>
          <p:cNvPr id="7" name="TextBox 6"/>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Sprints und Phasen</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t>Phase 1 – Analyse (Sprint 1–3):</a:t>
            </a:r>
          </a:p>
          <a:p>
            <a:pPr marL="285750" lvl="1" indent="-285750">
              <a:spcBef>
                <a:spcPts val="800"/>
              </a:spcBef>
              <a:spcAft>
                <a:spcPts val="400"/>
              </a:spcAft>
              <a:defRPr sz="1800">
                <a:solidFill>
                  <a:srgbClr val="334155"/>
                </a:solidFill>
              </a:defRPr>
            </a:pPr>
            <a:r>
              <a:t>Anforderungen, Marktanalyse, Architekturentscheid</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Phase 2 – Backend (Sprint 4–8):</a:t>
            </a:r>
          </a:p>
          <a:p>
            <a:pPr marL="285750" lvl="1" indent="-285750">
              <a:spcBef>
                <a:spcPts val="800"/>
              </a:spcBef>
              <a:spcAft>
                <a:spcPts val="400"/>
              </a:spcAft>
              <a:defRPr sz="1800">
                <a:solidFill>
                  <a:srgbClr val="334155"/>
                </a:solidFill>
              </a:defRPr>
            </a:pPr>
            <a:r>
              <a:t>Datenmodell, API, Jira-Integration</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Phase 3 – Frontend (Sprint 9–13):</a:t>
            </a:r>
          </a:p>
          <a:p>
            <a:pPr marL="285750" lvl="1" indent="-285750">
              <a:spcBef>
                <a:spcPts val="800"/>
              </a:spcBef>
              <a:spcAft>
                <a:spcPts val="400"/>
              </a:spcAft>
              <a:defRPr sz="1800">
                <a:solidFill>
                  <a:srgbClr val="334155"/>
                </a:solidFill>
              </a:defRPr>
            </a:pPr>
            <a:r>
              <a:t>Dashboard, Kapazitätsplanung, Analytics</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Phase 4 – Deployment (Sprint 14–16):</a:t>
            </a:r>
          </a:p>
          <a:p>
            <a:pPr marL="285750" lvl="1" indent="-285750">
              <a:spcBef>
                <a:spcPts val="800"/>
              </a:spcBef>
              <a:spcAft>
                <a:spcPts val="400"/>
              </a:spcAft>
              <a:defRPr sz="1800">
                <a:solidFill>
                  <a:srgbClr val="334155"/>
                </a:solidFill>
              </a:defRPr>
            </a:pPr>
            <a:r>
              <a:t>Azure, Tests, Performance, SP-Empfehlung</a:t>
            </a:r>
          </a:p>
        </p:txBody>
      </p:sp>
      <p:sp>
        <p:nvSpPr>
          <p:cNvPr id="5" name="Rectangle 4">
            <a:extLst>
              <a:ext uri="{FF2B5EF4-FFF2-40B4-BE49-F238E27FC236}">
                <a16:creationId xmlns:a16="http://schemas.microsoft.com/office/drawing/2014/main" id="{483BFB87-3BB9-5A9C-3618-B34A631EAD94}"/>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624C67E8-9EA0-9FB4-6211-6A37A4FEDF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Deployment und Betrieb</a:t>
            </a:r>
          </a:p>
        </p:txBody>
      </p:sp>
      <p:sp>
        <p:nvSpPr>
          <p:cNvPr id="4" name="TextBox 3"/>
          <p:cNvSpPr txBox="1"/>
          <p:nvPr/>
        </p:nvSpPr>
        <p:spPr>
          <a:xfrm>
            <a:off x="685800" y="1207008"/>
            <a:ext cx="10820095" cy="5029200"/>
          </a:xfrm>
          <a:prstGeom prst="rect">
            <a:avLst/>
          </a:prstGeom>
          <a:noFill/>
        </p:spPr>
        <p:txBody>
          <a:bodyPr wrap="square">
            <a:spAutoFit/>
          </a:bodyPr>
          <a:lstStyle/>
          <a:p>
            <a:pPr>
              <a:spcBef>
                <a:spcPts val="300"/>
              </a:spcBef>
              <a:spcAft>
                <a:spcPts val="200"/>
              </a:spcAft>
              <a:defRPr sz="2000">
                <a:solidFill>
                  <a:srgbClr val="334155"/>
                </a:solidFill>
              </a:defRPr>
            </a:pPr>
            <a:r>
              <a:t>Azure App Service:</a:t>
            </a:r>
          </a:p>
          <a:p>
            <a:pPr marL="285750" lvl="1" indent="-285750">
              <a:spcBef>
                <a:spcPts val="300"/>
              </a:spcBef>
              <a:defRPr sz="1800">
                <a:solidFill>
                  <a:srgbClr val="334155"/>
                </a:solidFill>
              </a:defRPr>
            </a:pPr>
            <a:r>
              <a:t>Kein eigener Server</a:t>
            </a:r>
          </a:p>
          <a:p>
            <a:pPr marL="285750" lvl="1" indent="-285750">
              <a:spcBef>
                <a:spcPts val="300"/>
              </a:spcBef>
              <a:defRPr sz="1800">
                <a:solidFill>
                  <a:srgbClr val="334155"/>
                </a:solidFill>
              </a:defRPr>
            </a:pPr>
            <a:r>
              <a:t>Zentrale Updates</a:t>
            </a:r>
          </a:p>
          <a:p>
            <a:pPr marL="285750" lvl="1" indent="-285750">
              <a:spcBef>
                <a:spcPts val="300"/>
              </a:spcBef>
              <a:defRPr sz="1800">
                <a:solidFill>
                  <a:srgbClr val="334155"/>
                </a:solidFill>
              </a:defRPr>
            </a:pPr>
            <a:r>
              <a:t>Automatische Skalierung</a:t>
            </a:r>
          </a:p>
          <a:p>
            <a:pPr>
              <a:spcBef>
                <a:spcPts val="300"/>
              </a:spcBef>
              <a:spcAft>
                <a:spcPts val="200"/>
              </a:spcAft>
              <a:defRPr sz="2000">
                <a:solidFill>
                  <a:srgbClr val="334155"/>
                </a:solidFill>
              </a:defRPr>
            </a:pPr>
            <a:endParaRPr/>
          </a:p>
          <a:p>
            <a:pPr>
              <a:spcBef>
                <a:spcPts val="300"/>
              </a:spcBef>
              <a:spcAft>
                <a:spcPts val="200"/>
              </a:spcAft>
              <a:defRPr sz="2000">
                <a:solidFill>
                  <a:srgbClr val="334155"/>
                </a:solidFill>
              </a:defRPr>
            </a:pPr>
            <a:r>
              <a:t>Komponenten:</a:t>
            </a:r>
          </a:p>
          <a:p>
            <a:pPr marL="285750" lvl="1" indent="-285750">
              <a:spcBef>
                <a:spcPts val="300"/>
              </a:spcBef>
              <a:defRPr sz="1800">
                <a:solidFill>
                  <a:srgbClr val="334155"/>
                </a:solidFill>
              </a:defRPr>
            </a:pPr>
            <a:r>
              <a:t>Backend als App Service</a:t>
            </a:r>
          </a:p>
          <a:p>
            <a:pPr marL="285750" lvl="1" indent="-285750">
              <a:spcBef>
                <a:spcPts val="300"/>
              </a:spcBef>
              <a:defRPr sz="1800">
                <a:solidFill>
                  <a:srgbClr val="334155"/>
                </a:solidFill>
              </a:defRPr>
            </a:pPr>
            <a:r>
              <a:t>Frontend als pre-built Static Files</a:t>
            </a:r>
          </a:p>
          <a:p>
            <a:pPr marL="285750" lvl="1" indent="-285750">
              <a:spcBef>
                <a:spcPts val="300"/>
              </a:spcBef>
              <a:defRPr sz="1800">
                <a:solidFill>
                  <a:srgbClr val="334155"/>
                </a:solidFill>
              </a:defRPr>
            </a:pPr>
            <a:r>
              <a:t>PostgreSQL als Managed Database</a:t>
            </a:r>
          </a:p>
          <a:p>
            <a:pPr>
              <a:spcBef>
                <a:spcPts val="300"/>
              </a:spcBef>
              <a:spcAft>
                <a:spcPts val="200"/>
              </a:spcAft>
              <a:defRPr sz="2000">
                <a:solidFill>
                  <a:srgbClr val="334155"/>
                </a:solidFill>
              </a:defRPr>
            </a:pPr>
            <a:endParaRPr/>
          </a:p>
          <a:p>
            <a:pPr>
              <a:spcBef>
                <a:spcPts val="300"/>
              </a:spcBef>
              <a:spcAft>
                <a:spcPts val="200"/>
              </a:spcAft>
              <a:defRPr sz="2000">
                <a:solidFill>
                  <a:srgbClr val="334155"/>
                </a:solidFill>
              </a:defRPr>
            </a:pPr>
            <a:r>
              <a:t>Konfiguration:</a:t>
            </a:r>
          </a:p>
          <a:p>
            <a:pPr marL="285750" lvl="1" indent="-285750">
              <a:spcBef>
                <a:spcPts val="300"/>
              </a:spcBef>
              <a:defRPr sz="1800">
                <a:solidFill>
                  <a:srgbClr val="334155"/>
                </a:solidFill>
              </a:defRPr>
            </a:pPr>
            <a:r>
              <a:t>Umgebungsvariablen über Azure App Settings</a:t>
            </a:r>
          </a:p>
          <a:p>
            <a:pPr marL="285750" lvl="1" indent="-285750">
              <a:spcBef>
                <a:spcPts val="300"/>
              </a:spcBef>
              <a:defRPr sz="1800">
                <a:solidFill>
                  <a:srgbClr val="334155"/>
                </a:solidFill>
              </a:defRPr>
            </a:pPr>
            <a:r>
              <a:t>Datenbankmigrationen via Sequelize CLI</a:t>
            </a:r>
          </a:p>
        </p:txBody>
      </p:sp>
      <p:sp>
        <p:nvSpPr>
          <p:cNvPr id="5" name="Rectangle 4">
            <a:extLst>
              <a:ext uri="{FF2B5EF4-FFF2-40B4-BE49-F238E27FC236}">
                <a16:creationId xmlns:a16="http://schemas.microsoft.com/office/drawing/2014/main" id="{7126BF9C-CD6C-E2D3-3C78-8EBCC3AFA129}"/>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AA5FB690-1787-802D-47F7-F9CE5BA0CC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172A"/>
          </a:solidFill>
          <a:ln>
            <a:noFill/>
          </a:ln>
        </p:spPr>
        <p:txBody>
          <a:bodyPr rtlCol="0" anchor="ctr"/>
          <a:lstStyle/>
          <a:p>
            <a:pPr algn="ctr"/>
            <a:endParaRPr/>
          </a:p>
        </p:txBody>
      </p:sp>
      <p:sp>
        <p:nvSpPr>
          <p:cNvPr id="4" name="TextBox 3">
            <a:extLst>
              <a:ext uri="{FF2B5EF4-FFF2-40B4-BE49-F238E27FC236}">
                <a16:creationId xmlns:a16="http://schemas.microsoft.com/office/drawing/2014/main" id="{C6833C15-1B26-5A68-B20D-401E2D2309EB}"/>
              </a:ext>
            </a:extLst>
          </p:cNvPr>
          <p:cNvSpPr txBox="1"/>
          <p:nvPr/>
        </p:nvSpPr>
        <p:spPr>
          <a:xfrm>
            <a:off x="1527048" y="3429000"/>
            <a:ext cx="9144000" cy="830997"/>
          </a:xfrm>
          <a:prstGeom prst="rect">
            <a:avLst/>
          </a:prstGeom>
          <a:noFill/>
        </p:spPr>
        <p:txBody>
          <a:bodyPr wrap="none">
            <a:spAutoFit/>
          </a:bodyPr>
          <a:lstStyle/>
          <a:p>
            <a:pPr algn="ctr">
              <a:defRPr sz="4800" b="1">
                <a:solidFill>
                  <a:srgbClr val="FFFFFF"/>
                </a:solidFill>
              </a:defRPr>
            </a:pPr>
            <a:r>
              <a:rPr lang="de-CH" dirty="0"/>
              <a:t>Sprintify im Einsatz</a:t>
            </a:r>
            <a:endParaRPr dirty="0"/>
          </a:p>
        </p:txBody>
      </p:sp>
      <p:pic>
        <p:nvPicPr>
          <p:cNvPr id="5" name="Graphic 4">
            <a:extLst>
              <a:ext uri="{FF2B5EF4-FFF2-40B4-BE49-F238E27FC236}">
                <a16:creationId xmlns:a16="http://schemas.microsoft.com/office/drawing/2014/main" id="{E140513D-ABEB-B671-1057-41213097168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6444" y="2841229"/>
            <a:ext cx="1018804" cy="587771"/>
          </a:xfrm>
          <a:prstGeom prst="rect">
            <a:avLst/>
          </a:prstGeom>
        </p:spPr>
      </p:pic>
      <p:sp>
        <p:nvSpPr>
          <p:cNvPr id="6" name="TextBox 5"/>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8E2C4-0B4A-B8FD-F162-550B3A3797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B04121-B98F-68D9-487A-38D68A04AD1C}"/>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A screenshot of a dashboard&#10;&#10;AI-generated content may be incorrect.">
            <a:extLst>
              <a:ext uri="{FF2B5EF4-FFF2-40B4-BE49-F238E27FC236}">
                <a16:creationId xmlns:a16="http://schemas.microsoft.com/office/drawing/2014/main" id="{DD5F11A2-2B76-7D80-4F23-4E08DFD55411}"/>
              </a:ext>
            </a:extLst>
          </p:cNvPr>
          <p:cNvPicPr>
            <a:picLocks noChangeAspect="1"/>
          </p:cNvPicPr>
          <p:nvPr/>
        </p:nvPicPr>
        <p:blipFill>
          <a:blip r:embed="rId3"/>
          <a:stretch>
            <a:fillRect/>
          </a:stretch>
        </p:blipFill>
        <p:spPr>
          <a:xfrm>
            <a:off x="-1" y="0"/>
            <a:ext cx="12191695" cy="11203683"/>
          </a:xfrm>
          <a:prstGeom prst="rect">
            <a:avLst/>
          </a:prstGeom>
        </p:spPr>
      </p:pic>
      <p:sp>
        <p:nvSpPr>
          <p:cNvPr id="7" name="Rectangle 6"/>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Dashboard</a:t>
            </a:r>
            <a:r>
              <a:rPr sz="1250">
                <a:solidFill>
                  <a:srgbClr val="B8C2D9"/>
                </a:solidFill>
                <a:latin typeface="Arial"/>
              </a:rPr>
              <a:t>   —   Projektüberblick: Kennzahlen, Sprint-Fortschritt &amp; Forecast</a:t>
            </a:r>
          </a:p>
        </p:txBody>
      </p:sp>
      <p:sp>
        <p:nvSpPr>
          <p:cNvPr id="8" name="TextBox 7"/>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24</a:t>
            </a:r>
          </a:p>
        </p:txBody>
      </p:sp>
    </p:spTree>
    <p:extLst>
      <p:ext uri="{BB962C8B-B14F-4D97-AF65-F5344CB8AC3E}">
        <p14:creationId xmlns:p14="http://schemas.microsoft.com/office/powerpoint/2010/main" val="2255799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27A51-A1B6-B105-7CB6-985806D3730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B688C45-B9FF-A6DE-3943-99FA2A561146}"/>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A screenshot of a computer&#10;&#10;AI-generated content may be incorrect.">
            <a:extLst>
              <a:ext uri="{FF2B5EF4-FFF2-40B4-BE49-F238E27FC236}">
                <a16:creationId xmlns:a16="http://schemas.microsoft.com/office/drawing/2014/main" id="{31A52F33-2420-1F90-417D-EFB1C233C656}"/>
              </a:ext>
            </a:extLst>
          </p:cNvPr>
          <p:cNvPicPr>
            <a:picLocks noChangeAspect="1"/>
          </p:cNvPicPr>
          <p:nvPr/>
        </p:nvPicPr>
        <p:blipFill>
          <a:blip r:embed="rId3"/>
          <a:stretch>
            <a:fillRect/>
          </a:stretch>
        </p:blipFill>
        <p:spPr>
          <a:xfrm>
            <a:off x="0" y="-1"/>
            <a:ext cx="12191695" cy="11222325"/>
          </a:xfrm>
          <a:prstGeom prst="rect">
            <a:avLst/>
          </a:prstGeom>
        </p:spPr>
      </p:pic>
      <p:sp>
        <p:nvSpPr>
          <p:cNvPr id="5" name="Rectangle 4"/>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Active Sprint</a:t>
            </a:r>
            <a:r>
              <a:rPr sz="1250">
                <a:solidFill>
                  <a:srgbClr val="B8C2D9"/>
                </a:solidFill>
                <a:latin typeface="Arial"/>
              </a:rPr>
              <a:t>   —   Aktueller Sprint: Status, Story Points &amp; Team-Kapazität</a:t>
            </a:r>
          </a:p>
        </p:txBody>
      </p:sp>
      <p:sp>
        <p:nvSpPr>
          <p:cNvPr id="6" name="TextBox 5"/>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25</a:t>
            </a:r>
          </a:p>
        </p:txBody>
      </p:sp>
    </p:spTree>
    <p:extLst>
      <p:ext uri="{BB962C8B-B14F-4D97-AF65-F5344CB8AC3E}">
        <p14:creationId xmlns:p14="http://schemas.microsoft.com/office/powerpoint/2010/main" val="30949837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0B6F-A0F1-1E51-1606-1233F47F72F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EC9263-5D90-ED53-D2EC-506430F176C2}"/>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screenshot of a graph&#10;&#10;AI-generated content may be incorrect.">
            <a:extLst>
              <a:ext uri="{FF2B5EF4-FFF2-40B4-BE49-F238E27FC236}">
                <a16:creationId xmlns:a16="http://schemas.microsoft.com/office/drawing/2014/main" id="{EB16738B-D79C-3112-2272-DFC2F11E1DA1}"/>
              </a:ext>
            </a:extLst>
          </p:cNvPr>
          <p:cNvPicPr>
            <a:picLocks noChangeAspect="1"/>
          </p:cNvPicPr>
          <p:nvPr/>
        </p:nvPicPr>
        <p:blipFill>
          <a:blip r:embed="rId3"/>
          <a:stretch>
            <a:fillRect/>
          </a:stretch>
        </p:blipFill>
        <p:spPr>
          <a:xfrm>
            <a:off x="0" y="0"/>
            <a:ext cx="12191694" cy="9470192"/>
          </a:xfrm>
          <a:prstGeom prst="rect">
            <a:avLst/>
          </a:prstGeom>
        </p:spPr>
      </p:pic>
      <p:sp>
        <p:nvSpPr>
          <p:cNvPr id="6" name="Rectangle 5"/>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Sprint Analytics · Overview</a:t>
            </a:r>
            <a:r>
              <a:rPr sz="1250">
                <a:solidFill>
                  <a:srgbClr val="B8C2D9"/>
                </a:solidFill>
                <a:latin typeface="Arial"/>
              </a:rPr>
              <a:t>   —   Kennzahlen und Burndown-Chart (Ideal vs. Ist)</a:t>
            </a:r>
          </a:p>
        </p:txBody>
      </p:sp>
      <p:sp>
        <p:nvSpPr>
          <p:cNvPr id="7" name="TextBox 6"/>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26</a:t>
            </a:r>
          </a:p>
        </p:txBody>
      </p:sp>
    </p:spTree>
    <p:extLst>
      <p:ext uri="{BB962C8B-B14F-4D97-AF65-F5344CB8AC3E}">
        <p14:creationId xmlns:p14="http://schemas.microsoft.com/office/powerpoint/2010/main" val="23583626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56DF6-0792-290E-D703-4E624DA67B8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9D758AA-460A-4C6D-353C-D228DAB61943}"/>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A screenshot of a web page&#10;&#10;AI-generated content may be incorrect.">
            <a:extLst>
              <a:ext uri="{FF2B5EF4-FFF2-40B4-BE49-F238E27FC236}">
                <a16:creationId xmlns:a16="http://schemas.microsoft.com/office/drawing/2014/main" id="{CECD11D2-88FE-939E-44B1-F0CABA57A686}"/>
              </a:ext>
            </a:extLst>
          </p:cNvPr>
          <p:cNvPicPr>
            <a:picLocks noChangeAspect="1"/>
          </p:cNvPicPr>
          <p:nvPr/>
        </p:nvPicPr>
        <p:blipFill>
          <a:blip r:embed="rId3"/>
          <a:stretch>
            <a:fillRect/>
          </a:stretch>
        </p:blipFill>
        <p:spPr>
          <a:xfrm>
            <a:off x="0" y="0"/>
            <a:ext cx="16324566" cy="6858000"/>
          </a:xfrm>
          <a:prstGeom prst="rect">
            <a:avLst/>
          </a:prstGeom>
        </p:spPr>
      </p:pic>
      <p:sp>
        <p:nvSpPr>
          <p:cNvPr id="5" name="Rectangle 4"/>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Sprint Analytics · Compare</a:t>
            </a:r>
            <a:r>
              <a:rPr sz="1250">
                <a:solidFill>
                  <a:srgbClr val="B8C2D9"/>
                </a:solidFill>
                <a:latin typeface="Arial"/>
              </a:rPr>
              <a:t>   —   Velocity vs. Vorsprint und Langzeit-Benchmarks</a:t>
            </a:r>
          </a:p>
        </p:txBody>
      </p:sp>
      <p:sp>
        <p:nvSpPr>
          <p:cNvPr id="6" name="TextBox 5"/>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27</a:t>
            </a:r>
          </a:p>
        </p:txBody>
      </p:sp>
    </p:spTree>
    <p:extLst>
      <p:ext uri="{BB962C8B-B14F-4D97-AF65-F5344CB8AC3E}">
        <p14:creationId xmlns:p14="http://schemas.microsoft.com/office/powerpoint/2010/main" val="13076232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EAE7-5337-1778-9414-FFCA2FD68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EE42B9C-CAD3-D0DE-FE42-4D98438662ED}"/>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screenshot of a computer&#10;&#10;AI-generated content may be incorrect.">
            <a:extLst>
              <a:ext uri="{FF2B5EF4-FFF2-40B4-BE49-F238E27FC236}">
                <a16:creationId xmlns:a16="http://schemas.microsoft.com/office/drawing/2014/main" id="{9BF7339F-7BFA-90B6-BC14-3BE03046C2E3}"/>
              </a:ext>
            </a:extLst>
          </p:cNvPr>
          <p:cNvPicPr>
            <a:picLocks noChangeAspect="1"/>
          </p:cNvPicPr>
          <p:nvPr/>
        </p:nvPicPr>
        <p:blipFill>
          <a:blip r:embed="rId3"/>
          <a:stretch>
            <a:fillRect/>
          </a:stretch>
        </p:blipFill>
        <p:spPr>
          <a:xfrm>
            <a:off x="0" y="0"/>
            <a:ext cx="12191694" cy="9269457"/>
          </a:xfrm>
          <a:prstGeom prst="rect">
            <a:avLst/>
          </a:prstGeom>
        </p:spPr>
      </p:pic>
      <p:sp>
        <p:nvSpPr>
          <p:cNvPr id="6" name="Rectangle 5"/>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Sprint Analytics · Changes</a:t>
            </a:r>
            <a:r>
              <a:rPr sz="1250">
                <a:solidFill>
                  <a:srgbClr val="B8C2D9"/>
                </a:solidFill>
                <a:latin typeface="Arial"/>
              </a:rPr>
              <a:t>   —   Während des Sprints hinzugefügte und entfernte Stories</a:t>
            </a:r>
          </a:p>
        </p:txBody>
      </p:sp>
      <p:sp>
        <p:nvSpPr>
          <p:cNvPr id="7" name="TextBox 6"/>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28</a:t>
            </a:r>
          </a:p>
        </p:txBody>
      </p:sp>
    </p:spTree>
    <p:extLst>
      <p:ext uri="{BB962C8B-B14F-4D97-AF65-F5344CB8AC3E}">
        <p14:creationId xmlns:p14="http://schemas.microsoft.com/office/powerpoint/2010/main" val="24754176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B5F2-E8E8-B14E-5598-B4837307F49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82B12E2-C35D-D107-D693-6B0EA492FA2D}"/>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A screenshot of a computer&#10;&#10;AI-generated content may be incorrect.">
            <a:extLst>
              <a:ext uri="{FF2B5EF4-FFF2-40B4-BE49-F238E27FC236}">
                <a16:creationId xmlns:a16="http://schemas.microsoft.com/office/drawing/2014/main" id="{F52036DE-E17F-8103-E250-AEB6992616F7}"/>
              </a:ext>
            </a:extLst>
          </p:cNvPr>
          <p:cNvPicPr>
            <a:picLocks noChangeAspect="1"/>
          </p:cNvPicPr>
          <p:nvPr/>
        </p:nvPicPr>
        <p:blipFill>
          <a:blip r:embed="rId3"/>
          <a:stretch>
            <a:fillRect/>
          </a:stretch>
        </p:blipFill>
        <p:spPr>
          <a:xfrm>
            <a:off x="-1" y="0"/>
            <a:ext cx="12191695" cy="9466678"/>
          </a:xfrm>
          <a:prstGeom prst="rect">
            <a:avLst/>
          </a:prstGeom>
        </p:spPr>
      </p:pic>
      <p:sp>
        <p:nvSpPr>
          <p:cNvPr id="5" name="Rectangle 4"/>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Sprint Analytics · Team Performance</a:t>
            </a:r>
            <a:r>
              <a:rPr sz="1250">
                <a:solidFill>
                  <a:srgbClr val="B8C2D9"/>
                </a:solidFill>
                <a:latin typeface="Arial"/>
              </a:rPr>
              <a:t>   —   Velocity und Completion Rate pro Teammitglied</a:t>
            </a:r>
          </a:p>
        </p:txBody>
      </p:sp>
      <p:sp>
        <p:nvSpPr>
          <p:cNvPr id="6" name="TextBox 5"/>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29</a:t>
            </a:r>
          </a:p>
        </p:txBody>
      </p:sp>
    </p:spTree>
    <p:extLst>
      <p:ext uri="{BB962C8B-B14F-4D97-AF65-F5344CB8AC3E}">
        <p14:creationId xmlns:p14="http://schemas.microsoft.com/office/powerpoint/2010/main" val="25601504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82D56-BE45-E80A-2A52-2BCC9276675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682D2A-5E65-708F-71C3-111C9095D53B}"/>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screenshot of a computer&#10;&#10;AI-generated content may be incorrect.">
            <a:extLst>
              <a:ext uri="{FF2B5EF4-FFF2-40B4-BE49-F238E27FC236}">
                <a16:creationId xmlns:a16="http://schemas.microsoft.com/office/drawing/2014/main" id="{BB5F7173-914A-BA37-A53D-A36260B00ACB}"/>
              </a:ext>
            </a:extLst>
          </p:cNvPr>
          <p:cNvPicPr>
            <a:picLocks noChangeAspect="1"/>
          </p:cNvPicPr>
          <p:nvPr/>
        </p:nvPicPr>
        <p:blipFill>
          <a:blip r:embed="rId3"/>
          <a:stretch>
            <a:fillRect/>
          </a:stretch>
        </p:blipFill>
        <p:spPr>
          <a:xfrm>
            <a:off x="-1" y="0"/>
            <a:ext cx="12191695" cy="9316590"/>
          </a:xfrm>
          <a:prstGeom prst="rect">
            <a:avLst/>
          </a:prstGeom>
        </p:spPr>
      </p:pic>
      <p:sp>
        <p:nvSpPr>
          <p:cNvPr id="6" name="Rectangle 5"/>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Sprint History</a:t>
            </a:r>
            <a:r>
              <a:rPr sz="1250">
                <a:solidFill>
                  <a:srgbClr val="B8C2D9"/>
                </a:solidFill>
                <a:latin typeface="Arial"/>
              </a:rPr>
              <a:t>   —   Velocity-Verlauf über alle abgeschlossenen Sprints</a:t>
            </a:r>
          </a:p>
        </p:txBody>
      </p:sp>
      <p:sp>
        <p:nvSpPr>
          <p:cNvPr id="7" name="TextBox 6"/>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30</a:t>
            </a:r>
          </a:p>
        </p:txBody>
      </p:sp>
    </p:spTree>
    <p:extLst>
      <p:ext uri="{BB962C8B-B14F-4D97-AF65-F5344CB8AC3E}">
        <p14:creationId xmlns:p14="http://schemas.microsoft.com/office/powerpoint/2010/main" val="1141537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F5544-9903-EBD1-2805-090F97F6572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FE19579-301A-B754-9C95-F9C3EE10771B}"/>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A screenshot of a computer&#10;&#10;AI-generated content may be incorrect.">
            <a:extLst>
              <a:ext uri="{FF2B5EF4-FFF2-40B4-BE49-F238E27FC236}">
                <a16:creationId xmlns:a16="http://schemas.microsoft.com/office/drawing/2014/main" id="{6CDA0776-6462-5DCA-F054-F2C39151C72C}"/>
              </a:ext>
            </a:extLst>
          </p:cNvPr>
          <p:cNvPicPr>
            <a:picLocks noChangeAspect="1"/>
          </p:cNvPicPr>
          <p:nvPr/>
        </p:nvPicPr>
        <p:blipFill>
          <a:blip r:embed="rId3"/>
          <a:stretch>
            <a:fillRect/>
          </a:stretch>
        </p:blipFill>
        <p:spPr>
          <a:xfrm>
            <a:off x="0" y="0"/>
            <a:ext cx="12191694" cy="8321438"/>
          </a:xfrm>
          <a:prstGeom prst="rect">
            <a:avLst/>
          </a:prstGeom>
        </p:spPr>
      </p:pic>
      <p:sp>
        <p:nvSpPr>
          <p:cNvPr id="5" name="Rectangle 4"/>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Capacity Planning</a:t>
            </a:r>
            <a:r>
              <a:rPr sz="1250">
                <a:solidFill>
                  <a:srgbClr val="B8C2D9"/>
                </a:solidFill>
                <a:latin typeface="Arial"/>
              </a:rPr>
              <a:t>   —   Wochenkapazität, Kategorien und Story-Point-Empfehlung</a:t>
            </a:r>
          </a:p>
        </p:txBody>
      </p:sp>
      <p:sp>
        <p:nvSpPr>
          <p:cNvPr id="6" name="TextBox 5"/>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31</a:t>
            </a:r>
          </a:p>
        </p:txBody>
      </p:sp>
    </p:spTree>
    <p:extLst>
      <p:ext uri="{BB962C8B-B14F-4D97-AF65-F5344CB8AC3E}">
        <p14:creationId xmlns:p14="http://schemas.microsoft.com/office/powerpoint/2010/main" val="8195228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596A-9A8D-A022-CADA-834FAF34A9F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497CFEF-F94D-04F8-33A6-6CD41C87EDA9}"/>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screenshot of a computer&#10;&#10;AI-generated content may be incorrect.">
            <a:extLst>
              <a:ext uri="{FF2B5EF4-FFF2-40B4-BE49-F238E27FC236}">
                <a16:creationId xmlns:a16="http://schemas.microsoft.com/office/drawing/2014/main" id="{F1D7CB04-11CC-0A25-037E-E1B519B6C775}"/>
              </a:ext>
            </a:extLst>
          </p:cNvPr>
          <p:cNvPicPr>
            <a:picLocks noChangeAspect="1"/>
          </p:cNvPicPr>
          <p:nvPr/>
        </p:nvPicPr>
        <p:blipFill>
          <a:blip r:embed="rId3"/>
          <a:stretch>
            <a:fillRect/>
          </a:stretch>
        </p:blipFill>
        <p:spPr>
          <a:xfrm>
            <a:off x="-1" y="0"/>
            <a:ext cx="16151163" cy="6858000"/>
          </a:xfrm>
          <a:prstGeom prst="rect">
            <a:avLst/>
          </a:prstGeom>
        </p:spPr>
      </p:pic>
      <p:sp>
        <p:nvSpPr>
          <p:cNvPr id="6" name="Rectangle 5"/>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Retrospective</a:t>
            </a:r>
            <a:r>
              <a:rPr sz="1250">
                <a:solidFill>
                  <a:srgbClr val="B8C2D9"/>
                </a:solidFill>
                <a:latin typeface="Arial"/>
              </a:rPr>
              <a:t>   —   Went Well, Needs Improvement und Action Items</a:t>
            </a:r>
          </a:p>
        </p:txBody>
      </p:sp>
      <p:sp>
        <p:nvSpPr>
          <p:cNvPr id="7" name="TextBox 6"/>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32</a:t>
            </a:r>
          </a:p>
        </p:txBody>
      </p:sp>
    </p:spTree>
    <p:extLst>
      <p:ext uri="{BB962C8B-B14F-4D97-AF65-F5344CB8AC3E}">
        <p14:creationId xmlns:p14="http://schemas.microsoft.com/office/powerpoint/2010/main" val="1263721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24BCF-5F75-80D7-6E93-E87CB24D515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2E8543-3089-A2DD-8C06-51791F78B0B8}"/>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A screenshot of a computer&#10;&#10;AI-generated content may be incorrect.">
            <a:extLst>
              <a:ext uri="{FF2B5EF4-FFF2-40B4-BE49-F238E27FC236}">
                <a16:creationId xmlns:a16="http://schemas.microsoft.com/office/drawing/2014/main" id="{1745B4C6-FB74-6382-E3F3-BED72E3F51B9}"/>
              </a:ext>
            </a:extLst>
          </p:cNvPr>
          <p:cNvPicPr>
            <a:picLocks noChangeAspect="1"/>
          </p:cNvPicPr>
          <p:nvPr/>
        </p:nvPicPr>
        <p:blipFill>
          <a:blip r:embed="rId3"/>
          <a:stretch>
            <a:fillRect/>
          </a:stretch>
        </p:blipFill>
        <p:spPr>
          <a:xfrm>
            <a:off x="-1" y="0"/>
            <a:ext cx="14384171" cy="6858000"/>
          </a:xfrm>
          <a:prstGeom prst="rect">
            <a:avLst/>
          </a:prstGeom>
        </p:spPr>
      </p:pic>
      <p:sp>
        <p:nvSpPr>
          <p:cNvPr id="5" name="Rectangle 4"/>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Team</a:t>
            </a:r>
            <a:r>
              <a:rPr sz="1250">
                <a:solidFill>
                  <a:srgbClr val="B8C2D9"/>
                </a:solidFill>
                <a:latin typeface="Arial"/>
              </a:rPr>
              <a:t>   —   Mitgliederverwaltung mit Rollen (admin / member / viewer)</a:t>
            </a:r>
          </a:p>
        </p:txBody>
      </p:sp>
      <p:sp>
        <p:nvSpPr>
          <p:cNvPr id="6" name="TextBox 5"/>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33</a:t>
            </a:r>
          </a:p>
        </p:txBody>
      </p:sp>
    </p:spTree>
    <p:extLst>
      <p:ext uri="{BB962C8B-B14F-4D97-AF65-F5344CB8AC3E}">
        <p14:creationId xmlns:p14="http://schemas.microsoft.com/office/powerpoint/2010/main" val="10669899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A941D-586A-D3AA-95CF-A1F89AECFBE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F41B1D-F532-2DBD-6D39-E8167C43C23F}"/>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screenshot of a computer&#10;&#10;AI-generated content may be incorrect.">
            <a:extLst>
              <a:ext uri="{FF2B5EF4-FFF2-40B4-BE49-F238E27FC236}">
                <a16:creationId xmlns:a16="http://schemas.microsoft.com/office/drawing/2014/main" id="{F8306980-52D0-BD1A-F0F2-C3B21CD885BE}"/>
              </a:ext>
            </a:extLst>
          </p:cNvPr>
          <p:cNvPicPr>
            <a:picLocks noChangeAspect="1"/>
          </p:cNvPicPr>
          <p:nvPr/>
        </p:nvPicPr>
        <p:blipFill>
          <a:blip r:embed="rId3"/>
          <a:stretch>
            <a:fillRect/>
          </a:stretch>
        </p:blipFill>
        <p:spPr>
          <a:xfrm>
            <a:off x="0" y="0"/>
            <a:ext cx="19472718" cy="6858000"/>
          </a:xfrm>
          <a:prstGeom prst="rect">
            <a:avLst/>
          </a:prstGeom>
        </p:spPr>
      </p:pic>
      <p:sp>
        <p:nvSpPr>
          <p:cNvPr id="6" name="Rectangle 5"/>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Projects</a:t>
            </a:r>
            <a:r>
              <a:rPr sz="1250">
                <a:solidFill>
                  <a:srgbClr val="B8C2D9"/>
                </a:solidFill>
                <a:latin typeface="Arial"/>
              </a:rPr>
              <a:t>   —   Projektübersicht mit eigener Jira-Integration</a:t>
            </a:r>
          </a:p>
        </p:txBody>
      </p:sp>
      <p:sp>
        <p:nvSpPr>
          <p:cNvPr id="7" name="TextBox 6"/>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34</a:t>
            </a:r>
          </a:p>
        </p:txBody>
      </p:sp>
    </p:spTree>
    <p:extLst>
      <p:ext uri="{BB962C8B-B14F-4D97-AF65-F5344CB8AC3E}">
        <p14:creationId xmlns:p14="http://schemas.microsoft.com/office/powerpoint/2010/main" val="9084454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326A0-725D-DCB8-C533-82D9A786D8D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C648465-DD18-683F-5E39-F64ED0FDC5D1}"/>
              </a:ext>
            </a:extLst>
          </p:cNvPr>
          <p:cNvSpPr/>
          <p:nvPr/>
        </p:nvSpPr>
        <p:spPr>
          <a:xfrm>
            <a:off x="0" y="0"/>
            <a:ext cx="12191695" cy="91440"/>
          </a:xfrm>
          <a:prstGeom prst="rect">
            <a:avLst/>
          </a:prstGeom>
          <a:solidFill>
            <a:srgbClr val="3A0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A screenshot of a computer&#10;&#10;AI-generated content may be incorrect.">
            <a:extLst>
              <a:ext uri="{FF2B5EF4-FFF2-40B4-BE49-F238E27FC236}">
                <a16:creationId xmlns:a16="http://schemas.microsoft.com/office/drawing/2014/main" id="{5BFA1B32-4634-29E9-91AE-914765893C9C}"/>
              </a:ext>
            </a:extLst>
          </p:cNvPr>
          <p:cNvPicPr>
            <a:picLocks noChangeAspect="1"/>
          </p:cNvPicPr>
          <p:nvPr/>
        </p:nvPicPr>
        <p:blipFill>
          <a:blip r:embed="rId3"/>
          <a:stretch>
            <a:fillRect/>
          </a:stretch>
        </p:blipFill>
        <p:spPr>
          <a:xfrm>
            <a:off x="-1" y="0"/>
            <a:ext cx="12191695" cy="9460566"/>
          </a:xfrm>
          <a:prstGeom prst="rect">
            <a:avLst/>
          </a:prstGeom>
        </p:spPr>
      </p:pic>
      <p:sp>
        <p:nvSpPr>
          <p:cNvPr id="5" name="Rectangle 4"/>
          <p:cNvSpPr/>
          <p:nvPr/>
        </p:nvSpPr>
        <p:spPr>
          <a:xfrm>
            <a:off x="0" y="0"/>
            <a:ext cx="12192000" cy="603504"/>
          </a:xfrm>
          <a:prstGeom prst="rect">
            <a:avLst/>
          </a:prstGeom>
          <a:solidFill>
            <a:srgbClr val="10172A"/>
          </a:solidFill>
          <a:ln>
            <a:noFill/>
          </a:ln>
          <a:effectLst/>
        </p:spPr>
        <p:style>
          <a:lnRef idx="1">
            <a:schemeClr val="accent1"/>
          </a:lnRef>
          <a:fillRef idx="3">
            <a:schemeClr val="accent1"/>
          </a:fillRef>
          <a:effectRef idx="2">
            <a:schemeClr val="accent1"/>
          </a:effectRef>
          <a:fontRef idx="minor">
            <a:schemeClr val="lt1"/>
          </a:fontRef>
        </p:style>
        <p:txBody>
          <a:bodyPr wrap="square" lIns="502920" tIns="36576" rIns="1097280" bIns="36576" rtlCol="0" anchor="ctr"/>
          <a:lstStyle/>
          <a:p>
            <a:pPr algn="l"/>
            <a:r>
              <a:rPr sz="1600" b="1">
                <a:solidFill>
                  <a:srgbClr val="FFFFFF"/>
                </a:solidFill>
                <a:latin typeface="Arial"/>
              </a:rPr>
              <a:t>Projekt-Einstellungen</a:t>
            </a:r>
            <a:r>
              <a:rPr sz="1250">
                <a:solidFill>
                  <a:srgbClr val="B8C2D9"/>
                </a:solidFill>
                <a:latin typeface="Arial"/>
              </a:rPr>
              <a:t>   —   Jira-Anbindung, Board-Mapping und Synchronisation</a:t>
            </a:r>
          </a:p>
        </p:txBody>
      </p:sp>
      <p:sp>
        <p:nvSpPr>
          <p:cNvPr id="6" name="TextBox 5"/>
          <p:cNvSpPr txBox="1"/>
          <p:nvPr/>
        </p:nvSpPr>
        <p:spPr>
          <a:xfrm>
            <a:off x="11338560" y="164592"/>
            <a:ext cx="731520" cy="292608"/>
          </a:xfrm>
          <a:prstGeom prst="rect">
            <a:avLst/>
          </a:prstGeom>
          <a:noFill/>
        </p:spPr>
        <p:txBody>
          <a:bodyPr wrap="none" lIns="0" tIns="0" rIns="0" bIns="0">
            <a:spAutoFit/>
          </a:bodyPr>
          <a:lstStyle/>
          <a:p>
            <a:pPr algn="r"/>
            <a:r>
              <a:rPr sz="1100">
                <a:solidFill>
                  <a:srgbClr val="B8C2D9"/>
                </a:solidFill>
                <a:latin typeface="Arial"/>
              </a:rPr>
              <a:t>35</a:t>
            </a:r>
          </a:p>
        </p:txBody>
      </p:sp>
    </p:spTree>
    <p:extLst>
      <p:ext uri="{BB962C8B-B14F-4D97-AF65-F5344CB8AC3E}">
        <p14:creationId xmlns:p14="http://schemas.microsoft.com/office/powerpoint/2010/main" val="39519930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Kritische Würdigung</a:t>
            </a:r>
          </a:p>
        </p:txBody>
      </p:sp>
      <p:sp>
        <p:nvSpPr>
          <p:cNvPr id="4" name="TextBox 3"/>
          <p:cNvSpPr txBox="1"/>
          <p:nvPr/>
        </p:nvSpPr>
        <p:spPr>
          <a:xfrm>
            <a:off x="685800" y="1280160"/>
            <a:ext cx="2542234" cy="430887"/>
          </a:xfrm>
          <a:prstGeom prst="rect">
            <a:avLst/>
          </a:prstGeom>
          <a:noFill/>
        </p:spPr>
        <p:txBody>
          <a:bodyPr wrap="none">
            <a:spAutoFit/>
          </a:bodyPr>
          <a:lstStyle/>
          <a:p>
            <a:pPr>
              <a:defRPr sz="2200" b="1">
                <a:solidFill>
                  <a:srgbClr val="3A04FF"/>
                </a:solidFill>
              </a:defRPr>
            </a:pPr>
            <a:r>
              <a:rPr dirty="0">
                <a:solidFill>
                  <a:srgbClr val="3B2EFF"/>
                </a:solidFill>
              </a:rPr>
              <a:t>Was gut </a:t>
            </a:r>
            <a:r>
              <a:rPr dirty="0" err="1">
                <a:solidFill>
                  <a:srgbClr val="3B2EFF"/>
                </a:solidFill>
              </a:rPr>
              <a:t>gelaufen</a:t>
            </a:r>
            <a:r>
              <a:rPr dirty="0">
                <a:solidFill>
                  <a:srgbClr val="3B2EFF"/>
                </a:solidFill>
              </a:rPr>
              <a:t> </a:t>
            </a:r>
            <a:r>
              <a:rPr dirty="0" err="1">
                <a:solidFill>
                  <a:srgbClr val="3B2EFF"/>
                </a:solidFill>
              </a:rPr>
              <a:t>ist</a:t>
            </a:r>
            <a:endParaRPr dirty="0">
              <a:solidFill>
                <a:srgbClr val="3B2EFF"/>
              </a:solidFill>
            </a:endParaRPr>
          </a:p>
        </p:txBody>
      </p:sp>
      <p:sp>
        <p:nvSpPr>
          <p:cNvPr id="5" name="TextBox 4"/>
          <p:cNvSpPr txBox="1"/>
          <p:nvPr/>
        </p:nvSpPr>
        <p:spPr>
          <a:xfrm>
            <a:off x="685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t>Iteratives Vorgehen hat sich bewährt</a:t>
            </a:r>
          </a:p>
          <a:p>
            <a:pPr marL="285750" indent="-285750">
              <a:spcBef>
                <a:spcPts val="600"/>
              </a:spcBef>
              <a:defRPr sz="1800">
                <a:solidFill>
                  <a:srgbClr val="334155"/>
                </a:solidFill>
              </a:defRPr>
            </a:pPr>
            <a:r>
              <a:t>Anforderungen haben sich geändert</a:t>
            </a:r>
          </a:p>
          <a:p>
            <a:pPr marL="285750" indent="-285750">
              <a:spcBef>
                <a:spcPts val="600"/>
              </a:spcBef>
              <a:defRPr sz="1800">
                <a:solidFill>
                  <a:srgbClr val="334155"/>
                </a:solidFill>
              </a:defRPr>
            </a:pPr>
            <a:r>
              <a:t>App läuft mit Produktivdaten</a:t>
            </a:r>
          </a:p>
          <a:p>
            <a:pPr marL="285750" indent="-285750">
              <a:spcBef>
                <a:spcPts val="600"/>
              </a:spcBef>
              <a:defRPr sz="1800">
                <a:solidFill>
                  <a:srgbClr val="334155"/>
                </a:solidFill>
              </a:defRPr>
            </a:pPr>
            <a:r>
              <a:t>SP-Empfehlung ist einzigartig</a:t>
            </a:r>
          </a:p>
          <a:p>
            <a:pPr marL="285750" indent="-285750">
              <a:buClr>
                <a:srgbClr val="3B2EFF"/>
              </a:buClr>
              <a:buSzPct val="70000"/>
              <a:buFont typeface="Arial"/>
              <a:buChar char="●"/>
            </a:pPr>
            <a:r>
              <a:rPr lang="de-CH" sz="1800" dirty="0">
                <a:solidFill>
                  <a:srgbClr val="334155"/>
                </a:solidFill>
              </a:rPr>
              <a:t>KI beschleunigt — mit konsequenter manueller Review</a:t>
            </a:r>
          </a:p>
        </p:txBody>
      </p:sp>
      <p:sp>
        <p:nvSpPr>
          <p:cNvPr id="6" name="TextBox 5"/>
          <p:cNvSpPr txBox="1"/>
          <p:nvPr/>
        </p:nvSpPr>
        <p:spPr>
          <a:xfrm>
            <a:off x="6400800" y="1280160"/>
            <a:ext cx="3753463" cy="430887"/>
          </a:xfrm>
          <a:prstGeom prst="rect">
            <a:avLst/>
          </a:prstGeom>
          <a:noFill/>
        </p:spPr>
        <p:txBody>
          <a:bodyPr wrap="none">
            <a:spAutoFit/>
          </a:bodyPr>
          <a:lstStyle/>
          <a:p>
            <a:pPr>
              <a:defRPr sz="2200" b="1">
                <a:solidFill>
                  <a:srgbClr val="3A04FF"/>
                </a:solidFill>
              </a:defRPr>
            </a:pPr>
            <a:r>
              <a:rPr dirty="0">
                <a:solidFill>
                  <a:srgbClr val="3B2EFF"/>
                </a:solidFill>
              </a:rPr>
              <a:t>Was ich </a:t>
            </a:r>
            <a:r>
              <a:rPr dirty="0" err="1">
                <a:solidFill>
                  <a:srgbClr val="3B2EFF"/>
                </a:solidFill>
              </a:rPr>
              <a:t>anders</a:t>
            </a:r>
            <a:r>
              <a:rPr dirty="0">
                <a:solidFill>
                  <a:srgbClr val="3B2EFF"/>
                </a:solidFill>
              </a:rPr>
              <a:t> </a:t>
            </a:r>
            <a:r>
              <a:rPr dirty="0" err="1">
                <a:solidFill>
                  <a:srgbClr val="3B2EFF"/>
                </a:solidFill>
              </a:rPr>
              <a:t>machen</a:t>
            </a:r>
            <a:r>
              <a:rPr dirty="0">
                <a:solidFill>
                  <a:srgbClr val="3B2EFF"/>
                </a:solidFill>
              </a:rPr>
              <a:t> </a:t>
            </a:r>
            <a:r>
              <a:rPr dirty="0" err="1">
                <a:solidFill>
                  <a:srgbClr val="3B2EFF"/>
                </a:solidFill>
              </a:rPr>
              <a:t>würde</a:t>
            </a:r>
            <a:endParaRPr dirty="0">
              <a:solidFill>
                <a:srgbClr val="3B2EFF"/>
              </a:solidFill>
            </a:endParaRPr>
          </a:p>
        </p:txBody>
      </p:sp>
      <p:sp>
        <p:nvSpPr>
          <p:cNvPr id="7" name="TextBox 6"/>
          <p:cNvSpPr txBox="1"/>
          <p:nvPr/>
        </p:nvSpPr>
        <p:spPr>
          <a:xfrm>
            <a:off x="6400800" y="1737360"/>
            <a:ext cx="5029200" cy="4572000"/>
          </a:xfrm>
          <a:prstGeom prst="rect">
            <a:avLst/>
          </a:prstGeom>
          <a:noFill/>
        </p:spPr>
        <p:txBody>
          <a:bodyPr wrap="square">
            <a:spAutoFit/>
          </a:bodyPr>
          <a:lstStyle/>
          <a:p>
            <a:pPr marL="285750" indent="-285750">
              <a:spcBef>
                <a:spcPts val="600"/>
              </a:spcBef>
              <a:defRPr sz="1800">
                <a:solidFill>
                  <a:srgbClr val="334155"/>
                </a:solidFill>
              </a:defRPr>
            </a:pPr>
            <a:r>
              <a:t>Jira-Integration: Spike zu Beginn</a:t>
            </a:r>
          </a:p>
          <a:p>
            <a:pPr marL="285750" indent="-285750">
              <a:spcBef>
                <a:spcPts val="600"/>
              </a:spcBef>
              <a:defRPr sz="1800">
                <a:solidFill>
                  <a:srgbClr val="334155"/>
                </a:solidFill>
              </a:defRPr>
            </a:pPr>
            <a:r>
              <a:t>Vielfalt der Konfigurationen unterschätzt</a:t>
            </a:r>
          </a:p>
          <a:p>
            <a:pPr marL="285750" indent="-285750">
              <a:spcBef>
                <a:spcPts val="600"/>
              </a:spcBef>
              <a:defRPr sz="1800">
                <a:solidFill>
                  <a:srgbClr val="334155"/>
                </a:solidFill>
              </a:defRPr>
            </a:pPr>
            <a:r>
              <a:t>Automatisierte Tests nur punktuell</a:t>
            </a:r>
          </a:p>
          <a:p>
            <a:pPr marL="285750" indent="-285750">
              <a:spcBef>
                <a:spcPts val="600"/>
              </a:spcBef>
              <a:defRPr sz="1800">
                <a:solidFill>
                  <a:srgbClr val="334155"/>
                </a:solidFill>
              </a:defRPr>
            </a:pPr>
            <a:r>
              <a:t>Single-Tenant-Architektur limitiert</a:t>
            </a:r>
          </a:p>
        </p:txBody>
      </p:sp>
      <p:sp>
        <p:nvSpPr>
          <p:cNvPr id="8" name="Rectangle 7">
            <a:extLst>
              <a:ext uri="{FF2B5EF4-FFF2-40B4-BE49-F238E27FC236}">
                <a16:creationId xmlns:a16="http://schemas.microsoft.com/office/drawing/2014/main" id="{0D812377-B477-BE92-0EA5-2C9DF53E4C46}"/>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10" name="Graphic 9">
            <a:extLst>
              <a:ext uri="{FF2B5EF4-FFF2-40B4-BE49-F238E27FC236}">
                <a16:creationId xmlns:a16="http://schemas.microsoft.com/office/drawing/2014/main" id="{E3E7D8C9-492F-B91B-4E04-05DB79FF5D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11" name="TextBox 10"/>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Persönliche Reflexion</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t>Was ich gelernt habe:</a:t>
            </a:r>
          </a:p>
          <a:p>
            <a:pPr marL="285750" lvl="1" indent="-285750">
              <a:spcBef>
                <a:spcPts val="800"/>
              </a:spcBef>
              <a:spcAft>
                <a:spcPts val="400"/>
              </a:spcAft>
              <a:defRPr sz="1800">
                <a:solidFill>
                  <a:srgbClr val="334155"/>
                </a:solidFill>
              </a:defRPr>
            </a:pPr>
            <a:r>
              <a:t>Die grösste Herausforderung steckt in externen Systemen</a:t>
            </a:r>
          </a:p>
          <a:p>
            <a:pPr marL="285750" lvl="1" indent="-285750">
              <a:spcBef>
                <a:spcPts val="800"/>
              </a:spcBef>
              <a:spcAft>
                <a:spcPts val="400"/>
              </a:spcAft>
              <a:defRPr sz="1800">
                <a:solidFill>
                  <a:srgbClr val="334155"/>
                </a:solidFill>
              </a:defRPr>
            </a:pPr>
            <a:r>
              <a:t>Allein arbeiten: schnelle Entscheidungen, aber keine Reviews</a:t>
            </a:r>
          </a:p>
          <a:p>
            <a:pPr marL="285750" lvl="1" indent="-285750">
              <a:spcBef>
                <a:spcPts val="800"/>
              </a:spcBef>
              <a:spcAft>
                <a:spcPts val="400"/>
              </a:spcAft>
              <a:defRPr sz="1800">
                <a:solidFill>
                  <a:srgbClr val="334155"/>
                </a:solidFill>
              </a:defRPr>
            </a:pPr>
            <a:r>
              <a:t>Ohne Iterationen hätte ich die Änderungen nicht geschafft</a:t>
            </a:r>
          </a:p>
          <a:p>
            <a:pPr marL="285750" lvl="1" indent="-285750">
              <a:spcBef>
                <a:spcPts val="800"/>
              </a:spcBef>
              <a:spcAft>
                <a:spcPts val="400"/>
              </a:spcAft>
              <a:defRPr sz="1800">
                <a:solidFill>
                  <a:srgbClr val="334155"/>
                </a:solidFill>
              </a:defRPr>
            </a:pPr>
            <a:r>
              <a:t>Vorher Frontend/Infra – jetzt auch Backend-Erfahrung</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Was ich mitnehme:</a:t>
            </a:r>
          </a:p>
          <a:p>
            <a:pPr marL="285750" lvl="1" indent="-285750">
              <a:spcBef>
                <a:spcPts val="800"/>
              </a:spcBef>
              <a:spcAft>
                <a:spcPts val="400"/>
              </a:spcAft>
              <a:defRPr sz="1800">
                <a:solidFill>
                  <a:srgbClr val="334155"/>
                </a:solidFill>
              </a:defRPr>
            </a:pPr>
            <a:r>
              <a:t>Integrationen immer mit einem Spike starten</a:t>
            </a:r>
          </a:p>
          <a:p>
            <a:pPr marL="285750" lvl="1" indent="-285750">
              <a:spcBef>
                <a:spcPts val="800"/>
              </a:spcBef>
              <a:spcAft>
                <a:spcPts val="400"/>
              </a:spcAft>
              <a:defRPr sz="1800">
                <a:solidFill>
                  <a:srgbClr val="334155"/>
                </a:solidFill>
              </a:defRPr>
            </a:pPr>
            <a:r>
              <a:t>Automatisierte Tests von Anfang an</a:t>
            </a:r>
          </a:p>
          <a:p>
            <a:pPr marL="285750" lvl="1" indent="-285750">
              <a:spcBef>
                <a:spcPts val="800"/>
              </a:spcBef>
              <a:spcAft>
                <a:spcPts val="400"/>
              </a:spcAft>
              <a:defRPr sz="1800">
                <a:solidFill>
                  <a:srgbClr val="334155"/>
                </a:solidFill>
              </a:defRPr>
            </a:pPr>
            <a:r>
              <a:t>Auch als Solo-Entwickler Code-Reviews simulieren</a:t>
            </a:r>
          </a:p>
          <a:p>
            <a:pPr marL="285750" lvl="1" indent="-285750">
              <a:spcBef>
                <a:spcPts val="800"/>
              </a:spcBef>
              <a:spcAft>
                <a:spcPts val="400"/>
              </a:spcAft>
              <a:defRPr sz="1800">
                <a:solidFill>
                  <a:srgbClr val="334155"/>
                </a:solidFill>
              </a:defRPr>
            </a:pPr>
            <a:r>
              <a:t>KI als Co-Engineer gezielt einsetzen — aber jeden Vorschlag kritisch prüfen</a:t>
            </a:r>
          </a:p>
        </p:txBody>
      </p:sp>
      <p:sp>
        <p:nvSpPr>
          <p:cNvPr id="5" name="Rectangle 4">
            <a:extLst>
              <a:ext uri="{FF2B5EF4-FFF2-40B4-BE49-F238E27FC236}">
                <a16:creationId xmlns:a16="http://schemas.microsoft.com/office/drawing/2014/main" id="{E5640E2F-3352-DEE4-E4A5-833087E41BB3}"/>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CD1A0C66-3960-E1AE-E1A3-F27A4FC3FDA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1"/>
            <a:ext cx="12192000" cy="347472"/>
          </a:xfrm>
          <a:prstGeom prst="rect">
            <a:avLst/>
          </a:prstGeom>
          <a:solidFill>
            <a:srgbClr val="10172A"/>
          </a:solidFill>
          <a:ln>
            <a:noFill/>
          </a:ln>
          <a:effectLst/>
        </p:spPr>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11423401" y="6438385"/>
            <a:ext cx="490837" cy="283175"/>
          </a:xfrm>
          <a:prstGeom prst="rect">
            <a:avLst/>
          </a:prstGeom>
        </p:spPr>
      </p:pic>
      <p:sp>
        <p:nvSpPr>
          <p:cNvPr id="4" name="TextBox 3"/>
          <p:cNvSpPr txBox="1"/>
          <p:nvPr/>
        </p:nvSpPr>
        <p:spPr>
          <a:xfrm>
            <a:off x="685800" y="457200"/>
            <a:ext cx="10789920" cy="822960"/>
          </a:xfrm>
          <a:prstGeom prst="rect">
            <a:avLst/>
          </a:prstGeom>
          <a:noFill/>
        </p:spPr>
        <p:txBody>
          <a:bodyPr wrap="square" lIns="18288" tIns="18288" rIns="18288" bIns="18288">
            <a:spAutoFit/>
          </a:bodyPr>
          <a:lstStyle/>
          <a:p>
            <a:pPr algn="l"/>
            <a:r>
              <a:rPr sz="3200" b="1" i="0">
                <a:solidFill>
                  <a:srgbClr val="1E293B"/>
                </a:solidFill>
                <a:latin typeface="Arial"/>
              </a:rPr>
              <a:t>Wirtschaftlichkeit</a:t>
            </a:r>
          </a:p>
        </p:txBody>
      </p:sp>
      <p:sp>
        <p:nvSpPr>
          <p:cNvPr id="5" name="TextBox 4"/>
          <p:cNvSpPr txBox="1"/>
          <p:nvPr/>
        </p:nvSpPr>
        <p:spPr>
          <a:xfrm>
            <a:off x="685800" y="1417320"/>
            <a:ext cx="5486400" cy="365760"/>
          </a:xfrm>
          <a:prstGeom prst="rect">
            <a:avLst/>
          </a:prstGeom>
          <a:noFill/>
        </p:spPr>
        <p:txBody>
          <a:bodyPr wrap="square" lIns="18288" tIns="18288" rIns="18288" bIns="18288">
            <a:spAutoFit/>
          </a:bodyPr>
          <a:lstStyle/>
          <a:p>
            <a:pPr algn="l"/>
            <a:r>
              <a:rPr sz="1600" b="1" i="0">
                <a:solidFill>
                  <a:srgbClr val="3B2EFF"/>
                </a:solidFill>
                <a:latin typeface="Arial"/>
              </a:rPr>
              <a:t>Betriebskosten pro Jahr</a:t>
            </a:r>
          </a:p>
        </p:txBody>
      </p:sp>
      <p:sp>
        <p:nvSpPr>
          <p:cNvPr id="6" name="TextBox 5"/>
          <p:cNvSpPr txBox="1"/>
          <p:nvPr/>
        </p:nvSpPr>
        <p:spPr>
          <a:xfrm>
            <a:off x="685800" y="2075688"/>
            <a:ext cx="2651760" cy="411480"/>
          </a:xfrm>
          <a:prstGeom prst="rect">
            <a:avLst/>
          </a:prstGeom>
          <a:noFill/>
        </p:spPr>
        <p:txBody>
          <a:bodyPr wrap="square" lIns="18288" tIns="18288" rIns="18288" bIns="18288" anchor="ctr">
            <a:spAutoFit/>
          </a:bodyPr>
          <a:lstStyle/>
          <a:p>
            <a:pPr algn="l"/>
            <a:r>
              <a:rPr sz="1250" b="0" i="0">
                <a:solidFill>
                  <a:srgbClr val="334155"/>
                </a:solidFill>
                <a:latin typeface="Arial"/>
              </a:rPr>
              <a:t>Sprintify</a:t>
            </a:r>
          </a:p>
        </p:txBody>
      </p:sp>
      <p:sp>
        <p:nvSpPr>
          <p:cNvPr id="7" name="Rounded Rectangle 6"/>
          <p:cNvSpPr/>
          <p:nvPr/>
        </p:nvSpPr>
        <p:spPr>
          <a:xfrm>
            <a:off x="3429000" y="2103120"/>
            <a:ext cx="956369" cy="384048"/>
          </a:xfrm>
          <a:prstGeom prst="roundRect">
            <a:avLst>
              <a:gd name="adj" fmla="val 30000"/>
            </a:avLst>
          </a:prstGeom>
          <a:solidFill>
            <a:srgbClr val="3B2EFF"/>
          </a:solidFill>
          <a:ln>
            <a:noFill/>
          </a:ln>
          <a:effectLst/>
        </p:spPr>
        <p:txBody>
          <a:bodyPr rtlCol="0" anchor="ctr"/>
          <a:lstStyle/>
          <a:p>
            <a:pPr algn="ctr"/>
            <a:endParaRPr/>
          </a:p>
        </p:txBody>
      </p:sp>
      <p:sp>
        <p:nvSpPr>
          <p:cNvPr id="8" name="TextBox 7"/>
          <p:cNvSpPr txBox="1"/>
          <p:nvPr/>
        </p:nvSpPr>
        <p:spPr>
          <a:xfrm>
            <a:off x="4495097" y="2075688"/>
            <a:ext cx="1371600" cy="411480"/>
          </a:xfrm>
          <a:prstGeom prst="rect">
            <a:avLst/>
          </a:prstGeom>
          <a:noFill/>
        </p:spPr>
        <p:txBody>
          <a:bodyPr wrap="square" lIns="18288" tIns="18288" rIns="18288" bIns="18288" anchor="ctr">
            <a:spAutoFit/>
          </a:bodyPr>
          <a:lstStyle/>
          <a:p>
            <a:pPr algn="l"/>
            <a:r>
              <a:rPr sz="1250" b="1" i="0">
                <a:solidFill>
                  <a:srgbClr val="1E293B"/>
                </a:solidFill>
                <a:latin typeface="Arial"/>
              </a:rPr>
              <a:t>CHF 630</a:t>
            </a:r>
          </a:p>
        </p:txBody>
      </p:sp>
      <p:sp>
        <p:nvSpPr>
          <p:cNvPr id="9" name="TextBox 8"/>
          <p:cNvSpPr txBox="1"/>
          <p:nvPr/>
        </p:nvSpPr>
        <p:spPr>
          <a:xfrm>
            <a:off x="685800" y="2807208"/>
            <a:ext cx="2651760" cy="411480"/>
          </a:xfrm>
          <a:prstGeom prst="rect">
            <a:avLst/>
          </a:prstGeom>
          <a:noFill/>
        </p:spPr>
        <p:txBody>
          <a:bodyPr wrap="square" lIns="18288" tIns="18288" rIns="18288" bIns="18288" anchor="ctr">
            <a:spAutoFit/>
          </a:bodyPr>
          <a:lstStyle/>
          <a:p>
            <a:pPr algn="l"/>
            <a:r>
              <a:rPr sz="1250" b="0" i="0">
                <a:solidFill>
                  <a:srgbClr val="334155"/>
                </a:solidFill>
                <a:latin typeface="Arial"/>
              </a:rPr>
              <a:t>Tempo Timesheets</a:t>
            </a:r>
          </a:p>
        </p:txBody>
      </p:sp>
      <p:sp>
        <p:nvSpPr>
          <p:cNvPr id="10" name="Rounded Rectangle 9"/>
          <p:cNvSpPr/>
          <p:nvPr/>
        </p:nvSpPr>
        <p:spPr>
          <a:xfrm>
            <a:off x="3429000" y="2834639"/>
            <a:ext cx="1457325" cy="384048"/>
          </a:xfrm>
          <a:prstGeom prst="roundRect">
            <a:avLst>
              <a:gd name="adj" fmla="val 30000"/>
            </a:avLst>
          </a:prstGeom>
          <a:solidFill>
            <a:srgbClr val="CBD5E1"/>
          </a:solidFill>
          <a:ln>
            <a:noFill/>
          </a:ln>
          <a:effectLst/>
        </p:spPr>
        <p:txBody>
          <a:bodyPr rtlCol="0" anchor="ctr"/>
          <a:lstStyle/>
          <a:p>
            <a:pPr algn="ctr"/>
            <a:endParaRPr/>
          </a:p>
        </p:txBody>
      </p:sp>
      <p:sp>
        <p:nvSpPr>
          <p:cNvPr id="11" name="TextBox 10"/>
          <p:cNvSpPr txBox="1"/>
          <p:nvPr/>
        </p:nvSpPr>
        <p:spPr>
          <a:xfrm>
            <a:off x="4996053" y="2807208"/>
            <a:ext cx="1371600" cy="411480"/>
          </a:xfrm>
          <a:prstGeom prst="rect">
            <a:avLst/>
          </a:prstGeom>
          <a:noFill/>
        </p:spPr>
        <p:txBody>
          <a:bodyPr wrap="square" lIns="18288" tIns="18288" rIns="18288" bIns="18288" anchor="ctr">
            <a:spAutoFit/>
          </a:bodyPr>
          <a:lstStyle/>
          <a:p>
            <a:pPr algn="l"/>
            <a:r>
              <a:rPr sz="1250" b="0" i="0">
                <a:solidFill>
                  <a:srgbClr val="64748B"/>
                </a:solidFill>
                <a:latin typeface="Arial"/>
              </a:rPr>
              <a:t>CHF 960</a:t>
            </a:r>
          </a:p>
        </p:txBody>
      </p:sp>
      <p:sp>
        <p:nvSpPr>
          <p:cNvPr id="12" name="TextBox 11"/>
          <p:cNvSpPr txBox="1"/>
          <p:nvPr/>
        </p:nvSpPr>
        <p:spPr>
          <a:xfrm>
            <a:off x="685800" y="3538727"/>
            <a:ext cx="2651760" cy="411480"/>
          </a:xfrm>
          <a:prstGeom prst="rect">
            <a:avLst/>
          </a:prstGeom>
          <a:noFill/>
        </p:spPr>
        <p:txBody>
          <a:bodyPr wrap="square" lIns="18288" tIns="18288" rIns="18288" bIns="18288" anchor="ctr">
            <a:spAutoFit/>
          </a:bodyPr>
          <a:lstStyle/>
          <a:p>
            <a:pPr algn="l"/>
            <a:r>
              <a:rPr sz="1250" b="0" i="0">
                <a:solidFill>
                  <a:srgbClr val="334155"/>
                </a:solidFill>
                <a:latin typeface="Arial"/>
              </a:rPr>
              <a:t>Jira Advanced Roadmaps</a:t>
            </a:r>
          </a:p>
        </p:txBody>
      </p:sp>
      <p:sp>
        <p:nvSpPr>
          <p:cNvPr id="13" name="Rounded Rectangle 12"/>
          <p:cNvSpPr/>
          <p:nvPr/>
        </p:nvSpPr>
        <p:spPr>
          <a:xfrm>
            <a:off x="3429000" y="3566159"/>
            <a:ext cx="2331720" cy="384048"/>
          </a:xfrm>
          <a:prstGeom prst="roundRect">
            <a:avLst>
              <a:gd name="adj" fmla="val 30000"/>
            </a:avLst>
          </a:prstGeom>
          <a:solidFill>
            <a:srgbClr val="CBD5E1"/>
          </a:solidFill>
          <a:ln>
            <a:noFill/>
          </a:ln>
          <a:effectLst/>
        </p:spPr>
        <p:txBody>
          <a:bodyPr rtlCol="0" anchor="ctr"/>
          <a:lstStyle/>
          <a:p>
            <a:pPr algn="ctr"/>
            <a:endParaRPr/>
          </a:p>
        </p:txBody>
      </p:sp>
      <p:sp>
        <p:nvSpPr>
          <p:cNvPr id="14" name="TextBox 13"/>
          <p:cNvSpPr txBox="1"/>
          <p:nvPr/>
        </p:nvSpPr>
        <p:spPr>
          <a:xfrm>
            <a:off x="5870448" y="3538727"/>
            <a:ext cx="1371600" cy="411480"/>
          </a:xfrm>
          <a:prstGeom prst="rect">
            <a:avLst/>
          </a:prstGeom>
          <a:noFill/>
        </p:spPr>
        <p:txBody>
          <a:bodyPr wrap="square" lIns="18288" tIns="18288" rIns="18288" bIns="18288" anchor="ctr">
            <a:spAutoFit/>
          </a:bodyPr>
          <a:lstStyle/>
          <a:p>
            <a:pPr algn="l"/>
            <a:r>
              <a:rPr sz="1250" b="0" i="0">
                <a:solidFill>
                  <a:srgbClr val="64748B"/>
                </a:solidFill>
                <a:latin typeface="Arial"/>
              </a:rPr>
              <a:t>CHF 1'536</a:t>
            </a:r>
          </a:p>
        </p:txBody>
      </p:sp>
      <p:sp>
        <p:nvSpPr>
          <p:cNvPr id="15" name="TextBox 14"/>
          <p:cNvSpPr txBox="1"/>
          <p:nvPr/>
        </p:nvSpPr>
        <p:spPr>
          <a:xfrm>
            <a:off x="685800" y="4389119"/>
            <a:ext cx="5852160" cy="640080"/>
          </a:xfrm>
          <a:prstGeom prst="rect">
            <a:avLst/>
          </a:prstGeom>
          <a:noFill/>
        </p:spPr>
        <p:txBody>
          <a:bodyPr wrap="square" lIns="18288" tIns="18288" rIns="18288" bIns="18288">
            <a:spAutoFit/>
          </a:bodyPr>
          <a:lstStyle/>
          <a:p>
            <a:pPr algn="l"/>
            <a:r>
              <a:rPr sz="1200" b="0" i="1">
                <a:solidFill>
                  <a:srgbClr val="64748B"/>
                </a:solidFill>
                <a:latin typeface="Arial"/>
              </a:rPr>
              <a:t>Sprintify läuft auf bestehender Azure-Infrastruktur — günstiger und breiter im Funktionsumfang als kommerzielle Alternativen.</a:t>
            </a:r>
          </a:p>
        </p:txBody>
      </p:sp>
      <p:sp>
        <p:nvSpPr>
          <p:cNvPr id="16" name="Rounded Rectangle 15"/>
          <p:cNvSpPr/>
          <p:nvPr/>
        </p:nvSpPr>
        <p:spPr>
          <a:xfrm>
            <a:off x="6903720" y="1371600"/>
            <a:ext cx="4617720" cy="1280160"/>
          </a:xfrm>
          <a:prstGeom prst="roundRect">
            <a:avLst>
              <a:gd name="adj" fmla="val 8000"/>
            </a:avLst>
          </a:prstGeom>
          <a:solidFill>
            <a:srgbClr val="FFFFFF"/>
          </a:solidFill>
          <a:ln w="15875">
            <a:solidFill>
              <a:srgbClr val="CBD5E1"/>
            </a:solidFill>
          </a:ln>
          <a:effectLst/>
        </p:spPr>
        <p:txBody>
          <a:bodyPr rtlCol="0" anchor="ctr"/>
          <a:lstStyle/>
          <a:p>
            <a:pPr algn="ctr"/>
            <a:endParaRPr/>
          </a:p>
        </p:txBody>
      </p:sp>
      <p:sp>
        <p:nvSpPr>
          <p:cNvPr id="17" name="TextBox 16"/>
          <p:cNvSpPr txBox="1"/>
          <p:nvPr/>
        </p:nvSpPr>
        <p:spPr>
          <a:xfrm>
            <a:off x="7114032" y="1517904"/>
            <a:ext cx="4206240" cy="548640"/>
          </a:xfrm>
          <a:prstGeom prst="rect">
            <a:avLst/>
          </a:prstGeom>
          <a:noFill/>
        </p:spPr>
        <p:txBody>
          <a:bodyPr wrap="square" lIns="18288" tIns="18288" rIns="18288" bIns="18288">
            <a:spAutoFit/>
          </a:bodyPr>
          <a:lstStyle/>
          <a:p>
            <a:pPr algn="l"/>
            <a:r>
              <a:rPr sz="2600" b="1" i="0">
                <a:solidFill>
                  <a:srgbClr val="1E293B"/>
                </a:solidFill>
                <a:latin typeface="Arial"/>
              </a:rPr>
              <a:t>80 – 120 Std.</a:t>
            </a:r>
          </a:p>
        </p:txBody>
      </p:sp>
      <p:sp>
        <p:nvSpPr>
          <p:cNvPr id="18" name="TextBox 17"/>
          <p:cNvSpPr txBox="1"/>
          <p:nvPr/>
        </p:nvSpPr>
        <p:spPr>
          <a:xfrm>
            <a:off x="7132320" y="2130552"/>
            <a:ext cx="4206240" cy="411480"/>
          </a:xfrm>
          <a:prstGeom prst="rect">
            <a:avLst/>
          </a:prstGeom>
          <a:noFill/>
        </p:spPr>
        <p:txBody>
          <a:bodyPr wrap="square" lIns="18288" tIns="18288" rIns="18288" bIns="18288">
            <a:spAutoFit/>
          </a:bodyPr>
          <a:lstStyle/>
          <a:p>
            <a:pPr algn="l"/>
            <a:r>
              <a:rPr sz="1150" b="0" i="0">
                <a:solidFill>
                  <a:srgbClr val="64748B"/>
                </a:solidFill>
                <a:latin typeface="Arial"/>
              </a:rPr>
              <a:t>Zeitersparnis pro Jahr (Datenerhebung &amp; Re-Planung)</a:t>
            </a:r>
          </a:p>
        </p:txBody>
      </p:sp>
      <p:sp>
        <p:nvSpPr>
          <p:cNvPr id="19" name="Rounded Rectangle 18"/>
          <p:cNvSpPr/>
          <p:nvPr/>
        </p:nvSpPr>
        <p:spPr>
          <a:xfrm>
            <a:off x="6903720" y="2852928"/>
            <a:ext cx="4617720" cy="1463040"/>
          </a:xfrm>
          <a:prstGeom prst="roundRect">
            <a:avLst>
              <a:gd name="adj" fmla="val 8000"/>
            </a:avLst>
          </a:prstGeom>
          <a:solidFill>
            <a:srgbClr val="3B2EFF"/>
          </a:solidFill>
          <a:ln>
            <a:noFill/>
          </a:ln>
          <a:effectLst/>
        </p:spPr>
        <p:txBody>
          <a:bodyPr rtlCol="0" anchor="ctr"/>
          <a:lstStyle/>
          <a:p>
            <a:pPr algn="ctr"/>
            <a:endParaRPr/>
          </a:p>
        </p:txBody>
      </p:sp>
      <p:sp>
        <p:nvSpPr>
          <p:cNvPr id="20" name="TextBox 19"/>
          <p:cNvSpPr txBox="1"/>
          <p:nvPr/>
        </p:nvSpPr>
        <p:spPr>
          <a:xfrm>
            <a:off x="7114032" y="3054096"/>
            <a:ext cx="4206240" cy="640080"/>
          </a:xfrm>
          <a:prstGeom prst="rect">
            <a:avLst/>
          </a:prstGeom>
          <a:noFill/>
        </p:spPr>
        <p:txBody>
          <a:bodyPr wrap="square" lIns="18288" tIns="18288" rIns="18288" bIns="18288">
            <a:spAutoFit/>
          </a:bodyPr>
          <a:lstStyle/>
          <a:p>
            <a:pPr algn="l"/>
            <a:r>
              <a:rPr sz="2700" b="1" i="0">
                <a:solidFill>
                  <a:srgbClr val="FFFFFF"/>
                </a:solidFill>
                <a:latin typeface="Arial"/>
              </a:rPr>
              <a:t>CHF 9'600 – 14'400</a:t>
            </a:r>
          </a:p>
        </p:txBody>
      </p:sp>
      <p:sp>
        <p:nvSpPr>
          <p:cNvPr id="21" name="TextBox 20"/>
          <p:cNvSpPr txBox="1"/>
          <p:nvPr/>
        </p:nvSpPr>
        <p:spPr>
          <a:xfrm>
            <a:off x="7132320" y="3730752"/>
            <a:ext cx="4206240" cy="457200"/>
          </a:xfrm>
          <a:prstGeom prst="rect">
            <a:avLst/>
          </a:prstGeom>
          <a:noFill/>
        </p:spPr>
        <p:txBody>
          <a:bodyPr wrap="square" lIns="18288" tIns="18288" rIns="18288" bIns="18288">
            <a:spAutoFit/>
          </a:bodyPr>
          <a:lstStyle/>
          <a:p>
            <a:pPr algn="l"/>
            <a:r>
              <a:rPr sz="1200" b="0" i="0">
                <a:solidFill>
                  <a:srgbClr val="DDDDFF"/>
                </a:solidFill>
                <a:latin typeface="Arial"/>
              </a:rPr>
              <a:t>Eingesparte Kosten pro Jahr  ·  ROI positiv ab Jahr 1</a:t>
            </a:r>
          </a:p>
        </p:txBody>
      </p:sp>
      <p:sp>
        <p:nvSpPr>
          <p:cNvPr id="22" name="TextBox 21"/>
          <p:cNvSpPr txBox="1"/>
          <p:nvPr/>
        </p:nvSpPr>
        <p:spPr>
          <a:xfrm>
            <a:off x="685800" y="6053328"/>
            <a:ext cx="10789920" cy="457200"/>
          </a:xfrm>
          <a:prstGeom prst="rect">
            <a:avLst/>
          </a:prstGeom>
          <a:noFill/>
        </p:spPr>
        <p:txBody>
          <a:bodyPr wrap="square" lIns="18288" tIns="18288" rIns="18288" bIns="18288">
            <a:spAutoFit/>
          </a:bodyPr>
          <a:lstStyle/>
          <a:p>
            <a:pPr algn="l"/>
            <a:r>
              <a:rPr sz="1100" b="0" i="1">
                <a:solidFill>
                  <a:srgbClr val="64748B"/>
                </a:solidFill>
                <a:latin typeface="Arial"/>
              </a:rPr>
              <a:t>Interner Stundensatz CHF 120. Kostenvergleich und Nutzenrechnung: siehe Anhang B (Wirtschaftlichkeit).</a:t>
            </a:r>
          </a:p>
        </p:txBody>
      </p:sp>
      <p:sp>
        <p:nvSpPr>
          <p:cNvPr id="23" name="TextBox 22"/>
          <p:cNvSpPr txBox="1"/>
          <p:nvPr/>
        </p:nvSpPr>
        <p:spPr>
          <a:xfrm>
            <a:off x="457200" y="6565392"/>
            <a:ext cx="1097280" cy="274320"/>
          </a:xfrm>
          <a:prstGeom prst="rect">
            <a:avLst/>
          </a:prstGeom>
          <a:noFill/>
        </p:spPr>
        <p:txBody>
          <a:bodyPr wrap="square" lIns="18288" tIns="18288" rIns="18288" bIns="18288">
            <a:spAutoFit/>
          </a:bodyPr>
          <a:lstStyle/>
          <a:p>
            <a:pPr algn="l"/>
            <a:r>
              <a:rPr sz="1100" b="0" i="0">
                <a:solidFill>
                  <a:srgbClr val="64748B"/>
                </a:solidFill>
                <a:latin typeface="Arial"/>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85800" y="457200"/>
            <a:ext cx="10820095" cy="914400"/>
          </a:xfrm>
          <a:prstGeom prst="rect">
            <a:avLst/>
          </a:prstGeom>
          <a:noFill/>
        </p:spPr>
        <p:txBody>
          <a:bodyPr wrap="none">
            <a:spAutoFit/>
          </a:bodyPr>
          <a:lstStyle/>
          <a:p>
            <a:pPr>
              <a:defRPr sz="3200" b="1">
                <a:solidFill>
                  <a:srgbClr val="1E293B"/>
                </a:solidFill>
              </a:defRPr>
            </a:pPr>
            <a:r>
              <a:t>Empfehlung und nächste Schritte</a:t>
            </a: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400"/>
              </a:spcAft>
              <a:defRPr sz="2000">
                <a:solidFill>
                  <a:srgbClr val="334155"/>
                </a:solidFill>
              </a:defRPr>
            </a:pPr>
            <a:r>
              <a:t>Empfehlung: Sprintify produktiv einsetzen</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Nächste Schritte:</a:t>
            </a:r>
          </a:p>
          <a:p>
            <a:pPr marL="285750" lvl="1" indent="-285750">
              <a:spcBef>
                <a:spcPts val="800"/>
              </a:spcBef>
              <a:spcAft>
                <a:spcPts val="400"/>
              </a:spcAft>
              <a:defRPr sz="1800">
                <a:solidFill>
                  <a:srgbClr val="334155"/>
                </a:solidFill>
              </a:defRPr>
            </a:pPr>
            <a:r>
              <a:t>Jira-Anbindung über Service-Account</a:t>
            </a:r>
          </a:p>
          <a:p>
            <a:pPr marL="285750" lvl="1" indent="-285750">
              <a:spcBef>
                <a:spcPts val="800"/>
              </a:spcBef>
              <a:spcAft>
                <a:spcPts val="400"/>
              </a:spcAft>
              <a:defRPr sz="1800">
                <a:solidFill>
                  <a:srgbClr val="334155"/>
                </a:solidFill>
              </a:defRPr>
            </a:pPr>
            <a:r>
              <a:t>Einführungsschulung für das Team</a:t>
            </a:r>
          </a:p>
          <a:p>
            <a:pPr marL="285750" lvl="1" indent="-285750">
              <a:spcBef>
                <a:spcPts val="800"/>
              </a:spcBef>
              <a:spcAft>
                <a:spcPts val="400"/>
              </a:spcAft>
              <a:defRPr sz="1800">
                <a:solidFill>
                  <a:srgbClr val="334155"/>
                </a:solidFill>
              </a:defRPr>
            </a:pPr>
            <a:r>
              <a:t>Feedback sammeln in den ersten drei Sprints</a:t>
            </a:r>
          </a:p>
          <a:p>
            <a:pPr marL="285750" lvl="1" indent="-285750">
              <a:spcBef>
                <a:spcPts val="800"/>
              </a:spcBef>
              <a:spcAft>
                <a:spcPts val="400"/>
              </a:spcAft>
              <a:defRPr sz="1800">
                <a:solidFill>
                  <a:srgbClr val="334155"/>
                </a:solidFill>
              </a:defRPr>
            </a:pPr>
            <a:r>
              <a:t>Automatisierte Tests ausbauen</a:t>
            </a:r>
          </a:p>
          <a:p>
            <a:pPr marL="285750" lvl="1" indent="-285750">
              <a:spcBef>
                <a:spcPts val="800"/>
              </a:spcBef>
              <a:spcAft>
                <a:spcPts val="400"/>
              </a:spcAft>
              <a:defRPr sz="1800">
                <a:solidFill>
                  <a:srgbClr val="334155"/>
                </a:solidFill>
              </a:defRPr>
            </a:pPr>
            <a:r>
              <a:t>Mittelfristig: Mobile Ansicht für Stand-ups</a:t>
            </a:r>
          </a:p>
          <a:p>
            <a:pPr>
              <a:spcBef>
                <a:spcPts val="800"/>
              </a:spcBef>
              <a:spcAft>
                <a:spcPts val="400"/>
              </a:spcAft>
              <a:defRPr sz="2000">
                <a:solidFill>
                  <a:srgbClr val="334155"/>
                </a:solidFill>
              </a:defRPr>
            </a:pPr>
            <a:endParaRPr/>
          </a:p>
          <a:p>
            <a:pPr>
              <a:spcBef>
                <a:spcPts val="800"/>
              </a:spcBef>
              <a:spcAft>
                <a:spcPts val="400"/>
              </a:spcAft>
              <a:defRPr sz="2000">
                <a:solidFill>
                  <a:srgbClr val="334155"/>
                </a:solidFill>
              </a:defRPr>
            </a:pPr>
            <a:r>
              <a:t>Ohne Sprintify:</a:t>
            </a:r>
          </a:p>
          <a:p>
            <a:pPr marL="285750" lvl="1" indent="-285750">
              <a:spcBef>
                <a:spcPts val="800"/>
              </a:spcBef>
              <a:spcAft>
                <a:spcPts val="400"/>
              </a:spcAft>
              <a:defRPr sz="1800">
                <a:solidFill>
                  <a:srgbClr val="334155"/>
                </a:solidFill>
              </a:defRPr>
            </a:pPr>
            <a:r>
              <a:t>Sprint-Planung bleibt auf Excel angewiesen</a:t>
            </a:r>
          </a:p>
          <a:p>
            <a:pPr marL="285750" lvl="1" indent="-285750">
              <a:spcBef>
                <a:spcPts val="800"/>
              </a:spcBef>
              <a:spcAft>
                <a:spcPts val="400"/>
              </a:spcAft>
              <a:defRPr sz="1800">
                <a:solidFill>
                  <a:srgbClr val="334155"/>
                </a:solidFill>
              </a:defRPr>
            </a:pPr>
            <a:r>
              <a:t>Schätzungen basieren auf Bauchgefühl</a:t>
            </a:r>
          </a:p>
        </p:txBody>
      </p:sp>
      <p:sp>
        <p:nvSpPr>
          <p:cNvPr id="5" name="Rectangle 4">
            <a:extLst>
              <a:ext uri="{FF2B5EF4-FFF2-40B4-BE49-F238E27FC236}">
                <a16:creationId xmlns:a16="http://schemas.microsoft.com/office/drawing/2014/main" id="{E91BA769-D6A5-4105-6D0E-D3285036BF8B}"/>
              </a:ext>
            </a:extLst>
          </p:cNvPr>
          <p:cNvSpPr/>
          <p:nvPr/>
        </p:nvSpPr>
        <p:spPr>
          <a:xfrm>
            <a:off x="1" y="1"/>
            <a:ext cx="12192000" cy="345988"/>
          </a:xfrm>
          <a:prstGeom prst="rect">
            <a:avLst/>
          </a:prstGeom>
          <a:solidFill>
            <a:srgbClr val="10172A"/>
          </a:solidFill>
          <a:ln>
            <a:noFill/>
          </a:ln>
          <a:effectLst/>
        </p:spPr>
        <p:txBody>
          <a:bodyPr rtlCol="0" anchor="ctr"/>
          <a:lstStyle/>
          <a:p>
            <a:pPr algn="ctr"/>
            <a:endParaRPr/>
          </a:p>
        </p:txBody>
      </p:sp>
      <p:pic>
        <p:nvPicPr>
          <p:cNvPr id="7" name="Graphic 6">
            <a:extLst>
              <a:ext uri="{FF2B5EF4-FFF2-40B4-BE49-F238E27FC236}">
                <a16:creationId xmlns:a16="http://schemas.microsoft.com/office/drawing/2014/main" id="{7020C431-662A-1F6E-F6B6-5CDC555572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423401" y="6438385"/>
            <a:ext cx="490837" cy="283175"/>
          </a:xfrm>
          <a:prstGeom prst="rect">
            <a:avLst/>
          </a:prstGeom>
        </p:spPr>
      </p:pic>
      <p:sp>
        <p:nvSpPr>
          <p:cNvPr id="8" name="TextBox 7"/>
          <p:cNvSpPr txBox="1"/>
          <p:nvPr/>
        </p:nvSpPr>
        <p:spPr>
          <a:xfrm>
            <a:off x="457200" y="6580000"/>
            <a:ext cx="1200000" cy="250000"/>
          </a:xfrm>
          <a:prstGeom prst="rect">
            <a:avLst/>
          </a:prstGeom>
          <a:noFill/>
        </p:spPr>
        <p:txBody>
          <a:bodyPr wrap="none">
            <a:spAutoFit/>
          </a:bodyPr>
          <a:lstStyle/>
          <a:p>
            <a:r>
              <a:rPr sz="1100">
                <a:solidFill>
                  <a:srgbClr val="94A3B8"/>
                </a:solidFill>
                <a:latin typeface="Arial"/>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lgn="ctr">
              <a:defRPr sz="4400" b="1">
                <a:solidFill>
                  <a:srgbClr val="FFFFFF"/>
                </a:solidFill>
              </a:defRPr>
            </a:pPr>
            <a:r>
              <a:rPr dirty="0" err="1"/>
              <a:t>Sprintify</a:t>
            </a:r>
            <a:endParaRPr dirty="0"/>
          </a:p>
          <a:p>
            <a:pPr algn="ctr">
              <a:spcBef>
                <a:spcPts val="2000"/>
              </a:spcBef>
              <a:defRPr sz="2400">
                <a:solidFill>
                  <a:srgbClr val="94A3B8"/>
                </a:solidFill>
              </a:defRPr>
            </a:pPr>
            <a:r>
              <a:rPr dirty="0" err="1"/>
              <a:t>Gibt</a:t>
            </a:r>
            <a:r>
              <a:rPr dirty="0"/>
              <a:t> dem Team </a:t>
            </a:r>
            <a:r>
              <a:rPr dirty="0" err="1"/>
              <a:t>eine</a:t>
            </a:r>
            <a:r>
              <a:rPr dirty="0"/>
              <a:t> </a:t>
            </a:r>
            <a:r>
              <a:rPr dirty="0" err="1"/>
              <a:t>datenbasierte</a:t>
            </a:r>
            <a:r>
              <a:rPr dirty="0"/>
              <a:t> </a:t>
            </a:r>
            <a:r>
              <a:rPr dirty="0" err="1"/>
              <a:t>Antwort</a:t>
            </a:r>
            <a:r>
              <a:rPr dirty="0"/>
              <a:t> auf die Frage:</a:t>
            </a:r>
            <a:br>
              <a:rPr dirty="0"/>
            </a:br>
            <a:r>
              <a:rPr dirty="0"/>
              <a:t>"Wie </a:t>
            </a:r>
            <a:r>
              <a:rPr dirty="0" err="1"/>
              <a:t>viele</a:t>
            </a:r>
            <a:r>
              <a:rPr dirty="0"/>
              <a:t> Story Points </a:t>
            </a:r>
            <a:r>
              <a:rPr dirty="0" err="1"/>
              <a:t>schaffen</a:t>
            </a:r>
            <a:r>
              <a:rPr dirty="0"/>
              <a:t> </a:t>
            </a:r>
            <a:r>
              <a:rPr dirty="0" err="1"/>
              <a:t>wir</a:t>
            </a:r>
            <a:r>
              <a:rPr dirty="0"/>
              <a:t> </a:t>
            </a:r>
            <a:r>
              <a:rPr dirty="0" err="1"/>
              <a:t>im</a:t>
            </a:r>
            <a:r>
              <a:rPr dirty="0"/>
              <a:t> </a:t>
            </a:r>
            <a:r>
              <a:rPr dirty="0" err="1"/>
              <a:t>nächsten</a:t>
            </a:r>
            <a:r>
              <a:rPr dirty="0"/>
              <a:t> Sprint?"</a:t>
            </a:r>
            <a:br>
              <a:rPr dirty="0"/>
            </a:br>
            <a:br>
              <a:rPr dirty="0"/>
            </a:br>
            <a:r>
              <a:rPr dirty="0" err="1"/>
              <a:t>Fragen</a:t>
            </a:r>
            <a:r>
              <a:rPr dirty="0"/>
              <a:t>?</a:t>
            </a:r>
          </a:p>
        </p:txBody>
      </p:sp>
      <p:pic>
        <p:nvPicPr>
          <p:cNvPr id="4" name="Graphic 3">
            <a:extLst>
              <a:ext uri="{FF2B5EF4-FFF2-40B4-BE49-F238E27FC236}">
                <a16:creationId xmlns:a16="http://schemas.microsoft.com/office/drawing/2014/main" id="{3FC77DB0-DA23-9FB8-D223-A91F1293707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6445" y="1698229"/>
            <a:ext cx="1018804" cy="58777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1607</Words>
  <Application>Microsoft Macintosh PowerPoint</Application>
  <PresentationFormat>Widescreen</PresentationFormat>
  <Paragraphs>337</Paragraphs>
  <Slides>40</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Timo Haldi</cp:lastModifiedBy>
  <cp:revision>4</cp:revision>
  <dcterms:created xsi:type="dcterms:W3CDTF">2013-01-27T09:14:16Z</dcterms:created>
  <dcterms:modified xsi:type="dcterms:W3CDTF">2026-07-02T16:04:15Z</dcterms:modified>
  <cp:category/>
</cp:coreProperties>
</file>